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64" r:id="rId4"/>
    <p:sldId id="256" r:id="rId5"/>
    <p:sldId id="259" r:id="rId6"/>
    <p:sldId id="261" r:id="rId7"/>
    <p:sldId id="263" r:id="rId8"/>
    <p:sldId id="262" r:id="rId9"/>
    <p:sldId id="260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15/09/2026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6EFAE8-6D21-D83A-6D99-5FB04CB8A9A6}"/>
              </a:ext>
            </a:extLst>
          </p:cNvPr>
          <p:cNvSpPr/>
          <p:nvPr/>
        </p:nvSpPr>
        <p:spPr>
          <a:xfrm>
            <a:off x="-28948" y="246059"/>
            <a:ext cx="13287202" cy="1447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3A99F-D48E-019C-F154-3F1A3231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RAQUETTE DE NEIGE</a:t>
            </a: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E06FF5-7C90-E4C1-670A-AAC507273F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227" t="9617" r="-1136" b="9557"/>
          <a:stretch>
            <a:fillRect/>
          </a:stretch>
        </p:blipFill>
        <p:spPr>
          <a:xfrm>
            <a:off x="140532" y="2462447"/>
            <a:ext cx="5817549" cy="348977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C0CB4-EFCE-7AA2-84CD-37F006470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953" y="1815729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u="sng"/>
              <a:t>Matériel necessaire :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86DDB3-6890-6359-6EBF-AD0B5E45F4CD}"/>
              </a:ext>
            </a:extLst>
          </p:cNvPr>
          <p:cNvSpPr/>
          <p:nvPr/>
        </p:nvSpPr>
        <p:spPr>
          <a:xfrm>
            <a:off x="3126400" y="3893526"/>
            <a:ext cx="955289" cy="98423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090742-9AA2-33E9-512B-1222C4573DDB}"/>
              </a:ext>
            </a:extLst>
          </p:cNvPr>
          <p:cNvCxnSpPr/>
          <p:nvPr/>
        </p:nvCxnSpPr>
        <p:spPr>
          <a:xfrm flipV="1">
            <a:off x="4092325" y="4005398"/>
            <a:ext cx="2243481" cy="1776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D11C2C-136C-26C4-6602-AC98EF83B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892" t="67088" r="44191" b="7146"/>
          <a:stretch>
            <a:fillRect/>
          </a:stretch>
        </p:blipFill>
        <p:spPr>
          <a:xfrm>
            <a:off x="9885574" y="3042469"/>
            <a:ext cx="1543512" cy="13979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038BC6-AB4A-F01E-BE06-AC704C62EF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77" t="23041" r="53527" b="37029"/>
          <a:stretch>
            <a:fillRect/>
          </a:stretch>
        </p:blipFill>
        <p:spPr>
          <a:xfrm>
            <a:off x="6713879" y="3033305"/>
            <a:ext cx="1716457" cy="1399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9586CA-05C3-C8A9-58EB-F59AB44721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921" t="15819" r="18257" b="46698"/>
          <a:stretch>
            <a:fillRect/>
          </a:stretch>
        </p:blipFill>
        <p:spPr>
          <a:xfrm>
            <a:off x="8579287" y="3037606"/>
            <a:ext cx="1177316" cy="13930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FB5585-FD02-5F4B-2050-81C7AA12A0F9}"/>
              </a:ext>
            </a:extLst>
          </p:cNvPr>
          <p:cNvSpPr txBox="1"/>
          <p:nvPr/>
        </p:nvSpPr>
        <p:spPr>
          <a:xfrm>
            <a:off x="7146652" y="4551757"/>
            <a:ext cx="8997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TYPE A</a:t>
            </a:r>
            <a:endParaRPr lang="fr-FR"/>
          </a:p>
          <a:p>
            <a:pPr algn="ctr"/>
            <a:r>
              <a:rPr lang="fr-FR"/>
              <a:t>X6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9E216-D0F9-5817-150C-FF4FB473505B}"/>
              </a:ext>
            </a:extLst>
          </p:cNvPr>
          <p:cNvSpPr txBox="1"/>
          <p:nvPr/>
        </p:nvSpPr>
        <p:spPr>
          <a:xfrm>
            <a:off x="8720132" y="4551757"/>
            <a:ext cx="8997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TYPE B</a:t>
            </a:r>
            <a:endParaRPr lang="fr-FR"/>
          </a:p>
          <a:p>
            <a:pPr algn="ctr"/>
            <a:r>
              <a:rPr lang="fr-FR"/>
              <a:t>X6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7B5523-C642-80D3-D2CB-508AADA8BC7C}"/>
              </a:ext>
            </a:extLst>
          </p:cNvPr>
          <p:cNvSpPr txBox="1"/>
          <p:nvPr/>
        </p:nvSpPr>
        <p:spPr>
          <a:xfrm>
            <a:off x="10204547" y="4551756"/>
            <a:ext cx="8997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TYPE C</a:t>
            </a:r>
            <a:endParaRPr lang="fr-FR"/>
          </a:p>
          <a:p>
            <a:pPr algn="ctr"/>
            <a:r>
              <a:rPr lang="fr-FR"/>
              <a:t>X4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635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6EFAE8-6D21-D83A-6D99-5FB04CB8A9A6}"/>
              </a:ext>
            </a:extLst>
          </p:cNvPr>
          <p:cNvSpPr/>
          <p:nvPr/>
        </p:nvSpPr>
        <p:spPr>
          <a:xfrm>
            <a:off x="-28948" y="246059"/>
            <a:ext cx="13287202" cy="14474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B3A99F-D48E-019C-F154-3F1A32314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RAQUETTE DE NEIGE</a:t>
            </a:r>
            <a:endParaRPr lang="en-US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A194F1D-9DE1-41EA-1B4F-020C36D92A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0" t="45322" r="7723" b="15616"/>
          <a:stretch>
            <a:fillRect/>
          </a:stretch>
        </p:blipFill>
        <p:spPr>
          <a:xfrm>
            <a:off x="576991" y="2412999"/>
            <a:ext cx="10776809" cy="363008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BC1AB1E-4803-90D9-080A-4E008BBA91B8}"/>
              </a:ext>
            </a:extLst>
          </p:cNvPr>
          <p:cNvSpPr/>
          <p:nvPr/>
        </p:nvSpPr>
        <p:spPr>
          <a:xfrm>
            <a:off x="1255183" y="4967747"/>
            <a:ext cx="9687984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63500">
            <a:solidFill>
              <a:srgbClr val="51BC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Module inférieur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62EA8B-596D-78B0-C8BB-EDCB9DED1F3B}"/>
              </a:ext>
            </a:extLst>
          </p:cNvPr>
          <p:cNvSpPr/>
          <p:nvPr/>
        </p:nvSpPr>
        <p:spPr>
          <a:xfrm>
            <a:off x="2467012" y="2875747"/>
            <a:ext cx="3707816" cy="1843477"/>
          </a:xfrm>
          <a:prstGeom prst="rect">
            <a:avLst/>
          </a:prstGeom>
          <a:solidFill>
            <a:srgbClr val="FFFFFF">
              <a:alpha val="0"/>
            </a:srgbClr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Module avant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031C6F-CDC7-15DB-8253-A76E4CE27FC5}"/>
              </a:ext>
            </a:extLst>
          </p:cNvPr>
          <p:cNvSpPr/>
          <p:nvPr/>
        </p:nvSpPr>
        <p:spPr>
          <a:xfrm>
            <a:off x="2160460" y="2754075"/>
            <a:ext cx="9089950" cy="2169877"/>
          </a:xfrm>
          <a:prstGeom prst="rect">
            <a:avLst/>
          </a:prstGeom>
          <a:solidFill>
            <a:srgbClr val="FFFFFF">
              <a:alpha val="0"/>
            </a:srgbClr>
          </a:solidFill>
          <a:ln w="63500">
            <a:solidFill>
              <a:srgbClr val="F392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ACB5DE-483E-FA19-C0E3-7C04CBBF91D0}"/>
              </a:ext>
            </a:extLst>
          </p:cNvPr>
          <p:cNvSpPr/>
          <p:nvPr/>
        </p:nvSpPr>
        <p:spPr>
          <a:xfrm>
            <a:off x="6406418" y="2882167"/>
            <a:ext cx="4314716" cy="1843477"/>
          </a:xfrm>
          <a:prstGeom prst="rect">
            <a:avLst/>
          </a:prstGeom>
          <a:solidFill>
            <a:srgbClr val="FFFFFF">
              <a:alpha val="0"/>
            </a:srgbClr>
          </a:solidFill>
          <a:ln w="63500">
            <a:solidFill>
              <a:srgbClr val="F9C9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Module arrière </a:t>
            </a:r>
          </a:p>
        </p:txBody>
      </p: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9B6F25D7-EDA0-2C8A-7A11-3B875EBF08AC}"/>
              </a:ext>
            </a:extLst>
          </p:cNvPr>
          <p:cNvCxnSpPr>
            <a:cxnSpLocks/>
          </p:cNvCxnSpPr>
          <p:nvPr/>
        </p:nvCxnSpPr>
        <p:spPr>
          <a:xfrm>
            <a:off x="2467012" y="2025656"/>
            <a:ext cx="1629361" cy="645363"/>
          </a:xfrm>
          <a:prstGeom prst="straightConnector1">
            <a:avLst/>
          </a:prstGeom>
          <a:ln w="38100">
            <a:solidFill>
              <a:srgbClr val="F392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A8BF8314-72AF-B90B-5C7F-8B23C1F5466D}"/>
              </a:ext>
            </a:extLst>
          </p:cNvPr>
          <p:cNvSpPr txBox="1"/>
          <p:nvPr/>
        </p:nvSpPr>
        <p:spPr>
          <a:xfrm rot="10800000" flipH="1" flipV="1">
            <a:off x="558610" y="1793843"/>
            <a:ext cx="271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/>
              <a:t>Module supérieur </a:t>
            </a:r>
          </a:p>
        </p:txBody>
      </p:sp>
    </p:spTree>
    <p:extLst>
      <p:ext uri="{BB962C8B-B14F-4D97-AF65-F5344CB8AC3E}">
        <p14:creationId xmlns:p14="http://schemas.microsoft.com/office/powerpoint/2010/main" val="390785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0		</a:t>
            </a:r>
            <a:r>
              <a:rPr lang="fr-FR" b="1" err="1">
                <a:solidFill>
                  <a:schemeClr val="bg1"/>
                </a:solidFill>
              </a:rPr>
              <a:t>Checking</a:t>
            </a:r>
            <a:r>
              <a:rPr lang="fr-FR" b="1">
                <a:solidFill>
                  <a:schemeClr val="bg1"/>
                </a:solidFill>
              </a:rPr>
              <a:t> du </a:t>
            </a:r>
            <a:r>
              <a:rPr lang="fr-FR" b="1" err="1">
                <a:solidFill>
                  <a:schemeClr val="bg1"/>
                </a:solidFill>
              </a:rPr>
              <a:t>kitting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9616" y="1804459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fr-FR"/>
              <a:t>Vérifier qu’il y a bien tout le matériel exposé en page 1</a:t>
            </a:r>
          </a:p>
          <a:p>
            <a:pPr marL="0" indent="0">
              <a:buNone/>
            </a:pPr>
            <a:r>
              <a:rPr lang="fr-FR"/>
              <a:t>Prêter attention au nombre de vis et leur type</a:t>
            </a:r>
          </a:p>
          <a:p>
            <a:pPr marL="0" indent="0">
              <a:buNone/>
            </a:pPr>
            <a:r>
              <a:rPr lang="fr-FR"/>
              <a:t>Vérifier que tous les tournevis nécessaires au montage sont disponibles</a:t>
            </a:r>
          </a:p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/>
          </a:p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CED3E-9BF3-9D3E-5041-F82DDD1D03AC}"/>
              </a:ext>
            </a:extLst>
          </p:cNvPr>
          <p:cNvSpPr/>
          <p:nvPr/>
        </p:nvSpPr>
        <p:spPr>
          <a:xfrm>
            <a:off x="5978099" y="1204877"/>
            <a:ext cx="5740400" cy="5469597"/>
          </a:xfrm>
          <a:prstGeom prst="rect">
            <a:avLst/>
          </a:prstGeom>
          <a:solidFill>
            <a:srgbClr val="FFFFFF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D24A7A6-9069-73CE-D300-A0DAE8646DEF}"/>
              </a:ext>
            </a:extLst>
          </p:cNvPr>
          <p:cNvSpPr txBox="1"/>
          <p:nvPr/>
        </p:nvSpPr>
        <p:spPr>
          <a:xfrm>
            <a:off x="6092401" y="1309654"/>
            <a:ext cx="5740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u="sng"/>
              <a:t>Attention :</a:t>
            </a:r>
            <a:r>
              <a:rPr lang="fr-FR"/>
              <a:t> </a:t>
            </a:r>
          </a:p>
          <a:p>
            <a:pPr marL="285750" indent="-285750" algn="l">
              <a:buFontTx/>
              <a:buChar char="-"/>
            </a:pPr>
            <a:r>
              <a:rPr lang="fr-FR"/>
              <a:t>Vérifier que les pièces avant et arrière correspondent au même pied</a:t>
            </a:r>
          </a:p>
          <a:p>
            <a:pPr marL="285750" indent="-285750" algn="l">
              <a:buFontTx/>
              <a:buChar char="-"/>
            </a:pPr>
            <a:r>
              <a:rPr lang="fr-FR"/>
              <a:t>Vérifier que les sangles sont celles du bon pied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0FFC10-6E68-5AB6-0F6F-BBB91C6A1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5586351" y="3034393"/>
            <a:ext cx="4047507" cy="302573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B497123-8674-863F-B7FD-1AC7736B5467}"/>
              </a:ext>
            </a:extLst>
          </p:cNvPr>
          <p:cNvSpPr/>
          <p:nvPr/>
        </p:nvSpPr>
        <p:spPr>
          <a:xfrm>
            <a:off x="7398611" y="3776994"/>
            <a:ext cx="405274" cy="4197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A8B4F57-F4B1-556C-C99A-988F190C3E47}"/>
              </a:ext>
            </a:extLst>
          </p:cNvPr>
          <p:cNvCxnSpPr/>
          <p:nvPr/>
        </p:nvCxnSpPr>
        <p:spPr>
          <a:xfrm flipV="1">
            <a:off x="7406149" y="3445242"/>
            <a:ext cx="1667891" cy="15932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8DB496-9B62-D071-14DE-AD9E32BCAC4F}"/>
              </a:ext>
            </a:extLst>
          </p:cNvPr>
          <p:cNvCxnSpPr/>
          <p:nvPr/>
        </p:nvCxnSpPr>
        <p:spPr>
          <a:xfrm flipV="1">
            <a:off x="7835054" y="3307436"/>
            <a:ext cx="1122454" cy="658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70956B4-CDAC-2DE5-C70D-A8AF9B5A984E}"/>
              </a:ext>
            </a:extLst>
          </p:cNvPr>
          <p:cNvSpPr txBox="1"/>
          <p:nvPr/>
        </p:nvSpPr>
        <p:spPr>
          <a:xfrm>
            <a:off x="9115105" y="2519311"/>
            <a:ext cx="275262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Si il y a </a:t>
            </a:r>
            <a:r>
              <a:rPr lang="en-US" err="1"/>
              <a:t>écrit</a:t>
            </a:r>
            <a:r>
              <a:rPr lang="en-US"/>
              <a:t> left sur la piece de </a:t>
            </a:r>
            <a:r>
              <a:rPr lang="en-US" err="1"/>
              <a:t>devant</a:t>
            </a:r>
            <a:r>
              <a:rPr lang="en-US"/>
              <a:t> il faut </a:t>
            </a:r>
            <a:r>
              <a:rPr lang="en-US" err="1"/>
              <a:t>avoir</a:t>
            </a:r>
            <a:r>
              <a:rPr lang="en-US"/>
              <a:t> les </a:t>
            </a:r>
            <a:r>
              <a:rPr lang="en-US" err="1"/>
              <a:t>sangles</a:t>
            </a:r>
            <a:r>
              <a:rPr lang="en-US"/>
              <a:t> avec les traits </a:t>
            </a:r>
            <a:r>
              <a:rPr lang="en-US" err="1"/>
              <a:t>pleins</a:t>
            </a:r>
            <a:r>
              <a:rPr lang="en-US"/>
              <a:t> à gauche (et </a:t>
            </a:r>
            <a:r>
              <a:rPr lang="en-US" err="1"/>
              <a:t>inversement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droite)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7AA5EC-546A-97C9-6D40-19A228FD04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57" t="17113" r="61238" b="30238"/>
          <a:stretch>
            <a:fillRect/>
          </a:stretch>
        </p:blipFill>
        <p:spPr>
          <a:xfrm>
            <a:off x="9407367" y="4173387"/>
            <a:ext cx="2157782" cy="238157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35AD1B2-7639-A594-77C1-660CE3F7D348}"/>
              </a:ext>
            </a:extLst>
          </p:cNvPr>
          <p:cNvSpPr/>
          <p:nvPr/>
        </p:nvSpPr>
        <p:spPr>
          <a:xfrm>
            <a:off x="9565857" y="5360370"/>
            <a:ext cx="929767" cy="115205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47B9D09-695A-3E1E-671D-5D94A34D93F1}"/>
              </a:ext>
            </a:extLst>
          </p:cNvPr>
          <p:cNvSpPr/>
          <p:nvPr/>
        </p:nvSpPr>
        <p:spPr>
          <a:xfrm>
            <a:off x="10327856" y="4519201"/>
            <a:ext cx="1236546" cy="141925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4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C9A9E2-728C-168B-1F9F-BBD4669E231E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1			Module inférieur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1E8BA-08E6-D5A7-0426-5320A4EF4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524" y="2241261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 u="sng"/>
              <a:t>Matériel nécessaire :</a:t>
            </a:r>
            <a:endParaRPr lang="en-US" sz="2400" u="sng"/>
          </a:p>
          <a:p>
            <a:pPr marL="0" indent="0">
              <a:buNone/>
            </a:pPr>
            <a:r>
              <a:rPr lang="fr-FR" sz="2400">
                <a:solidFill>
                  <a:srgbClr val="000000"/>
                </a:solidFill>
              </a:rPr>
              <a:t>Crampon</a:t>
            </a:r>
            <a:r>
              <a:rPr lang="fr-FR" sz="2400"/>
              <a:t> x6 – Vis type A x6 – Raquette</a:t>
            </a:r>
          </a:p>
          <a:p>
            <a:pPr marL="0" indent="0">
              <a:buNone/>
            </a:pPr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pPr marL="0" indent="0">
              <a:buNone/>
            </a:pPr>
            <a:endParaRPr lang="fr-FR" sz="3200" b="1" u="sng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6FD59-2D4E-7598-EAD1-09E5FCCC9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8875" y="2330326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/>
              <a:t>Mettre les crampons dans les trous placés en dessous de la raquette</a:t>
            </a:r>
          </a:p>
          <a:p>
            <a:r>
              <a:rPr lang="fr-FR" sz="2400"/>
              <a:t>Serrer avec les vis sur la partie supérieure</a:t>
            </a:r>
            <a:endParaRPr lang="en-US" sz="2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B23D25-5C1C-4CC6-A40E-72395D749C9D}"/>
              </a:ext>
            </a:extLst>
          </p:cNvPr>
          <p:cNvSpPr/>
          <p:nvPr/>
        </p:nvSpPr>
        <p:spPr>
          <a:xfrm>
            <a:off x="519154" y="1317394"/>
            <a:ext cx="11303305" cy="78729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7C1810-29EB-96C8-F0FE-9FF46ED677C5}"/>
              </a:ext>
            </a:extLst>
          </p:cNvPr>
          <p:cNvSpPr txBox="1"/>
          <p:nvPr/>
        </p:nvSpPr>
        <p:spPr>
          <a:xfrm>
            <a:off x="524863" y="1330903"/>
            <a:ext cx="11265814" cy="804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200" b="1" u="sng">
                <a:solidFill>
                  <a:srgbClr val="C00000"/>
                </a:solidFill>
              </a:rPr>
              <a:t>Attention :</a:t>
            </a:r>
            <a:r>
              <a:rPr lang="fr-FR" sz="2000"/>
              <a:t> Les crampons peuvent tomber en retournant la raquette</a:t>
            </a:r>
            <a:endParaRPr lang="en-US" sz="20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000"/>
              <a:t>=&gt; Utiliser une autre raquette afin de caler les crampons et ensuite retourner la raquette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4BE759-3791-2CF4-948B-AA9A76F18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5" t="25448" r="4570" b="18962"/>
          <a:stretch>
            <a:fillRect/>
          </a:stretch>
        </p:blipFill>
        <p:spPr>
          <a:xfrm rot="5400000">
            <a:off x="-31174" y="4166011"/>
            <a:ext cx="3515154" cy="153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BA6CED-C8CF-ED8F-8926-A76BBD2CCD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250" t="26204" r="37807" b="28852"/>
          <a:stretch>
            <a:fillRect/>
          </a:stretch>
        </p:blipFill>
        <p:spPr>
          <a:xfrm rot="5400000">
            <a:off x="3150640" y="2983643"/>
            <a:ext cx="1573487" cy="2311669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72F3D3A-9BE2-7D0F-2970-FC50EC95843F}"/>
              </a:ext>
            </a:extLst>
          </p:cNvPr>
          <p:cNvSpPr/>
          <p:nvPr/>
        </p:nvSpPr>
        <p:spPr>
          <a:xfrm>
            <a:off x="3830389" y="3361084"/>
            <a:ext cx="581098" cy="127466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7CCECD9-3FDC-22DF-9CFE-3B0FD57833A8}"/>
              </a:ext>
            </a:extLst>
          </p:cNvPr>
          <p:cNvSpPr/>
          <p:nvPr/>
        </p:nvSpPr>
        <p:spPr>
          <a:xfrm>
            <a:off x="3246518" y="3430356"/>
            <a:ext cx="581098" cy="127466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3F7C8D-84AA-1460-6F1D-0CE8598314A3}"/>
              </a:ext>
            </a:extLst>
          </p:cNvPr>
          <p:cNvCxnSpPr/>
          <p:nvPr/>
        </p:nvCxnSpPr>
        <p:spPr>
          <a:xfrm>
            <a:off x="3497618" y="4708332"/>
            <a:ext cx="14468" cy="941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AE9209-FC7C-AB46-B9A9-454A562B30E7}"/>
              </a:ext>
            </a:extLst>
          </p:cNvPr>
          <p:cNvCxnSpPr>
            <a:cxnSpLocks/>
          </p:cNvCxnSpPr>
          <p:nvPr/>
        </p:nvCxnSpPr>
        <p:spPr>
          <a:xfrm>
            <a:off x="4111176" y="4629163"/>
            <a:ext cx="14468" cy="941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4A85C09-3C9A-E94A-4E55-BBC884F4A059}"/>
              </a:ext>
            </a:extLst>
          </p:cNvPr>
          <p:cNvSpPr txBox="1"/>
          <p:nvPr/>
        </p:nvSpPr>
        <p:spPr>
          <a:xfrm>
            <a:off x="2490621" y="5573805"/>
            <a:ext cx="15145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Crampons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BEBFC4-1F38-0672-222B-54D0A0016ABD}"/>
              </a:ext>
            </a:extLst>
          </p:cNvPr>
          <p:cNvSpPr txBox="1"/>
          <p:nvPr/>
        </p:nvSpPr>
        <p:spPr>
          <a:xfrm>
            <a:off x="3826595" y="5573805"/>
            <a:ext cx="15145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Vis 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746ED4-5966-0F19-D32D-41FB2C4CCC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2" t="27499" r="-1012" b="6383"/>
          <a:stretch>
            <a:fillRect/>
          </a:stretch>
        </p:blipFill>
        <p:spPr>
          <a:xfrm>
            <a:off x="7141276" y="4145444"/>
            <a:ext cx="4888681" cy="24585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DD7F8EB-CD28-92AF-7A1C-301C9FD8D8C5}"/>
              </a:ext>
            </a:extLst>
          </p:cNvPr>
          <p:cNvSpPr txBox="1"/>
          <p:nvPr/>
        </p:nvSpPr>
        <p:spPr>
          <a:xfrm>
            <a:off x="7281099" y="4187052"/>
            <a:ext cx="12107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DESSUS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0BA4C2-6543-0CBD-FFBD-06B8872D9B62}"/>
              </a:ext>
            </a:extLst>
          </p:cNvPr>
          <p:cNvSpPr txBox="1"/>
          <p:nvPr/>
        </p:nvSpPr>
        <p:spPr>
          <a:xfrm>
            <a:off x="7281099" y="6106896"/>
            <a:ext cx="12107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DESSOUS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91D112-7ABC-E18B-CC3A-896FA2C486D8}"/>
              </a:ext>
            </a:extLst>
          </p:cNvPr>
          <p:cNvSpPr/>
          <p:nvPr/>
        </p:nvSpPr>
        <p:spPr>
          <a:xfrm>
            <a:off x="1191887" y="4247395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42A624A-6335-E144-11D9-D62F15E7C067}"/>
              </a:ext>
            </a:extLst>
          </p:cNvPr>
          <p:cNvSpPr/>
          <p:nvPr/>
        </p:nvSpPr>
        <p:spPr>
          <a:xfrm>
            <a:off x="1934094" y="4247395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31BE229-03D1-FA80-A91A-64BBF71BE4EF}"/>
              </a:ext>
            </a:extLst>
          </p:cNvPr>
          <p:cNvSpPr/>
          <p:nvPr/>
        </p:nvSpPr>
        <p:spPr>
          <a:xfrm>
            <a:off x="1330432" y="5029186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4013F6F-07EC-2856-18AE-BCAFDB8E2F84}"/>
              </a:ext>
            </a:extLst>
          </p:cNvPr>
          <p:cNvSpPr/>
          <p:nvPr/>
        </p:nvSpPr>
        <p:spPr>
          <a:xfrm>
            <a:off x="1795549" y="5029187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FFBA4E-460C-D672-AE79-6AD6C78DC1D2}"/>
              </a:ext>
            </a:extLst>
          </p:cNvPr>
          <p:cNvSpPr/>
          <p:nvPr/>
        </p:nvSpPr>
        <p:spPr>
          <a:xfrm>
            <a:off x="1795548" y="5801082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C2BDCA6-0EA8-E55F-79C1-55AC301BC03B}"/>
              </a:ext>
            </a:extLst>
          </p:cNvPr>
          <p:cNvSpPr/>
          <p:nvPr/>
        </p:nvSpPr>
        <p:spPr>
          <a:xfrm>
            <a:off x="1330432" y="5801083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1			Module inférieur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8DDB-E4DD-39D5-3CB6-21D40C53C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568" y="1449448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 u="sng"/>
              <a:t>Matériel nécessaire :</a:t>
            </a:r>
          </a:p>
          <a:p>
            <a:pPr marL="0" indent="0">
              <a:buNone/>
            </a:pPr>
            <a:r>
              <a:rPr lang="fr-FR" sz="2400"/>
              <a:t>Module précédent - Vis type B x6 - Plaquette anti dérapement  x1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887" y="1251651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/>
              <a:t>Placer la plaquette sur les trous correspondant et la fixer avec les vis type B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7D782-07F1-1903-6248-0B141A739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65" r="1586" b="-193"/>
          <a:stretch>
            <a:fillRect/>
          </a:stretch>
        </p:blipFill>
        <p:spPr>
          <a:xfrm>
            <a:off x="544285" y="2723246"/>
            <a:ext cx="4324106" cy="36788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662FB1-3467-F41D-9F11-A7982F4EE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237" y="2592779"/>
            <a:ext cx="5512130" cy="413409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C793D5B-E68C-8070-1360-41831A6607FE}"/>
              </a:ext>
            </a:extLst>
          </p:cNvPr>
          <p:cNvSpPr/>
          <p:nvPr/>
        </p:nvSpPr>
        <p:spPr>
          <a:xfrm>
            <a:off x="7297783" y="4257291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8E746A-B7FC-701D-890E-DA64698F63E8}"/>
              </a:ext>
            </a:extLst>
          </p:cNvPr>
          <p:cNvSpPr/>
          <p:nvPr/>
        </p:nvSpPr>
        <p:spPr>
          <a:xfrm>
            <a:off x="7297783" y="4890642"/>
            <a:ext cx="269047" cy="302678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7DB601-FFF3-CAD2-CF43-092DAE6D765B}"/>
              </a:ext>
            </a:extLst>
          </p:cNvPr>
          <p:cNvSpPr/>
          <p:nvPr/>
        </p:nvSpPr>
        <p:spPr>
          <a:xfrm>
            <a:off x="8416044" y="4108849"/>
            <a:ext cx="417487" cy="109436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75421C-8A20-C16F-0C12-9AAF26867A5D}"/>
              </a:ext>
            </a:extLst>
          </p:cNvPr>
          <p:cNvSpPr/>
          <p:nvPr/>
        </p:nvSpPr>
        <p:spPr>
          <a:xfrm>
            <a:off x="10157758" y="4108849"/>
            <a:ext cx="417487" cy="1094366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5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2			Module Arrière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8DDB-E4DD-39D5-3CB6-21D40C53C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8783" y="2088384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/>
              <a:t>Matériel nécessaire :</a:t>
            </a:r>
          </a:p>
          <a:p>
            <a:r>
              <a:rPr lang="fr-FR" sz="2400"/>
              <a:t>Fixations de la talonnière x2 – Talonnière x1 - Embase arrière x1 – Vis type C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2783" y="2088383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400"/>
              <a:t>Placer une fixation à l’arrière de la talonnière , installer la charnière dans les fixations, faire un bras de levier pour placer la 2</a:t>
            </a:r>
            <a:r>
              <a:rPr lang="fr-FR" sz="2400" baseline="30000"/>
              <a:t>e</a:t>
            </a:r>
            <a:r>
              <a:rPr lang="fr-FR" sz="2400"/>
              <a:t> fixation</a:t>
            </a:r>
          </a:p>
          <a:p>
            <a:r>
              <a:rPr lang="fr-FR" sz="2400"/>
              <a:t>Visser les fixations à l’embase</a:t>
            </a:r>
          </a:p>
          <a:p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BBD600-83E7-D5BB-CBA7-6AC1AF9B9729}"/>
              </a:ext>
            </a:extLst>
          </p:cNvPr>
          <p:cNvSpPr/>
          <p:nvPr/>
        </p:nvSpPr>
        <p:spPr>
          <a:xfrm>
            <a:off x="548842" y="1149160"/>
            <a:ext cx="11303305" cy="78729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4DB87133-F85D-4569-0867-23D41E5610EC}"/>
              </a:ext>
            </a:extLst>
          </p:cNvPr>
          <p:cNvSpPr txBox="1"/>
          <p:nvPr/>
        </p:nvSpPr>
        <p:spPr>
          <a:xfrm>
            <a:off x="554551" y="1162669"/>
            <a:ext cx="11265814" cy="8040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200" b="1" u="sng">
                <a:solidFill>
                  <a:srgbClr val="C00000"/>
                </a:solidFill>
              </a:rPr>
              <a:t>Attention :</a:t>
            </a:r>
            <a:r>
              <a:rPr lang="fr-FR" sz="2000"/>
              <a:t> </a:t>
            </a:r>
            <a:r>
              <a:rPr lang="fr-FR"/>
              <a:t>Au sens de la talonnière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CB0DE-0793-4FB9-06AE-661E299F1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86445" y="4161310"/>
            <a:ext cx="2761015" cy="21053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A225E2-1F90-5E9D-3861-7D56DF9A75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21" t="15590" r="18781" b="163"/>
          <a:stretch>
            <a:fillRect/>
          </a:stretch>
        </p:blipFill>
        <p:spPr>
          <a:xfrm rot="5400000">
            <a:off x="9040029" y="4037283"/>
            <a:ext cx="2759133" cy="25381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1FE17A-7497-F749-336C-7B1C7702B4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38" t="-106" r="25067" b="2890"/>
          <a:stretch>
            <a:fillRect/>
          </a:stretch>
        </p:blipFill>
        <p:spPr>
          <a:xfrm rot="5400000">
            <a:off x="5864661" y="3683651"/>
            <a:ext cx="2430030" cy="338723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DC24AC-77BF-81BC-9A3E-D2ED9D705D43}"/>
              </a:ext>
            </a:extLst>
          </p:cNvPr>
          <p:cNvCxnSpPr/>
          <p:nvPr/>
        </p:nvCxnSpPr>
        <p:spPr>
          <a:xfrm>
            <a:off x="1691437" y="4567886"/>
            <a:ext cx="607911" cy="6223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4FDA6E-FDEB-3D81-023E-523FA382EFA5}"/>
              </a:ext>
            </a:extLst>
          </p:cNvPr>
          <p:cNvSpPr txBox="1"/>
          <p:nvPr/>
        </p:nvSpPr>
        <p:spPr>
          <a:xfrm>
            <a:off x="202637" y="3935606"/>
            <a:ext cx="167326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La </a:t>
            </a:r>
            <a:r>
              <a:rPr lang="en-US" err="1"/>
              <a:t>talonnière</a:t>
            </a:r>
            <a:r>
              <a:rPr lang="en-US"/>
              <a:t>  doit </a:t>
            </a:r>
            <a:r>
              <a:rPr lang="en-US" err="1"/>
              <a:t>être</a:t>
            </a:r>
            <a:r>
              <a:rPr lang="en-US"/>
              <a:t> dans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sens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3A77148-E80B-0333-120F-D387554B55A0}"/>
              </a:ext>
            </a:extLst>
          </p:cNvPr>
          <p:cNvSpPr/>
          <p:nvPr/>
        </p:nvSpPr>
        <p:spPr>
          <a:xfrm>
            <a:off x="9305647" y="4880614"/>
            <a:ext cx="581098" cy="127466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4C0E1D-3B0E-8467-4B47-639840E28B20}"/>
              </a:ext>
            </a:extLst>
          </p:cNvPr>
          <p:cNvSpPr/>
          <p:nvPr/>
        </p:nvSpPr>
        <p:spPr>
          <a:xfrm>
            <a:off x="10792776" y="4733131"/>
            <a:ext cx="581098" cy="127466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3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3  		Module supérieur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8DDB-E4DD-39D5-3CB6-21D40C53C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577" y="12541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Matériel nécessaire :</a:t>
            </a:r>
          </a:p>
          <a:p>
            <a:r>
              <a:rPr lang="fr-FR"/>
              <a:t>Module avant – Module arrière – Cache inférieur – Système à ressort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871" y="1254125"/>
            <a:ext cx="5181600" cy="4351338"/>
          </a:xfrm>
        </p:spPr>
        <p:txBody>
          <a:bodyPr>
            <a:normAutofit/>
          </a:bodyPr>
          <a:lstStyle/>
          <a:p>
            <a:r>
              <a:rPr lang="fr-FR" sz="2000"/>
              <a:t>Placer le système à ressort dans l’encoche à l’arrière du capot avant</a:t>
            </a:r>
          </a:p>
          <a:p>
            <a:r>
              <a:rPr lang="fr-FR" sz="2000"/>
              <a:t>Placer la réglette du module arrière sous le module avant </a:t>
            </a:r>
          </a:p>
          <a:p>
            <a:r>
              <a:rPr lang="fr-FR" sz="2000"/>
              <a:t>Retourner l’ensemble et placer le cache inférieur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1890611-8674-0453-F4D8-5B79206E1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793" y="3124262"/>
            <a:ext cx="2539924" cy="337981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4C8A884-750C-FF89-DD6C-1F3A7A66E6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92" t="9231" r="16835" b="13590"/>
          <a:stretch>
            <a:fillRect/>
          </a:stretch>
        </p:blipFill>
        <p:spPr>
          <a:xfrm>
            <a:off x="453838" y="3118003"/>
            <a:ext cx="2129115" cy="337296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83664DF-AF54-88B4-8C70-92802094A7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18" t="3075" r="-218" b="18297"/>
          <a:stretch>
            <a:fillRect/>
          </a:stretch>
        </p:blipFill>
        <p:spPr>
          <a:xfrm>
            <a:off x="3591485" y="2933929"/>
            <a:ext cx="3059208" cy="3733798"/>
          </a:xfrm>
          <a:prstGeom prst="rect">
            <a:avLst/>
          </a:prstGeom>
        </p:spPr>
      </p:pic>
      <p:sp>
        <p:nvSpPr>
          <p:cNvPr id="10" name="Signe Plus 9">
            <a:extLst>
              <a:ext uri="{FF2B5EF4-FFF2-40B4-BE49-F238E27FC236}">
                <a16:creationId xmlns:a16="http://schemas.microsoft.com/office/drawing/2014/main" id="{04D56696-36F5-98C6-361D-14D3540765AB}"/>
              </a:ext>
            </a:extLst>
          </p:cNvPr>
          <p:cNvSpPr/>
          <p:nvPr/>
        </p:nvSpPr>
        <p:spPr>
          <a:xfrm>
            <a:off x="2177041" y="3821191"/>
            <a:ext cx="1747863" cy="1976893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t égal à 10">
            <a:extLst>
              <a:ext uri="{FF2B5EF4-FFF2-40B4-BE49-F238E27FC236}">
                <a16:creationId xmlns:a16="http://schemas.microsoft.com/office/drawing/2014/main" id="{5D6F0218-5CA7-ABC0-28A9-A6735595B2BE}"/>
              </a:ext>
            </a:extLst>
          </p:cNvPr>
          <p:cNvSpPr/>
          <p:nvPr/>
        </p:nvSpPr>
        <p:spPr>
          <a:xfrm>
            <a:off x="6951720" y="4100313"/>
            <a:ext cx="1771972" cy="139829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088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4 	Module avant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8DDB-E4DD-39D5-3CB6-21D40C53C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7430" y="1713870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/>
              <a:t>Matériel nécessaire :</a:t>
            </a:r>
          </a:p>
          <a:p>
            <a:r>
              <a:rPr lang="fr-FR" sz="2400"/>
              <a:t>Capot avant x1 – Sangle de serrage x2 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5842" y="1713869"/>
            <a:ext cx="5181600" cy="9335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fr-FR"/>
          </a:p>
          <a:p>
            <a:pPr>
              <a:buNone/>
            </a:pP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92FB61-9FBF-901A-EDB3-68A04ED030ED}"/>
              </a:ext>
            </a:extLst>
          </p:cNvPr>
          <p:cNvSpPr/>
          <p:nvPr/>
        </p:nvSpPr>
        <p:spPr>
          <a:xfrm>
            <a:off x="548842" y="1149160"/>
            <a:ext cx="11303305" cy="4175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578908-93D6-0E4E-2D1A-BC3932D72154}"/>
              </a:ext>
            </a:extLst>
          </p:cNvPr>
          <p:cNvSpPr txBox="1"/>
          <p:nvPr/>
        </p:nvSpPr>
        <p:spPr>
          <a:xfrm>
            <a:off x="554551" y="1151464"/>
            <a:ext cx="11288225" cy="804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200" b="1" u="sng">
                <a:solidFill>
                  <a:srgbClr val="C00000"/>
                </a:solidFill>
              </a:rPr>
              <a:t>Attention :</a:t>
            </a:r>
            <a:r>
              <a:rPr lang="fr-FR" sz="2000"/>
              <a:t> </a:t>
            </a:r>
            <a:r>
              <a:rPr lang="fr-FR"/>
              <a:t>Attention les sangles doivent être accrochés dans le 2</a:t>
            </a:r>
            <a:r>
              <a:rPr lang="fr-FR" sz="1200" baseline="30000"/>
              <a:t>e</a:t>
            </a:r>
            <a:r>
              <a:rPr lang="fr-FR"/>
              <a:t> trou après avoir passé le cache central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00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443C7BA-B385-C00E-6151-4D1669F2D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56990" y="3948446"/>
            <a:ext cx="2272625" cy="3051977"/>
          </a:xfrm>
          <a:prstGeom prst="rect">
            <a:avLst/>
          </a:prstGeom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EDF6CE2A-4432-EEE9-37AD-521BDB3115D7}"/>
              </a:ext>
            </a:extLst>
          </p:cNvPr>
          <p:cNvCxnSpPr/>
          <p:nvPr/>
        </p:nvCxnSpPr>
        <p:spPr>
          <a:xfrm>
            <a:off x="1609377" y="4089688"/>
            <a:ext cx="329560" cy="149422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7AC67A-9418-AE93-080B-029983991571}"/>
              </a:ext>
            </a:extLst>
          </p:cNvPr>
          <p:cNvSpPr txBox="1"/>
          <p:nvPr/>
        </p:nvSpPr>
        <p:spPr>
          <a:xfrm>
            <a:off x="259368" y="3707015"/>
            <a:ext cx="3057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ATTENTION :2eme trou 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16D912-FB54-127F-1CFA-365CFC0DE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08853" y="4267814"/>
            <a:ext cx="3121744" cy="2353598"/>
          </a:xfrm>
          <a:prstGeom prst="rect">
            <a:avLst/>
          </a:prstGeom>
        </p:spPr>
      </p:pic>
      <p:cxnSp>
        <p:nvCxnSpPr>
          <p:cNvPr id="12" name="Connecteur droit avec flèche 4">
            <a:extLst>
              <a:ext uri="{FF2B5EF4-FFF2-40B4-BE49-F238E27FC236}">
                <a16:creationId xmlns:a16="http://schemas.microsoft.com/office/drawing/2014/main" id="{194CBE2A-DB37-23F8-C613-F69EE5297D18}"/>
              </a:ext>
            </a:extLst>
          </p:cNvPr>
          <p:cNvCxnSpPr>
            <a:cxnSpLocks/>
          </p:cNvCxnSpPr>
          <p:nvPr/>
        </p:nvCxnSpPr>
        <p:spPr>
          <a:xfrm flipV="1">
            <a:off x="5517700" y="5792847"/>
            <a:ext cx="1165300" cy="5435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4">
            <a:extLst>
              <a:ext uri="{FF2B5EF4-FFF2-40B4-BE49-F238E27FC236}">
                <a16:creationId xmlns:a16="http://schemas.microsoft.com/office/drawing/2014/main" id="{752EBF9B-BDEB-3466-63D8-FB56FFF6952D}"/>
              </a:ext>
            </a:extLst>
          </p:cNvPr>
          <p:cNvCxnSpPr>
            <a:cxnSpLocks/>
          </p:cNvCxnSpPr>
          <p:nvPr/>
        </p:nvCxnSpPr>
        <p:spPr>
          <a:xfrm flipH="1" flipV="1">
            <a:off x="7948902" y="5743683"/>
            <a:ext cx="948635" cy="21413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55A17A9-B207-B373-04F5-AFA8406DA611}"/>
              </a:ext>
            </a:extLst>
          </p:cNvPr>
          <p:cNvSpPr txBox="1">
            <a:spLocks/>
          </p:cNvSpPr>
          <p:nvPr/>
        </p:nvSpPr>
        <p:spPr>
          <a:xfrm>
            <a:off x="5773444" y="1718786"/>
            <a:ext cx="644750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/>
              <a:t>Insérer les deux sangle de serrage sur le coté de manière à créer un triangle qui pointe vers le devant de la chaussure</a:t>
            </a:r>
            <a:endParaRPr lang="en-US" sz="200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en-US" sz="2000" err="1"/>
              <a:t>Insérer</a:t>
            </a:r>
            <a:r>
              <a:rPr lang="en-US" sz="2000"/>
              <a:t> le capot avant dans les </a:t>
            </a:r>
            <a:r>
              <a:rPr lang="en-US" sz="2000" err="1"/>
              <a:t>trous</a:t>
            </a:r>
            <a:r>
              <a:rPr lang="en-US" sz="2000"/>
              <a:t> </a:t>
            </a:r>
            <a:r>
              <a:rPr lang="en-US" sz="2000" err="1"/>
              <a:t>situés</a:t>
            </a:r>
            <a:r>
              <a:rPr lang="en-US" sz="2000"/>
              <a:t> sur le </a:t>
            </a:r>
            <a:r>
              <a:rPr lang="en-US" sz="2000" err="1"/>
              <a:t>devant</a:t>
            </a:r>
            <a:r>
              <a:rPr lang="en-US" sz="2000"/>
              <a:t> de la chaussure sur le </a:t>
            </a:r>
            <a:r>
              <a:rPr lang="en-US" sz="2000" err="1"/>
              <a:t>côté</a:t>
            </a:r>
            <a:r>
              <a:rPr lang="en-US" sz="2000"/>
              <a:t> </a:t>
            </a:r>
            <a:r>
              <a:rPr lang="en-US" sz="2000" err="1"/>
              <a:t>puis</a:t>
            </a:r>
            <a:r>
              <a:rPr lang="en-US" sz="2000"/>
              <a:t> </a:t>
            </a:r>
            <a:r>
              <a:rPr lang="en-US" sz="2000" err="1"/>
              <a:t>mettre</a:t>
            </a:r>
            <a:r>
              <a:rPr lang="en-US" sz="2000"/>
              <a:t> les </a:t>
            </a:r>
            <a:r>
              <a:rPr lang="en-US" sz="2000" err="1"/>
              <a:t>sangles</a:t>
            </a:r>
            <a:r>
              <a:rPr lang="en-US" sz="2000"/>
              <a:t> dans la </a:t>
            </a:r>
            <a:r>
              <a:rPr lang="en-US" sz="2000" err="1"/>
              <a:t>languette</a:t>
            </a:r>
            <a:r>
              <a:rPr lang="en-US" sz="2000"/>
              <a:t> du capot</a:t>
            </a:r>
          </a:p>
          <a:p>
            <a:endParaRPr lang="fr-FR" sz="2000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3D5A37-E6CA-0202-40F3-5ECF0D4AD5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567" t="16239" r="18384"/>
          <a:stretch>
            <a:fillRect/>
          </a:stretch>
        </p:blipFill>
        <p:spPr>
          <a:xfrm rot="5400000">
            <a:off x="8899261" y="4113338"/>
            <a:ext cx="2612244" cy="2403756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2F71888D-0274-243E-E2A7-60AF59D5B8F3}"/>
              </a:ext>
            </a:extLst>
          </p:cNvPr>
          <p:cNvSpPr/>
          <p:nvPr/>
        </p:nvSpPr>
        <p:spPr>
          <a:xfrm>
            <a:off x="10559262" y="5482838"/>
            <a:ext cx="617967" cy="46350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C151C9-8BFB-3BD6-8416-DE91F7A23C6A}"/>
              </a:ext>
            </a:extLst>
          </p:cNvPr>
          <p:cNvSpPr/>
          <p:nvPr/>
        </p:nvSpPr>
        <p:spPr>
          <a:xfrm>
            <a:off x="10374906" y="4622515"/>
            <a:ext cx="802321" cy="451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03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5			Module Arrière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8DDB-E4DD-39D5-3CB6-21D40C53C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757" y="1709928"/>
            <a:ext cx="5181600" cy="15498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/>
              <a:t>Matériel nécessaire :</a:t>
            </a:r>
          </a:p>
          <a:p>
            <a:r>
              <a:rPr lang="fr-FR" sz="2400"/>
              <a:t>Embase arrière x1 – Charnière x1 – Barrette x 1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4635" y="1709928"/>
            <a:ext cx="5170395" cy="12136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sz="2400"/>
              <a:t>Capot avant (gauche) </a:t>
            </a:r>
            <a:endParaRPr lang="fr-FR"/>
          </a:p>
          <a:p>
            <a:pPr marL="0" indent="0">
              <a:buNone/>
            </a:pPr>
            <a:r>
              <a:rPr lang="fr-FR" sz="2400"/>
              <a:t>     avec fermeture à gauche</a:t>
            </a:r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82D3FD-5BAC-CD79-34C3-3004552B11B4}"/>
              </a:ext>
            </a:extLst>
          </p:cNvPr>
          <p:cNvSpPr/>
          <p:nvPr/>
        </p:nvSpPr>
        <p:spPr>
          <a:xfrm>
            <a:off x="548842" y="1160365"/>
            <a:ext cx="11280894" cy="40629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05C33C-B671-35E6-944A-A349804BD6BF}"/>
              </a:ext>
            </a:extLst>
          </p:cNvPr>
          <p:cNvSpPr txBox="1"/>
          <p:nvPr/>
        </p:nvSpPr>
        <p:spPr>
          <a:xfrm>
            <a:off x="554551" y="1162669"/>
            <a:ext cx="11265814" cy="804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200" b="1" u="sng">
                <a:solidFill>
                  <a:srgbClr val="C00000"/>
                </a:solidFill>
              </a:rPr>
              <a:t>Attention :</a:t>
            </a:r>
            <a:r>
              <a:rPr lang="fr-FR" sz="2000"/>
              <a:t> </a:t>
            </a:r>
            <a:r>
              <a:rPr lang="fr-FR"/>
              <a:t>Attention au sens de la barrette, la tête de la barrette va dans la sangle de droite.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fr-FR" sz="200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B85543-F36C-786C-EDC3-ABAA1EFFA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623701" y="4046725"/>
            <a:ext cx="3353362" cy="108416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43B7EB3-AB11-0A7E-CD34-B4F5E203E7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05" b="30762"/>
          <a:stretch>
            <a:fillRect/>
          </a:stretch>
        </p:blipFill>
        <p:spPr>
          <a:xfrm>
            <a:off x="834838" y="2915761"/>
            <a:ext cx="3339353" cy="258617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5C4308-94AB-7B17-C604-F290245319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85" b="7292"/>
          <a:stretch>
            <a:fillRect/>
          </a:stretch>
        </p:blipFill>
        <p:spPr>
          <a:xfrm>
            <a:off x="6790764" y="3172853"/>
            <a:ext cx="4560795" cy="2824647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948EF398-2D7A-5A16-0978-E79A8597F9A2}"/>
              </a:ext>
            </a:extLst>
          </p:cNvPr>
          <p:cNvCxnSpPr/>
          <p:nvPr/>
        </p:nvCxnSpPr>
        <p:spPr>
          <a:xfrm flipH="1" flipV="1">
            <a:off x="2014978" y="4775222"/>
            <a:ext cx="2967262" cy="82807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C0C3D4A4-02BB-951C-B377-C02D73C4ED41}"/>
              </a:ext>
            </a:extLst>
          </p:cNvPr>
          <p:cNvCxnSpPr>
            <a:cxnSpLocks/>
          </p:cNvCxnSpPr>
          <p:nvPr/>
        </p:nvCxnSpPr>
        <p:spPr>
          <a:xfrm flipH="1">
            <a:off x="2855419" y="3406942"/>
            <a:ext cx="2238880" cy="71833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F2BC016-FAD6-BCA8-BC24-B7F4BF6B131B}"/>
              </a:ext>
            </a:extLst>
          </p:cNvPr>
          <p:cNvCxnSpPr/>
          <p:nvPr/>
        </p:nvCxnSpPr>
        <p:spPr>
          <a:xfrm flipH="1">
            <a:off x="7450224" y="2095025"/>
            <a:ext cx="481705" cy="233029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C8F3F6BA-3913-0ED1-46D6-6E398AC519CD}"/>
              </a:ext>
            </a:extLst>
          </p:cNvPr>
          <p:cNvCxnSpPr>
            <a:cxnSpLocks/>
          </p:cNvCxnSpPr>
          <p:nvPr/>
        </p:nvCxnSpPr>
        <p:spPr>
          <a:xfrm flipH="1">
            <a:off x="10005164" y="2599289"/>
            <a:ext cx="436883" cy="274491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791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4			Module supérieur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8DDB-E4DD-39D5-3CB6-21D40C53C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577" y="996390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Matériel nécessaire :</a:t>
            </a:r>
          </a:p>
          <a:p>
            <a:r>
              <a:rPr lang="fr-FR"/>
              <a:t>Module précédent – Griffe – Vis Type C</a:t>
            </a:r>
          </a:p>
          <a:p>
            <a:endParaRPr lang="fr-FR"/>
          </a:p>
          <a:p>
            <a:pPr marL="0" indent="0">
              <a:buNone/>
            </a:pPr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1577" y="1254125"/>
            <a:ext cx="5181600" cy="4351338"/>
          </a:xfrm>
        </p:spPr>
        <p:txBody>
          <a:bodyPr/>
          <a:lstStyle/>
          <a:p>
            <a:r>
              <a:rPr lang="fr-FR"/>
              <a:t>Plaquer la griffe à l’avant et en dessous du module</a:t>
            </a:r>
          </a:p>
          <a:p>
            <a:r>
              <a:rPr lang="fr-FR"/>
              <a:t>Visser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F409BB-01AA-ED65-BB1B-05807AC53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6103" y="2454087"/>
            <a:ext cx="3115236" cy="411256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34995E8-B585-7C0F-6068-1FB5CE9FD4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68" t="33218" r="23529" b="12459"/>
          <a:stretch>
            <a:fillRect/>
          </a:stretch>
        </p:blipFill>
        <p:spPr>
          <a:xfrm>
            <a:off x="1316692" y="2449979"/>
            <a:ext cx="3451426" cy="372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5 		Raquette de neige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38DDB-E4DD-39D5-3CB6-21D40C53C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577" y="996390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/>
              <a:t>Matériel nécessaire :</a:t>
            </a:r>
          </a:p>
          <a:p>
            <a:r>
              <a:rPr lang="fr-FR"/>
              <a:t>Module inférieur x1 – Module supérieur x1 – Poussoirs de blocage x2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4342" y="996390"/>
            <a:ext cx="5181600" cy="4351338"/>
          </a:xfrm>
        </p:spPr>
        <p:txBody>
          <a:bodyPr/>
          <a:lstStyle/>
          <a:p>
            <a:r>
              <a:rPr lang="fr-FR"/>
              <a:t>Placer les modules l’un sur l’autre </a:t>
            </a:r>
          </a:p>
          <a:p>
            <a:r>
              <a:rPr lang="fr-FR"/>
              <a:t>Fixer en faisant glisser les poussoirs de blocage sur les parties adaptées des modules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BD3FE4-8C5A-735C-73D9-A09EB8990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" t="20261" r="-218" b="13562"/>
          <a:stretch>
            <a:fillRect/>
          </a:stretch>
        </p:blipFill>
        <p:spPr>
          <a:xfrm>
            <a:off x="1081368" y="2935940"/>
            <a:ext cx="4224622" cy="372036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19FA679-424F-F3F3-1C3A-8A37141D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04" t="32516" r="17536" b="13928"/>
          <a:stretch>
            <a:fillRect/>
          </a:stretch>
        </p:blipFill>
        <p:spPr>
          <a:xfrm>
            <a:off x="6863604" y="3429000"/>
            <a:ext cx="3120930" cy="304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82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DE31-8E4F-15F0-4E81-1EB1F402A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E512619-8C1A-31B2-0760-B38E05A17A3B}"/>
              </a:ext>
            </a:extLst>
          </p:cNvPr>
          <p:cNvSpPr/>
          <p:nvPr/>
        </p:nvSpPr>
        <p:spPr>
          <a:xfrm>
            <a:off x="-28948" y="202637"/>
            <a:ext cx="12245069" cy="796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71AE53-7BF4-1095-1E01-08FF7D1D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05690"/>
          </a:xfrm>
        </p:spPr>
        <p:txBody>
          <a:bodyPr>
            <a:normAutofit fontScale="90000"/>
          </a:bodyPr>
          <a:lstStyle/>
          <a:p>
            <a:r>
              <a:rPr lang="fr-FR" b="1">
                <a:solidFill>
                  <a:schemeClr val="bg1"/>
                </a:solidFill>
              </a:rPr>
              <a:t>ETAPE 6 		Vérifications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10F7BD-E43A-4117-72F8-272F97CDB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2783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0F97FEF-2287-5F7B-F5E7-FFC3142970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u="sng"/>
              <a:t>Vérifications à effectuer :</a:t>
            </a:r>
          </a:p>
          <a:p>
            <a:r>
              <a:rPr lang="fr-FR"/>
              <a:t>Le sens des pièces correspondent au même pied</a:t>
            </a:r>
          </a:p>
          <a:p>
            <a:r>
              <a:rPr lang="fr-FR"/>
              <a:t>La griffe est fixée</a:t>
            </a:r>
          </a:p>
          <a:p>
            <a:r>
              <a:rPr lang="fr-FR"/>
              <a:t>Les sangles avant passent par le cache central, les accroches sont fixées par le 2</a:t>
            </a:r>
            <a:r>
              <a:rPr lang="fr-FR" baseline="30000"/>
              <a:t>e</a:t>
            </a:r>
            <a:r>
              <a:rPr lang="fr-FR"/>
              <a:t>  trou </a:t>
            </a:r>
          </a:p>
          <a:p>
            <a:r>
              <a:rPr lang="fr-FR"/>
              <a:t>La talonnière est placée dans le bon sens</a:t>
            </a:r>
          </a:p>
          <a:p>
            <a:r>
              <a:rPr lang="fr-FR"/>
              <a:t>Le sens de la sangle arrière est bon et la sangle est passée dans les caches</a:t>
            </a:r>
          </a:p>
          <a:p>
            <a:endParaRPr lang="fr-FR"/>
          </a:p>
          <a:p>
            <a:endParaRPr lang="fr-FR"/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1305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12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RAQUETTE DE NEIGE</vt:lpstr>
      <vt:lpstr>RAQUETTE DE NEIGE</vt:lpstr>
      <vt:lpstr>ETAPE 0  Checking du kitting</vt:lpstr>
      <vt:lpstr>ETAPE 1   Module inférieur</vt:lpstr>
      <vt:lpstr>ETAPE 1   Module inférieur</vt:lpstr>
      <vt:lpstr>ETAPE 2   Module Arrière</vt:lpstr>
      <vt:lpstr>ETAPE 3    Module supérieur</vt:lpstr>
      <vt:lpstr>ETAPE 4  Module avant</vt:lpstr>
      <vt:lpstr>ETAPE 5   Module Arrière</vt:lpstr>
      <vt:lpstr>ETAPE 4   Module supérieur</vt:lpstr>
      <vt:lpstr>ETAPE 5   Raquette de neige</vt:lpstr>
      <vt:lpstr>ETAPE 6   Vérifications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RAQUETTE DE NEIGE</dc:title>
  <dc:creator/>
  <cp:lastModifiedBy>CAMPAN-LOGEROT Ethan</cp:lastModifiedBy>
  <cp:revision>2</cp:revision>
  <dcterms:created xsi:type="dcterms:W3CDTF">2026-09-14T19:38:09Z</dcterms:created>
  <dcterms:modified xsi:type="dcterms:W3CDTF">2026-09-15T11:53:51Z</dcterms:modified>
</cp:coreProperties>
</file>
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Introduction (about 1 minute)
Say: "Today we talk about smart traffic lights. A normal traffic light follows a fixed timer. A smart traffic light looks at the real traffic and adapts."
Key points:
1. It uses real-time data: cameras and sensors count cars and pedestrians.
2. AI (or an adaptive algorithm) analyzes the data and chooses the best timing.
3. The lights change dynamically, not only on a fixed schedule.
4. Result: less waiting, fewer traffic jams, safer roads.
Point at the picture: camera (detects), sensors (measure flow), AI controller (decides), traffic lights (act).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How it works (about 1 minute)
Say: "A smart traffic light works in three steps: Observe, Decide, Act."
1. OBSERVE – Cameras and sensors detect cars, pedestrians and the traffic flow.
2. DECIDE – The AI controller receives this data and chooses the best timing for each direction.
3. ACT – The traffic lights change their green, yellow and red times in real time.
Then it repeats, all day long. This loop is the heart of the system.
Easy words: sensor = a device that measures something; controller = the "brain" that makes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Fixed timer vs smart lights (about 1 minute)
Say: "Imagine two roads. Road A has a long queue. Road B is almost empty."
LEFT – Traditional light: it follows a fixed schedule. Road B still gets green time even if nobody is there, and the cars on Road A keep waiting.
RIGHT – Smart light: sensors see the long queue on Road A, so the system gives it more green time. Road B gets less green time, but safety rules are still respected (for example, pedestrians always have time to cross).
Conclusion: the smart light reacts to what is happening now, so waiting time goes down.
Note: not every smart system uses AI – some use simple rules or optimization algorithms. The important idea is "adaptive".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Benefits and challenges (about 1 minute)
BENEFITS (left): less waiting time, fewer traffic jams, better safety, and in some systems a faster way through intersections for ambulances and fire trucks.
CHALLENGES (right):
- Sensors can fail or be less accurate in rain or darkness.
- Installation and maintenance cost money.
- Privacy: cameras collect data, so it must be protected and limited to what is needed.
- Safety first: the system must never create dangerous or confusing signals.
Conclusion: the goal is not just faster cars, it is safer and more efficient movement for everyone (cars, pedestrians, cyclists, buses).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– Cyber-physical system, future, conclusion (about 1 minute)
Say: "Smart traffic lights are a perfect example of a cyber-physical system, or CPS."
A CPS = computing systems that monitor and control a physical environment.
- Physical world: roads, cars and pedestrians.
- Digital system: sensors collect data, AI analyzes it.
- Physical action: the traffic lights change.
Then the loop starts again.
Future: connected cars will share information with the traffic lights, and AI will predict traffic before jams appear.
Final message: real-world data + smart algorithms = smarter cities.
Then say "Thank you, any questions?"
Possible questions and short answers:
- Do all smart lights use AI? No, some use simple rules or optimization.
- Is it safe? Yes, if designed with minimum green times and safety rules.
- What about privacy? Data should be protected and limited to what is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F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LIGHTS  •  CYBER-PHYSICAL SYSTEMS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Lights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Reduces Traffic Jams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</a:rPr>
              <a:t>What are smart traffic lights?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8973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7465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Use real-time data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45"/>
                </a:solidFill>
              </a:rPr>
              <a:t>Sensors and cameras count vehicles and pedestrians.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386584"/>
            <a:ext cx="457200" cy="457200"/>
          </a:xfrm>
          <a:prstGeom prst="ellipse">
            <a:avLst/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0088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3500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Apply AI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45"/>
                </a:solidFill>
              </a:rPr>
              <a:t>The system decides the best timing for each direction.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990088"/>
            <a:ext cx="457200" cy="457200"/>
          </a:xfrm>
          <a:prstGeom prst="ellipse">
            <a:avLst/>
          </a:prstGeom>
          <a:solidFill>
            <a:srgbClr val="E7E0F8"/>
          </a:solidFill>
          <a:ln w="12700">
            <a:solidFill>
              <a:srgbClr val="E7E0F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0438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9535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Change the lights live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45"/>
                </a:solidFill>
              </a:rPr>
              <a:t>Not a fixed schedule: timing adapts in real time.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593592"/>
            <a:ext cx="457200" cy="457200"/>
          </a:xfrm>
          <a:prstGeom prst="ellipse">
            <a:avLst/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07892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5570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</a:rPr>
              <a:t>Smoother, safer traffic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B45"/>
                </a:solidFill>
              </a:rPr>
              <a:t>Less waiting, fewer jams, better safety.</a:t>
            </a:r>
            <a:endParaRPr lang="en-US" sz="1400" dirty="0"/>
          </a:p>
        </p:txBody>
      </p:sp>
      <p:pic>
        <p:nvPicPr>
          <p:cNvPr id="17" name="Image 4" descr="Smart intersection with camera, sensors, AI controller and traffic light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83480" y="1371600"/>
            <a:ext cx="3703320" cy="33467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Observe, Decide, 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A smart intersection repeats this loop all day.</a:t>
            </a:r>
            <a:endParaRPr lang="en-US" sz="1600" dirty="0"/>
          </a:p>
        </p:txBody>
      </p:sp>
      <p:sp>
        <p:nvSpPr>
          <p:cNvPr id="4" name="Step card 1"/>
          <p:cNvSpPr/>
          <p:nvPr/>
        </p:nvSpPr>
        <p:spPr>
          <a:xfrm>
            <a:off x="457200" y="146304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5" name="Step card 1 accent"/>
          <p:cNvSpPr/>
          <p:nvPr/>
        </p:nvSpPr>
        <p:spPr>
          <a:xfrm>
            <a:off x="457200" y="1600200"/>
            <a:ext cx="64008" cy="2194560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691640"/>
            <a:ext cx="731520" cy="73152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745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5FBF"/>
                </a:solidFill>
              </a:rPr>
              <a:t>1. OBSERVE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B"/>
                </a:solidFill>
              </a:rPr>
              <a:t>Cameras &amp; Sensors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B45"/>
                </a:solidFill>
              </a:rPr>
              <a:t>They detect vehicles, pedestrians and traffic flow.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560320"/>
            <a:ext cx="274320" cy="274320"/>
          </a:xfrm>
          <a:prstGeom prst="rect">
            <a:avLst/>
          </a:prstGeom>
        </p:spPr>
      </p:pic>
      <p:sp>
        <p:nvSpPr>
          <p:cNvPr id="12" name="Step card 2"/>
          <p:cNvSpPr/>
          <p:nvPr/>
        </p:nvSpPr>
        <p:spPr>
          <a:xfrm>
            <a:off x="3291840" y="146304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13" name="Step card 2 accent"/>
          <p:cNvSpPr/>
          <p:nvPr/>
        </p:nvSpPr>
        <p:spPr>
          <a:xfrm>
            <a:off x="3291840" y="1600200"/>
            <a:ext cx="64008" cy="2194560"/>
          </a:xfrm>
          <a:prstGeom prst="rect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E7E0F8"/>
          </a:solidFill>
          <a:ln w="12700">
            <a:solidFill>
              <a:srgbClr val="E7E0F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874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CD6"/>
                </a:solidFill>
              </a:rPr>
              <a:t>2. DECIDE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B"/>
                </a:solidFill>
              </a:rPr>
              <a:t>AI Controller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347472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B45"/>
                </a:solidFill>
              </a:rPr>
              <a:t>It analyzes the data and chooses the best signal timing.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560320"/>
            <a:ext cx="274320" cy="274320"/>
          </a:xfrm>
          <a:prstGeom prst="rect">
            <a:avLst/>
          </a:prstGeom>
        </p:spPr>
      </p:pic>
      <p:sp>
        <p:nvSpPr>
          <p:cNvPr id="20" name="Step card 3"/>
          <p:cNvSpPr/>
          <p:nvPr/>
        </p:nvSpPr>
        <p:spPr>
          <a:xfrm>
            <a:off x="6126480" y="146304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21" name="Step card 3 accent"/>
          <p:cNvSpPr/>
          <p:nvPr/>
        </p:nvSpPr>
        <p:spPr>
          <a:xfrm>
            <a:off x="6126480" y="1600200"/>
            <a:ext cx="64008" cy="2194560"/>
          </a:xfrm>
          <a:prstGeom prst="rect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40880" y="1691640"/>
            <a:ext cx="731520" cy="731520"/>
          </a:xfrm>
          <a:prstGeom prst="ellipse">
            <a:avLst/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8745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26364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9E5A"/>
                </a:solidFill>
              </a:rPr>
              <a:t>3. ACT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2636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B"/>
                </a:solidFill>
              </a:rPr>
              <a:t>Traffic Lights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630936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B45"/>
                </a:solidFill>
              </a:rPr>
              <a:t>Green, yellow and red times change in real time.</a:t>
            </a:r>
            <a:endParaRPr lang="en-US" sz="1300" dirty="0"/>
          </a:p>
        </p:txBody>
      </p:sp>
      <p:sp>
        <p:nvSpPr>
          <p:cNvPr id="27" name="Loop banner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FBF"/>
                </a:solidFill>
              </a:rPr>
              <a:t>Then the loop starts again: the system keeps adjusting to the traffic.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Timer vs Smart Lights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Example: Road A has a long queue, Road B is almost empty.</a:t>
            </a:r>
            <a:endParaRPr lang="en-US" sz="1600" dirty="0"/>
          </a:p>
        </p:txBody>
      </p:sp>
      <p:sp>
        <p:nvSpPr>
          <p:cNvPr id="4" name="Compare card 1"/>
          <p:cNvSpPr/>
          <p:nvPr/>
        </p:nvSpPr>
        <p:spPr>
          <a:xfrm>
            <a:off x="457200" y="141732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5" name="Compare card 1 accent"/>
          <p:cNvSpPr/>
          <p:nvPr/>
        </p:nvSpPr>
        <p:spPr>
          <a:xfrm>
            <a:off x="457200" y="1554480"/>
            <a:ext cx="64008" cy="24688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554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B"/>
                </a:solidFill>
              </a:rPr>
              <a:t>Traditional light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</a:rPr>
              <a:t>Fixed schedule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45"/>
                </a:solidFill>
              </a:rPr>
              <a:t>Same timing all day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45"/>
                </a:solidFill>
              </a:rPr>
              <a:t>Road B gets green even if empty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45"/>
                </a:solidFill>
              </a:rPr>
              <a:t>Road A cars keep waiting</a:t>
            </a:r>
            <a:endParaRPr lang="en-US" sz="1500" dirty="0"/>
          </a:p>
        </p:txBody>
      </p:sp>
      <p:sp>
        <p:nvSpPr>
          <p:cNvPr id="10" name="Result 1"/>
          <p:cNvSpPr/>
          <p:nvPr/>
        </p:nvSpPr>
        <p:spPr>
          <a:xfrm>
            <a:off x="731520" y="356616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</a:rPr>
              <a:t>Long waiting time</a:t>
            </a:r>
            <a:endParaRPr lang="en-US" sz="1400" dirty="0"/>
          </a:p>
        </p:txBody>
      </p:sp>
      <p:sp>
        <p:nvSpPr>
          <p:cNvPr id="12" name="Compare card 2"/>
          <p:cNvSpPr/>
          <p:nvPr/>
        </p:nvSpPr>
        <p:spPr>
          <a:xfrm>
            <a:off x="4663440" y="141732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13" name="Compare card 2 accent"/>
          <p:cNvSpPr/>
          <p:nvPr/>
        </p:nvSpPr>
        <p:spPr>
          <a:xfrm>
            <a:off x="4663440" y="1554480"/>
            <a:ext cx="64008" cy="2468880"/>
          </a:xfrm>
          <a:prstGeom prst="rect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37760" y="1600200"/>
            <a:ext cx="548640" cy="548640"/>
          </a:xfrm>
          <a:prstGeom prst="ellipse">
            <a:avLst/>
          </a:prstGeom>
          <a:solidFill>
            <a:srgbClr val="E4F6EC"/>
          </a:solidFill>
          <a:ln w="12700">
            <a:solidFill>
              <a:srgbClr val="E4F6E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23560" y="1554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4B"/>
                </a:solidFill>
              </a:rPr>
              <a:t>Smart light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9E5A"/>
                </a:solidFill>
              </a:rPr>
              <a:t>Adaptive, real-time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4983480" y="23774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45"/>
                </a:solidFill>
              </a:rPr>
              <a:t>Sensors see the long queue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45"/>
                </a:solidFill>
              </a:rPr>
              <a:t>Road A gets more green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B45"/>
                </a:solidFill>
              </a:rPr>
              <a:t>Road B gets less, safely</a:t>
            </a:r>
            <a:endParaRPr lang="en-US" sz="1500" dirty="0"/>
          </a:p>
        </p:txBody>
      </p:sp>
      <p:sp>
        <p:nvSpPr>
          <p:cNvPr id="18" name="Result 2"/>
          <p:cNvSpPr/>
          <p:nvPr/>
        </p:nvSpPr>
        <p:spPr>
          <a:xfrm>
            <a:off x="4937760" y="356616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E4F6EC"/>
          </a:solidFill>
          <a:ln w="12700">
            <a:solidFill>
              <a:srgbClr val="E4F6E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93776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9E5A"/>
                </a:solidFill>
              </a:rPr>
              <a:t>Shorter waiting time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BF"/>
                </a:solidFill>
              </a:rPr>
              <a:t>Smart lights react to what is happening now.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Challenges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Smart traffic lights help a lot, but they must be designed carefully.</a:t>
            </a:r>
            <a:endParaRPr lang="en-US" sz="1600" dirty="0"/>
          </a:p>
        </p:txBody>
      </p:sp>
      <p:sp>
        <p:nvSpPr>
          <p:cNvPr id="4" name="List card 1"/>
          <p:cNvSpPr/>
          <p:nvPr/>
        </p:nvSpPr>
        <p:spPr>
          <a:xfrm>
            <a:off x="457200" y="141732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5" name="List card 1 accent"/>
          <p:cNvSpPr/>
          <p:nvPr/>
        </p:nvSpPr>
        <p:spPr>
          <a:xfrm>
            <a:off x="457200" y="1554480"/>
            <a:ext cx="64008" cy="2560320"/>
          </a:xfrm>
          <a:prstGeom prst="rect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E4F6EC"/>
          </a:solidFill>
          <a:ln w="12700">
            <a:solidFill>
              <a:srgbClr val="E4F6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4B"/>
                </a:solidFill>
              </a:rPr>
              <a:t>Benefits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317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Less waiting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Fewer traffic jams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Better safety for everyone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Faster way for ambulances</a:t>
            </a:r>
            <a:endParaRPr lang="en-US" sz="1600" dirty="0"/>
          </a:p>
        </p:txBody>
      </p:sp>
      <p:sp>
        <p:nvSpPr>
          <p:cNvPr id="10" name="List card 2"/>
          <p:cNvSpPr/>
          <p:nvPr/>
        </p:nvSpPr>
        <p:spPr>
          <a:xfrm>
            <a:off x="4663440" y="141732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11" name="List card 2 accent"/>
          <p:cNvSpPr/>
          <p:nvPr/>
        </p:nvSpPr>
        <p:spPr>
          <a:xfrm>
            <a:off x="4663440" y="1554480"/>
            <a:ext cx="64008" cy="25603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600200"/>
            <a:ext cx="548640" cy="548640"/>
          </a:xfrm>
          <a:prstGeom prst="ellipse">
            <a:avLst/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4B"/>
                </a:solidFill>
              </a:rPr>
              <a:t>Challenges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23317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Sensors can fail (rain, night)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High cost and maintenance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Privacy: cameras collect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B45"/>
                </a:solidFill>
              </a:rPr>
              <a:t>Must always stay safe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BF"/>
                </a:solidFill>
              </a:rPr>
              <a:t>The goal is not only faster cars, but safer movement for everyone.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Cyber-Physical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8"/>
                </a:solidFill>
              </a:rPr>
              <a:t>Computing systems monitor and control the physical world.</a:t>
            </a:r>
            <a:endParaRPr lang="en-US" sz="1600" dirty="0"/>
          </a:p>
        </p:txBody>
      </p:sp>
      <p:sp>
        <p:nvSpPr>
          <p:cNvPr id="4" name="CPS card 1"/>
          <p:cNvSpPr/>
          <p:nvPr/>
        </p:nvSpPr>
        <p:spPr>
          <a:xfrm>
            <a:off x="45720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5" name="CPS card 1 accent"/>
          <p:cNvSpPr/>
          <p:nvPr/>
        </p:nvSpPr>
        <p:spPr>
          <a:xfrm>
            <a:off x="457200" y="1554480"/>
            <a:ext cx="64008" cy="1097280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00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</a:rPr>
              <a:t>Physical world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B45"/>
                </a:solidFill>
              </a:rPr>
              <a:t>Roads, cars, pedestrians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965960"/>
            <a:ext cx="274320" cy="274320"/>
          </a:xfrm>
          <a:prstGeom prst="rect">
            <a:avLst/>
          </a:prstGeom>
        </p:spPr>
      </p:pic>
      <p:sp>
        <p:nvSpPr>
          <p:cNvPr id="10" name="CPS card 2"/>
          <p:cNvSpPr/>
          <p:nvPr/>
        </p:nvSpPr>
        <p:spPr>
          <a:xfrm>
            <a:off x="329184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11" name="CPS card 2 accent"/>
          <p:cNvSpPr/>
          <p:nvPr/>
        </p:nvSpPr>
        <p:spPr>
          <a:xfrm>
            <a:off x="3291840" y="1554480"/>
            <a:ext cx="64008" cy="1097280"/>
          </a:xfrm>
          <a:prstGeom prst="rect">
            <a:avLst/>
          </a:prstGeom>
          <a:solidFill>
            <a:srgbClr val="7B5CD6"/>
          </a:solidFill>
          <a:ln w="12700">
            <a:solidFill>
              <a:srgbClr val="7B5CD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1828800"/>
            <a:ext cx="548640" cy="548640"/>
          </a:xfrm>
          <a:prstGeom prst="ellipse">
            <a:avLst/>
          </a:prstGeom>
          <a:solidFill>
            <a:srgbClr val="E7E0F8"/>
          </a:solidFill>
          <a:ln w="12700">
            <a:solidFill>
              <a:srgbClr val="E7E0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9659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06240" y="1600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</a:rPr>
              <a:t>Digital system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B45"/>
                </a:solidFill>
              </a:rPr>
              <a:t>Sensors, data, AI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965960"/>
            <a:ext cx="274320" cy="274320"/>
          </a:xfrm>
          <a:prstGeom prst="rect">
            <a:avLst/>
          </a:prstGeom>
        </p:spPr>
      </p:pic>
      <p:sp>
        <p:nvSpPr>
          <p:cNvPr id="16" name="CPS card 3"/>
          <p:cNvSpPr/>
          <p:nvPr/>
        </p:nvSpPr>
        <p:spPr>
          <a:xfrm>
            <a:off x="6126480" y="14173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2F3"/>
            </a:solidFill>
            <a:prstDash val="solid"/>
          </a:ln>
        </p:spPr>
      </p:sp>
      <p:sp>
        <p:nvSpPr>
          <p:cNvPr id="17" name="CPS card 3 accent"/>
          <p:cNvSpPr/>
          <p:nvPr/>
        </p:nvSpPr>
        <p:spPr>
          <a:xfrm>
            <a:off x="6126480" y="1554480"/>
            <a:ext cx="64008" cy="1097280"/>
          </a:xfrm>
          <a:prstGeom prst="rect">
            <a:avLst/>
          </a:prstGeom>
          <a:solidFill>
            <a:srgbClr val="1E9E5A"/>
          </a:solidFill>
          <a:ln w="12700">
            <a:solidFill>
              <a:srgbClr val="1E9E5A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355080" y="1828800"/>
            <a:ext cx="548640" cy="548640"/>
          </a:xfrm>
          <a:prstGeom prst="ellipse">
            <a:avLst/>
          </a:prstGeom>
          <a:solidFill>
            <a:srgbClr val="DDF3E7"/>
          </a:solidFill>
          <a:ln w="12700">
            <a:solidFill>
              <a:srgbClr val="DDF3E7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6596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040880" y="1600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</a:rPr>
              <a:t>Physical action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E2B45"/>
                </a:solidFill>
              </a:rPr>
              <a:t>Traffic lights change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</a:rPr>
              <a:t>What comes next?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B45"/>
                </a:solidFill>
              </a:rPr>
              <a:t>Connected cars talk to the traffic lights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B45"/>
                </a:solidFill>
              </a:rPr>
              <a:t>AI predicts traffic before jams happen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B45"/>
                </a:solidFill>
              </a:rPr>
              <a:t>Smoother traffic, cleaner cities</a:t>
            </a:r>
            <a:endParaRPr lang="en-US" sz="1400" dirty="0"/>
          </a:p>
        </p:txBody>
      </p:sp>
      <p:sp>
        <p:nvSpPr>
          <p:cNvPr id="23" name="Formula box"/>
          <p:cNvSpPr/>
          <p:nvPr/>
        </p:nvSpPr>
        <p:spPr>
          <a:xfrm>
            <a:off x="5303520" y="297180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303520" y="2971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Real-world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+ Smart algorithms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9FD0FF"/>
                </a:solidFill>
              </a:rPr>
              <a:t>= Smarter cities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FBF"/>
                </a:solidFill>
              </a:rPr>
              <a:t>Thank you! Questions?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8006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Traffic">
  <a:themeElements>
    <a:clrScheme name="SmartTraffic">
      <a:dk1>
        <a:srgbClr val="0B1F4B"/>
      </a:dk1>
      <a:lt1>
        <a:srgbClr val="FFFFFF"/>
      </a:lt1>
      <a:dk2>
        <a:srgbClr val="1F5FBF"/>
      </a:dk2>
      <a:lt2>
        <a:srgbClr val="F2F7FC"/>
      </a:lt2>
      <a:accent1>
        <a:srgbClr val="2F80ED"/>
      </a:accent1>
      <a:accent2>
        <a:srgbClr val="1E9E5A"/>
      </a:accent2>
      <a:accent3>
        <a:srgbClr val="7B5CD6"/>
      </a:accent3>
      <a:accent4>
        <a:srgbClr val="F2994A"/>
      </a:accent4>
      <a:accent5>
        <a:srgbClr val="56B4E9"/>
      </a:accent5>
      <a:accent6>
        <a:srgbClr val="D64545"/>
      </a:accent6>
      <a:hlink>
        <a:srgbClr val="2F80ED"/>
      </a:hlink>
      <a:folHlink>
        <a:srgbClr val="7B5CD6"/>
      </a:folHlink>
    </a:clrScheme>
    <a:fontScheme name="SmartTraffi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Traffic Lights – How AI Reduces Traffic Jams</dc:title>
  <dc:subject>PptxGenJS Presentation</dc:subject>
  <dc:creator>PptxGenJS</dc:creator>
  <cp:lastModifiedBy>PptxGenJS</cp:lastModifiedBy>
  <cp:revision>1</cp:revision>
  <dcterms:created xsi:type="dcterms:W3CDTF">2026-10-12T08:27:03Z</dcterms:created>
  <dcterms:modified xsi:type="dcterms:W3CDTF">2026-10-12T08:27:03Z</dcterms:modified>
</cp:coreProperties>
</file>
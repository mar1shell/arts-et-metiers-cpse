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53zF8RNPy0sKSAPCL3BjwHaCo"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2"/>
  </p:notesMasterIdLst>
  <p:sldIdLst>
    <p:sldId id="257" r:id="rId5"/>
    <p:sldId id="581" r:id="rId6"/>
    <p:sldId id="271" r:id="rId7"/>
    <p:sldId id="272" r:id="rId8"/>
    <p:sldId id="582" r:id="rId9"/>
    <p:sldId id="623" r:id="rId10"/>
    <p:sldId id="262" r:id="rId11"/>
    <p:sldId id="261" r:id="rId12"/>
    <p:sldId id="589" r:id="rId13"/>
    <p:sldId id="591" r:id="rId14"/>
    <p:sldId id="509" r:id="rId15"/>
    <p:sldId id="510" r:id="rId16"/>
    <p:sldId id="514" r:id="rId17"/>
    <p:sldId id="512" r:id="rId18"/>
    <p:sldId id="511" r:id="rId19"/>
    <p:sldId id="513" r:id="rId20"/>
    <p:sldId id="515" r:id="rId21"/>
    <p:sldId id="732" r:id="rId22"/>
    <p:sldId id="508" r:id="rId23"/>
    <p:sldId id="518" r:id="rId24"/>
    <p:sldId id="519" r:id="rId25"/>
    <p:sldId id="701" r:id="rId26"/>
    <p:sldId id="599" r:id="rId27"/>
    <p:sldId id="521" r:id="rId28"/>
    <p:sldId id="522" r:id="rId29"/>
    <p:sldId id="275" r:id="rId30"/>
    <p:sldId id="410" r:id="rId31"/>
    <p:sldId id="644" r:id="rId32"/>
    <p:sldId id="523" r:id="rId33"/>
    <p:sldId id="524" r:id="rId34"/>
    <p:sldId id="525" r:id="rId35"/>
    <p:sldId id="730" r:id="rId36"/>
    <p:sldId id="653" r:id="rId37"/>
    <p:sldId id="626" r:id="rId38"/>
    <p:sldId id="620" r:id="rId39"/>
    <p:sldId id="621" r:id="rId40"/>
    <p:sldId id="733" r:id="rId41"/>
    <p:sldId id="723" r:id="rId42"/>
    <p:sldId id="734" r:id="rId43"/>
    <p:sldId id="526" r:id="rId44"/>
    <p:sldId id="528" r:id="rId45"/>
    <p:sldId id="721" r:id="rId46"/>
    <p:sldId id="529" r:id="rId47"/>
    <p:sldId id="264" r:id="rId48"/>
    <p:sldId id="530" r:id="rId49"/>
    <p:sldId id="731" r:id="rId50"/>
    <p:sldId id="606" r:id="rId51"/>
    <p:sldId id="540" r:id="rId52"/>
    <p:sldId id="532" r:id="rId53"/>
    <p:sldId id="654" r:id="rId54"/>
    <p:sldId id="276" r:id="rId55"/>
    <p:sldId id="729" r:id="rId56"/>
    <p:sldId id="728" r:id="rId57"/>
    <p:sldId id="585" r:id="rId58"/>
    <p:sldId id="517" r:id="rId59"/>
    <p:sldId id="610" r:id="rId60"/>
    <p:sldId id="628" r:id="rId61"/>
    <p:sldId id="722" r:id="rId62"/>
    <p:sldId id="598" r:id="rId63"/>
    <p:sldId id="735" r:id="rId64"/>
    <p:sldId id="727" r:id="rId65"/>
    <p:sldId id="742" r:id="rId66"/>
    <p:sldId id="743" r:id="rId67"/>
    <p:sldId id="744" r:id="rId68"/>
    <p:sldId id="630" r:id="rId69"/>
    <p:sldId id="660" r:id="rId70"/>
    <p:sldId id="652" r:id="rId71"/>
    <p:sldId id="578" r:id="rId72"/>
    <p:sldId id="579" r:id="rId73"/>
    <p:sldId id="617" r:id="rId74"/>
    <p:sldId id="595" r:id="rId75"/>
    <p:sldId id="593" r:id="rId76"/>
    <p:sldId id="594" r:id="rId77"/>
    <p:sldId id="748" r:id="rId78"/>
    <p:sldId id="747" r:id="rId79"/>
    <p:sldId id="624" r:id="rId80"/>
    <p:sldId id="547" r:id="rId81"/>
    <p:sldId id="561" r:id="rId82"/>
    <p:sldId id="649" r:id="rId83"/>
    <p:sldId id="562" r:id="rId84"/>
    <p:sldId id="566" r:id="rId85"/>
    <p:sldId id="627" r:id="rId86"/>
    <p:sldId id="650" r:id="rId87"/>
    <p:sldId id="643" r:id="rId88"/>
    <p:sldId id="571" r:id="rId89"/>
    <p:sldId id="749" r:id="rId90"/>
    <p:sldId id="750" r:id="rId91"/>
    <p:sldId id="737" r:id="rId92"/>
    <p:sldId id="751" r:id="rId93"/>
    <p:sldId id="736" r:id="rId94"/>
    <p:sldId id="738" r:id="rId95"/>
    <p:sldId id="569" r:id="rId96"/>
    <p:sldId id="739" r:id="rId97"/>
    <p:sldId id="755" r:id="rId98"/>
    <p:sldId id="625" r:id="rId99"/>
    <p:sldId id="270" r:id="rId100"/>
    <p:sldId id="263" r:id="rId10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276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984ABC-01AD-473F-9F0B-D7B8B8D2BB76}" v="2" dt="2026-10-09T16:50:41.836"/>
  </p1510:revLst>
</p1510:revInfo>
</file>

<file path=ppt/tableStyles.xml><?xml version="1.0" encoding="utf-8"?>
<a:tblStyleLst xmlns:a="http://schemas.openxmlformats.org/drawingml/2006/main" def="{5C22544A-7EE6-4342-B048-85BDC9FD1C3A}">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1" autoAdjust="0"/>
    <p:restoredTop sz="93883" autoAdjust="0"/>
  </p:normalViewPr>
  <p:slideViewPr>
    <p:cSldViewPr snapToGrid="0" showGuides="1">
      <p:cViewPr varScale="1">
        <p:scale>
          <a:sx n="56" d="100"/>
          <a:sy n="56" d="100"/>
        </p:scale>
        <p:origin x="772"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NOUN Carole" userId="5e552abf-59d4-44c0-82ed-20714f34dc30" providerId="ADAL" clId="{F5F41BA8-CB98-4682-BDA0-C9E493005FC1}"/>
    <pc:docChg chg="addSld modSld">
      <pc:chgData name="WAHNOUN Carole" userId="5e552abf-59d4-44c0-82ed-20714f34dc30" providerId="ADAL" clId="{F5F41BA8-CB98-4682-BDA0-C9E493005FC1}" dt="2026-10-09T17:12:37.003" v="7" actId="20577"/>
      <pc:docMkLst>
        <pc:docMk/>
      </pc:docMkLst>
      <pc:sldChg chg="modSp mod">
        <pc:chgData name="WAHNOUN Carole" userId="5e552abf-59d4-44c0-82ed-20714f34dc30" providerId="ADAL" clId="{F5F41BA8-CB98-4682-BDA0-C9E493005FC1}" dt="2026-10-09T17:12:37.003" v="7" actId="20577"/>
        <pc:sldMkLst>
          <pc:docMk/>
          <pc:sldMk cId="3317437792" sldId="257"/>
        </pc:sldMkLst>
        <pc:spChg chg="mod">
          <ac:chgData name="WAHNOUN Carole" userId="5e552abf-59d4-44c0-82ed-20714f34dc30" providerId="ADAL" clId="{F5F41BA8-CB98-4682-BDA0-C9E493005FC1}" dt="2026-10-09T17:12:37.003" v="7" actId="20577"/>
          <ac:spMkLst>
            <pc:docMk/>
            <pc:sldMk cId="3317437792" sldId="257"/>
            <ac:spMk id="3" creationId="{DE5CB1D7-23CC-46E8-A566-CCD3BE426279}"/>
          </ac:spMkLst>
        </pc:spChg>
      </pc:sldChg>
      <pc:sldChg chg="add">
        <pc:chgData name="WAHNOUN Carole" userId="5e552abf-59d4-44c0-82ed-20714f34dc30" providerId="ADAL" clId="{F5F41BA8-CB98-4682-BDA0-C9E493005FC1}" dt="2026-10-09T16:36:54.275" v="0"/>
        <pc:sldMkLst>
          <pc:docMk/>
          <pc:sldMk cId="3868476854" sldId="268"/>
        </pc:sldMkLst>
      </pc:sldChg>
      <pc:sldChg chg="modSp">
        <pc:chgData name="WAHNOUN Carole" userId="5e552abf-59d4-44c0-82ed-20714f34dc30" providerId="ADAL" clId="{F5F41BA8-CB98-4682-BDA0-C9E493005FC1}" dt="2026-10-09T16:50:41.836" v="1"/>
        <pc:sldMkLst>
          <pc:docMk/>
          <pc:sldMk cId="4291468664" sldId="276"/>
        </pc:sldMkLst>
        <pc:spChg chg="mod">
          <ac:chgData name="WAHNOUN Carole" userId="5e552abf-59d4-44c0-82ed-20714f34dc30" providerId="ADAL" clId="{F5F41BA8-CB98-4682-BDA0-C9E493005FC1}" dt="2026-10-09T16:50:41.836" v="1"/>
          <ac:spMkLst>
            <pc:docMk/>
            <pc:sldMk cId="4291468664" sldId="276"/>
            <ac:spMk id="30" creationId="{00000000-0000-0000-0000-000000000000}"/>
          </ac:spMkLst>
        </pc:spChg>
      </pc:sldChg>
      <pc:sldChg chg="add">
        <pc:chgData name="WAHNOUN Carole" userId="5e552abf-59d4-44c0-82ed-20714f34dc30" providerId="ADAL" clId="{F5F41BA8-CB98-4682-BDA0-C9E493005FC1}" dt="2026-10-09T16:36:54.275" v="0"/>
        <pc:sldMkLst>
          <pc:docMk/>
          <pc:sldMk cId="697474990" sldId="547"/>
        </pc:sldMkLst>
      </pc:sldChg>
      <pc:sldChg chg="add">
        <pc:chgData name="WAHNOUN Carole" userId="5e552abf-59d4-44c0-82ed-20714f34dc30" providerId="ADAL" clId="{F5F41BA8-CB98-4682-BDA0-C9E493005FC1}" dt="2026-10-09T16:36:54.275" v="0"/>
        <pc:sldMkLst>
          <pc:docMk/>
          <pc:sldMk cId="3399242497" sldId="561"/>
        </pc:sldMkLst>
      </pc:sldChg>
      <pc:sldChg chg="add">
        <pc:chgData name="WAHNOUN Carole" userId="5e552abf-59d4-44c0-82ed-20714f34dc30" providerId="ADAL" clId="{F5F41BA8-CB98-4682-BDA0-C9E493005FC1}" dt="2026-10-09T16:36:54.275" v="0"/>
        <pc:sldMkLst>
          <pc:docMk/>
          <pc:sldMk cId="4067416446" sldId="562"/>
        </pc:sldMkLst>
      </pc:sldChg>
      <pc:sldChg chg="add">
        <pc:chgData name="WAHNOUN Carole" userId="5e552abf-59d4-44c0-82ed-20714f34dc30" providerId="ADAL" clId="{F5F41BA8-CB98-4682-BDA0-C9E493005FC1}" dt="2026-10-09T16:36:54.275" v="0"/>
        <pc:sldMkLst>
          <pc:docMk/>
          <pc:sldMk cId="1944688084" sldId="566"/>
        </pc:sldMkLst>
      </pc:sldChg>
      <pc:sldChg chg="add">
        <pc:chgData name="WAHNOUN Carole" userId="5e552abf-59d4-44c0-82ed-20714f34dc30" providerId="ADAL" clId="{F5F41BA8-CB98-4682-BDA0-C9E493005FC1}" dt="2026-10-09T16:36:54.275" v="0"/>
        <pc:sldMkLst>
          <pc:docMk/>
          <pc:sldMk cId="674795653" sldId="569"/>
        </pc:sldMkLst>
      </pc:sldChg>
      <pc:sldChg chg="add">
        <pc:chgData name="WAHNOUN Carole" userId="5e552abf-59d4-44c0-82ed-20714f34dc30" providerId="ADAL" clId="{F5F41BA8-CB98-4682-BDA0-C9E493005FC1}" dt="2026-10-09T16:36:54.275" v="0"/>
        <pc:sldMkLst>
          <pc:docMk/>
          <pc:sldMk cId="644591488" sldId="571"/>
        </pc:sldMkLst>
      </pc:sldChg>
      <pc:sldChg chg="add">
        <pc:chgData name="WAHNOUN Carole" userId="5e552abf-59d4-44c0-82ed-20714f34dc30" providerId="ADAL" clId="{F5F41BA8-CB98-4682-BDA0-C9E493005FC1}" dt="2026-10-09T16:36:54.275" v="0"/>
        <pc:sldMkLst>
          <pc:docMk/>
          <pc:sldMk cId="1088910292" sldId="615"/>
        </pc:sldMkLst>
      </pc:sldChg>
      <pc:sldChg chg="add">
        <pc:chgData name="WAHNOUN Carole" userId="5e552abf-59d4-44c0-82ed-20714f34dc30" providerId="ADAL" clId="{F5F41BA8-CB98-4682-BDA0-C9E493005FC1}" dt="2026-10-09T16:36:54.275" v="0"/>
        <pc:sldMkLst>
          <pc:docMk/>
          <pc:sldMk cId="3938834930" sldId="616"/>
        </pc:sldMkLst>
      </pc:sldChg>
      <pc:sldChg chg="add">
        <pc:chgData name="WAHNOUN Carole" userId="5e552abf-59d4-44c0-82ed-20714f34dc30" providerId="ADAL" clId="{F5F41BA8-CB98-4682-BDA0-C9E493005FC1}" dt="2026-10-09T16:36:54.275" v="0"/>
        <pc:sldMkLst>
          <pc:docMk/>
          <pc:sldMk cId="840833190" sldId="627"/>
        </pc:sldMkLst>
      </pc:sldChg>
      <pc:sldChg chg="add">
        <pc:chgData name="WAHNOUN Carole" userId="5e552abf-59d4-44c0-82ed-20714f34dc30" providerId="ADAL" clId="{F5F41BA8-CB98-4682-BDA0-C9E493005FC1}" dt="2026-10-09T16:36:54.275" v="0"/>
        <pc:sldMkLst>
          <pc:docMk/>
          <pc:sldMk cId="475560042" sldId="643"/>
        </pc:sldMkLst>
      </pc:sldChg>
      <pc:sldChg chg="add">
        <pc:chgData name="WAHNOUN Carole" userId="5e552abf-59d4-44c0-82ed-20714f34dc30" providerId="ADAL" clId="{F5F41BA8-CB98-4682-BDA0-C9E493005FC1}" dt="2026-10-09T16:36:54.275" v="0"/>
        <pc:sldMkLst>
          <pc:docMk/>
          <pc:sldMk cId="3775918440" sldId="649"/>
        </pc:sldMkLst>
      </pc:sldChg>
      <pc:sldChg chg="add">
        <pc:chgData name="WAHNOUN Carole" userId="5e552abf-59d4-44c0-82ed-20714f34dc30" providerId="ADAL" clId="{F5F41BA8-CB98-4682-BDA0-C9E493005FC1}" dt="2026-10-09T16:36:54.275" v="0"/>
        <pc:sldMkLst>
          <pc:docMk/>
          <pc:sldMk cId="2809920458" sldId="650"/>
        </pc:sldMkLst>
      </pc:sldChg>
      <pc:sldChg chg="add">
        <pc:chgData name="WAHNOUN Carole" userId="5e552abf-59d4-44c0-82ed-20714f34dc30" providerId="ADAL" clId="{F5F41BA8-CB98-4682-BDA0-C9E493005FC1}" dt="2026-10-09T16:36:54.275" v="0"/>
        <pc:sldMkLst>
          <pc:docMk/>
          <pc:sldMk cId="4279788994" sldId="668"/>
        </pc:sldMkLst>
      </pc:sldChg>
      <pc:sldChg chg="add">
        <pc:chgData name="WAHNOUN Carole" userId="5e552abf-59d4-44c0-82ed-20714f34dc30" providerId="ADAL" clId="{F5F41BA8-CB98-4682-BDA0-C9E493005FC1}" dt="2026-10-09T16:36:54.275" v="0"/>
        <pc:sldMkLst>
          <pc:docMk/>
          <pc:sldMk cId="474457049" sldId="669"/>
        </pc:sldMkLst>
      </pc:sldChg>
      <pc:sldChg chg="add">
        <pc:chgData name="WAHNOUN Carole" userId="5e552abf-59d4-44c0-82ed-20714f34dc30" providerId="ADAL" clId="{F5F41BA8-CB98-4682-BDA0-C9E493005FC1}" dt="2026-10-09T16:36:54.275" v="0"/>
        <pc:sldMkLst>
          <pc:docMk/>
          <pc:sldMk cId="746476470" sldId="736"/>
        </pc:sldMkLst>
      </pc:sldChg>
      <pc:sldChg chg="add">
        <pc:chgData name="WAHNOUN Carole" userId="5e552abf-59d4-44c0-82ed-20714f34dc30" providerId="ADAL" clId="{F5F41BA8-CB98-4682-BDA0-C9E493005FC1}" dt="2026-10-09T16:36:54.275" v="0"/>
        <pc:sldMkLst>
          <pc:docMk/>
          <pc:sldMk cId="902647804" sldId="737"/>
        </pc:sldMkLst>
      </pc:sldChg>
      <pc:sldChg chg="add">
        <pc:chgData name="WAHNOUN Carole" userId="5e552abf-59d4-44c0-82ed-20714f34dc30" providerId="ADAL" clId="{F5F41BA8-CB98-4682-BDA0-C9E493005FC1}" dt="2026-10-09T16:36:54.275" v="0"/>
        <pc:sldMkLst>
          <pc:docMk/>
          <pc:sldMk cId="3089133890" sldId="738"/>
        </pc:sldMkLst>
      </pc:sldChg>
      <pc:sldChg chg="add">
        <pc:chgData name="WAHNOUN Carole" userId="5e552abf-59d4-44c0-82ed-20714f34dc30" providerId="ADAL" clId="{F5F41BA8-CB98-4682-BDA0-C9E493005FC1}" dt="2026-10-09T16:36:54.275" v="0"/>
        <pc:sldMkLst>
          <pc:docMk/>
          <pc:sldMk cId="1591379633" sldId="739"/>
        </pc:sldMkLst>
      </pc:sldChg>
      <pc:sldChg chg="add">
        <pc:chgData name="WAHNOUN Carole" userId="5e552abf-59d4-44c0-82ed-20714f34dc30" providerId="ADAL" clId="{F5F41BA8-CB98-4682-BDA0-C9E493005FC1}" dt="2026-10-09T16:36:54.275" v="0"/>
        <pc:sldMkLst>
          <pc:docMk/>
          <pc:sldMk cId="2664136581" sldId="749"/>
        </pc:sldMkLst>
      </pc:sldChg>
      <pc:sldChg chg="add">
        <pc:chgData name="WAHNOUN Carole" userId="5e552abf-59d4-44c0-82ed-20714f34dc30" providerId="ADAL" clId="{F5F41BA8-CB98-4682-BDA0-C9E493005FC1}" dt="2026-10-09T16:36:54.275" v="0"/>
        <pc:sldMkLst>
          <pc:docMk/>
          <pc:sldMk cId="83093164" sldId="750"/>
        </pc:sldMkLst>
      </pc:sldChg>
      <pc:sldChg chg="add">
        <pc:chgData name="WAHNOUN Carole" userId="5e552abf-59d4-44c0-82ed-20714f34dc30" providerId="ADAL" clId="{F5F41BA8-CB98-4682-BDA0-C9E493005FC1}" dt="2026-10-09T16:36:54.275" v="0"/>
        <pc:sldMkLst>
          <pc:docMk/>
          <pc:sldMk cId="2237663910" sldId="751"/>
        </pc:sldMkLst>
      </pc:sldChg>
      <pc:sldChg chg="add">
        <pc:chgData name="WAHNOUN Carole" userId="5e552abf-59d4-44c0-82ed-20714f34dc30" providerId="ADAL" clId="{F5F41BA8-CB98-4682-BDA0-C9E493005FC1}" dt="2026-10-09T16:36:54.275" v="0"/>
        <pc:sldMkLst>
          <pc:docMk/>
          <pc:sldMk cId="2168790294" sldId="752"/>
        </pc:sldMkLst>
      </pc:sldChg>
      <pc:sldChg chg="add">
        <pc:chgData name="WAHNOUN Carole" userId="5e552abf-59d4-44c0-82ed-20714f34dc30" providerId="ADAL" clId="{F5F41BA8-CB98-4682-BDA0-C9E493005FC1}" dt="2026-10-09T16:36:54.275" v="0"/>
        <pc:sldMkLst>
          <pc:docMk/>
          <pc:sldMk cId="3154420738" sldId="7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338A41-74E5-4286-A4F1-ADF33FA50A6D}"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3899BB-D98C-4354-A68D-7C2430D62E05}" type="slidenum">
              <a:rPr lang="fr-FR" smtClean="0"/>
              <a:t>‹N°›</a:t>
            </a:fld>
            <a:endParaRPr lang="fr-FR"/>
          </a:p>
        </p:txBody>
      </p:sp>
    </p:spTree>
    <p:extLst>
      <p:ext uri="{BB962C8B-B14F-4D97-AF65-F5344CB8AC3E}">
        <p14:creationId xmlns:p14="http://schemas.microsoft.com/office/powerpoint/2010/main" val="405023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1</a:t>
            </a:fld>
            <a:endParaRPr lang="fr-FR"/>
          </a:p>
        </p:txBody>
      </p:sp>
    </p:spTree>
    <p:extLst>
      <p:ext uri="{BB962C8B-B14F-4D97-AF65-F5344CB8AC3E}">
        <p14:creationId xmlns:p14="http://schemas.microsoft.com/office/powerpoint/2010/main" val="2878145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Patents and standards get no lab in this format: this is where they are covered, in five minutes, with the method sheet handed to students.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BBBE1-A320-C88D-5C49-21F3F3FCF4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A0E0B0-E816-DF5D-4850-5EA09789E1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4EBBCE-E3DA-2D25-BF2E-BA395F26FF7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BF537F3-1C89-FC61-497F-F2BEEBD65FB6}"/>
              </a:ext>
            </a:extLst>
          </p:cNvPr>
          <p:cNvSpPr>
            <a:spLocks noGrp="1"/>
          </p:cNvSpPr>
          <p:nvPr>
            <p:ph type="sldNum" sz="quarter" idx="5"/>
          </p:nvPr>
        </p:nvSpPr>
        <p:spPr/>
        <p:txBody>
          <a:bodyPr/>
          <a:lstStyle/>
          <a:p>
            <a:fld id="{733899BB-D98C-4354-A68D-7C2430D62E05}" type="slidenum">
              <a:rPr lang="fr-FR" smtClean="0"/>
              <a:t>18</a:t>
            </a:fld>
            <a:endParaRPr lang="fr-FR"/>
          </a:p>
        </p:txBody>
      </p:sp>
    </p:spTree>
    <p:extLst>
      <p:ext uri="{BB962C8B-B14F-4D97-AF65-F5344CB8AC3E}">
        <p14:creationId xmlns:p14="http://schemas.microsoft.com/office/powerpoint/2010/main" val="15846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Citing: IEEE style in the preferences, word processor plugin for Word or LibreOffice, Better BibTeX for the LaTeX workflow. Never edit a bibliography by hand.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27</a:t>
            </a:fld>
            <a:endParaRPr lang="fr-FR"/>
          </a:p>
        </p:txBody>
      </p:sp>
    </p:spTree>
    <p:extLst>
      <p:ext uri="{BB962C8B-B14F-4D97-AF65-F5344CB8AC3E}">
        <p14:creationId xmlns:p14="http://schemas.microsoft.com/office/powerpoint/2010/main" val="3977569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AB619-170F-3D36-E24B-7B4819E77A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0EBE45-52F5-AE22-9AAB-F85A98360DC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8A0032A-0A18-80AF-BBF2-A3754AF940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8CD0FF0-603E-2333-2A11-D9875FE7155C}"/>
              </a:ext>
            </a:extLst>
          </p:cNvPr>
          <p:cNvSpPr>
            <a:spLocks noGrp="1"/>
          </p:cNvSpPr>
          <p:nvPr>
            <p:ph type="sldNum" sz="quarter" idx="5"/>
          </p:nvPr>
        </p:nvSpPr>
        <p:spPr/>
        <p:txBody>
          <a:bodyPr/>
          <a:lstStyle/>
          <a:p>
            <a:fld id="{041FB620-634C-470F-894B-6857D3E14A12}" type="slidenum">
              <a:rPr lang="fr-FR" smtClean="0"/>
              <a:t>28</a:t>
            </a:fld>
            <a:endParaRPr lang="fr-FR"/>
          </a:p>
        </p:txBody>
      </p:sp>
    </p:spTree>
    <p:extLst>
      <p:ext uri="{BB962C8B-B14F-4D97-AF65-F5344CB8AC3E}">
        <p14:creationId xmlns:p14="http://schemas.microsoft.com/office/powerpoint/2010/main" val="2186414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exercise live on the demonstration topic, two minutes, before launching the lab.</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habit that best survives leaving school. It only costs the time it takes to explain it.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3 is the one students discover here. Take the time for the example: a source that exists, that is relevant, and that does not support the sentence.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45</a:t>
            </a:fld>
            <a:endParaRPr lang="fr-FR"/>
          </a:p>
        </p:txBody>
      </p:sp>
    </p:spTree>
    <p:extLst>
      <p:ext uri="{BB962C8B-B14F-4D97-AF65-F5344CB8AC3E}">
        <p14:creationId xmlns:p14="http://schemas.microsoft.com/office/powerpoint/2010/main" val="1551962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49</a:t>
            </a:fld>
            <a:endParaRPr lang="fr-FR"/>
          </a:p>
        </p:txBody>
      </p:sp>
    </p:spTree>
    <p:extLst>
      <p:ext uri="{BB962C8B-B14F-4D97-AF65-F5344CB8AC3E}">
        <p14:creationId xmlns:p14="http://schemas.microsoft.com/office/powerpoint/2010/main" val="106949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logique vaut pour les articles : partir d'un article pivot, lire ses termes d'indexation, les réinjecter. Le dire explicitement.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194578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B8321-6DE9-4E20-8005-791F0B1E7C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32D967-BC83-5274-68F7-585CAF1331B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7F53EE7-0006-9C1A-B01B-C85C7CAA085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7D7FD6C-049C-9495-8BC8-E5038279751F}"/>
              </a:ext>
            </a:extLst>
          </p:cNvPr>
          <p:cNvSpPr>
            <a:spLocks noGrp="1"/>
          </p:cNvSpPr>
          <p:nvPr>
            <p:ph type="sldNum" sz="quarter" idx="5"/>
          </p:nvPr>
        </p:nvSpPr>
        <p:spPr/>
        <p:txBody>
          <a:bodyPr/>
          <a:lstStyle/>
          <a:p>
            <a:fld id="{041FB620-634C-470F-894B-6857D3E14A12}" type="slidenum">
              <a:rPr lang="fr-FR" smtClean="0"/>
              <a:t>52</a:t>
            </a:fld>
            <a:endParaRPr lang="fr-FR"/>
          </a:p>
        </p:txBody>
      </p:sp>
    </p:spTree>
    <p:extLst>
      <p:ext uri="{BB962C8B-B14F-4D97-AF65-F5344CB8AC3E}">
        <p14:creationId xmlns:p14="http://schemas.microsoft.com/office/powerpoint/2010/main" val="3965379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56</a:t>
            </a:fld>
            <a:endParaRPr lang="fr-FR"/>
          </a:p>
        </p:txBody>
      </p:sp>
    </p:spTree>
    <p:extLst>
      <p:ext uri="{BB962C8B-B14F-4D97-AF65-F5344CB8AC3E}">
        <p14:creationId xmlns:p14="http://schemas.microsoft.com/office/powerpoint/2010/main" val="3617870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F7AA3-9AA9-0C71-4650-188A9A61CF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1A7F53-A118-C8C6-E29C-21FBD8F480A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6CF0F91-1F0A-5699-82CB-F278E4B7D93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3E87830-DF0A-0704-7EA5-11EA103EFDF7}"/>
              </a:ext>
            </a:extLst>
          </p:cNvPr>
          <p:cNvSpPr>
            <a:spLocks noGrp="1"/>
          </p:cNvSpPr>
          <p:nvPr>
            <p:ph type="sldNum" sz="quarter" idx="5"/>
          </p:nvPr>
        </p:nvSpPr>
        <p:spPr/>
        <p:txBody>
          <a:bodyPr/>
          <a:lstStyle/>
          <a:p>
            <a:fld id="{041FB620-634C-470F-894B-6857D3E14A12}" type="slidenum">
              <a:rPr lang="fr-FR" smtClean="0"/>
              <a:t>58</a:t>
            </a:fld>
            <a:endParaRPr lang="fr-FR"/>
          </a:p>
        </p:txBody>
      </p:sp>
    </p:spTree>
    <p:extLst>
      <p:ext uri="{BB962C8B-B14F-4D97-AF65-F5344CB8AC3E}">
        <p14:creationId xmlns:p14="http://schemas.microsoft.com/office/powerpoint/2010/main" val="2160068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live that a reference lives in three collections without duplication. That is misconception number one, and thirty seconds of demonstration fixes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895229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3899BB-D98C-4354-A68D-7C2430D62E05}" type="slidenum">
              <a:rPr lang="fr-FR" smtClean="0"/>
              <a:t>80</a:t>
            </a:fld>
            <a:endParaRPr lang="fr-FR"/>
          </a:p>
        </p:txBody>
      </p:sp>
    </p:spTree>
    <p:extLst>
      <p:ext uri="{BB962C8B-B14F-4D97-AF65-F5344CB8AC3E}">
        <p14:creationId xmlns:p14="http://schemas.microsoft.com/office/powerpoint/2010/main" val="34596491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AC3BF236-852E-F690-50AD-FB39ADE398BB}"/>
              </a:ext>
            </a:extLst>
          </p:cNvPr>
          <p:cNvPicPr>
            <a:picLocks noChangeAspect="1"/>
          </p:cNvPicPr>
          <p:nvPr userDrawn="1"/>
        </p:nvPicPr>
        <p:blipFill>
          <a:blip r:embed="rId2"/>
          <a:srcRect/>
          <a:stretch/>
        </p:blipFill>
        <p:spPr>
          <a:xfrm>
            <a:off x="122" y="3363"/>
            <a:ext cx="12191756" cy="6854637"/>
          </a:xfrm>
          <a:prstGeom prst="rect">
            <a:avLst/>
          </a:prstGeom>
        </p:spPr>
      </p:pic>
      <p:sp>
        <p:nvSpPr>
          <p:cNvPr id="7" name="Espace réservé du texte 9">
            <a:extLst>
              <a:ext uri="{FF2B5EF4-FFF2-40B4-BE49-F238E27FC236}">
                <a16:creationId xmlns:a16="http://schemas.microsoft.com/office/drawing/2014/main" id="{E1D0A7E8-BCA6-0658-A005-02B481DBC8DA}"/>
              </a:ext>
            </a:extLst>
          </p:cNvPr>
          <p:cNvSpPr>
            <a:spLocks noGrp="1"/>
          </p:cNvSpPr>
          <p:nvPr>
            <p:ph type="body" sz="quarter" idx="12" hasCustomPrompt="1"/>
          </p:nvPr>
        </p:nvSpPr>
        <p:spPr>
          <a:xfrm>
            <a:off x="0" y="2930236"/>
            <a:ext cx="12192000" cy="997527"/>
          </a:xfrm>
        </p:spPr>
        <p:txBody>
          <a:bodyPr>
            <a:noAutofit/>
          </a:bodyPr>
          <a:lstStyle>
            <a:lvl1pPr marL="0" indent="0" algn="ctr">
              <a:buNone/>
              <a:defRPr sz="6600" b="0" baseline="0">
                <a:solidFill>
                  <a:srgbClr val="80276C"/>
                </a:solidFill>
                <a:latin typeface="Verdana" panose="020B0604030504040204" pitchFamily="34" charset="0"/>
                <a:ea typeface="Verdana" panose="020B0604030504040204" pitchFamily="34" charset="0"/>
              </a:defRPr>
            </a:lvl1pPr>
          </a:lstStyle>
          <a:p>
            <a:pPr lvl="0"/>
            <a:r>
              <a:rPr lang="fr-FR" dirty="0"/>
              <a:t>Titre 1</a:t>
            </a:r>
          </a:p>
        </p:txBody>
      </p:sp>
      <p:sp>
        <p:nvSpPr>
          <p:cNvPr id="9" name="Espace réservé du numéro de diapositive 3">
            <a:extLst>
              <a:ext uri="{FF2B5EF4-FFF2-40B4-BE49-F238E27FC236}">
                <a16:creationId xmlns:a16="http://schemas.microsoft.com/office/drawing/2014/main" id="{8D7F84FC-E33D-F3A8-B4CB-BBB1D0484709}"/>
              </a:ext>
            </a:extLst>
          </p:cNvPr>
          <p:cNvSpPr txBox="1">
            <a:spLocks/>
          </p:cNvSpPr>
          <p:nvPr userDrawn="1"/>
        </p:nvSpPr>
        <p:spPr>
          <a:xfrm>
            <a:off x="11251198" y="6341439"/>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Tree>
    <p:extLst>
      <p:ext uri="{BB962C8B-B14F-4D97-AF65-F5344CB8AC3E}">
        <p14:creationId xmlns:p14="http://schemas.microsoft.com/office/powerpoint/2010/main" val="16121760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9F05684-A652-DBA5-EE0C-5E601844A659}"/>
              </a:ext>
            </a:extLst>
          </p:cNvPr>
          <p:cNvPicPr>
            <a:picLocks noChangeAspect="1"/>
          </p:cNvPicPr>
          <p:nvPr userDrawn="1"/>
        </p:nvPicPr>
        <p:blipFill>
          <a:blip r:embed="rId2"/>
          <a:srcRect/>
          <a:stretch/>
        </p:blipFill>
        <p:spPr>
          <a:xfrm>
            <a:off x="0" y="2454"/>
            <a:ext cx="12192000" cy="6854773"/>
          </a:xfrm>
          <a:prstGeom prst="rect">
            <a:avLst/>
          </a:prstGeom>
        </p:spPr>
      </p:pic>
      <p:sp>
        <p:nvSpPr>
          <p:cNvPr id="7" name="Espace réservé du texte 9">
            <a:extLst>
              <a:ext uri="{FF2B5EF4-FFF2-40B4-BE49-F238E27FC236}">
                <a16:creationId xmlns:a16="http://schemas.microsoft.com/office/drawing/2014/main" id="{E1D0A7E8-BCA6-0658-A005-02B481DBC8DA}"/>
              </a:ext>
            </a:extLst>
          </p:cNvPr>
          <p:cNvSpPr>
            <a:spLocks noGrp="1"/>
          </p:cNvSpPr>
          <p:nvPr>
            <p:ph type="body" sz="quarter" idx="12" hasCustomPrompt="1"/>
          </p:nvPr>
        </p:nvSpPr>
        <p:spPr>
          <a:xfrm>
            <a:off x="1059578" y="1205223"/>
            <a:ext cx="8191240" cy="594446"/>
          </a:xfrm>
        </p:spPr>
        <p:txBody>
          <a:bodyPr>
            <a:noAutofit/>
          </a:bodyPr>
          <a:lstStyle>
            <a:lvl1pPr marL="0" indent="0">
              <a:buNone/>
              <a:defRPr sz="3600" b="1" baseline="0">
                <a:solidFill>
                  <a:srgbClr val="80276C"/>
                </a:solidFill>
                <a:latin typeface="Verdana" panose="020B0604030504040204" pitchFamily="34" charset="0"/>
                <a:ea typeface="Verdana" panose="020B0604030504040204" pitchFamily="34" charset="0"/>
              </a:defRPr>
            </a:lvl1pPr>
          </a:lstStyle>
          <a:p>
            <a:pPr lvl="0"/>
            <a:r>
              <a:rPr lang="fr-FR" dirty="0"/>
              <a:t>Titre intercalaire</a:t>
            </a:r>
          </a:p>
        </p:txBody>
      </p:sp>
      <p:sp>
        <p:nvSpPr>
          <p:cNvPr id="8" name="Espace réservé du texte 11">
            <a:extLst>
              <a:ext uri="{FF2B5EF4-FFF2-40B4-BE49-F238E27FC236}">
                <a16:creationId xmlns:a16="http://schemas.microsoft.com/office/drawing/2014/main" id="{34A5C769-67D9-ADB7-B081-1A74AC3710BE}"/>
              </a:ext>
            </a:extLst>
          </p:cNvPr>
          <p:cNvSpPr>
            <a:spLocks noGrp="1"/>
          </p:cNvSpPr>
          <p:nvPr>
            <p:ph type="body" sz="quarter" idx="13" hasCustomPrompt="1"/>
          </p:nvPr>
        </p:nvSpPr>
        <p:spPr>
          <a:xfrm>
            <a:off x="1064180" y="2025701"/>
            <a:ext cx="8195732" cy="372367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a:solidFill>
                  <a:srgbClr val="80276C"/>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Sous-titre Texte</a:t>
            </a:r>
          </a:p>
        </p:txBody>
      </p:sp>
      <p:sp>
        <p:nvSpPr>
          <p:cNvPr id="4" name="Espace réservé du numéro de diapositive 3">
            <a:extLst>
              <a:ext uri="{FF2B5EF4-FFF2-40B4-BE49-F238E27FC236}">
                <a16:creationId xmlns:a16="http://schemas.microsoft.com/office/drawing/2014/main" id="{5128104C-1B30-022E-B8AA-43E26334B137}"/>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Tree>
    <p:extLst>
      <p:ext uri="{BB962C8B-B14F-4D97-AF65-F5344CB8AC3E}">
        <p14:creationId xmlns:p14="http://schemas.microsoft.com/office/powerpoint/2010/main" val="2587016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AABE1F2-41C0-3FC3-59D8-E098661DD133}"/>
              </a:ext>
            </a:extLst>
          </p:cNvPr>
          <p:cNvPicPr>
            <a:picLocks noChangeAspect="1"/>
          </p:cNvPicPr>
          <p:nvPr userDrawn="1"/>
        </p:nvPicPr>
        <p:blipFill>
          <a:blip r:embed="rId2"/>
          <a:srcRect/>
          <a:stretch/>
        </p:blipFill>
        <p:spPr>
          <a:xfrm>
            <a:off x="0" y="2454"/>
            <a:ext cx="12192000" cy="6854773"/>
          </a:xfrm>
          <a:prstGeom prst="rect">
            <a:avLst/>
          </a:prstGeom>
        </p:spPr>
      </p:pic>
      <p:sp>
        <p:nvSpPr>
          <p:cNvPr id="8" name="Espace réservé du texte 9">
            <a:extLst>
              <a:ext uri="{FF2B5EF4-FFF2-40B4-BE49-F238E27FC236}">
                <a16:creationId xmlns:a16="http://schemas.microsoft.com/office/drawing/2014/main" id="{E952C408-3D63-8C69-4EE4-FA33CB668C5E}"/>
              </a:ext>
            </a:extLst>
          </p:cNvPr>
          <p:cNvSpPr>
            <a:spLocks noGrp="1"/>
          </p:cNvSpPr>
          <p:nvPr>
            <p:ph type="body" sz="quarter" idx="12" hasCustomPrompt="1"/>
          </p:nvPr>
        </p:nvSpPr>
        <p:spPr>
          <a:xfrm>
            <a:off x="1087880" y="1226290"/>
            <a:ext cx="8191240" cy="594446"/>
          </a:xfrm>
        </p:spPr>
        <p:txBody>
          <a:bodyPr>
            <a:noAutofit/>
          </a:bodyPr>
          <a:lstStyle>
            <a:lvl1pPr marL="0" indent="0">
              <a:buNone/>
              <a:defRPr sz="3600" b="1" baseline="0">
                <a:solidFill>
                  <a:srgbClr val="80276C"/>
                </a:solidFill>
                <a:latin typeface="Verdana" panose="020B0604030504040204" pitchFamily="34" charset="0"/>
                <a:ea typeface="Verdana" panose="020B0604030504040204" pitchFamily="34" charset="0"/>
              </a:defRPr>
            </a:lvl1pPr>
          </a:lstStyle>
          <a:p>
            <a:pPr lvl="0"/>
            <a:r>
              <a:rPr lang="fr-FR" dirty="0"/>
              <a:t>Sommaire</a:t>
            </a:r>
          </a:p>
        </p:txBody>
      </p:sp>
      <p:sp>
        <p:nvSpPr>
          <p:cNvPr id="9" name="Espace réservé du texte 11">
            <a:extLst>
              <a:ext uri="{FF2B5EF4-FFF2-40B4-BE49-F238E27FC236}">
                <a16:creationId xmlns:a16="http://schemas.microsoft.com/office/drawing/2014/main" id="{4233FA15-032F-34B4-570A-3000D9A572C8}"/>
              </a:ext>
            </a:extLst>
          </p:cNvPr>
          <p:cNvSpPr>
            <a:spLocks noGrp="1"/>
          </p:cNvSpPr>
          <p:nvPr>
            <p:ph type="body" sz="quarter" idx="13" hasCustomPrompt="1"/>
          </p:nvPr>
        </p:nvSpPr>
        <p:spPr>
          <a:xfrm>
            <a:off x="1087880" y="2035975"/>
            <a:ext cx="8195732" cy="3723675"/>
          </a:xfrm>
        </p:spPr>
        <p:txBody>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b="1">
                <a:solidFill>
                  <a:srgbClr val="80276C"/>
                </a:solidFill>
                <a:latin typeface="Verdana" panose="020B0604030504040204" pitchFamily="34" charset="0"/>
                <a:ea typeface="Verdana" panose="020B0604030504040204" pitchFamily="34" charset="0"/>
              </a:defRPr>
            </a:lvl1pPr>
          </a:lstStyle>
          <a:p>
            <a:pPr lvl="0"/>
            <a:r>
              <a:rPr lang="fr-FR" dirty="0"/>
              <a:t>Titre 1 </a:t>
            </a:r>
          </a:p>
          <a:p>
            <a:pPr lvl="0"/>
            <a:r>
              <a:rPr lang="fr-FR" dirty="0"/>
              <a:t>Titre 2</a:t>
            </a:r>
          </a:p>
          <a:p>
            <a:pPr lvl="0"/>
            <a:r>
              <a:rPr lang="fr-FR" dirty="0"/>
              <a:t>Titre 3</a:t>
            </a:r>
          </a:p>
          <a:p>
            <a:pPr lvl="0"/>
            <a:r>
              <a:rPr lang="fr-FR" dirty="0"/>
              <a:t>Titre 4</a:t>
            </a:r>
          </a:p>
        </p:txBody>
      </p:sp>
      <p:sp>
        <p:nvSpPr>
          <p:cNvPr id="10" name="Espace réservé du numéro de diapositive 3">
            <a:extLst>
              <a:ext uri="{FF2B5EF4-FFF2-40B4-BE49-F238E27FC236}">
                <a16:creationId xmlns:a16="http://schemas.microsoft.com/office/drawing/2014/main" id="{AF2B4B34-1B20-41B1-60E2-F2B7C0C48165}"/>
              </a:ext>
            </a:extLst>
          </p:cNvPr>
          <p:cNvSpPr txBox="1">
            <a:spLocks/>
          </p:cNvSpPr>
          <p:nvPr userDrawn="1"/>
        </p:nvSpPr>
        <p:spPr>
          <a:xfrm>
            <a:off x="11251198" y="6341439"/>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r-FR" dirty="0">
              <a:solidFill>
                <a:srgbClr val="80276C"/>
              </a:solidFill>
            </a:endParaRPr>
          </a:p>
        </p:txBody>
      </p:sp>
      <p:sp>
        <p:nvSpPr>
          <p:cNvPr id="3" name="Espace réservé du numéro de diapositive 3">
            <a:extLst>
              <a:ext uri="{FF2B5EF4-FFF2-40B4-BE49-F238E27FC236}">
                <a16:creationId xmlns:a16="http://schemas.microsoft.com/office/drawing/2014/main" id="{B1347441-2896-E7AB-28A8-7F557E8EECC9}"/>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Tree>
    <p:extLst>
      <p:ext uri="{BB962C8B-B14F-4D97-AF65-F5344CB8AC3E}">
        <p14:creationId xmlns:p14="http://schemas.microsoft.com/office/powerpoint/2010/main" val="3741955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E5645CF-FEB2-0542-CBB6-C17FF13962DE}"/>
              </a:ext>
            </a:extLst>
          </p:cNvPr>
          <p:cNvPicPr>
            <a:picLocks noChangeAspect="1"/>
          </p:cNvPicPr>
          <p:nvPr userDrawn="1"/>
        </p:nvPicPr>
        <p:blipFill>
          <a:blip r:embed="rId2"/>
          <a:srcRect/>
          <a:stretch/>
        </p:blipFill>
        <p:spPr>
          <a:xfrm>
            <a:off x="0" y="2454"/>
            <a:ext cx="12192000" cy="6854773"/>
          </a:xfrm>
          <a:prstGeom prst="rect">
            <a:avLst/>
          </a:prstGeom>
        </p:spPr>
      </p:pic>
      <p:sp>
        <p:nvSpPr>
          <p:cNvPr id="7" name="Espace réservé du texte 9">
            <a:extLst>
              <a:ext uri="{FF2B5EF4-FFF2-40B4-BE49-F238E27FC236}">
                <a16:creationId xmlns:a16="http://schemas.microsoft.com/office/drawing/2014/main" id="{B71A2780-375C-6E12-59D4-57B5814B7E73}"/>
              </a:ext>
            </a:extLst>
          </p:cNvPr>
          <p:cNvSpPr>
            <a:spLocks noGrp="1"/>
          </p:cNvSpPr>
          <p:nvPr>
            <p:ph type="body" sz="quarter" idx="10" hasCustomPrompt="1"/>
          </p:nvPr>
        </p:nvSpPr>
        <p:spPr>
          <a:xfrm>
            <a:off x="1098155" y="1225563"/>
            <a:ext cx="8191240" cy="594446"/>
          </a:xfrm>
        </p:spPr>
        <p:txBody>
          <a:bodyPr>
            <a:noAutofit/>
          </a:bodyPr>
          <a:lstStyle>
            <a:lvl1pPr marL="0" indent="0">
              <a:buNone/>
              <a:defRPr sz="2800" b="1" baseline="0">
                <a:solidFill>
                  <a:srgbClr val="80276C"/>
                </a:solidFill>
                <a:latin typeface="Verdana" panose="020B0604030504040204" pitchFamily="34" charset="0"/>
                <a:ea typeface="Verdana" panose="020B0604030504040204" pitchFamily="34" charset="0"/>
              </a:defRPr>
            </a:lvl1pPr>
          </a:lstStyle>
          <a:p>
            <a:pPr lvl="0"/>
            <a:r>
              <a:rPr lang="fr-FR" dirty="0"/>
              <a:t>Titre sur une ligne</a:t>
            </a:r>
          </a:p>
        </p:txBody>
      </p:sp>
      <p:sp>
        <p:nvSpPr>
          <p:cNvPr id="8" name="Espace réservé du texte 11">
            <a:extLst>
              <a:ext uri="{FF2B5EF4-FFF2-40B4-BE49-F238E27FC236}">
                <a16:creationId xmlns:a16="http://schemas.microsoft.com/office/drawing/2014/main" id="{7FB60361-0FFF-5F0A-E19D-D4D9D04EBF77}"/>
              </a:ext>
            </a:extLst>
          </p:cNvPr>
          <p:cNvSpPr>
            <a:spLocks noGrp="1"/>
          </p:cNvSpPr>
          <p:nvPr>
            <p:ph type="body" sz="quarter" idx="11"/>
          </p:nvPr>
        </p:nvSpPr>
        <p:spPr>
          <a:xfrm>
            <a:off x="1098155" y="2005152"/>
            <a:ext cx="8195732" cy="3723675"/>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endParaRPr lang="fr-FR" dirty="0"/>
          </a:p>
        </p:txBody>
      </p:sp>
      <p:sp>
        <p:nvSpPr>
          <p:cNvPr id="4" name="Espace réservé du numéro de diapositive 3">
            <a:extLst>
              <a:ext uri="{FF2B5EF4-FFF2-40B4-BE49-F238E27FC236}">
                <a16:creationId xmlns:a16="http://schemas.microsoft.com/office/drawing/2014/main" id="{61E1630F-EF95-BE38-C2E3-00BB3404B7CB}"/>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Tree>
    <p:extLst>
      <p:ext uri="{BB962C8B-B14F-4D97-AF65-F5344CB8AC3E}">
        <p14:creationId xmlns:p14="http://schemas.microsoft.com/office/powerpoint/2010/main" val="3450115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re de section">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68538998-208C-FA71-3DC9-FECEED41565D}"/>
              </a:ext>
            </a:extLst>
          </p:cNvPr>
          <p:cNvPicPr>
            <a:picLocks noChangeAspect="1"/>
          </p:cNvPicPr>
          <p:nvPr userDrawn="1"/>
        </p:nvPicPr>
        <p:blipFill>
          <a:blip r:embed="rId2"/>
          <a:srcRect/>
          <a:stretch/>
        </p:blipFill>
        <p:spPr>
          <a:xfrm>
            <a:off x="0" y="2454"/>
            <a:ext cx="12192000" cy="6854773"/>
          </a:xfrm>
          <a:prstGeom prst="rect">
            <a:avLst/>
          </a:prstGeom>
        </p:spPr>
      </p:pic>
      <p:sp>
        <p:nvSpPr>
          <p:cNvPr id="3" name="Espace réservé du numéro de diapositive 3">
            <a:extLst>
              <a:ext uri="{FF2B5EF4-FFF2-40B4-BE49-F238E27FC236}">
                <a16:creationId xmlns:a16="http://schemas.microsoft.com/office/drawing/2014/main" id="{2D115534-50D2-8784-970C-AF1079401000}"/>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7" name="Espace réservé du texte 11">
            <a:extLst>
              <a:ext uri="{FF2B5EF4-FFF2-40B4-BE49-F238E27FC236}">
                <a16:creationId xmlns:a16="http://schemas.microsoft.com/office/drawing/2014/main" id="{C4CF9214-E837-2D1B-B7B4-5F99553561A0}"/>
              </a:ext>
            </a:extLst>
          </p:cNvPr>
          <p:cNvSpPr>
            <a:spLocks noGrp="1"/>
          </p:cNvSpPr>
          <p:nvPr>
            <p:ph type="body" sz="quarter" idx="11" hasCustomPrompt="1"/>
          </p:nvPr>
        </p:nvSpPr>
        <p:spPr>
          <a:xfrm>
            <a:off x="1098155" y="1284270"/>
            <a:ext cx="8195732" cy="4444557"/>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r>
              <a:rPr lang="fr-FR" dirty="0"/>
              <a:t>Cliquez pour ajouter du texte</a:t>
            </a:r>
          </a:p>
          <a:p>
            <a:pPr lvl="0"/>
            <a:endParaRPr lang="fr-FR" dirty="0"/>
          </a:p>
        </p:txBody>
      </p:sp>
    </p:spTree>
    <p:extLst>
      <p:ext uri="{BB962C8B-B14F-4D97-AF65-F5344CB8AC3E}">
        <p14:creationId xmlns:p14="http://schemas.microsoft.com/office/powerpoint/2010/main" val="466338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6278FF5-BA15-1BED-23A9-B841DBD209E9}"/>
              </a:ext>
            </a:extLst>
          </p:cNvPr>
          <p:cNvPicPr>
            <a:picLocks noChangeAspect="1"/>
          </p:cNvPicPr>
          <p:nvPr userDrawn="1"/>
        </p:nvPicPr>
        <p:blipFill>
          <a:blip r:embed="rId2"/>
          <a:srcRect/>
          <a:stretch/>
        </p:blipFill>
        <p:spPr>
          <a:xfrm>
            <a:off x="0" y="2454"/>
            <a:ext cx="12192000" cy="6854773"/>
          </a:xfrm>
          <a:prstGeom prst="rect">
            <a:avLst/>
          </a:prstGeom>
        </p:spPr>
      </p:pic>
      <p:sp>
        <p:nvSpPr>
          <p:cNvPr id="6" name="Espace réservé du numéro de diapositive 3">
            <a:extLst>
              <a:ext uri="{FF2B5EF4-FFF2-40B4-BE49-F238E27FC236}">
                <a16:creationId xmlns:a16="http://schemas.microsoft.com/office/drawing/2014/main" id="{C021BB1B-0123-8450-D894-D8D13124919B}"/>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8" name="Espace réservé du texte 11">
            <a:extLst>
              <a:ext uri="{FF2B5EF4-FFF2-40B4-BE49-F238E27FC236}">
                <a16:creationId xmlns:a16="http://schemas.microsoft.com/office/drawing/2014/main" id="{2798ED0A-092F-4B9A-C635-097116F23D40}"/>
              </a:ext>
            </a:extLst>
          </p:cNvPr>
          <p:cNvSpPr>
            <a:spLocks noGrp="1"/>
          </p:cNvSpPr>
          <p:nvPr>
            <p:ph type="body" sz="quarter" idx="11" hasCustomPrompt="1"/>
          </p:nvPr>
        </p:nvSpPr>
        <p:spPr>
          <a:xfrm>
            <a:off x="6096000" y="1284269"/>
            <a:ext cx="5472230" cy="4444557"/>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r>
              <a:rPr lang="fr-FR" dirty="0"/>
              <a:t>Cliquez pour ajouter du texte</a:t>
            </a:r>
          </a:p>
          <a:p>
            <a:pPr lvl="0"/>
            <a:endParaRPr lang="fr-FR" dirty="0"/>
          </a:p>
        </p:txBody>
      </p:sp>
      <p:pic>
        <p:nvPicPr>
          <p:cNvPr id="11" name="Image 10" descr="Une image contenant bibliothèque, Rayonnage, étagère, livre&#10;&#10;Le contenu généré par l’IA peut être incorrect.">
            <a:extLst>
              <a:ext uri="{FF2B5EF4-FFF2-40B4-BE49-F238E27FC236}">
                <a16:creationId xmlns:a16="http://schemas.microsoft.com/office/drawing/2014/main" id="{BCAD8F9B-6DD8-D207-DBD1-4207D47DF38E}"/>
              </a:ext>
            </a:extLst>
          </p:cNvPr>
          <p:cNvPicPr>
            <a:picLocks noChangeAspect="1"/>
          </p:cNvPicPr>
          <p:nvPr userDrawn="1"/>
        </p:nvPicPr>
        <p:blipFill rotWithShape="1">
          <a:blip r:embed="rId3"/>
          <a:srcRect l="22334" r="22334"/>
          <a:stretch>
            <a:fillRect/>
          </a:stretch>
        </p:blipFill>
        <p:spPr>
          <a:xfrm>
            <a:off x="0" y="0"/>
            <a:ext cx="5702157" cy="6856319"/>
          </a:xfrm>
          <a:prstGeom prst="rect">
            <a:avLst/>
          </a:prstGeom>
        </p:spPr>
      </p:pic>
    </p:spTree>
    <p:extLst>
      <p:ext uri="{BB962C8B-B14F-4D97-AF65-F5344CB8AC3E}">
        <p14:creationId xmlns:p14="http://schemas.microsoft.com/office/powerpoint/2010/main" val="41526275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994F4BB-747F-26BC-8FBA-F6073110FDEF}"/>
              </a:ext>
            </a:extLst>
          </p:cNvPr>
          <p:cNvPicPr>
            <a:picLocks noChangeAspect="1"/>
          </p:cNvPicPr>
          <p:nvPr userDrawn="1"/>
        </p:nvPicPr>
        <p:blipFill>
          <a:blip r:embed="rId2"/>
          <a:srcRect/>
          <a:stretch/>
        </p:blipFill>
        <p:spPr>
          <a:xfrm>
            <a:off x="0" y="2454"/>
            <a:ext cx="12192000" cy="6854773"/>
          </a:xfrm>
          <a:prstGeom prst="rect">
            <a:avLst/>
          </a:prstGeom>
        </p:spPr>
      </p:pic>
      <p:sp>
        <p:nvSpPr>
          <p:cNvPr id="9" name="Espace réservé du numéro de diapositive 3">
            <a:extLst>
              <a:ext uri="{FF2B5EF4-FFF2-40B4-BE49-F238E27FC236}">
                <a16:creationId xmlns:a16="http://schemas.microsoft.com/office/drawing/2014/main" id="{8D7F84FC-E33D-F3A8-B4CB-BBB1D0484709}"/>
              </a:ext>
            </a:extLst>
          </p:cNvPr>
          <p:cNvSpPr txBox="1">
            <a:spLocks/>
          </p:cNvSpPr>
          <p:nvPr userDrawn="1"/>
        </p:nvSpPr>
        <p:spPr>
          <a:xfrm>
            <a:off x="11251198" y="6341439"/>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6" name="Espace réservé du numéro de diapositive 3">
            <a:extLst>
              <a:ext uri="{FF2B5EF4-FFF2-40B4-BE49-F238E27FC236}">
                <a16:creationId xmlns:a16="http://schemas.microsoft.com/office/drawing/2014/main" id="{C021BB1B-0123-8450-D894-D8D13124919B}"/>
              </a:ext>
            </a:extLst>
          </p:cNvPr>
          <p:cNvSpPr txBox="1">
            <a:spLocks/>
          </p:cNvSpPr>
          <p:nvPr userDrawn="1"/>
        </p:nvSpPr>
        <p:spPr>
          <a:xfrm>
            <a:off x="300497" y="604708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8" name="Espace réservé du texte 11">
            <a:extLst>
              <a:ext uri="{FF2B5EF4-FFF2-40B4-BE49-F238E27FC236}">
                <a16:creationId xmlns:a16="http://schemas.microsoft.com/office/drawing/2014/main" id="{2798ED0A-092F-4B9A-C635-097116F23D40}"/>
              </a:ext>
            </a:extLst>
          </p:cNvPr>
          <p:cNvSpPr>
            <a:spLocks noGrp="1"/>
          </p:cNvSpPr>
          <p:nvPr>
            <p:ph type="body" sz="quarter" idx="11" hasCustomPrompt="1"/>
          </p:nvPr>
        </p:nvSpPr>
        <p:spPr>
          <a:xfrm>
            <a:off x="623770" y="1315092"/>
            <a:ext cx="5472230" cy="4444557"/>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r>
              <a:rPr lang="fr-FR" dirty="0"/>
              <a:t>Cliquez pour ajouter du texte</a:t>
            </a:r>
          </a:p>
          <a:p>
            <a:pPr lvl="0"/>
            <a:endParaRPr lang="fr-FR" dirty="0"/>
          </a:p>
        </p:txBody>
      </p:sp>
      <p:pic>
        <p:nvPicPr>
          <p:cNvPr id="2" name="Image 1">
            <a:extLst>
              <a:ext uri="{FF2B5EF4-FFF2-40B4-BE49-F238E27FC236}">
                <a16:creationId xmlns:a16="http://schemas.microsoft.com/office/drawing/2014/main" id="{413C4CFE-5610-5B45-D5F8-9EEBF065432C}"/>
              </a:ext>
            </a:extLst>
          </p:cNvPr>
          <p:cNvPicPr>
            <a:picLocks noChangeAspect="1"/>
          </p:cNvPicPr>
          <p:nvPr userDrawn="1"/>
        </p:nvPicPr>
        <p:blipFill rotWithShape="1">
          <a:blip r:embed="rId3"/>
          <a:srcRect l="15088" r="29578"/>
          <a:stretch>
            <a:fillRect/>
          </a:stretch>
        </p:blipFill>
        <p:spPr>
          <a:xfrm>
            <a:off x="6489843" y="-14101"/>
            <a:ext cx="5702157" cy="6856319"/>
          </a:xfrm>
          <a:prstGeom prst="rect">
            <a:avLst/>
          </a:prstGeom>
        </p:spPr>
      </p:pic>
    </p:spTree>
    <p:extLst>
      <p:ext uri="{BB962C8B-B14F-4D97-AF65-F5344CB8AC3E}">
        <p14:creationId xmlns:p14="http://schemas.microsoft.com/office/powerpoint/2010/main" val="42107039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61C6AFC-4D85-9738-F687-26128E9164FA}"/>
              </a:ext>
            </a:extLst>
          </p:cNvPr>
          <p:cNvPicPr>
            <a:picLocks noChangeAspect="1"/>
          </p:cNvPicPr>
          <p:nvPr userDrawn="1"/>
        </p:nvPicPr>
        <p:blipFill>
          <a:blip r:embed="rId2"/>
          <a:srcRect/>
          <a:stretch/>
        </p:blipFill>
        <p:spPr>
          <a:xfrm>
            <a:off x="0" y="2454"/>
            <a:ext cx="12192000" cy="6854773"/>
          </a:xfrm>
          <a:prstGeom prst="rect">
            <a:avLst/>
          </a:prstGeom>
        </p:spPr>
      </p:pic>
      <p:sp>
        <p:nvSpPr>
          <p:cNvPr id="6" name="Espace réservé du numéro de diapositive 3">
            <a:extLst>
              <a:ext uri="{FF2B5EF4-FFF2-40B4-BE49-F238E27FC236}">
                <a16:creationId xmlns:a16="http://schemas.microsoft.com/office/drawing/2014/main" id="{C021BB1B-0123-8450-D894-D8D13124919B}"/>
              </a:ext>
            </a:extLst>
          </p:cNvPr>
          <p:cNvSpPr txBox="1">
            <a:spLocks/>
          </p:cNvSpPr>
          <p:nvPr userDrawn="1"/>
        </p:nvSpPr>
        <p:spPr>
          <a:xfrm>
            <a:off x="10921684" y="609430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8" name="Espace réservé du texte 11">
            <a:extLst>
              <a:ext uri="{FF2B5EF4-FFF2-40B4-BE49-F238E27FC236}">
                <a16:creationId xmlns:a16="http://schemas.microsoft.com/office/drawing/2014/main" id="{2798ED0A-092F-4B9A-C635-097116F23D40}"/>
              </a:ext>
            </a:extLst>
          </p:cNvPr>
          <p:cNvSpPr>
            <a:spLocks noGrp="1"/>
          </p:cNvSpPr>
          <p:nvPr>
            <p:ph type="body" sz="quarter" idx="11" hasCustomPrompt="1"/>
          </p:nvPr>
        </p:nvSpPr>
        <p:spPr>
          <a:xfrm>
            <a:off x="6096000" y="1284269"/>
            <a:ext cx="5472230" cy="4444557"/>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r>
              <a:rPr lang="fr-FR" dirty="0"/>
              <a:t>Cliquez pour ajouter du texte</a:t>
            </a:r>
          </a:p>
          <a:p>
            <a:pPr lvl="0"/>
            <a:endParaRPr lang="fr-FR" dirty="0"/>
          </a:p>
        </p:txBody>
      </p:sp>
      <p:pic>
        <p:nvPicPr>
          <p:cNvPr id="11" name="Image 10" descr="Une image contenant bibliothèque, Rayonnage, étagère, livre&#10;&#10;Le contenu généré par l’IA peut être incorrect.">
            <a:extLst>
              <a:ext uri="{FF2B5EF4-FFF2-40B4-BE49-F238E27FC236}">
                <a16:creationId xmlns:a16="http://schemas.microsoft.com/office/drawing/2014/main" id="{BCAD8F9B-6DD8-D207-DBD1-4207D47DF38E}"/>
              </a:ext>
            </a:extLst>
          </p:cNvPr>
          <p:cNvPicPr>
            <a:picLocks noChangeAspect="1"/>
          </p:cNvPicPr>
          <p:nvPr userDrawn="1"/>
        </p:nvPicPr>
        <p:blipFill rotWithShape="1">
          <a:blip r:embed="rId3"/>
          <a:srcRect l="1" r="-72"/>
          <a:stretch>
            <a:fillRect/>
          </a:stretch>
        </p:blipFill>
        <p:spPr>
          <a:xfrm>
            <a:off x="0" y="1"/>
            <a:ext cx="5702157" cy="3429000"/>
          </a:xfrm>
          <a:prstGeom prst="rect">
            <a:avLst/>
          </a:prstGeom>
        </p:spPr>
      </p:pic>
      <p:pic>
        <p:nvPicPr>
          <p:cNvPr id="2" name="Image 1">
            <a:extLst>
              <a:ext uri="{FF2B5EF4-FFF2-40B4-BE49-F238E27FC236}">
                <a16:creationId xmlns:a16="http://schemas.microsoft.com/office/drawing/2014/main" id="{657C8B00-6D71-CA42-BE4D-52001CF3EBB7}"/>
              </a:ext>
            </a:extLst>
          </p:cNvPr>
          <p:cNvPicPr>
            <a:picLocks noChangeAspect="1"/>
          </p:cNvPicPr>
          <p:nvPr userDrawn="1"/>
        </p:nvPicPr>
        <p:blipFill>
          <a:blip r:embed="rId4"/>
          <a:srcRect t="29994" b="29994"/>
          <a:stretch/>
        </p:blipFill>
        <p:spPr>
          <a:xfrm>
            <a:off x="0" y="3426478"/>
            <a:ext cx="5702157" cy="3429000"/>
          </a:xfrm>
          <a:prstGeom prst="rect">
            <a:avLst/>
          </a:prstGeom>
        </p:spPr>
      </p:pic>
    </p:spTree>
    <p:extLst>
      <p:ext uri="{BB962C8B-B14F-4D97-AF65-F5344CB8AC3E}">
        <p14:creationId xmlns:p14="http://schemas.microsoft.com/office/powerpoint/2010/main" val="3171993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6389005E-70D9-B6FE-D08F-34C0D9B3CD9E}"/>
              </a:ext>
            </a:extLst>
          </p:cNvPr>
          <p:cNvPicPr>
            <a:picLocks noChangeAspect="1"/>
          </p:cNvPicPr>
          <p:nvPr userDrawn="1"/>
        </p:nvPicPr>
        <p:blipFill>
          <a:blip r:embed="rId2"/>
          <a:srcRect/>
          <a:stretch/>
        </p:blipFill>
        <p:spPr>
          <a:xfrm>
            <a:off x="0" y="2454"/>
            <a:ext cx="12192000" cy="6854773"/>
          </a:xfrm>
          <a:prstGeom prst="rect">
            <a:avLst/>
          </a:prstGeom>
        </p:spPr>
      </p:pic>
      <p:sp>
        <p:nvSpPr>
          <p:cNvPr id="6" name="Espace réservé du numéro de diapositive 3">
            <a:extLst>
              <a:ext uri="{FF2B5EF4-FFF2-40B4-BE49-F238E27FC236}">
                <a16:creationId xmlns:a16="http://schemas.microsoft.com/office/drawing/2014/main" id="{C021BB1B-0123-8450-D894-D8D13124919B}"/>
              </a:ext>
            </a:extLst>
          </p:cNvPr>
          <p:cNvSpPr txBox="1">
            <a:spLocks/>
          </p:cNvSpPr>
          <p:nvPr userDrawn="1"/>
        </p:nvSpPr>
        <p:spPr>
          <a:xfrm>
            <a:off x="300497" y="6047084"/>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8" name="Espace réservé du texte 11">
            <a:extLst>
              <a:ext uri="{FF2B5EF4-FFF2-40B4-BE49-F238E27FC236}">
                <a16:creationId xmlns:a16="http://schemas.microsoft.com/office/drawing/2014/main" id="{2798ED0A-092F-4B9A-C635-097116F23D40}"/>
              </a:ext>
            </a:extLst>
          </p:cNvPr>
          <p:cNvSpPr>
            <a:spLocks noGrp="1"/>
          </p:cNvSpPr>
          <p:nvPr>
            <p:ph type="body" sz="quarter" idx="11" hasCustomPrompt="1"/>
          </p:nvPr>
        </p:nvSpPr>
        <p:spPr>
          <a:xfrm>
            <a:off x="623770" y="1315092"/>
            <a:ext cx="5472230" cy="4444557"/>
          </a:xfrm>
        </p:spPr>
        <p:txBody>
          <a:bodyPr/>
          <a:lstStyle>
            <a:lvl1pPr marL="0" indent="0">
              <a:buFont typeface="Arial" panose="020B0604020202020204" pitchFamily="34" charset="0"/>
              <a:buNone/>
              <a:defRPr sz="1400" b="1">
                <a:solidFill>
                  <a:srgbClr val="80276C"/>
                </a:solidFill>
                <a:latin typeface="Verdana" panose="020B0604030504040204" pitchFamily="34" charset="0"/>
                <a:ea typeface="Verdana" panose="020B0604030504040204" pitchFamily="34" charset="0"/>
              </a:defRPr>
            </a:lvl1pPr>
          </a:lstStyle>
          <a:p>
            <a:pPr lvl="0"/>
            <a:r>
              <a:rPr lang="fr-FR" dirty="0"/>
              <a:t>Cliquez pour ajouter du texte</a:t>
            </a:r>
          </a:p>
          <a:p>
            <a:pPr lvl="0"/>
            <a:endParaRPr lang="fr-FR" dirty="0"/>
          </a:p>
        </p:txBody>
      </p:sp>
      <p:pic>
        <p:nvPicPr>
          <p:cNvPr id="3" name="Image 2">
            <a:extLst>
              <a:ext uri="{FF2B5EF4-FFF2-40B4-BE49-F238E27FC236}">
                <a16:creationId xmlns:a16="http://schemas.microsoft.com/office/drawing/2014/main" id="{2B98B3E6-110B-AC24-792D-B445A41C9C59}"/>
              </a:ext>
            </a:extLst>
          </p:cNvPr>
          <p:cNvPicPr>
            <a:picLocks noChangeAspect="1"/>
          </p:cNvPicPr>
          <p:nvPr userDrawn="1"/>
        </p:nvPicPr>
        <p:blipFill>
          <a:blip r:embed="rId3"/>
          <a:srcRect t="4811" b="4811"/>
          <a:stretch/>
        </p:blipFill>
        <p:spPr>
          <a:xfrm>
            <a:off x="6489843" y="0"/>
            <a:ext cx="5702157" cy="3429000"/>
          </a:xfrm>
          <a:prstGeom prst="rect">
            <a:avLst/>
          </a:prstGeom>
        </p:spPr>
      </p:pic>
      <p:pic>
        <p:nvPicPr>
          <p:cNvPr id="5" name="Image 4">
            <a:extLst>
              <a:ext uri="{FF2B5EF4-FFF2-40B4-BE49-F238E27FC236}">
                <a16:creationId xmlns:a16="http://schemas.microsoft.com/office/drawing/2014/main" id="{60BFC52D-D245-C9EA-0B32-77ED97A06A8E}"/>
              </a:ext>
            </a:extLst>
          </p:cNvPr>
          <p:cNvPicPr>
            <a:picLocks noChangeAspect="1"/>
          </p:cNvPicPr>
          <p:nvPr userDrawn="1"/>
        </p:nvPicPr>
        <p:blipFill>
          <a:blip r:embed="rId4"/>
          <a:srcRect t="4811" b="4811"/>
          <a:stretch/>
        </p:blipFill>
        <p:spPr>
          <a:xfrm>
            <a:off x="6489842" y="3426546"/>
            <a:ext cx="5702157" cy="3429000"/>
          </a:xfrm>
          <a:prstGeom prst="rect">
            <a:avLst/>
          </a:prstGeom>
        </p:spPr>
      </p:pic>
    </p:spTree>
    <p:extLst>
      <p:ext uri="{BB962C8B-B14F-4D97-AF65-F5344CB8AC3E}">
        <p14:creationId xmlns:p14="http://schemas.microsoft.com/office/powerpoint/2010/main" val="1897903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AC3BF236-852E-F690-50AD-FB39ADE398BB}"/>
              </a:ext>
            </a:extLst>
          </p:cNvPr>
          <p:cNvPicPr>
            <a:picLocks noChangeAspect="1"/>
          </p:cNvPicPr>
          <p:nvPr userDrawn="1"/>
        </p:nvPicPr>
        <p:blipFill>
          <a:blip r:embed="rId2"/>
          <a:srcRect/>
          <a:stretch/>
        </p:blipFill>
        <p:spPr>
          <a:xfrm>
            <a:off x="244" y="3363"/>
            <a:ext cx="12191756" cy="6854637"/>
          </a:xfrm>
          <a:prstGeom prst="rect">
            <a:avLst/>
          </a:prstGeom>
        </p:spPr>
      </p:pic>
      <p:sp>
        <p:nvSpPr>
          <p:cNvPr id="9" name="Espace réservé du numéro de diapositive 3">
            <a:extLst>
              <a:ext uri="{FF2B5EF4-FFF2-40B4-BE49-F238E27FC236}">
                <a16:creationId xmlns:a16="http://schemas.microsoft.com/office/drawing/2014/main" id="{8D7F84FC-E33D-F3A8-B4CB-BBB1D0484709}"/>
              </a:ext>
            </a:extLst>
          </p:cNvPr>
          <p:cNvSpPr txBox="1">
            <a:spLocks/>
          </p:cNvSpPr>
          <p:nvPr userDrawn="1"/>
        </p:nvSpPr>
        <p:spPr>
          <a:xfrm>
            <a:off x="11251198" y="6341439"/>
            <a:ext cx="646546" cy="2943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Verdana" panose="020B0604030504040204" pitchFamily="34" charset="0"/>
                <a:ea typeface="Verdana" panose="020B0604030504040204" pitchFamily="34" charset="0"/>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A4C5B2E-C222-42BA-A6AE-2E2D0C9DED18}" type="slidenum">
              <a:rPr lang="fr-FR" smtClean="0">
                <a:solidFill>
                  <a:srgbClr val="80276C"/>
                </a:solidFill>
              </a:rPr>
              <a:pPr/>
              <a:t>‹N°›</a:t>
            </a:fld>
            <a:endParaRPr lang="fr-FR" dirty="0">
              <a:solidFill>
                <a:srgbClr val="80276C"/>
              </a:solidFill>
            </a:endParaRPr>
          </a:p>
        </p:txBody>
      </p:sp>
      <p:sp>
        <p:nvSpPr>
          <p:cNvPr id="4" name="Rectangle : coins arrondis 3">
            <a:extLst>
              <a:ext uri="{FF2B5EF4-FFF2-40B4-BE49-F238E27FC236}">
                <a16:creationId xmlns:a16="http://schemas.microsoft.com/office/drawing/2014/main" id="{E21DBA43-9002-B479-9409-C7111BD6710C}"/>
              </a:ext>
            </a:extLst>
          </p:cNvPr>
          <p:cNvSpPr>
            <a:spLocks/>
          </p:cNvSpPr>
          <p:nvPr userDrawn="1"/>
        </p:nvSpPr>
        <p:spPr>
          <a:xfrm>
            <a:off x="345688" y="222206"/>
            <a:ext cx="11552056" cy="6413588"/>
          </a:xfrm>
          <a:prstGeom prst="roundRect">
            <a:avLst/>
          </a:prstGeom>
          <a:blipFill dpi="0" rotWithShape="1">
            <a:blip r:embed="rId3">
              <a:extLst>
                <a:ext uri="{28A0092B-C50C-407E-A947-70E740481C1C}">
                  <a14:useLocalDpi xmlns:a14="http://schemas.microsoft.com/office/drawing/2010/main" val="0"/>
                </a:ext>
              </a:extLst>
            </a:blip>
            <a:srcRect/>
            <a:stretch>
              <a:fillRect t="-9917" b="-991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60876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201C298-F59B-550E-B93E-792B310371DF}"/>
              </a:ext>
            </a:extLst>
          </p:cNvPr>
          <p:cNvPicPr>
            <a:picLocks noChangeAspect="1"/>
          </p:cNvPicPr>
          <p:nvPr userDrawn="1"/>
        </p:nvPicPr>
        <p:blipFill>
          <a:blip r:embed="rId2"/>
          <a:srcRect/>
          <a:stretch/>
        </p:blipFill>
        <p:spPr>
          <a:xfrm>
            <a:off x="122" y="2522"/>
            <a:ext cx="12191756" cy="6854637"/>
          </a:xfrm>
          <a:prstGeom prst="rect">
            <a:avLst/>
          </a:prstGeom>
        </p:spPr>
      </p:pic>
    </p:spTree>
    <p:extLst>
      <p:ext uri="{BB962C8B-B14F-4D97-AF65-F5344CB8AC3E}">
        <p14:creationId xmlns:p14="http://schemas.microsoft.com/office/powerpoint/2010/main" val="1082971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LAIR">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‹N°›</a:t>
            </a:fld>
            <a:endParaRPr lang="en-US"/>
          </a:p>
        </p:txBody>
      </p:sp>
    </p:spTree>
    <p:extLst>
      <p:ext uri="{BB962C8B-B14F-4D97-AF65-F5344CB8AC3E}">
        <p14:creationId xmlns:p14="http://schemas.microsoft.com/office/powerpoint/2010/main" val="3054192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7CB337D-2171-4BC2-5A13-15A479C9D3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A63D2A3-06BA-7961-4483-5FF122B2E9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3A8AFD-BB3D-754D-8839-6590574AEC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50F053-B4A5-0948-A219-67E42B64128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E3A3D79-1478-B2A0-F690-22BE6635C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F0CA032-26B1-645A-4B7B-6FC2130DA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194A47-7CA4-DC47-8417-37DBDF44377A}" type="slidenum">
              <a:rPr lang="fr-FR" smtClean="0"/>
              <a:t>‹N°›</a:t>
            </a:fld>
            <a:endParaRPr lang="fr-FR"/>
          </a:p>
        </p:txBody>
      </p:sp>
    </p:spTree>
    <p:extLst>
      <p:ext uri="{BB962C8B-B14F-4D97-AF65-F5344CB8AC3E}">
        <p14:creationId xmlns:p14="http://schemas.microsoft.com/office/powerpoint/2010/main" val="3963949171"/>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0" r:id="rId3"/>
    <p:sldLayoutId id="2147483651" r:id="rId4"/>
    <p:sldLayoutId id="2147483652" r:id="rId5"/>
    <p:sldLayoutId id="2147483655" r:id="rId6"/>
    <p:sldLayoutId id="2147483656" r:id="rId7"/>
    <p:sldLayoutId id="2147483657" r:id="rId8"/>
    <p:sldLayoutId id="2147483658" r:id="rId9"/>
    <p:sldLayoutId id="2147483659" r:id="rId10"/>
    <p:sldLayoutId id="2147483654" r:id="rId11"/>
    <p:sldLayoutId id="21474836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tbs-education.fr/"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opus-com.rp1.ensam.eu/pages/publications/85165212600?inward" TargetMode="External"/><Relationship Id="rId2" Type="http://schemas.openxmlformats.org/officeDocument/2006/relationships/hyperlink" Target="https://www-sciencedirect-com.rp1.ensam.eu/science/article/pii/S0257897218300823" TargetMode="Externa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hyperlink" Target="https://atrium.ensam.eu/"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bibliotheques.ensam.eu/"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www-scopus-com.rp1.ensam.eu/results/results.uri?sort=plf-f&amp;src=s&amp;st1=%22metal+additive+manufacturing%22+AND+state-of-the-art&amp;sid=bbf1a96f084c226582aec1c9a741f920&amp;sot=b&amp;sdt=b&amp;sl=66&amp;s=TITLE-ABS-KEY%28%22metal+additive+manufacturing%22+AND+%28+state-of-the-art+OR++review%29%29&amp;origin=searchbasic&amp;editSaveSearch=&amp;yearFrom=Before+1960&amp;yearTo=Present&amp;sessionSearchId=bbf1a96f084c226582aec1c9a741f920&amp;limit=10" TargetMode="External"/><Relationship Id="rId2" Type="http://schemas.openxmlformats.org/officeDocument/2006/relationships/hyperlink" Target="https://scholar-google-fr.rp1.ensam.eu/scholar?hl=fr&amp;as_sdt=0%2C5&amp;q=%28state-of-the-art++AND+%22metal+additive+manufacturing+%22%29++++&amp;btnG=" TargetMode="Externa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hyperlink" Target="https://cnes.fr/fr" TargetMode="External"/><Relationship Id="rId3" Type="http://schemas.openxmlformats.org/officeDocument/2006/relationships/hyperlink" Target="https://www.afp.com/fr/plateforme-de-linfo" TargetMode="External"/><Relationship Id="rId7" Type="http://schemas.openxmlformats.org/officeDocument/2006/relationships/hyperlink" Target="https://www.inria.fr/f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www.cnrs.fr/" TargetMode="External"/><Relationship Id="rId5" Type="http://schemas.openxmlformats.org/officeDocument/2006/relationships/hyperlink" Target="http://www.inserm.fr/" TargetMode="External"/><Relationship Id="rId10" Type="http://schemas.openxmlformats.org/officeDocument/2006/relationships/hyperlink" Target="https://gallica.bnf.fr/services/engine/search/advancedSearch/" TargetMode="External"/><Relationship Id="rId4" Type="http://schemas.openxmlformats.org/officeDocument/2006/relationships/hyperlink" Target="https://www.legifrance.gouv.fr/" TargetMode="External"/><Relationship Id="rId9" Type="http://schemas.openxmlformats.org/officeDocument/2006/relationships/hyperlink" Target="https://www.insee.fr/fr/accuei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scholar-google-fr.rp1.ensam.eu/scholar?hl=fr&amp;as_sdt=0%2C5&amp;q=state-of-the-art+AND+%22metal+additive+manufacturing%22&amp;btnG="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7.P53zF8RNPy0sKSAPCL3BjwHaCo"/><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hyperlink" Target="https://www-scopus-com.rp1.ensam.eu/results/results.uri?sort=plf-f&amp;src=s&amp;st1=%22metal+additive+manufacturing%22+AND+state-of-the-art&amp;sid=bbf1a96f084c226582aec1c9a741f920&amp;sot=b&amp;sdt=b&amp;sl=66&amp;s=TITLE-ABS-KEY%28%22metal+additive+manufacturing%22+AND+%28+state-of-the-art+OR++review%29%29&amp;origin=searchbasic&amp;editSaveSearch=&amp;yearFrom=Before+1960&amp;yearTo=Present&amp;sessionSearchId=bbf1a96f084c226582aec1c9a741f920&amp;limit=10" TargetMode="Externa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s://pitt.libguides.com/citationhelp" TargetMode="External"/><Relationship Id="rId2" Type="http://schemas.openxmlformats.org/officeDocument/2006/relationships/hyperlink" Target="https://www.grammarly.com/citations?utm_source=bing&amp;utm_medium=cpc&amp;utm_campaign=626951458&amp;utm_content=81089100623659&amp;utm_term=how%20to%20cite%20a%20book&amp;keywordid=81089255009754&amp;targetid=kwd-81089255009754:loc-170&amp;adgroup=1297424164827698&amp;device=c&amp;matchtype=p&amp;network=o&amp;extension=&amp;clickid=45c14626d2861845e7292ef69ed97cbd&amp;&amp;msclkid=45c14626d2861845e7292ef69ed97cbd&amp;gclid=45c14626d2861845e7292ef69ed97cbd&amp;gclsrc=3p.ds&amp;gad_source=7&amp;gad_campaignid=19870660014" TargetMode="External"/><Relationship Id="rId1" Type="http://schemas.openxmlformats.org/officeDocument/2006/relationships/slideLayout" Target="../slideLayouts/slideLayout2.xml"/><Relationship Id="rId4" Type="http://schemas.openxmlformats.org/officeDocument/2006/relationships/hyperlink" Target="https://www.bibliography.com/generato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hyperlink" Target="https://www.scribbr.co.uk/referencing/harvard-style/" TargetMode="Externa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ensameu.sharepoint.com/sites/DDP/_layouts/15/stream.aspx?id=%2Fsites%2FDDP%2FDocuments%20partages%2FAnimations%2FDoc%20CAF%C3%89%2FDoc%20CAF%C3%89%20%2312%20%2D%20Scopus%20%2D%203%20juin%202021%2FDoc%20CAFE%20%5F12%20%2D%20Scopus%20%5F%20outils%20de%20recherche%20et%20analyse%20de%20vos%20publications%2Emp4&amp;ga=1&amp;referrer=StreamWebApp%2EWeb&amp;referrerScenario=AddressBarCopied%2Eview%2E28d638ba%2De5fd%2D4b28%2D8bf0%2D723010a6875a" TargetMode="Externa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hyperlink" Target="https://www.elsevier.com/solutions/scopus" TargetMode="External"/><Relationship Id="rId2" Type="http://schemas.openxmlformats.org/officeDocument/2006/relationships/hyperlink" Target="https://www.elsevier.com/solutions/sciencedirect" TargetMode="External"/><Relationship Id="rId1" Type="http://schemas.openxmlformats.org/officeDocument/2006/relationships/slideLayout" Target="../slideLayouts/slideLayout6.xml"/><Relationship Id="rId5" Type="http://schemas.openxmlformats.org/officeDocument/2006/relationships/hyperlink" Target="https://www.elsevier.support/dataasaservice/answer/what-is-the-difference-between-sciencedirect-and-scopus-data" TargetMode="External"/><Relationship Id="rId4" Type="http://schemas.openxmlformats.org/officeDocument/2006/relationships/hyperlink" Target="https://dev.elsevier.com/tecdoc_ir_cris_vivo.html"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hyperlink" Target="http://rp1.ensam.eu/login?url=https://www.scopus.com"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hyperlink" Target="https://www-scopus-com.rp1.ensam.eu/results/results.uri?sort=plf-f&amp;src=s&amp;st1=%28microalloyed+OR+micro-alloyed%29+AND+steel&amp;sid=21187889b37e2d640e2e159f1a367b78&amp;sot=b&amp;sdt=b&amp;sl=56&amp;s=TITLE-ABS-KEY%28%28microalloyed+OR+micro-alloyed%29+AND+steel%29&amp;origin=searchbasic&amp;editSaveSearch=&amp;yearFrom=Before+1960&amp;yearTo=Present"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atrium.ensam.eu/ressources-documentaires?field_categorie_target_id=All&amp;Terme=espacenet" TargetMode="External"/><Relationship Id="rId2" Type="http://schemas.openxmlformats.org/officeDocument/2006/relationships/hyperlink" Target="https://www.epo.org/searching-for-patents/technical/espacenet.html" TargetMode="External"/><Relationship Id="rId1" Type="http://schemas.openxmlformats.org/officeDocument/2006/relationships/slideLayout" Target="../slideLayouts/slideLayout5.xml"/><Relationship Id="rId5" Type="http://schemas.openxmlformats.org/officeDocument/2006/relationships/hyperlink" Target="https://worldwide.espacenet.com/patent/search?q=ta%20all%20%22machine%20learning%22%20AND%20%28ta%20all%20%22washing%20machine%22%20OR%20ta%20all%20%22washing%20machines%22%29" TargetMode="External"/><Relationship Id="rId4" Type="http://schemas.openxmlformats.org/officeDocument/2006/relationships/hyperlink" Target="https://worldwide.espacenet.com/?locale=fr_EP"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creativecommons.org/cc-licenses/" TargetMode="Externa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hyperlink" Target="https://creativecommons.org/chooser/" TargetMode="External"/><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3" Type="http://schemas.openxmlformats.org/officeDocument/2006/relationships/hyperlink" Target="https://hal.archives-ouvertes.fr/" TargetMode="External"/><Relationship Id="rId7" Type="http://schemas.openxmlformats.org/officeDocument/2006/relationships/hyperlink" Target="https://www.base-search.net/about/en/about_sources_date.php" TargetMode="Externa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hyperlink" Target="https://www.base-search.net/" TargetMode="External"/><Relationship Id="rId5" Type="http://schemas.openxmlformats.org/officeDocument/2006/relationships/image" Target="../media/image27.png"/><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hyperlink" Target="https://www.base-search.net/"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hyperlink" Target="https://pastel.hal.science/" TargetMode="Externa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hyperlink" Target="https://abes.fr/reseau-theses/selection-site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zbib.org/" TargetMode="External"/><Relationship Id="rId1" Type="http://schemas.openxmlformats.org/officeDocument/2006/relationships/slideLayout" Target="../slideLayouts/slideLayout5.xml"/><Relationship Id="rId5" Type="http://schemas.openxmlformats.org/officeDocument/2006/relationships/hyperlink" Target="https://www.youtube.com/playlist?list=PLU2Uo6nUGbPcItukRnhhCkuQf1bR8w13L" TargetMode="External"/><Relationship Id="rId4" Type="http://schemas.openxmlformats.org/officeDocument/2006/relationships/hyperlink" Target="https://www.youtube.com/playlist?list=PLNFxwCXnjSoroqinLJ-k-8AP6oTa0cQ2D"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support.leanlibrary.com/hc/en-gb/articles/5034653623711-Experience-Lean-Library-extension" TargetMode="External"/><Relationship Id="rId2" Type="http://schemas.openxmlformats.org/officeDocument/2006/relationships/hyperlink" Target="https://www.leanlibrary.com/download/" TargetMode="External"/><Relationship Id="rId1" Type="http://schemas.openxmlformats.org/officeDocument/2006/relationships/slideLayout" Target="../slideLayouts/slideLayout5.xml"/><Relationship Id="rId6" Type="http://schemas.openxmlformats.org/officeDocument/2006/relationships/hyperlink" Target="https://bibliotheques.ensam.eu/infosetservices/explorer-nos-ressources-facilement" TargetMode="External"/><Relationship Id="rId5" Type="http://schemas.openxmlformats.org/officeDocument/2006/relationships/image" Target="../media/image34.png"/><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atrium.ensam.eu/infosetservices/explorer-nos-ressources-facilement" TargetMode="Externa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hyperlink" Target="https://core.ac.uk/services/discovery" TargetMode="External"/><Relationship Id="rId2" Type="http://schemas.openxmlformats.org/officeDocument/2006/relationships/hyperlink" Target="https://unpaywall.org/" TargetMode="External"/><Relationship Id="rId1" Type="http://schemas.openxmlformats.org/officeDocument/2006/relationships/slideLayout" Target="../slideLayouts/slideLayout6.xml"/><Relationship Id="rId4" Type="http://schemas.openxmlformats.org/officeDocument/2006/relationships/hyperlink" Target="https://www.leanlibrary.co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hyperlink" Target="https://www.springer.com/gp/authors-editors/authorandreviewertutorials/writing-a-journal-manuscript/types-of-journal-articles/10285504#:~:text=Although%20it%20may%20appear%20there%20are%20a%20large,Articles%2C%20Short%20reports%20or%20Letters%2C%20Case%20Studies%2C%20Methodologies." TargetMode="Externa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hyperlink" Target="https://www-scopus-com.rp1.ensam.eu/pages/publications/105010112561" TargetMode="Externa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hyperlink" Target="https://www.southampton.ac.uk/assets/imported/transforms/content-block/UsefulDownloads_Download/C7DB60AFB5FF41E89AEC6CC222A1878C/HowToReadSciArticle.pdf" TargetMode="External"/><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hyperlink" Target="https://www.unige.ch/numerique/digital-university/ia-generative-guide-unige/communiquer-faire-un-prompt" TargetMode="Externa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hyperlink" Target="https://www.comparia.beta.gouv.fr/" TargetMode="Externa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hyperlink" Target="https://aichatapp.ai/landing/?utm_source=google&amp;utm_medium=cpc&amp;utm_campaign=22584454483&amp;utm_term=anthropic%20claude&amp;utm_adgroup=181484279223&amp;utm_network=g&amp;utm_matchtype=e&amp;utm_loc_physical_ms=9197847&amp;gad_source=1&amp;gad_campaignid=22584454483&amp;gclid=EAIaIQobChMIgJWHzePajwMVbgUGAB2JRgJvEAAYASAAEgLvXfD_BwE" TargetMode="Externa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hyperlink" Target="https://zbib.org/" TargetMode="External"/><Relationship Id="rId2" Type="http://schemas.openxmlformats.org/officeDocument/2006/relationships/hyperlink" Target="https://infotrack.unige.ch/en/assess-GenAI-output" TargetMode="Externa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hyperlink" Target="https://www.mybib.com/" TargetMode="External"/><Relationship Id="rId2" Type="http://schemas.openxmlformats.org/officeDocument/2006/relationships/hyperlink" Target="http://www.scribbr.fr/" TargetMode="Externa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factuel.afp.com/" TargetMode="External"/><Relationship Id="rId7" Type="http://schemas.openxmlformats.org/officeDocument/2006/relationships/hyperlink" Target="https://chrome.google.com/webstore/detail/fake-news-debunker-by-inv/mhccpoafgdgbhnjfhkcmgknndkeenfhe" TargetMode="External"/><Relationship Id="rId2" Type="http://schemas.openxmlformats.org/officeDocument/2006/relationships/hyperlink" Target="https://www.lemonde.fr/verification/" TargetMode="External"/><Relationship Id="rId1" Type="http://schemas.openxmlformats.org/officeDocument/2006/relationships/slideLayout" Target="../slideLayouts/slideLayout8.xml"/><Relationship Id="rId6" Type="http://schemas.openxmlformats.org/officeDocument/2006/relationships/hyperlink" Target="https://tineye.com/" TargetMode="External"/><Relationship Id="rId5" Type="http://schemas.openxmlformats.org/officeDocument/2006/relationships/hyperlink" Target="https://www.hoaxbuster.com/" TargetMode="External"/><Relationship Id="rId4" Type="http://schemas.openxmlformats.org/officeDocument/2006/relationships/hyperlink" Target="https://observers.france24.com/fr/"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mailto:carole.wahnoun@ensam.eu" TargetMode="Externa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5">
            <a:extLst>
              <a:ext uri="{FF2B5EF4-FFF2-40B4-BE49-F238E27FC236}">
                <a16:creationId xmlns:a16="http://schemas.microsoft.com/office/drawing/2014/main" id="{DE5CB1D7-23CC-46E8-A566-CCD3BE426279}"/>
              </a:ext>
            </a:extLst>
          </p:cNvPr>
          <p:cNvSpPr>
            <a:spLocks noGrp="1"/>
          </p:cNvSpPr>
          <p:nvPr>
            <p:ph type="body" sz="quarter" idx="12"/>
          </p:nvPr>
        </p:nvSpPr>
        <p:spPr>
          <a:xfrm>
            <a:off x="957802" y="1937695"/>
            <a:ext cx="10449338" cy="1057727"/>
          </a:xfrm>
        </p:spPr>
        <p:txBody>
          <a:bodyPr/>
          <a:lstStyle/>
          <a:p>
            <a:r>
              <a:rPr lang="en-US" sz="3200" b="1">
                <a:solidFill>
                  <a:srgbClr val="00B0F0"/>
                </a:solidFill>
              </a:rPr>
              <a:t>Information Skills and Bibliographic </a:t>
            </a:r>
            <a:r>
              <a:rPr lang="en-US" sz="3200" b="1" dirty="0">
                <a:solidFill>
                  <a:srgbClr val="00B0F0"/>
                </a:solidFill>
              </a:rPr>
              <a:t>T</a:t>
            </a:r>
            <a:r>
              <a:rPr lang="en-US" sz="3200" b="1">
                <a:solidFill>
                  <a:srgbClr val="00B0F0"/>
                </a:solidFill>
              </a:rPr>
              <a:t>ools </a:t>
            </a:r>
            <a:endParaRPr lang="fr-FR" sz="3200" b="1" i="1" dirty="0">
              <a:solidFill>
                <a:srgbClr val="00B0F0"/>
              </a:solidFill>
            </a:endParaRPr>
          </a:p>
        </p:txBody>
      </p:sp>
      <p:sp>
        <p:nvSpPr>
          <p:cNvPr id="4" name="Espace réservé du texte 2">
            <a:extLst>
              <a:ext uri="{FF2B5EF4-FFF2-40B4-BE49-F238E27FC236}">
                <a16:creationId xmlns:a16="http://schemas.microsoft.com/office/drawing/2014/main" id="{1ADA294A-3A8B-4289-94FC-29682E10DD25}"/>
              </a:ext>
            </a:extLst>
          </p:cNvPr>
          <p:cNvSpPr txBox="1">
            <a:spLocks/>
          </p:cNvSpPr>
          <p:nvPr/>
        </p:nvSpPr>
        <p:spPr>
          <a:xfrm>
            <a:off x="3369214" y="3515160"/>
            <a:ext cx="5626513" cy="23072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400" b="1" dirty="0">
                <a:solidFill>
                  <a:srgbClr val="80276C"/>
                </a:solidFill>
              </a:rPr>
              <a:t>Carole Wahnoun</a:t>
            </a:r>
          </a:p>
          <a:p>
            <a:pPr marL="0" indent="0" algn="ctr">
              <a:buNone/>
            </a:pPr>
            <a:r>
              <a:rPr lang="fr-FR" sz="2400" b="1" dirty="0">
                <a:solidFill>
                  <a:srgbClr val="80276C"/>
                </a:solidFill>
              </a:rPr>
              <a:t>October 8-9</a:t>
            </a:r>
            <a:r>
              <a:rPr lang="fr-FR" sz="2400" b="1" baseline="30000" dirty="0">
                <a:solidFill>
                  <a:srgbClr val="80276C"/>
                </a:solidFill>
              </a:rPr>
              <a:t>th</a:t>
            </a:r>
            <a:r>
              <a:rPr lang="fr-FR" sz="2400" b="1" dirty="0">
                <a:solidFill>
                  <a:srgbClr val="80276C"/>
                </a:solidFill>
              </a:rPr>
              <a:t> 2026</a:t>
            </a:r>
          </a:p>
          <a:p>
            <a:pPr marL="0" indent="0">
              <a:buNone/>
            </a:pPr>
            <a:endParaRPr lang="fr-FR" b="1" dirty="0"/>
          </a:p>
        </p:txBody>
      </p:sp>
    </p:spTree>
    <p:extLst>
      <p:ext uri="{BB962C8B-B14F-4D97-AF65-F5344CB8AC3E}">
        <p14:creationId xmlns:p14="http://schemas.microsoft.com/office/powerpoint/2010/main" val="3317437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7273254B-2AA4-43E0-A134-2BCA5637D6A1}"/>
              </a:ext>
            </a:extLst>
          </p:cNvPr>
          <p:cNvSpPr txBox="1">
            <a:spLocks/>
          </p:cNvSpPr>
          <p:nvPr/>
        </p:nvSpPr>
        <p:spPr>
          <a:xfrm>
            <a:off x="5851265" y="365053"/>
            <a:ext cx="3239572" cy="5944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a:solidFill>
                  <a:srgbClr val="80276C"/>
                </a:solidFill>
              </a:rPr>
              <a:t>Table of contents</a:t>
            </a:r>
          </a:p>
        </p:txBody>
      </p:sp>
      <p:sp>
        <p:nvSpPr>
          <p:cNvPr id="4" name="Espace réservé du texte 2">
            <a:extLst>
              <a:ext uri="{FF2B5EF4-FFF2-40B4-BE49-F238E27FC236}">
                <a16:creationId xmlns:a16="http://schemas.microsoft.com/office/drawing/2014/main" id="{3CB0E1AD-2FD9-4135-8D37-32EC8585F64C}"/>
              </a:ext>
            </a:extLst>
          </p:cNvPr>
          <p:cNvSpPr txBox="1">
            <a:spLocks/>
          </p:cNvSpPr>
          <p:nvPr/>
        </p:nvSpPr>
        <p:spPr>
          <a:xfrm>
            <a:off x="5851265" y="959499"/>
            <a:ext cx="5695692" cy="22383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1. Introduction</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2. </a:t>
            </a:r>
            <a:r>
              <a:rPr lang="fr-FR" sz="2400" dirty="0" err="1">
                <a:solidFill>
                  <a:srgbClr val="80276C"/>
                </a:solidFill>
                <a:latin typeface="Times New Roman" panose="02020603050405020304" pitchFamily="18" charset="0"/>
                <a:cs typeface="Times New Roman" panose="02020603050405020304" pitchFamily="18" charset="0"/>
              </a:rPr>
              <a:t>Approach</a:t>
            </a:r>
            <a:r>
              <a:rPr lang="fr-FR" sz="2400" dirty="0">
                <a:solidFill>
                  <a:srgbClr val="80276C"/>
                </a:solidFill>
                <a:latin typeface="Times New Roman" panose="02020603050405020304" pitchFamily="18" charset="0"/>
                <a:cs typeface="Times New Roman" panose="02020603050405020304" pitchFamily="18" charset="0"/>
              </a:rPr>
              <a:t> to </a:t>
            </a:r>
            <a:r>
              <a:rPr lang="fr-FR" sz="2400" dirty="0" err="1">
                <a:solidFill>
                  <a:srgbClr val="80276C"/>
                </a:solidFill>
                <a:latin typeface="Times New Roman" panose="02020603050405020304" pitchFamily="18" charset="0"/>
                <a:cs typeface="Times New Roman" panose="02020603050405020304" pitchFamily="18" charset="0"/>
              </a:rPr>
              <a:t>general</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documentary</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search</a:t>
            </a:r>
            <a:r>
              <a:rPr lang="fr-FR" sz="2400" dirty="0">
                <a:solidFill>
                  <a:srgbClr val="80276C"/>
                </a:solidFill>
                <a:latin typeface="Times New Roman" panose="02020603050405020304" pitchFamily="18" charset="0"/>
                <a:cs typeface="Times New Roman" panose="02020603050405020304" pitchFamily="18" charset="0"/>
              </a:rPr>
              <a:t> and monitoring</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3. </a:t>
            </a:r>
            <a:r>
              <a:rPr lang="fr-FR" sz="2400" dirty="0" err="1">
                <a:solidFill>
                  <a:srgbClr val="80276C"/>
                </a:solidFill>
                <a:latin typeface="Times New Roman" panose="02020603050405020304" pitchFamily="18" charset="0"/>
                <a:cs typeface="Times New Roman" panose="02020603050405020304" pitchFamily="18" charset="0"/>
              </a:rPr>
              <a:t>Typical</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features</a:t>
            </a:r>
            <a:r>
              <a:rPr lang="fr-FR" sz="2400" dirty="0">
                <a:solidFill>
                  <a:srgbClr val="80276C"/>
                </a:solidFill>
                <a:latin typeface="Times New Roman" panose="02020603050405020304" pitchFamily="18" charset="0"/>
                <a:cs typeface="Times New Roman" panose="02020603050405020304" pitchFamily="18" charset="0"/>
              </a:rPr>
              <a:t> of Scientific and </a:t>
            </a:r>
            <a:r>
              <a:rPr lang="fr-FR" sz="2400" dirty="0" err="1">
                <a:solidFill>
                  <a:srgbClr val="80276C"/>
                </a:solidFill>
                <a:latin typeface="Times New Roman" panose="02020603050405020304" pitchFamily="18" charset="0"/>
                <a:cs typeface="Times New Roman" panose="02020603050405020304" pitchFamily="18" charset="0"/>
              </a:rPr>
              <a:t>Technological</a:t>
            </a:r>
            <a:r>
              <a:rPr lang="fr-FR" sz="2400" dirty="0">
                <a:solidFill>
                  <a:srgbClr val="80276C"/>
                </a:solidFill>
                <a:latin typeface="Times New Roman" panose="02020603050405020304" pitchFamily="18" charset="0"/>
                <a:cs typeface="Times New Roman" panose="02020603050405020304" pitchFamily="18" charset="0"/>
              </a:rPr>
              <a:t> Information (STI)</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4. </a:t>
            </a:r>
            <a:r>
              <a:rPr lang="fr-FR" sz="2400" dirty="0" err="1">
                <a:solidFill>
                  <a:srgbClr val="80276C"/>
                </a:solidFill>
                <a:latin typeface="Times New Roman" panose="02020603050405020304" pitchFamily="18" charset="0"/>
                <a:cs typeface="Times New Roman" panose="02020603050405020304" pitchFamily="18" charset="0"/>
              </a:rPr>
              <a:t>Methodology</a:t>
            </a:r>
            <a:r>
              <a:rPr lang="fr-FR" sz="2400" dirty="0">
                <a:solidFill>
                  <a:srgbClr val="80276C"/>
                </a:solidFill>
                <a:latin typeface="Times New Roman" panose="02020603050405020304" pitchFamily="18" charset="0"/>
                <a:cs typeface="Times New Roman" panose="02020603050405020304" pitchFamily="18" charset="0"/>
              </a:rPr>
              <a:t> of </a:t>
            </a:r>
            <a:r>
              <a:rPr lang="fr-FR" sz="2400" dirty="0" err="1">
                <a:solidFill>
                  <a:srgbClr val="80276C"/>
                </a:solidFill>
                <a:latin typeface="Times New Roman" panose="02020603050405020304" pitchFamily="18" charset="0"/>
                <a:cs typeface="Times New Roman" panose="02020603050405020304" pitchFamily="18" charset="0"/>
              </a:rPr>
              <a:t>bibliographic</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search</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applied</a:t>
            </a:r>
            <a:r>
              <a:rPr lang="fr-FR" sz="2400" dirty="0">
                <a:solidFill>
                  <a:srgbClr val="80276C"/>
                </a:solidFill>
                <a:latin typeface="Times New Roman" panose="02020603050405020304" pitchFamily="18" charset="0"/>
                <a:cs typeface="Times New Roman" panose="02020603050405020304" pitchFamily="18" charset="0"/>
              </a:rPr>
              <a:t> to the </a:t>
            </a:r>
            <a:r>
              <a:rPr lang="fr-FR" sz="2400" dirty="0" err="1">
                <a:solidFill>
                  <a:srgbClr val="80276C"/>
                </a:solidFill>
                <a:latin typeface="Times New Roman" panose="02020603050405020304" pitchFamily="18" charset="0"/>
                <a:cs typeface="Times New Roman" panose="02020603050405020304" pitchFamily="18" charset="0"/>
              </a:rPr>
              <a:t>field</a:t>
            </a:r>
            <a:r>
              <a:rPr lang="fr-FR" sz="2400" dirty="0">
                <a:solidFill>
                  <a:srgbClr val="80276C"/>
                </a:solidFill>
                <a:latin typeface="Times New Roman" panose="02020603050405020304" pitchFamily="18" charset="0"/>
                <a:cs typeface="Times New Roman" panose="02020603050405020304" pitchFamily="18" charset="0"/>
              </a:rPr>
              <a:t> of STI</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5. </a:t>
            </a:r>
            <a:r>
              <a:rPr lang="fr-FR" sz="2400" dirty="0" err="1">
                <a:solidFill>
                  <a:srgbClr val="80276C"/>
                </a:solidFill>
                <a:latin typeface="Times New Roman" panose="02020603050405020304" pitchFamily="18" charset="0"/>
                <a:cs typeface="Times New Roman" panose="02020603050405020304" pitchFamily="18" charset="0"/>
              </a:rPr>
              <a:t>Situational</a:t>
            </a:r>
            <a:r>
              <a:rPr lang="fr-FR" sz="2400" dirty="0">
                <a:solidFill>
                  <a:srgbClr val="80276C"/>
                </a:solidFill>
                <a:latin typeface="Times New Roman" panose="02020603050405020304" pitchFamily="18" charset="0"/>
                <a:cs typeface="Times New Roman" panose="02020603050405020304" pitchFamily="18" charset="0"/>
              </a:rPr>
              <a:t> applications and </a:t>
            </a:r>
            <a:r>
              <a:rPr lang="fr-FR" sz="2400" dirty="0" err="1">
                <a:solidFill>
                  <a:srgbClr val="80276C"/>
                </a:solidFill>
                <a:latin typeface="Times New Roman" panose="02020603050405020304" pitchFamily="18" charset="0"/>
                <a:cs typeface="Times New Roman" panose="02020603050405020304" pitchFamily="18" charset="0"/>
              </a:rPr>
              <a:t>practical</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work</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with</a:t>
            </a:r>
            <a:r>
              <a:rPr lang="fr-FR" sz="2400" dirty="0">
                <a:solidFill>
                  <a:srgbClr val="80276C"/>
                </a:solidFill>
                <a:latin typeface="Times New Roman" panose="02020603050405020304" pitchFamily="18" charset="0"/>
                <a:cs typeface="Times New Roman" panose="02020603050405020304" pitchFamily="18" charset="0"/>
              </a:rPr>
              <a:t> </a:t>
            </a:r>
            <a:r>
              <a:rPr lang="fr-FR" sz="2400" dirty="0" err="1">
                <a:solidFill>
                  <a:srgbClr val="80276C"/>
                </a:solidFill>
                <a:latin typeface="Times New Roman" panose="02020603050405020304" pitchFamily="18" charset="0"/>
                <a:cs typeface="Times New Roman" panose="02020603050405020304" pitchFamily="18" charset="0"/>
              </a:rPr>
              <a:t>paid</a:t>
            </a:r>
            <a:r>
              <a:rPr lang="fr-FR" sz="2400" dirty="0">
                <a:solidFill>
                  <a:srgbClr val="80276C"/>
                </a:solidFill>
                <a:latin typeface="Times New Roman" panose="02020603050405020304" pitchFamily="18" charset="0"/>
                <a:cs typeface="Times New Roman" panose="02020603050405020304" pitchFamily="18" charset="0"/>
              </a:rPr>
              <a:t> or Open Access archives, </a:t>
            </a:r>
            <a:r>
              <a:rPr lang="fr-FR" sz="2400" dirty="0" err="1">
                <a:solidFill>
                  <a:srgbClr val="80276C"/>
                </a:solidFill>
                <a:latin typeface="Times New Roman" panose="02020603050405020304" pitchFamily="18" charset="0"/>
                <a:cs typeface="Times New Roman" panose="02020603050405020304" pitchFamily="18" charset="0"/>
              </a:rPr>
              <a:t>databases</a:t>
            </a:r>
            <a:r>
              <a:rPr lang="fr-FR" sz="2400" dirty="0">
                <a:solidFill>
                  <a:srgbClr val="80276C"/>
                </a:solidFill>
                <a:latin typeface="Times New Roman" panose="02020603050405020304" pitchFamily="18" charset="0"/>
                <a:cs typeface="Times New Roman" panose="02020603050405020304" pitchFamily="18" charset="0"/>
              </a:rPr>
              <a:t> and </a:t>
            </a:r>
            <a:r>
              <a:rPr lang="fr-FR" sz="2400" dirty="0" err="1">
                <a:solidFill>
                  <a:srgbClr val="80276C"/>
                </a:solidFill>
                <a:latin typeface="Times New Roman" panose="02020603050405020304" pitchFamily="18" charset="0"/>
                <a:cs typeface="Times New Roman" panose="02020603050405020304" pitchFamily="18" charset="0"/>
              </a:rPr>
              <a:t>with</a:t>
            </a:r>
            <a:r>
              <a:rPr lang="fr-FR" sz="2400" dirty="0">
                <a:solidFill>
                  <a:srgbClr val="80276C"/>
                </a:solidFill>
                <a:latin typeface="Times New Roman" panose="02020603050405020304" pitchFamily="18" charset="0"/>
                <a:cs typeface="Times New Roman" panose="02020603050405020304" pitchFamily="18" charset="0"/>
              </a:rPr>
              <a:t> free </a:t>
            </a:r>
            <a:r>
              <a:rPr lang="fr-FR" sz="2400" dirty="0" err="1">
                <a:solidFill>
                  <a:srgbClr val="80276C"/>
                </a:solidFill>
                <a:latin typeface="Times New Roman" panose="02020603050405020304" pitchFamily="18" charset="0"/>
                <a:cs typeface="Times New Roman" panose="02020603050405020304" pitchFamily="18" charset="0"/>
              </a:rPr>
              <a:t>search</a:t>
            </a:r>
            <a:r>
              <a:rPr lang="fr-FR" sz="2400" dirty="0">
                <a:solidFill>
                  <a:srgbClr val="80276C"/>
                </a:solidFill>
                <a:latin typeface="Times New Roman" panose="02020603050405020304" pitchFamily="18" charset="0"/>
                <a:cs typeface="Times New Roman" panose="02020603050405020304" pitchFamily="18" charset="0"/>
              </a:rPr>
              <a:t> engines and AI</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6. </a:t>
            </a:r>
            <a:r>
              <a:rPr lang="fr-FR" sz="2400" dirty="0" err="1">
                <a:solidFill>
                  <a:srgbClr val="80276C"/>
                </a:solidFill>
                <a:latin typeface="Times New Roman" panose="02020603050405020304" pitchFamily="18" charset="0"/>
                <a:cs typeface="Times New Roman" panose="02020603050405020304" pitchFamily="18" charset="0"/>
              </a:rPr>
              <a:t>Exploring</a:t>
            </a:r>
            <a:r>
              <a:rPr lang="fr-FR" sz="2400" dirty="0">
                <a:solidFill>
                  <a:srgbClr val="80276C"/>
                </a:solidFill>
                <a:latin typeface="Times New Roman" panose="02020603050405020304" pitchFamily="18" charset="0"/>
                <a:cs typeface="Times New Roman" panose="02020603050405020304" pitchFamily="18" charset="0"/>
              </a:rPr>
              <a:t> the world of </a:t>
            </a:r>
            <a:r>
              <a:rPr lang="fr-FR" sz="2400" dirty="0" err="1">
                <a:solidFill>
                  <a:srgbClr val="80276C"/>
                </a:solidFill>
                <a:latin typeface="Times New Roman" panose="02020603050405020304" pitchFamily="18" charset="0"/>
                <a:cs typeface="Times New Roman" panose="02020603050405020304" pitchFamily="18" charset="0"/>
              </a:rPr>
              <a:t>research</a:t>
            </a:r>
            <a:r>
              <a:rPr lang="fr-FR" sz="2400" dirty="0">
                <a:solidFill>
                  <a:srgbClr val="80276C"/>
                </a:solidFill>
                <a:latin typeface="Times New Roman" panose="02020603050405020304" pitchFamily="18" charset="0"/>
                <a:cs typeface="Times New Roman" panose="02020603050405020304" pitchFamily="18" charset="0"/>
              </a:rPr>
              <a:t> articles</a:t>
            </a:r>
          </a:p>
          <a:p>
            <a:pPr marL="0" indent="0" algn="just">
              <a:buNone/>
            </a:pPr>
            <a:r>
              <a:rPr lang="fr-FR" sz="2400" dirty="0">
                <a:solidFill>
                  <a:srgbClr val="80276C"/>
                </a:solidFill>
                <a:latin typeface="Times New Roman" panose="02020603050405020304" pitchFamily="18" charset="0"/>
                <a:cs typeface="Times New Roman" panose="02020603050405020304" pitchFamily="18" charset="0"/>
              </a:rPr>
              <a:t>7. Conclusion</a:t>
            </a:r>
            <a:endParaRPr lang="fr-FR" sz="2400" dirty="0">
              <a:solidFill>
                <a:srgbClr val="80276C"/>
              </a:solidFill>
            </a:endParaRPr>
          </a:p>
        </p:txBody>
      </p:sp>
    </p:spTree>
    <p:extLst>
      <p:ext uri="{BB962C8B-B14F-4D97-AF65-F5344CB8AC3E}">
        <p14:creationId xmlns:p14="http://schemas.microsoft.com/office/powerpoint/2010/main" val="2629606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151D513F-748D-68A0-BCAF-D239CAF1104F}"/>
              </a:ext>
            </a:extLst>
          </p:cNvPr>
          <p:cNvSpPr>
            <a:spLocks noGrp="1"/>
          </p:cNvSpPr>
          <p:nvPr>
            <p:ph type="body" sz="quarter" idx="13"/>
          </p:nvPr>
        </p:nvSpPr>
        <p:spPr>
          <a:xfrm>
            <a:off x="992606" y="356797"/>
            <a:ext cx="8195732" cy="3723675"/>
          </a:xfrm>
        </p:spPr>
        <p:txBody>
          <a:bodyPr/>
          <a:lstStyle/>
          <a:p>
            <a:r>
              <a:rPr lang="fr-FR" sz="2400" dirty="0">
                <a:solidFill>
                  <a:srgbClr val="FFC000"/>
                </a:solidFill>
              </a:rPr>
              <a:t>1. Introduction </a:t>
            </a:r>
          </a:p>
          <a:p>
            <a:endParaRPr lang="fr-FR" sz="2400" dirty="0"/>
          </a:p>
          <a:p>
            <a:r>
              <a:rPr lang="fr-FR" sz="2400" dirty="0" err="1"/>
              <a:t>Your</a:t>
            </a:r>
            <a:r>
              <a:rPr lang="fr-FR" sz="2400" dirty="0"/>
              <a:t> expectations?</a:t>
            </a:r>
          </a:p>
          <a:p>
            <a:endParaRPr lang="fr-FR" dirty="0"/>
          </a:p>
        </p:txBody>
      </p:sp>
      <p:sp>
        <p:nvSpPr>
          <p:cNvPr id="4" name="Espace réservé du texte 1">
            <a:extLst>
              <a:ext uri="{FF2B5EF4-FFF2-40B4-BE49-F238E27FC236}">
                <a16:creationId xmlns:a16="http://schemas.microsoft.com/office/drawing/2014/main" id="{CF5E8505-2D46-4230-9AC0-F838ADAA706B}"/>
              </a:ext>
            </a:extLst>
          </p:cNvPr>
          <p:cNvSpPr txBox="1">
            <a:spLocks/>
          </p:cNvSpPr>
          <p:nvPr/>
        </p:nvSpPr>
        <p:spPr>
          <a:xfrm>
            <a:off x="6194152" y="3216818"/>
            <a:ext cx="3246438" cy="502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solidFill>
                <a:srgbClr val="FFC000"/>
              </a:solidFill>
            </a:endParaRPr>
          </a:p>
        </p:txBody>
      </p:sp>
      <p:sp>
        <p:nvSpPr>
          <p:cNvPr id="5" name="Espace réservé du texte 2">
            <a:extLst>
              <a:ext uri="{FF2B5EF4-FFF2-40B4-BE49-F238E27FC236}">
                <a16:creationId xmlns:a16="http://schemas.microsoft.com/office/drawing/2014/main" id="{34987A06-4466-4340-AEF7-E2100E94BFAA}"/>
              </a:ext>
            </a:extLst>
          </p:cNvPr>
          <p:cNvSpPr txBox="1">
            <a:spLocks/>
          </p:cNvSpPr>
          <p:nvPr/>
        </p:nvSpPr>
        <p:spPr>
          <a:xfrm>
            <a:off x="992606" y="2218635"/>
            <a:ext cx="6697244" cy="5020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b="1" dirty="0"/>
          </a:p>
        </p:txBody>
      </p:sp>
      <p:sp>
        <p:nvSpPr>
          <p:cNvPr id="6" name="ZoneTexte 5">
            <a:extLst>
              <a:ext uri="{FF2B5EF4-FFF2-40B4-BE49-F238E27FC236}">
                <a16:creationId xmlns:a16="http://schemas.microsoft.com/office/drawing/2014/main" id="{A9CFB6E7-9EC8-43E1-B629-C09AF0C41373}"/>
              </a:ext>
            </a:extLst>
          </p:cNvPr>
          <p:cNvSpPr txBox="1"/>
          <p:nvPr/>
        </p:nvSpPr>
        <p:spPr>
          <a:xfrm flipH="1">
            <a:off x="992606" y="2164595"/>
            <a:ext cx="10206788" cy="3108543"/>
          </a:xfrm>
          <a:prstGeom prst="rect">
            <a:avLst/>
          </a:prstGeom>
          <a:noFill/>
        </p:spPr>
        <p:txBody>
          <a:bodyPr wrap="square" rtlCol="0">
            <a:spAutoFit/>
          </a:bodyPr>
          <a:lstStyle/>
          <a:p>
            <a:pPr marL="285750" indent="-285750">
              <a:buFont typeface="Wingdings" panose="05000000000000000000" pitchFamily="2" charset="2"/>
              <a:buChar char="v"/>
            </a:pPr>
            <a:r>
              <a:rPr lang="fr-FR" sz="2800" b="1" u="sng" dirty="0">
                <a:solidFill>
                  <a:srgbClr val="80276C"/>
                </a:solidFill>
              </a:rPr>
              <a:t>Target</a:t>
            </a:r>
            <a:r>
              <a:rPr lang="fr-FR" sz="2800" dirty="0">
                <a:solidFill>
                  <a:srgbClr val="80276C"/>
                </a:solidFill>
              </a:rPr>
              <a:t>: </a:t>
            </a:r>
            <a:r>
              <a:rPr lang="fr-FR" sz="2800" b="1" dirty="0">
                <a:solidFill>
                  <a:srgbClr val="80276C"/>
                </a:solidFill>
              </a:rPr>
              <a:t>to </a:t>
            </a:r>
            <a:r>
              <a:rPr lang="fr-FR" sz="2800" b="1" dirty="0" err="1">
                <a:solidFill>
                  <a:srgbClr val="80276C"/>
                </a:solidFill>
              </a:rPr>
              <a:t>learn</a:t>
            </a:r>
            <a:r>
              <a:rPr lang="fr-FR" sz="2800" b="1" dirty="0">
                <a:solidFill>
                  <a:srgbClr val="80276C"/>
                </a:solidFill>
              </a:rPr>
              <a:t> how to compose a </a:t>
            </a:r>
            <a:r>
              <a:rPr lang="fr-FR" sz="2800" b="1" dirty="0" err="1">
                <a:solidFill>
                  <a:srgbClr val="80276C"/>
                </a:solidFill>
              </a:rPr>
              <a:t>bibliographic</a:t>
            </a:r>
            <a:r>
              <a:rPr lang="fr-FR" sz="2800" b="1" dirty="0">
                <a:solidFill>
                  <a:srgbClr val="80276C"/>
                </a:solidFill>
              </a:rPr>
              <a:t> </a:t>
            </a:r>
            <a:r>
              <a:rPr lang="fr-FR" sz="2800" b="1" dirty="0" err="1">
                <a:solidFill>
                  <a:srgbClr val="80276C"/>
                </a:solidFill>
              </a:rPr>
              <a:t>search</a:t>
            </a:r>
            <a:r>
              <a:rPr lang="fr-FR" sz="2800" b="1" dirty="0">
                <a:solidFill>
                  <a:srgbClr val="80276C"/>
                </a:solidFill>
              </a:rPr>
              <a:t> report and to </a:t>
            </a:r>
            <a:r>
              <a:rPr lang="fr-FR" sz="2800" b="1" dirty="0" err="1">
                <a:solidFill>
                  <a:srgbClr val="80276C"/>
                </a:solidFill>
              </a:rPr>
              <a:t>become</a:t>
            </a:r>
            <a:r>
              <a:rPr lang="fr-FR" sz="2800" b="1" dirty="0">
                <a:solidFill>
                  <a:srgbClr val="80276C"/>
                </a:solidFill>
              </a:rPr>
              <a:t> more self-reliant in </a:t>
            </a:r>
            <a:r>
              <a:rPr lang="fr-FR" sz="2800" b="1" dirty="0" err="1">
                <a:solidFill>
                  <a:srgbClr val="80276C"/>
                </a:solidFill>
              </a:rPr>
              <a:t>your</a:t>
            </a:r>
            <a:r>
              <a:rPr lang="fr-FR" sz="2800" b="1" dirty="0">
                <a:solidFill>
                  <a:srgbClr val="80276C"/>
                </a:solidFill>
              </a:rPr>
              <a:t> </a:t>
            </a:r>
            <a:r>
              <a:rPr lang="fr-FR" sz="2800" b="1" dirty="0" err="1">
                <a:solidFill>
                  <a:srgbClr val="80276C"/>
                </a:solidFill>
              </a:rPr>
              <a:t>documentary</a:t>
            </a:r>
            <a:r>
              <a:rPr lang="fr-FR" sz="2800" b="1" dirty="0">
                <a:solidFill>
                  <a:srgbClr val="80276C"/>
                </a:solidFill>
              </a:rPr>
              <a:t> </a:t>
            </a:r>
            <a:r>
              <a:rPr lang="fr-FR" sz="2800" b="1" dirty="0" err="1">
                <a:solidFill>
                  <a:srgbClr val="80276C"/>
                </a:solidFill>
              </a:rPr>
              <a:t>searches</a:t>
            </a:r>
            <a:endParaRPr lang="fr-FR" sz="2800" b="1" dirty="0">
              <a:solidFill>
                <a:srgbClr val="80276C"/>
              </a:solidFill>
            </a:endParaRPr>
          </a:p>
          <a:p>
            <a:pPr marL="285750" indent="-285750">
              <a:buFont typeface="Wingdings" panose="05000000000000000000" pitchFamily="2" charset="2"/>
              <a:buChar char="v"/>
            </a:pPr>
            <a:endParaRPr lang="fr-FR" sz="2800" b="1" dirty="0">
              <a:solidFill>
                <a:srgbClr val="80276C"/>
              </a:solidFill>
            </a:endParaRPr>
          </a:p>
          <a:p>
            <a:pPr marL="285750" indent="-285750">
              <a:buFont typeface="Wingdings" panose="05000000000000000000" pitchFamily="2" charset="2"/>
              <a:buChar char="v"/>
            </a:pPr>
            <a:r>
              <a:rPr lang="fr-FR" sz="2800" b="1" u="sng" dirty="0">
                <a:solidFill>
                  <a:srgbClr val="80276C"/>
                </a:solidFill>
              </a:rPr>
              <a:t>Practice-</a:t>
            </a:r>
            <a:r>
              <a:rPr lang="fr-FR" sz="2800" b="1" u="sng" dirty="0" err="1">
                <a:solidFill>
                  <a:srgbClr val="80276C"/>
                </a:solidFill>
              </a:rPr>
              <a:t>based</a:t>
            </a:r>
            <a:r>
              <a:rPr lang="fr-FR" sz="2800" b="1" u="sng" dirty="0">
                <a:solidFill>
                  <a:srgbClr val="80276C"/>
                </a:solidFill>
              </a:rPr>
              <a:t> </a:t>
            </a:r>
            <a:r>
              <a:rPr lang="fr-FR" sz="2800" b="1" u="sng" dirty="0" err="1">
                <a:solidFill>
                  <a:srgbClr val="80276C"/>
                </a:solidFill>
              </a:rPr>
              <a:t>educational</a:t>
            </a:r>
            <a:r>
              <a:rPr lang="fr-FR" sz="2800" b="1" u="sng" dirty="0">
                <a:solidFill>
                  <a:srgbClr val="80276C"/>
                </a:solidFill>
              </a:rPr>
              <a:t> </a:t>
            </a:r>
            <a:r>
              <a:rPr lang="fr-FR" sz="2800" b="1" u="sng" dirty="0" err="1">
                <a:solidFill>
                  <a:srgbClr val="80276C"/>
                </a:solidFill>
              </a:rPr>
              <a:t>methods</a:t>
            </a:r>
            <a:r>
              <a:rPr lang="fr-FR" sz="2800" b="1" dirty="0">
                <a:solidFill>
                  <a:srgbClr val="80276C"/>
                </a:solidFill>
              </a:rPr>
              <a:t>: </a:t>
            </a:r>
            <a:r>
              <a:rPr lang="fr-FR" sz="2800" b="1" dirty="0" err="1">
                <a:solidFill>
                  <a:srgbClr val="80276C"/>
                </a:solidFill>
              </a:rPr>
              <a:t>situational</a:t>
            </a:r>
            <a:r>
              <a:rPr lang="fr-FR" sz="2800" b="1" dirty="0">
                <a:solidFill>
                  <a:srgbClr val="80276C"/>
                </a:solidFill>
              </a:rPr>
              <a:t> applications, practice </a:t>
            </a:r>
            <a:r>
              <a:rPr lang="fr-FR" sz="2800" b="1" dirty="0" err="1">
                <a:solidFill>
                  <a:srgbClr val="80276C"/>
                </a:solidFill>
              </a:rPr>
              <a:t>work</a:t>
            </a:r>
            <a:r>
              <a:rPr lang="fr-FR" sz="2800" b="1" dirty="0">
                <a:solidFill>
                  <a:srgbClr val="80276C"/>
                </a:solidFill>
              </a:rPr>
              <a:t> and online </a:t>
            </a:r>
            <a:r>
              <a:rPr lang="fr-FR" sz="2800" b="1" dirty="0" err="1">
                <a:solidFill>
                  <a:srgbClr val="80276C"/>
                </a:solidFill>
              </a:rPr>
              <a:t>examples</a:t>
            </a:r>
            <a:endParaRPr lang="fr-FR" sz="2800" b="1" dirty="0">
              <a:solidFill>
                <a:srgbClr val="80276C"/>
              </a:solidFill>
            </a:endParaRPr>
          </a:p>
          <a:p>
            <a:pPr marL="285750" indent="-285750">
              <a:buFont typeface="Wingdings" panose="05000000000000000000" pitchFamily="2" charset="2"/>
              <a:buChar char="v"/>
            </a:pPr>
            <a:endParaRPr lang="fr-FR" sz="2800" b="1" dirty="0">
              <a:solidFill>
                <a:srgbClr val="80276C"/>
              </a:solidFill>
            </a:endParaRPr>
          </a:p>
          <a:p>
            <a:pPr marL="285750" indent="-285750">
              <a:buFont typeface="Wingdings" panose="05000000000000000000" pitchFamily="2" charset="2"/>
              <a:buChar char="v"/>
            </a:pPr>
            <a:r>
              <a:rPr lang="fr-FR" sz="2800" b="1" u="sng" dirty="0">
                <a:solidFill>
                  <a:srgbClr val="80276C"/>
                </a:solidFill>
              </a:rPr>
              <a:t>Topics </a:t>
            </a:r>
            <a:r>
              <a:rPr lang="fr-FR" sz="2800" b="1" u="sng" dirty="0" err="1">
                <a:solidFill>
                  <a:srgbClr val="80276C"/>
                </a:solidFill>
              </a:rPr>
              <a:t>addressed</a:t>
            </a:r>
            <a:r>
              <a:rPr lang="fr-FR" sz="2800" b="1" dirty="0">
                <a:solidFill>
                  <a:srgbClr val="80276C"/>
                </a:solidFill>
              </a:rPr>
              <a:t>: the </a:t>
            </a:r>
            <a:r>
              <a:rPr lang="fr-FR" sz="2800" b="1" dirty="0" err="1">
                <a:solidFill>
                  <a:srgbClr val="80276C"/>
                </a:solidFill>
              </a:rPr>
              <a:t>research</a:t>
            </a:r>
            <a:r>
              <a:rPr lang="fr-FR" sz="2800" b="1" dirty="0">
                <a:solidFill>
                  <a:srgbClr val="80276C"/>
                </a:solidFill>
              </a:rPr>
              <a:t> issues of </a:t>
            </a:r>
            <a:r>
              <a:rPr lang="fr-FR" sz="2800" b="1" dirty="0" err="1">
                <a:solidFill>
                  <a:srgbClr val="80276C"/>
                </a:solidFill>
              </a:rPr>
              <a:t>your</a:t>
            </a:r>
            <a:r>
              <a:rPr lang="fr-FR" sz="2800" b="1" dirty="0">
                <a:solidFill>
                  <a:srgbClr val="80276C"/>
                </a:solidFill>
              </a:rPr>
              <a:t> </a:t>
            </a:r>
            <a:r>
              <a:rPr lang="fr-FR" sz="2800" b="1" dirty="0" err="1">
                <a:solidFill>
                  <a:srgbClr val="80276C"/>
                </a:solidFill>
              </a:rPr>
              <a:t>master’s</a:t>
            </a:r>
            <a:r>
              <a:rPr lang="fr-FR" sz="2800" b="1" dirty="0">
                <a:solidFill>
                  <a:srgbClr val="80276C"/>
                </a:solidFill>
              </a:rPr>
              <a:t> </a:t>
            </a:r>
            <a:r>
              <a:rPr lang="fr-FR" sz="2800" b="1" dirty="0" err="1">
                <a:solidFill>
                  <a:srgbClr val="80276C"/>
                </a:solidFill>
              </a:rPr>
              <a:t>degree</a:t>
            </a:r>
            <a:endParaRPr lang="fr-FR" sz="2800" b="1" dirty="0">
              <a:solidFill>
                <a:srgbClr val="80276C"/>
              </a:solidFill>
            </a:endParaRPr>
          </a:p>
        </p:txBody>
      </p:sp>
    </p:spTree>
    <p:extLst>
      <p:ext uri="{BB962C8B-B14F-4D97-AF65-F5344CB8AC3E}">
        <p14:creationId xmlns:p14="http://schemas.microsoft.com/office/powerpoint/2010/main" val="104216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7FB6289-7640-EFBC-EA1B-4364450A430D}"/>
              </a:ext>
            </a:extLst>
          </p:cNvPr>
          <p:cNvSpPr>
            <a:spLocks noGrp="1"/>
          </p:cNvSpPr>
          <p:nvPr>
            <p:ph type="body" sz="quarter" idx="12"/>
          </p:nvPr>
        </p:nvSpPr>
        <p:spPr>
          <a:xfrm>
            <a:off x="1117164" y="892097"/>
            <a:ext cx="9957672" cy="1156977"/>
          </a:xfrm>
        </p:spPr>
        <p:txBody>
          <a:bodyPr/>
          <a:lstStyle/>
          <a:p>
            <a:r>
              <a:rPr lang="fr-FR" dirty="0">
                <a:solidFill>
                  <a:srgbClr val="FFC000"/>
                </a:solidFill>
              </a:rPr>
              <a:t>2. </a:t>
            </a:r>
            <a:r>
              <a:rPr lang="fr-FR" dirty="0" err="1">
                <a:solidFill>
                  <a:srgbClr val="FFC000"/>
                </a:solidFill>
              </a:rPr>
              <a:t>Aproach</a:t>
            </a:r>
            <a:r>
              <a:rPr lang="fr-FR" dirty="0">
                <a:solidFill>
                  <a:srgbClr val="FFC000"/>
                </a:solidFill>
              </a:rPr>
              <a:t> to </a:t>
            </a:r>
            <a:r>
              <a:rPr lang="fr-FR" dirty="0" err="1">
                <a:solidFill>
                  <a:srgbClr val="FFC000"/>
                </a:solidFill>
              </a:rPr>
              <a:t>general</a:t>
            </a:r>
            <a:r>
              <a:rPr lang="fr-FR" dirty="0">
                <a:solidFill>
                  <a:srgbClr val="FFC000"/>
                </a:solidFill>
              </a:rPr>
              <a:t> </a:t>
            </a:r>
            <a:r>
              <a:rPr lang="fr-FR" dirty="0" err="1">
                <a:solidFill>
                  <a:srgbClr val="FFC000"/>
                </a:solidFill>
              </a:rPr>
              <a:t>documentary</a:t>
            </a:r>
            <a:r>
              <a:rPr lang="fr-FR" dirty="0">
                <a:solidFill>
                  <a:srgbClr val="FFC000"/>
                </a:solidFill>
              </a:rPr>
              <a:t> </a:t>
            </a:r>
            <a:r>
              <a:rPr lang="fr-FR" dirty="0" err="1">
                <a:solidFill>
                  <a:srgbClr val="FFC000"/>
                </a:solidFill>
              </a:rPr>
              <a:t>search</a:t>
            </a:r>
            <a:r>
              <a:rPr lang="fr-FR" dirty="0">
                <a:solidFill>
                  <a:srgbClr val="FFC000"/>
                </a:solidFill>
              </a:rPr>
              <a:t> and monitoring:</a:t>
            </a:r>
          </a:p>
          <a:p>
            <a:endParaRPr lang="fr-FR" dirty="0"/>
          </a:p>
        </p:txBody>
      </p:sp>
      <p:sp>
        <p:nvSpPr>
          <p:cNvPr id="3" name="Espace réservé du texte 2">
            <a:extLst>
              <a:ext uri="{FF2B5EF4-FFF2-40B4-BE49-F238E27FC236}">
                <a16:creationId xmlns:a16="http://schemas.microsoft.com/office/drawing/2014/main" id="{151D513F-748D-68A0-BCAF-D239CAF1104F}"/>
              </a:ext>
            </a:extLst>
          </p:cNvPr>
          <p:cNvSpPr>
            <a:spLocks noGrp="1"/>
          </p:cNvSpPr>
          <p:nvPr>
            <p:ph type="body" sz="quarter" idx="13"/>
          </p:nvPr>
        </p:nvSpPr>
        <p:spPr>
          <a:xfrm>
            <a:off x="996720" y="2309278"/>
            <a:ext cx="10394864" cy="3159121"/>
          </a:xfrm>
        </p:spPr>
        <p:txBody>
          <a:bodyPr>
            <a:noAutofit/>
          </a:bodyPr>
          <a:lstStyle/>
          <a:p>
            <a:pPr marL="285750" indent="-285750">
              <a:buFont typeface="Arial" panose="020B0604020202020204" pitchFamily="34" charset="0"/>
              <a:buChar char="•"/>
            </a:pPr>
            <a:r>
              <a:rPr lang="fr-FR" sz="3200" dirty="0" err="1">
                <a:latin typeface="Times New Roman" panose="02020603050405020304" pitchFamily="18" charset="0"/>
                <a:cs typeface="Times New Roman" panose="02020603050405020304" pitchFamily="18" charset="0"/>
              </a:rPr>
              <a:t>Definitions</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purposes</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typical</a:t>
            </a:r>
            <a:r>
              <a:rPr lang="fr-FR" sz="3200" dirty="0">
                <a:latin typeface="Times New Roman" panose="02020603050405020304" pitchFamily="18" charset="0"/>
                <a:cs typeface="Times New Roman" panose="02020603050405020304" pitchFamily="18" charset="0"/>
              </a:rPr>
              <a:t> and </a:t>
            </a:r>
            <a:r>
              <a:rPr lang="fr-FR" sz="3200" dirty="0" err="1">
                <a:latin typeface="Times New Roman" panose="02020603050405020304" pitchFamily="18" charset="0"/>
                <a:cs typeface="Times New Roman" panose="02020603050405020304" pitchFamily="18" charset="0"/>
              </a:rPr>
              <a:t>common</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features</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differences</a:t>
            </a:r>
            <a:r>
              <a:rPr lang="fr-FR" sz="3200" dirty="0">
                <a:latin typeface="Times New Roman" panose="02020603050405020304" pitchFamily="18" charset="0"/>
                <a:cs typeface="Times New Roman" panose="02020603050405020304" pitchFamily="18" charset="0"/>
              </a:rPr>
              <a:t> and </a:t>
            </a:r>
            <a:r>
              <a:rPr lang="fr-FR" sz="3200" dirty="0" err="1">
                <a:latin typeface="Times New Roman" panose="02020603050405020304" pitchFamily="18" charset="0"/>
                <a:cs typeface="Times New Roman" panose="02020603050405020304" pitchFamily="18" charset="0"/>
              </a:rPr>
              <a:t>complementarity</a:t>
            </a:r>
            <a:endParaRPr lang="fr-FR"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3200" dirty="0">
                <a:latin typeface="Times New Roman" panose="02020603050405020304" pitchFamily="18" charset="0"/>
                <a:cs typeface="Times New Roman" panose="02020603050405020304" pitchFamily="18" charset="0"/>
              </a:rPr>
              <a:t>Information types</a:t>
            </a:r>
          </a:p>
          <a:p>
            <a:pPr marL="285750" indent="-285750">
              <a:buFont typeface="Arial" panose="020B0604020202020204" pitchFamily="34" charset="0"/>
              <a:buChar char="•"/>
            </a:pPr>
            <a:r>
              <a:rPr lang="fr-FR" sz="3200" dirty="0" err="1">
                <a:latin typeface="Times New Roman" panose="02020603050405020304" pitchFamily="18" charset="0"/>
                <a:cs typeface="Times New Roman" panose="02020603050405020304" pitchFamily="18" charset="0"/>
              </a:rPr>
              <a:t>Specific</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features</a:t>
            </a:r>
            <a:r>
              <a:rPr lang="fr-FR" sz="3200" dirty="0">
                <a:latin typeface="Times New Roman" panose="02020603050405020304" pitchFamily="18" charset="0"/>
                <a:cs typeface="Times New Roman" panose="02020603050405020304" pitchFamily="18" charset="0"/>
              </a:rPr>
              <a:t> of </a:t>
            </a:r>
            <a:r>
              <a:rPr lang="fr-FR" sz="3200" dirty="0" err="1">
                <a:latin typeface="Times New Roman" panose="02020603050405020304" pitchFamily="18" charset="0"/>
                <a:cs typeface="Times New Roman" panose="02020603050405020304" pitchFamily="18" charset="0"/>
              </a:rPr>
              <a:t>bibliographic</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search</a:t>
            </a:r>
            <a:endParaRPr lang="fr-FR"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3200" dirty="0" err="1">
                <a:latin typeface="Times New Roman" panose="02020603050405020304" pitchFamily="18" charset="0"/>
                <a:cs typeface="Times New Roman" panose="02020603050405020304" pitchFamily="18" charset="0"/>
              </a:rPr>
              <a:t>Documentary</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search</a:t>
            </a:r>
            <a:r>
              <a:rPr lang="fr-FR" sz="3200" dirty="0">
                <a:latin typeface="Times New Roman" panose="02020603050405020304" pitchFamily="18" charset="0"/>
                <a:cs typeface="Times New Roman" panose="02020603050405020304" pitchFamily="18" charset="0"/>
              </a:rPr>
              <a:t> </a:t>
            </a:r>
            <a:r>
              <a:rPr lang="fr-FR" sz="3200" dirty="0" err="1">
                <a:latin typeface="Times New Roman" panose="02020603050405020304" pitchFamily="18" charset="0"/>
                <a:cs typeface="Times New Roman" panose="02020603050405020304" pitchFamily="18" charset="0"/>
              </a:rPr>
              <a:t>today</a:t>
            </a:r>
            <a:r>
              <a:rPr lang="fr-FR" sz="3200" dirty="0">
                <a:latin typeface="Times New Roman" panose="02020603050405020304" pitchFamily="18" charset="0"/>
                <a:cs typeface="Times New Roman" panose="02020603050405020304" pitchFamily="18" charset="0"/>
              </a:rPr>
              <a:t> for </a:t>
            </a:r>
            <a:r>
              <a:rPr lang="fr-FR" sz="3200" dirty="0" err="1">
                <a:latin typeface="Times New Roman" panose="02020603050405020304" pitchFamily="18" charset="0"/>
                <a:cs typeface="Times New Roman" panose="02020603050405020304" pitchFamily="18" charset="0"/>
              </a:rPr>
              <a:t>strategic</a:t>
            </a:r>
            <a:r>
              <a:rPr lang="fr-FR" sz="3200" dirty="0">
                <a:latin typeface="Times New Roman" panose="02020603050405020304" pitchFamily="18" charset="0"/>
                <a:cs typeface="Times New Roman" panose="02020603050405020304" pitchFamily="18" charset="0"/>
              </a:rPr>
              <a:t> and </a:t>
            </a:r>
            <a:r>
              <a:rPr lang="fr-FR" sz="3200" dirty="0" err="1">
                <a:latin typeface="Times New Roman" panose="02020603050405020304" pitchFamily="18" charset="0"/>
                <a:cs typeface="Times New Roman" panose="02020603050405020304" pitchFamily="18" charset="0"/>
              </a:rPr>
              <a:t>globalized</a:t>
            </a:r>
            <a:r>
              <a:rPr lang="fr-FR" sz="3200" dirty="0">
                <a:latin typeface="Times New Roman" panose="02020603050405020304" pitchFamily="18" charset="0"/>
                <a:cs typeface="Times New Roman" panose="02020603050405020304" pitchFamily="18" charset="0"/>
              </a:rPr>
              <a:t> information</a:t>
            </a:r>
          </a:p>
          <a:p>
            <a:endParaRPr lang="fr-FR" sz="3200" dirty="0"/>
          </a:p>
        </p:txBody>
      </p:sp>
      <p:sp>
        <p:nvSpPr>
          <p:cNvPr id="4" name="Espace réservé du texte 1">
            <a:extLst>
              <a:ext uri="{FF2B5EF4-FFF2-40B4-BE49-F238E27FC236}">
                <a16:creationId xmlns:a16="http://schemas.microsoft.com/office/drawing/2014/main" id="{CF5E8505-2D46-4230-9AC0-F838ADAA706B}"/>
              </a:ext>
            </a:extLst>
          </p:cNvPr>
          <p:cNvSpPr txBox="1">
            <a:spLocks/>
          </p:cNvSpPr>
          <p:nvPr/>
        </p:nvSpPr>
        <p:spPr>
          <a:xfrm>
            <a:off x="6194152" y="3216818"/>
            <a:ext cx="3246438" cy="502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solidFill>
                <a:srgbClr val="FFC000"/>
              </a:solidFill>
            </a:endParaRPr>
          </a:p>
        </p:txBody>
      </p:sp>
      <p:sp>
        <p:nvSpPr>
          <p:cNvPr id="5" name="Espace réservé du texte 2">
            <a:extLst>
              <a:ext uri="{FF2B5EF4-FFF2-40B4-BE49-F238E27FC236}">
                <a16:creationId xmlns:a16="http://schemas.microsoft.com/office/drawing/2014/main" id="{34987A06-4466-4340-AEF7-E2100E94BFAA}"/>
              </a:ext>
            </a:extLst>
          </p:cNvPr>
          <p:cNvSpPr txBox="1">
            <a:spLocks/>
          </p:cNvSpPr>
          <p:nvPr/>
        </p:nvSpPr>
        <p:spPr>
          <a:xfrm>
            <a:off x="992606" y="2218635"/>
            <a:ext cx="6697244" cy="5020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b="1" dirty="0"/>
          </a:p>
        </p:txBody>
      </p:sp>
    </p:spTree>
    <p:extLst>
      <p:ext uri="{BB962C8B-B14F-4D97-AF65-F5344CB8AC3E}">
        <p14:creationId xmlns:p14="http://schemas.microsoft.com/office/powerpoint/2010/main" val="236027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73D4FC3-43A4-46EF-BD63-580A4F2E8040}"/>
              </a:ext>
            </a:extLst>
          </p:cNvPr>
          <p:cNvPicPr>
            <a:picLocks noChangeAspect="1"/>
          </p:cNvPicPr>
          <p:nvPr/>
        </p:nvPicPr>
        <p:blipFill>
          <a:blip r:embed="rId2"/>
          <a:stretch>
            <a:fillRect/>
          </a:stretch>
        </p:blipFill>
        <p:spPr>
          <a:xfrm>
            <a:off x="1136650" y="663312"/>
            <a:ext cx="7562850" cy="4251015"/>
          </a:xfrm>
          <a:prstGeom prst="rect">
            <a:avLst/>
          </a:prstGeom>
        </p:spPr>
      </p:pic>
      <p:sp>
        <p:nvSpPr>
          <p:cNvPr id="6" name="ZoneTexte 5">
            <a:extLst>
              <a:ext uri="{FF2B5EF4-FFF2-40B4-BE49-F238E27FC236}">
                <a16:creationId xmlns:a16="http://schemas.microsoft.com/office/drawing/2014/main" id="{327C1148-2539-4DBC-8CB5-60F5E505A929}"/>
              </a:ext>
            </a:extLst>
          </p:cNvPr>
          <p:cNvSpPr txBox="1"/>
          <p:nvPr/>
        </p:nvSpPr>
        <p:spPr>
          <a:xfrm>
            <a:off x="3785616" y="5186680"/>
            <a:ext cx="7973568" cy="646331"/>
          </a:xfrm>
          <a:prstGeom prst="rect">
            <a:avLst/>
          </a:prstGeom>
          <a:noFill/>
        </p:spPr>
        <p:txBody>
          <a:bodyPr wrap="square" rtlCol="0">
            <a:spAutoFit/>
          </a:bodyPr>
          <a:lstStyle/>
          <a:p>
            <a:pPr algn="r"/>
            <a:r>
              <a:rPr lang="en-US" i="1" dirty="0">
                <a:solidFill>
                  <a:srgbClr val="80276C"/>
                </a:solidFill>
              </a:rPr>
              <a:t>“Information is the oil of the 21st century, and analytics is the combustion engine.” </a:t>
            </a:r>
            <a:r>
              <a:rPr lang="en-US" i="1" dirty="0">
                <a:solidFill>
                  <a:srgbClr val="FFC000"/>
                </a:solidFill>
              </a:rPr>
              <a:t>By Peter </a:t>
            </a:r>
            <a:r>
              <a:rPr lang="en-US" i="1" dirty="0" err="1">
                <a:solidFill>
                  <a:srgbClr val="FFC000"/>
                </a:solidFill>
              </a:rPr>
              <a:t>Sondergaard</a:t>
            </a:r>
            <a:r>
              <a:rPr lang="en-US" i="1" dirty="0">
                <a:solidFill>
                  <a:srgbClr val="FFC000"/>
                </a:solidFill>
              </a:rPr>
              <a:t> (Gartner Research)</a:t>
            </a:r>
            <a:endParaRPr lang="fr-FR" dirty="0">
              <a:solidFill>
                <a:srgbClr val="FFC000"/>
              </a:solidFill>
            </a:endParaRPr>
          </a:p>
        </p:txBody>
      </p:sp>
    </p:spTree>
    <p:extLst>
      <p:ext uri="{BB962C8B-B14F-4D97-AF65-F5344CB8AC3E}">
        <p14:creationId xmlns:p14="http://schemas.microsoft.com/office/powerpoint/2010/main" val="84973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EEA54-065E-F1C3-FB8D-62263DDA102B}"/>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1970A116-1EAE-C382-A195-7F65A4EF90CB}"/>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13" name="ZoneTexte 12">
            <a:extLst>
              <a:ext uri="{FF2B5EF4-FFF2-40B4-BE49-F238E27FC236}">
                <a16:creationId xmlns:a16="http://schemas.microsoft.com/office/drawing/2014/main" id="{9084F909-0E5F-2287-3ECD-8F7E54AA584B}"/>
              </a:ext>
            </a:extLst>
          </p:cNvPr>
          <p:cNvSpPr txBox="1"/>
          <p:nvPr/>
        </p:nvSpPr>
        <p:spPr>
          <a:xfrm>
            <a:off x="960984" y="457297"/>
            <a:ext cx="3813972" cy="446276"/>
          </a:xfrm>
          <a:prstGeom prst="rect">
            <a:avLst/>
          </a:prstGeom>
          <a:noFill/>
        </p:spPr>
        <p:txBody>
          <a:bodyPr wrap="square" rtlCol="0">
            <a:spAutoFit/>
          </a:bodyPr>
          <a:lstStyle/>
          <a:p>
            <a:pPr>
              <a:defRPr/>
            </a:pPr>
            <a:r>
              <a:rPr lang="en-US" altLang="fr-FR" sz="2300" b="1" kern="0" dirty="0">
                <a:solidFill>
                  <a:srgbClr val="80276C"/>
                </a:solidFill>
                <a:latin typeface="Verdana" panose="020B0604030504040204" pitchFamily="34" charset="0"/>
                <a:ea typeface="Verdana" panose="020B0604030504040204" pitchFamily="34" charset="0"/>
              </a:rPr>
              <a:t>Bibliography</a:t>
            </a:r>
          </a:p>
        </p:txBody>
      </p:sp>
      <p:sp>
        <p:nvSpPr>
          <p:cNvPr id="7" name="Rectangle 3">
            <a:extLst>
              <a:ext uri="{FF2B5EF4-FFF2-40B4-BE49-F238E27FC236}">
                <a16:creationId xmlns:a16="http://schemas.microsoft.com/office/drawing/2014/main" id="{3D78930E-90B4-E683-5739-7F2BD87D0F55}"/>
              </a:ext>
            </a:extLst>
          </p:cNvPr>
          <p:cNvSpPr txBox="1">
            <a:spLocks noChangeArrowheads="1"/>
          </p:cNvSpPr>
          <p:nvPr/>
        </p:nvSpPr>
        <p:spPr>
          <a:xfrm>
            <a:off x="2056621" y="1309878"/>
            <a:ext cx="8592329" cy="47727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à"/>
            </a:pPr>
            <a:r>
              <a:rPr lang="fr-FR" altLang="fr-FR" sz="1900" dirty="0">
                <a:solidFill>
                  <a:srgbClr val="80276C"/>
                </a:solidFill>
                <a:latin typeface="Verdana" panose="020B0604030504040204" pitchFamily="34" charset="0"/>
                <a:ea typeface="Verdana" panose="020B0604030504040204" pitchFamily="34" charset="0"/>
              </a:rPr>
              <a:t> </a:t>
            </a:r>
            <a:r>
              <a:rPr lang="en-US" altLang="fr-FR" sz="2400" dirty="0">
                <a:solidFill>
                  <a:srgbClr val="80276C"/>
                </a:solidFill>
                <a:latin typeface="Verdana" panose="020B0604030504040204" pitchFamily="34" charset="0"/>
                <a:ea typeface="Verdana" panose="020B0604030504040204" pitchFamily="34" charset="0"/>
              </a:rPr>
              <a:t>Compiles all references for the documents used</a:t>
            </a:r>
          </a:p>
          <a:p>
            <a:pPr>
              <a:buFont typeface="Wingdings" panose="05000000000000000000" pitchFamily="2" charset="2"/>
              <a:buChar char="à"/>
            </a:pPr>
            <a:endParaRPr lang="en-US" altLang="fr-FR" sz="2400" dirty="0">
              <a:solidFill>
                <a:srgbClr val="80276C"/>
              </a:solidFill>
              <a:latin typeface="Verdana" panose="020B0604030504040204" pitchFamily="34" charset="0"/>
              <a:ea typeface="Verdana" panose="020B0604030504040204" pitchFamily="34" charset="0"/>
            </a:endParaRPr>
          </a:p>
          <a:p>
            <a:pPr>
              <a:buFont typeface="Wingdings" panose="05000000000000000000" pitchFamily="2" charset="2"/>
              <a:buChar char="à"/>
            </a:pPr>
            <a:r>
              <a:rPr lang="en-US" altLang="fr-FR" sz="2400" dirty="0">
                <a:solidFill>
                  <a:srgbClr val="80276C"/>
                </a:solidFill>
                <a:latin typeface="Verdana" panose="020B0604030504040204" pitchFamily="34" charset="0"/>
                <a:ea typeface="Verdana" panose="020B0604030504040204" pitchFamily="34" charset="0"/>
              </a:rPr>
              <a:t> Contributes to the quality of the work presented</a:t>
            </a:r>
          </a:p>
          <a:p>
            <a:pPr>
              <a:buFont typeface="Wingdings" panose="05000000000000000000" pitchFamily="2" charset="2"/>
              <a:buChar char="à"/>
            </a:pPr>
            <a:endParaRPr lang="en-US" altLang="fr-FR" sz="2400" dirty="0">
              <a:solidFill>
                <a:srgbClr val="80276C"/>
              </a:solidFill>
              <a:latin typeface="Verdana" panose="020B0604030504040204" pitchFamily="34" charset="0"/>
              <a:ea typeface="Verdana" panose="020B0604030504040204" pitchFamily="34" charset="0"/>
            </a:endParaRPr>
          </a:p>
          <a:p>
            <a:pPr>
              <a:buFont typeface="Wingdings" panose="05000000000000000000" pitchFamily="2" charset="2"/>
              <a:buChar char="à"/>
            </a:pPr>
            <a:r>
              <a:rPr lang="en-US" altLang="fr-FR" sz="2400" dirty="0">
                <a:solidFill>
                  <a:srgbClr val="80276C"/>
                </a:solidFill>
                <a:latin typeface="Verdana" panose="020B0604030504040204" pitchFamily="34" charset="0"/>
                <a:ea typeface="Verdana" panose="020B0604030504040204" pitchFamily="34" charset="0"/>
              </a:rPr>
              <a:t> Lends credibility to your work (by relying on validated information)</a:t>
            </a:r>
          </a:p>
          <a:p>
            <a:pPr>
              <a:buFont typeface="Wingdings" panose="05000000000000000000" pitchFamily="2" charset="2"/>
              <a:buChar char="à"/>
            </a:pPr>
            <a:endParaRPr lang="en-US" altLang="fr-FR" sz="2400" dirty="0">
              <a:solidFill>
                <a:srgbClr val="80276C"/>
              </a:solidFill>
              <a:latin typeface="Verdana" panose="020B0604030504040204" pitchFamily="34" charset="0"/>
              <a:ea typeface="Verdana" panose="020B0604030504040204" pitchFamily="34" charset="0"/>
            </a:endParaRPr>
          </a:p>
          <a:p>
            <a:pPr>
              <a:buFont typeface="Wingdings" panose="05000000000000000000" pitchFamily="2" charset="2"/>
              <a:buChar char="à"/>
            </a:pPr>
            <a:r>
              <a:rPr lang="en-US" altLang="fr-FR" sz="2400" dirty="0">
                <a:solidFill>
                  <a:srgbClr val="80276C"/>
                </a:solidFill>
                <a:latin typeface="Verdana" panose="020B0604030504040204" pitchFamily="34" charset="0"/>
                <a:ea typeface="Verdana" panose="020B0604030504040204" pitchFamily="34" charset="0"/>
              </a:rPr>
              <a:t> Must make it easy to locate the cited documents</a:t>
            </a:r>
          </a:p>
          <a:p>
            <a:pPr>
              <a:buFont typeface="Wingdings" panose="05000000000000000000" pitchFamily="2" charset="2"/>
              <a:buChar char="à"/>
            </a:pPr>
            <a:endParaRPr lang="en-US" altLang="fr-FR" sz="2400" dirty="0">
              <a:solidFill>
                <a:srgbClr val="80276C"/>
              </a:solidFill>
              <a:latin typeface="Verdana" panose="020B0604030504040204" pitchFamily="34" charset="0"/>
              <a:ea typeface="Verdana" panose="020B0604030504040204" pitchFamily="34" charset="0"/>
            </a:endParaRPr>
          </a:p>
          <a:p>
            <a:pPr>
              <a:buFont typeface="Wingdings" panose="05000000000000000000" pitchFamily="2" charset="2"/>
              <a:buChar char="à"/>
            </a:pPr>
            <a:r>
              <a:rPr lang="en-US" altLang="fr-FR" sz="2400" dirty="0">
                <a:solidFill>
                  <a:srgbClr val="80276C"/>
                </a:solidFill>
                <a:latin typeface="Verdana" panose="020B0604030504040204" pitchFamily="34" charset="0"/>
                <a:ea typeface="Verdana" panose="020B0604030504040204" pitchFamily="34" charset="0"/>
              </a:rPr>
              <a:t> Complies with copyright law</a:t>
            </a:r>
            <a:endParaRPr lang="fr-FR" altLang="fr-FR" sz="2400" dirty="0"/>
          </a:p>
        </p:txBody>
      </p:sp>
    </p:spTree>
    <p:extLst>
      <p:ext uri="{BB962C8B-B14F-4D97-AF65-F5344CB8AC3E}">
        <p14:creationId xmlns:p14="http://schemas.microsoft.com/office/powerpoint/2010/main" val="79839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FB6331B-165A-C283-0234-BA8B80E0C968}"/>
              </a:ext>
            </a:extLst>
          </p:cNvPr>
          <p:cNvSpPr>
            <a:spLocks noGrp="1"/>
          </p:cNvSpPr>
          <p:nvPr>
            <p:ph type="body" sz="quarter" idx="11"/>
          </p:nvPr>
        </p:nvSpPr>
        <p:spPr>
          <a:xfrm>
            <a:off x="715631" y="1468327"/>
            <a:ext cx="11012082" cy="3493627"/>
          </a:xfrm>
        </p:spPr>
        <p:txBody>
          <a:bodyPr>
            <a:normAutofit lnSpcReduction="10000"/>
          </a:bodyPr>
          <a:lstStyle/>
          <a:p>
            <a:r>
              <a:rPr lang="en-US" sz="2400" b="0" dirty="0"/>
              <a:t>“What is documentary research methodology? </a:t>
            </a:r>
            <a:br>
              <a:rPr lang="en-US" sz="2400" b="0" dirty="0"/>
            </a:br>
            <a:r>
              <a:rPr lang="en-US" sz="2400" b="0" dirty="0"/>
              <a:t>Documentary research is the work of identifying, collecting and processing informative data on a given subject through the study of official or academic sources. </a:t>
            </a:r>
            <a:br>
              <a:rPr lang="en-US" sz="2400" b="0" dirty="0"/>
            </a:br>
            <a:br>
              <a:rPr lang="en-US" sz="2400" b="0" dirty="0"/>
            </a:br>
            <a:r>
              <a:rPr lang="en-US" sz="2400" b="0" dirty="0"/>
              <a:t>It is based on a method structured by stages which will make it possible to build a documentary research strategy. In a context marked by information overload, it is essential to apply a methodology to acquire reliable data on your subject.”</a:t>
            </a:r>
            <a:endParaRPr lang="en-US" sz="2400" dirty="0"/>
          </a:p>
          <a:p>
            <a:pPr algn="r"/>
            <a:r>
              <a:rPr lang="fr-FR" sz="2400" dirty="0">
                <a:hlinkClick r:id="rId2"/>
              </a:rPr>
              <a:t>TBS Education, Ecole de Commerce et de Management</a:t>
            </a:r>
            <a:endParaRPr lang="fr-FR" sz="2400" dirty="0"/>
          </a:p>
          <a:p>
            <a:endParaRPr lang="fr-FR" dirty="0"/>
          </a:p>
          <a:p>
            <a:endParaRPr lang="fr-FR" dirty="0"/>
          </a:p>
        </p:txBody>
      </p:sp>
      <p:sp>
        <p:nvSpPr>
          <p:cNvPr id="3" name="ZoneTexte 2">
            <a:extLst>
              <a:ext uri="{FF2B5EF4-FFF2-40B4-BE49-F238E27FC236}">
                <a16:creationId xmlns:a16="http://schemas.microsoft.com/office/drawing/2014/main" id="{11E8C8BD-163A-4ACA-B65A-8903B8D703CD}"/>
              </a:ext>
            </a:extLst>
          </p:cNvPr>
          <p:cNvSpPr txBox="1"/>
          <p:nvPr/>
        </p:nvSpPr>
        <p:spPr>
          <a:xfrm>
            <a:off x="715631" y="527050"/>
            <a:ext cx="10278434" cy="461665"/>
          </a:xfrm>
          <a:prstGeom prst="rect">
            <a:avLst/>
          </a:prstGeom>
          <a:noFill/>
        </p:spPr>
        <p:txBody>
          <a:bodyPr wrap="square" rtlCol="0">
            <a:spAutoFit/>
          </a:bodyPr>
          <a:lstStyle/>
          <a:p>
            <a:r>
              <a:rPr lang="fr-FR" sz="2400" b="1" dirty="0" err="1">
                <a:solidFill>
                  <a:srgbClr val="80276C"/>
                </a:solidFill>
                <a:latin typeface="Verdana" panose="020B0604030504040204" pitchFamily="34" charset="0"/>
                <a:ea typeface="Verdana" panose="020B0604030504040204" pitchFamily="34" charset="0"/>
              </a:rPr>
              <a:t>Definition</a:t>
            </a:r>
            <a:r>
              <a:rPr lang="fr-FR" sz="2400" b="1" dirty="0">
                <a:solidFill>
                  <a:srgbClr val="80276C"/>
                </a:solidFill>
                <a:latin typeface="Verdana" panose="020B0604030504040204" pitchFamily="34" charset="0"/>
                <a:ea typeface="Verdana" panose="020B0604030504040204" pitchFamily="34" charset="0"/>
              </a:rPr>
              <a:t> and goals of </a:t>
            </a:r>
            <a:r>
              <a:rPr lang="fr-FR" sz="2400" b="1" dirty="0" err="1">
                <a:solidFill>
                  <a:srgbClr val="80276C"/>
                </a:solidFill>
                <a:latin typeface="Verdana" panose="020B0604030504040204" pitchFamily="34" charset="0"/>
                <a:ea typeface="Verdana" panose="020B0604030504040204" pitchFamily="34" charset="0"/>
              </a:rPr>
              <a:t>documentary</a:t>
            </a:r>
            <a:r>
              <a:rPr lang="fr-FR" sz="2400" b="1" dirty="0">
                <a:solidFill>
                  <a:srgbClr val="80276C"/>
                </a:solidFill>
                <a:latin typeface="Verdana" panose="020B0604030504040204" pitchFamily="34" charset="0"/>
                <a:ea typeface="Verdana" panose="020B0604030504040204" pitchFamily="34" charset="0"/>
              </a:rPr>
              <a:t> </a:t>
            </a:r>
            <a:r>
              <a:rPr lang="fr-FR" sz="2400" b="1" dirty="0" err="1">
                <a:solidFill>
                  <a:srgbClr val="80276C"/>
                </a:solidFill>
                <a:latin typeface="Verdana" panose="020B0604030504040204" pitchFamily="34" charset="0"/>
                <a:ea typeface="Verdana" panose="020B0604030504040204" pitchFamily="34" charset="0"/>
              </a:rPr>
              <a:t>search</a:t>
            </a:r>
            <a:r>
              <a:rPr lang="fr-FR" sz="2400" b="1" dirty="0">
                <a:solidFill>
                  <a:srgbClr val="80276C"/>
                </a:solidFill>
                <a:latin typeface="Verdana" panose="020B0604030504040204" pitchFamily="34" charset="0"/>
                <a:ea typeface="Verdana" panose="020B0604030504040204" pitchFamily="34" charset="0"/>
              </a:rPr>
              <a:t> </a:t>
            </a:r>
            <a:r>
              <a:rPr lang="fr-FR" sz="2400" b="1" dirty="0" err="1">
                <a:solidFill>
                  <a:srgbClr val="80276C"/>
                </a:solidFill>
                <a:latin typeface="Verdana" panose="020B0604030504040204" pitchFamily="34" charset="0"/>
                <a:ea typeface="Verdana" panose="020B0604030504040204" pitchFamily="34" charset="0"/>
              </a:rPr>
              <a:t>methodology</a:t>
            </a:r>
            <a:endParaRPr lang="fr-FR" sz="2400" b="1"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21491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80276C"/>
                </a:solidFill>
                <a:latin typeface="Cambria" pitchFamily="34" charset="0"/>
                <a:ea typeface="Cambria" pitchFamily="34" charset="-122"/>
                <a:cs typeface="Cambria" pitchFamily="34" charset="-120"/>
              </a:rPr>
              <a:t>The engineer's five bodies of literature</a:t>
            </a:r>
            <a:endParaRPr lang="en-US" sz="3000" dirty="0">
              <a:solidFill>
                <a:srgbClr val="80276C"/>
              </a:solidFill>
            </a:endParaRPr>
          </a:p>
        </p:txBody>
      </p:sp>
      <p:graphicFrame>
        <p:nvGraphicFramePr>
          <p:cNvPr id="7" name="Table 0"/>
          <p:cNvGraphicFramePr>
            <a:graphicFrameLocks noGrp="1"/>
          </p:cNvGraphicFramePr>
          <p:nvPr>
            <p:extLst>
              <p:ext uri="{D42A27DB-BD31-4B8C-83A1-F6EECF244321}">
                <p14:modId xmlns:p14="http://schemas.microsoft.com/office/powerpoint/2010/main" val="76452223"/>
              </p:ext>
            </p:extLst>
          </p:nvPr>
        </p:nvGraphicFramePr>
        <p:xfrm>
          <a:off x="566928" y="1234440"/>
          <a:ext cx="11057839" cy="3017520"/>
        </p:xfrm>
        <a:graphic>
          <a:graphicData uri="http://schemas.openxmlformats.org/drawingml/2006/table">
            <a:tbl>
              <a:tblPr/>
              <a:tblGrid>
                <a:gridCol w="2566998">
                  <a:extLst>
                    <a:ext uri="{9D8B030D-6E8A-4147-A177-3AD203B41FA5}">
                      <a16:colId xmlns:a16="http://schemas.microsoft.com/office/drawing/2014/main" val="20000"/>
                    </a:ext>
                  </a:extLst>
                </a:gridCol>
                <a:gridCol w="4541613">
                  <a:extLst>
                    <a:ext uri="{9D8B030D-6E8A-4147-A177-3AD203B41FA5}">
                      <a16:colId xmlns:a16="http://schemas.microsoft.com/office/drawing/2014/main" val="20001"/>
                    </a:ext>
                  </a:extLst>
                </a:gridCol>
                <a:gridCol w="3949228">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Body of literature</a:t>
                      </a:r>
                      <a:endParaRPr lang="en-US" sz="13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1230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When it becomes indispensable</a:t>
                      </a:r>
                      <a:endParaRPr lang="en-US" sz="13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1230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Where to search</a:t>
                      </a:r>
                      <a:endParaRPr lang="en-US" sz="13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12303F"/>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Journal and conference articles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State of the art, choosing a method, supporting a claim</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OpenAlex, Scopus, Web of Science, IEEE Xplore, arXiv, HAL</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Patents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Before any development, any filing, any competitive watch</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Espacenet, data.inpi.fr, Lens.org</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Standards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As soon as design, safety, testing or certification is involved</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ISO, IEC, CEN/CENELEC, national bodies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Grey literature and reports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Realistic orders of magnitude, economic and regulatory context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ADEME, IRENA, NREL, IEA, HAL, OpenAIRE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4"/>
                  </a:ext>
                </a:extLst>
              </a:tr>
              <a:tr h="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Doctoral theses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The highest-yield entry point on a completely new subject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theses.fr, HAL, DART-Europe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108192"/>
            <a:ext cx="10143439" cy="365760"/>
          </a:xfrm>
          <a:prstGeom prst="rect">
            <a:avLst/>
          </a:prstGeom>
          <a:noFill/>
          <a:ln/>
        </p:spPr>
        <p:txBody>
          <a:bodyPr wrap="square" lIns="0" tIns="0" rIns="0" bIns="0" rtlCol="0" anchor="ctr"/>
          <a:lstStyle/>
          <a:p>
            <a:pPr marL="0" indent="0">
              <a:buNone/>
            </a:pPr>
            <a:r>
              <a:rPr lang="en-US" sz="1150" i="1" dirty="0">
                <a:solidFill>
                  <a:srgbClr val="5C6B73"/>
                </a:solidFill>
                <a:latin typeface="Calibri" pitchFamily="34" charset="0"/>
                <a:ea typeface="Calibri" pitchFamily="34" charset="-122"/>
                <a:cs typeface="Calibri" pitchFamily="34" charset="-120"/>
              </a:rPr>
              <a:t>Four of the five are absent from, or very poorly covered by, the classic bibliographic databases.</a:t>
            </a:r>
            <a:endParaRPr lang="en-US" sz="1150" dirty="0"/>
          </a:p>
        </p:txBody>
      </p:sp>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829FA318-28F5-4C2E-95ED-89EE9B13110A}"/>
              </a:ext>
            </a:extLst>
          </p:cNvPr>
          <p:cNvGrpSpPr/>
          <p:nvPr/>
        </p:nvGrpSpPr>
        <p:grpSpPr>
          <a:xfrm>
            <a:off x="3087189" y="1129103"/>
            <a:ext cx="6017622" cy="4599794"/>
            <a:chOff x="3382606" y="980908"/>
            <a:chExt cx="4513708" cy="3330047"/>
          </a:xfrm>
        </p:grpSpPr>
        <p:sp>
          <p:nvSpPr>
            <p:cNvPr id="4" name="Forme libre 3">
              <a:extLst>
                <a:ext uri="{FF2B5EF4-FFF2-40B4-BE49-F238E27FC236}">
                  <a16:creationId xmlns:a16="http://schemas.microsoft.com/office/drawing/2014/main" id="{2D3FB847-43AC-44E3-9E90-B40FAACD6058}"/>
                </a:ext>
              </a:extLst>
            </p:cNvPr>
            <p:cNvSpPr/>
            <p:nvPr/>
          </p:nvSpPr>
          <p:spPr>
            <a:xfrm>
              <a:off x="4377726" y="1278348"/>
              <a:ext cx="3518588" cy="1525934"/>
            </a:xfrm>
            <a:custGeom>
              <a:avLst/>
              <a:gdLst>
                <a:gd name="connsiteX0" fmla="*/ 0 w 3518588"/>
                <a:gd name="connsiteY0" fmla="*/ 0 h 1525934"/>
                <a:gd name="connsiteX1" fmla="*/ 3518588 w 3518588"/>
                <a:gd name="connsiteY1" fmla="*/ 0 h 1525934"/>
                <a:gd name="connsiteX2" fmla="*/ 3518588 w 3518588"/>
                <a:gd name="connsiteY2" fmla="*/ 1525934 h 1525934"/>
                <a:gd name="connsiteX3" fmla="*/ 0 w 3518588"/>
                <a:gd name="connsiteY3" fmla="*/ 1525934 h 1525934"/>
                <a:gd name="connsiteX4" fmla="*/ 0 w 3518588"/>
                <a:gd name="connsiteY4" fmla="*/ 0 h 1525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8588" h="1525934">
                  <a:moveTo>
                    <a:pt x="0" y="0"/>
                  </a:moveTo>
                  <a:lnTo>
                    <a:pt x="3518588" y="0"/>
                  </a:lnTo>
                  <a:lnTo>
                    <a:pt x="3518588" y="1525934"/>
                  </a:lnTo>
                  <a:lnTo>
                    <a:pt x="0" y="1525934"/>
                  </a:lnTo>
                  <a:lnTo>
                    <a:pt x="0" y="0"/>
                  </a:lnTo>
                  <a:close/>
                </a:path>
              </a:pathLst>
            </a:custGeom>
            <a:solidFill>
              <a:srgbClr val="F69322">
                <a:alpha val="90000"/>
                <a:tint val="40000"/>
                <a:hueOff val="0"/>
                <a:satOff val="0"/>
                <a:lumOff val="0"/>
                <a:alphaOff val="0"/>
              </a:srgbClr>
            </a:solidFill>
            <a:ln w="9525" cap="flat" cmpd="sng" algn="ctr">
              <a:solidFill>
                <a:srgbClr val="F69322">
                  <a:alpha val="90000"/>
                  <a:tint val="40000"/>
                  <a:hueOff val="0"/>
                  <a:satOff val="0"/>
                  <a:lumOff val="0"/>
                  <a:alphaOff val="0"/>
                  <a:shade val="95000"/>
                  <a:satMod val="105000"/>
                </a:srgbClr>
              </a:solidFill>
              <a:prstDash val="solid"/>
            </a:ln>
            <a:effectLst>
              <a:outerShdw blurRad="40000" dist="23000" dir="5400000" rotWithShape="0">
                <a:srgbClr val="000000">
                  <a:alpha val="35000"/>
                </a:srgbClr>
              </a:outerShdw>
            </a:effectLst>
          </p:spPr>
          <p:txBody>
            <a:bodyPr spcFirstLastPara="0" vert="horz" wrap="square" lIns="562975" tIns="85344" rIns="85343" bIns="85344" numCol="1" spcCol="1270" anchor="ctr" anchorCtr="0">
              <a:noAutofit/>
            </a:bodyPr>
            <a:lstStyle/>
            <a:p>
              <a:pPr defTabSz="533400">
                <a:lnSpc>
                  <a:spcPct val="90000"/>
                </a:lnSpc>
                <a:spcBef>
                  <a:spcPct val="0"/>
                </a:spcBef>
                <a:spcAft>
                  <a:spcPct val="35000"/>
                </a:spcAft>
                <a:defRPr/>
              </a:pPr>
              <a:r>
                <a:rPr lang="fr-FR" sz="1400" b="1" kern="0" dirty="0" err="1">
                  <a:solidFill>
                    <a:prstClr val="black">
                      <a:hueOff val="0"/>
                      <a:satOff val="0"/>
                      <a:lumOff val="0"/>
                      <a:alphaOff val="0"/>
                    </a:prstClr>
                  </a:solidFill>
                  <a:latin typeface="Arial"/>
                </a:rPr>
                <a:t>Written</a:t>
              </a:r>
              <a:r>
                <a:rPr lang="fr-FR" sz="1400" b="1" kern="0" dirty="0">
                  <a:solidFill>
                    <a:prstClr val="black">
                      <a:hueOff val="0"/>
                      <a:satOff val="0"/>
                      <a:lumOff val="0"/>
                      <a:alphaOff val="0"/>
                    </a:prstClr>
                  </a:solidFill>
                  <a:latin typeface="Arial"/>
                </a:rPr>
                <a:t> i</a:t>
              </a:r>
              <a:r>
                <a:rPr lang="fr-FR" sz="1400" b="1" kern="0" dirty="0" err="1">
                  <a:solidFill>
                    <a:prstClr val="black">
                      <a:hueOff val="0"/>
                      <a:satOff val="0"/>
                      <a:lumOff val="0"/>
                      <a:alphaOff val="0"/>
                    </a:prstClr>
                  </a:solidFill>
                  <a:latin typeface="Arial"/>
                </a:rPr>
                <a:t>nformation</a:t>
              </a:r>
              <a:endParaRPr lang="fr-FR" sz="1400" b="1" kern="0" dirty="0">
                <a:solidFill>
                  <a:prstClr val="black">
                    <a:hueOff val="0"/>
                    <a:satOff val="0"/>
                    <a:lumOff val="0"/>
                    <a:alphaOff val="0"/>
                  </a:prstClr>
                </a:solidFill>
                <a:latin typeface="Arial"/>
              </a:endParaRPr>
            </a:p>
            <a:p>
              <a:pPr defTabSz="533400">
                <a:lnSpc>
                  <a:spcPct val="90000"/>
                </a:lnSpc>
                <a:spcBef>
                  <a:spcPct val="0"/>
                </a:spcBef>
                <a:spcAft>
                  <a:spcPct val="35000"/>
                </a:spcAft>
                <a:defRPr/>
              </a:pPr>
              <a:r>
                <a:rPr lang="fr-FR" sz="1400" b="1" kern="0" dirty="0">
                  <a:solidFill>
                    <a:prstClr val="black">
                      <a:hueOff val="0"/>
                      <a:satOff val="0"/>
                      <a:lumOff val="0"/>
                      <a:alphaOff val="0"/>
                    </a:prstClr>
                  </a:solidFill>
                  <a:latin typeface="Arial"/>
                </a:rPr>
                <a:t>Information </a:t>
              </a:r>
              <a:r>
                <a:rPr lang="fr-FR" sz="1400" b="1" kern="0" dirty="0" err="1">
                  <a:solidFill>
                    <a:prstClr val="black">
                      <a:hueOff val="0"/>
                      <a:satOff val="0"/>
                      <a:lumOff val="0"/>
                      <a:alphaOff val="0"/>
                    </a:prstClr>
                  </a:solidFill>
                  <a:latin typeface="Arial"/>
                </a:rPr>
                <a:t>which</a:t>
              </a:r>
              <a:r>
                <a:rPr lang="fr-FR" sz="1400" b="1" kern="0" dirty="0">
                  <a:solidFill>
                    <a:prstClr val="black">
                      <a:hueOff val="0"/>
                      <a:satOff val="0"/>
                      <a:lumOff val="0"/>
                      <a:alphaOff val="0"/>
                    </a:prstClr>
                  </a:solidFill>
                  <a:latin typeface="Arial"/>
                </a:rPr>
                <a:t> has a digital or </a:t>
              </a:r>
              <a:r>
                <a:rPr lang="fr-FR" sz="1400" b="1" kern="0" dirty="0" err="1">
                  <a:solidFill>
                    <a:prstClr val="black">
                      <a:hueOff val="0"/>
                      <a:satOff val="0"/>
                      <a:lumOff val="0"/>
                      <a:alphaOff val="0"/>
                    </a:prstClr>
                  </a:solidFill>
                  <a:latin typeface="Arial"/>
                </a:rPr>
                <a:t>paper</a:t>
              </a:r>
              <a:r>
                <a:rPr lang="fr-FR" sz="1400" b="1" kern="0" dirty="0">
                  <a:solidFill>
                    <a:prstClr val="black">
                      <a:hueOff val="0"/>
                      <a:satOff val="0"/>
                      <a:lumOff val="0"/>
                      <a:alphaOff val="0"/>
                    </a:prstClr>
                  </a:solidFill>
                  <a:latin typeface="Arial"/>
                </a:rPr>
                <a:t> medium </a:t>
              </a:r>
            </a:p>
            <a:p>
              <a:pPr defTabSz="533400">
                <a:lnSpc>
                  <a:spcPct val="90000"/>
                </a:lnSpc>
                <a:spcBef>
                  <a:spcPct val="0"/>
                </a:spcBef>
                <a:spcAft>
                  <a:spcPct val="35000"/>
                </a:spcAft>
                <a:defRPr/>
              </a:pPr>
              <a:r>
                <a:rPr lang="fr-FR" sz="1400" b="1" kern="0" dirty="0" err="1">
                  <a:solidFill>
                    <a:prstClr val="black">
                      <a:hueOff val="0"/>
                      <a:satOff val="0"/>
                      <a:lumOff val="0"/>
                      <a:alphaOff val="0"/>
                    </a:prstClr>
                  </a:solidFill>
                  <a:latin typeface="Arial"/>
                </a:rPr>
                <a:t>Traded</a:t>
              </a:r>
              <a:r>
                <a:rPr lang="fr-FR" sz="1400" b="1" kern="0" dirty="0">
                  <a:solidFill>
                    <a:prstClr val="black">
                      <a:hueOff val="0"/>
                      <a:satOff val="0"/>
                      <a:lumOff val="0"/>
                      <a:alphaOff val="0"/>
                    </a:prstClr>
                  </a:solidFill>
                  <a:latin typeface="Arial"/>
                </a:rPr>
                <a:t> and </a:t>
              </a:r>
              <a:r>
                <a:rPr lang="fr-FR" sz="1400" b="1" kern="0" dirty="0" err="1">
                  <a:solidFill>
                    <a:prstClr val="black">
                      <a:hueOff val="0"/>
                      <a:satOff val="0"/>
                      <a:lumOff val="0"/>
                      <a:alphaOff val="0"/>
                    </a:prstClr>
                  </a:solidFill>
                  <a:latin typeface="Arial"/>
                </a:rPr>
                <a:t>published</a:t>
              </a:r>
              <a:r>
                <a:rPr lang="fr-FR" sz="1400" b="1" kern="0" dirty="0">
                  <a:solidFill>
                    <a:prstClr val="black">
                      <a:hueOff val="0"/>
                      <a:satOff val="0"/>
                      <a:lumOff val="0"/>
                      <a:alphaOff val="0"/>
                    </a:prstClr>
                  </a:solidFill>
                  <a:latin typeface="Arial"/>
                </a:rPr>
                <a:t> information </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specialized</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newspapers</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professional</a:t>
              </a:r>
              <a:r>
                <a:rPr lang="fr-FR" sz="1400" kern="0" dirty="0">
                  <a:solidFill>
                    <a:prstClr val="black">
                      <a:hueOff val="0"/>
                      <a:satOff val="0"/>
                      <a:lumOff val="0"/>
                      <a:alphaOff val="0"/>
                    </a:prstClr>
                  </a:solidFill>
                  <a:latin typeface="Arial"/>
                </a:rPr>
                <a:t> magazines, courses, </a:t>
              </a:r>
              <a:r>
                <a:rPr lang="fr-FR" sz="1400" kern="0" dirty="0" err="1">
                  <a:solidFill>
                    <a:prstClr val="black">
                      <a:hueOff val="0"/>
                      <a:satOff val="0"/>
                      <a:lumOff val="0"/>
                      <a:alphaOff val="0"/>
                    </a:prstClr>
                  </a:solidFill>
                  <a:latin typeface="Arial"/>
                </a:rPr>
                <a:t>scientific</a:t>
              </a:r>
              <a:r>
                <a:rPr lang="fr-FR" sz="1400" kern="0" dirty="0">
                  <a:solidFill>
                    <a:prstClr val="black">
                      <a:hueOff val="0"/>
                      <a:satOff val="0"/>
                      <a:lumOff val="0"/>
                      <a:alphaOff val="0"/>
                    </a:prstClr>
                  </a:solidFill>
                  <a:latin typeface="Arial"/>
                </a:rPr>
                <a:t> articles, patents, </a:t>
              </a:r>
              <a:r>
                <a:rPr lang="fr-FR" sz="1400" kern="0" dirty="0" err="1">
                  <a:solidFill>
                    <a:prstClr val="black">
                      <a:hueOff val="0"/>
                      <a:satOff val="0"/>
                      <a:lumOff val="0"/>
                      <a:alphaOff val="0"/>
                    </a:prstClr>
                  </a:solidFill>
                  <a:latin typeface="Arial"/>
                </a:rPr>
                <a:t>scientific</a:t>
              </a:r>
              <a:r>
                <a:rPr lang="fr-FR" sz="1400" kern="0" dirty="0">
                  <a:solidFill>
                    <a:prstClr val="black">
                      <a:hueOff val="0"/>
                      <a:satOff val="0"/>
                      <a:lumOff val="0"/>
                      <a:alphaOff val="0"/>
                    </a:prstClr>
                  </a:solidFill>
                  <a:latin typeface="Arial"/>
                </a:rPr>
                <a:t> and </a:t>
              </a:r>
              <a:r>
                <a:rPr lang="fr-FR" sz="1400" kern="0" dirty="0" err="1">
                  <a:solidFill>
                    <a:prstClr val="black">
                      <a:hueOff val="0"/>
                      <a:satOff val="0"/>
                      <a:lumOff val="0"/>
                      <a:alphaOff val="0"/>
                    </a:prstClr>
                  </a:solidFill>
                  <a:latin typeface="Arial"/>
                </a:rPr>
                <a:t>documentary</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databases</a:t>
              </a:r>
              <a:r>
                <a:rPr lang="fr-FR" sz="1400" kern="0" dirty="0">
                  <a:solidFill>
                    <a:prstClr val="black">
                      <a:hueOff val="0"/>
                      <a:satOff val="0"/>
                      <a:lumOff val="0"/>
                      <a:alphaOff val="0"/>
                    </a:prstClr>
                  </a:solidFill>
                  <a:latin typeface="Arial"/>
                </a:rPr>
                <a:t>, Internet</a:t>
              </a:r>
            </a:p>
          </p:txBody>
        </p:sp>
        <p:sp>
          <p:nvSpPr>
            <p:cNvPr id="5" name="Forme libre 4">
              <a:extLst>
                <a:ext uri="{FF2B5EF4-FFF2-40B4-BE49-F238E27FC236}">
                  <a16:creationId xmlns:a16="http://schemas.microsoft.com/office/drawing/2014/main" id="{C1645985-4853-42F2-A1F5-1A938D07E582}"/>
                </a:ext>
              </a:extLst>
            </p:cNvPr>
            <p:cNvSpPr/>
            <p:nvPr/>
          </p:nvSpPr>
          <p:spPr>
            <a:xfrm>
              <a:off x="3382606" y="980908"/>
              <a:ext cx="1079003" cy="1079003"/>
            </a:xfrm>
            <a:custGeom>
              <a:avLst/>
              <a:gdLst>
                <a:gd name="connsiteX0" fmla="*/ 0 w 1079003"/>
                <a:gd name="connsiteY0" fmla="*/ 539502 h 1079003"/>
                <a:gd name="connsiteX1" fmla="*/ 539502 w 1079003"/>
                <a:gd name="connsiteY1" fmla="*/ 0 h 1079003"/>
                <a:gd name="connsiteX2" fmla="*/ 1079004 w 1079003"/>
                <a:gd name="connsiteY2" fmla="*/ 539502 h 1079003"/>
                <a:gd name="connsiteX3" fmla="*/ 539502 w 1079003"/>
                <a:gd name="connsiteY3" fmla="*/ 1079004 h 1079003"/>
                <a:gd name="connsiteX4" fmla="*/ 0 w 1079003"/>
                <a:gd name="connsiteY4" fmla="*/ 539502 h 1079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03" h="1079003">
                  <a:moveTo>
                    <a:pt x="0" y="539502"/>
                  </a:moveTo>
                  <a:cubicBezTo>
                    <a:pt x="0" y="241543"/>
                    <a:pt x="241543" y="0"/>
                    <a:pt x="539502" y="0"/>
                  </a:cubicBezTo>
                  <a:cubicBezTo>
                    <a:pt x="837461" y="0"/>
                    <a:pt x="1079004" y="241543"/>
                    <a:pt x="1079004" y="539502"/>
                  </a:cubicBezTo>
                  <a:cubicBezTo>
                    <a:pt x="1079004" y="837461"/>
                    <a:pt x="837461" y="1079004"/>
                    <a:pt x="539502" y="1079004"/>
                  </a:cubicBezTo>
                  <a:cubicBezTo>
                    <a:pt x="241543" y="1079004"/>
                    <a:pt x="0" y="837461"/>
                    <a:pt x="0" y="539502"/>
                  </a:cubicBezTo>
                  <a:close/>
                </a:path>
              </a:pathLst>
            </a:custGeom>
            <a:gradFill rotWithShape="1">
              <a:gsLst>
                <a:gs pos="0">
                  <a:srgbClr val="F69322">
                    <a:hueOff val="0"/>
                    <a:satOff val="0"/>
                    <a:lumOff val="0"/>
                    <a:alphaOff val="0"/>
                    <a:shade val="51000"/>
                    <a:satMod val="130000"/>
                  </a:srgbClr>
                </a:gs>
                <a:gs pos="80000">
                  <a:srgbClr val="F69322">
                    <a:hueOff val="0"/>
                    <a:satOff val="0"/>
                    <a:lumOff val="0"/>
                    <a:alphaOff val="0"/>
                    <a:shade val="93000"/>
                    <a:satMod val="130000"/>
                  </a:srgbClr>
                </a:gs>
                <a:gs pos="100000">
                  <a:srgbClr val="F69322">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spcFirstLastPara="0" vert="horz" wrap="square" lIns="158016" tIns="158016" rIns="158016" bIns="158016" numCol="1" spcCol="1270" anchor="ctr" anchorCtr="0">
              <a:noAutofit/>
            </a:bodyPr>
            <a:lstStyle/>
            <a:p>
              <a:pPr algn="ctr" defTabSz="533400">
                <a:lnSpc>
                  <a:spcPct val="90000"/>
                </a:lnSpc>
                <a:spcBef>
                  <a:spcPct val="0"/>
                </a:spcBef>
                <a:spcAft>
                  <a:spcPct val="35000"/>
                </a:spcAft>
                <a:defRPr/>
              </a:pPr>
              <a:r>
                <a:rPr lang="fr-FR" sz="1200" kern="0" dirty="0" err="1">
                  <a:solidFill>
                    <a:prstClr val="white"/>
                  </a:solidFill>
                  <a:latin typeface="Arial"/>
                </a:rPr>
                <a:t>Formal</a:t>
              </a:r>
              <a:r>
                <a:rPr lang="fr-FR" sz="1200" kern="0" dirty="0">
                  <a:solidFill>
                    <a:prstClr val="white"/>
                  </a:solidFill>
                  <a:latin typeface="Arial"/>
                </a:rPr>
                <a:t> information</a:t>
              </a:r>
            </a:p>
          </p:txBody>
        </p:sp>
        <p:sp>
          <p:nvSpPr>
            <p:cNvPr id="6" name="Forme libre 5">
              <a:extLst>
                <a:ext uri="{FF2B5EF4-FFF2-40B4-BE49-F238E27FC236}">
                  <a16:creationId xmlns:a16="http://schemas.microsoft.com/office/drawing/2014/main" id="{50FD504B-5EDA-49DD-8071-A578CD2A6DBE}"/>
                </a:ext>
              </a:extLst>
            </p:cNvPr>
            <p:cNvSpPr/>
            <p:nvPr/>
          </p:nvSpPr>
          <p:spPr>
            <a:xfrm>
              <a:off x="4357659" y="2985196"/>
              <a:ext cx="3538655" cy="1325759"/>
            </a:xfrm>
            <a:custGeom>
              <a:avLst/>
              <a:gdLst>
                <a:gd name="connsiteX0" fmla="*/ 0 w 1915121"/>
                <a:gd name="connsiteY0" fmla="*/ 0 h 1138281"/>
                <a:gd name="connsiteX1" fmla="*/ 1915121 w 1915121"/>
                <a:gd name="connsiteY1" fmla="*/ 0 h 1138281"/>
                <a:gd name="connsiteX2" fmla="*/ 1915121 w 1915121"/>
                <a:gd name="connsiteY2" fmla="*/ 1138281 h 1138281"/>
                <a:gd name="connsiteX3" fmla="*/ 0 w 1915121"/>
                <a:gd name="connsiteY3" fmla="*/ 1138281 h 1138281"/>
                <a:gd name="connsiteX4" fmla="*/ 0 w 1915121"/>
                <a:gd name="connsiteY4" fmla="*/ 0 h 1138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121" h="1138281">
                  <a:moveTo>
                    <a:pt x="0" y="0"/>
                  </a:moveTo>
                  <a:lnTo>
                    <a:pt x="1915121" y="0"/>
                  </a:lnTo>
                  <a:lnTo>
                    <a:pt x="1915121" y="1138281"/>
                  </a:lnTo>
                  <a:lnTo>
                    <a:pt x="0" y="1138281"/>
                  </a:lnTo>
                  <a:lnTo>
                    <a:pt x="0" y="0"/>
                  </a:lnTo>
                  <a:close/>
                </a:path>
              </a:pathLst>
            </a:custGeom>
            <a:solidFill>
              <a:srgbClr val="F69322">
                <a:alpha val="90000"/>
                <a:tint val="40000"/>
                <a:hueOff val="0"/>
                <a:satOff val="0"/>
                <a:lumOff val="0"/>
                <a:alphaOff val="0"/>
              </a:srgbClr>
            </a:solidFill>
            <a:ln w="9525" cap="flat" cmpd="sng" algn="ctr">
              <a:solidFill>
                <a:srgbClr val="F69322">
                  <a:alpha val="90000"/>
                  <a:tint val="40000"/>
                  <a:hueOff val="0"/>
                  <a:satOff val="0"/>
                  <a:lumOff val="0"/>
                  <a:alphaOff val="0"/>
                  <a:shade val="95000"/>
                  <a:satMod val="105000"/>
                </a:srgbClr>
              </a:solidFill>
              <a:prstDash val="solid"/>
            </a:ln>
            <a:effectLst>
              <a:outerShdw blurRad="40000" dist="23000" dir="5400000" rotWithShape="0">
                <a:srgbClr val="000000">
                  <a:alpha val="35000"/>
                </a:srgbClr>
              </a:outerShdw>
            </a:effectLst>
          </p:spPr>
          <p:txBody>
            <a:bodyPr spcFirstLastPara="0" vert="horz" wrap="square" lIns="306419" tIns="85344" rIns="85344" bIns="85344" numCol="1" spcCol="1270" anchor="ctr" anchorCtr="0">
              <a:spAutoFit/>
            </a:bodyPr>
            <a:lstStyle/>
            <a:p>
              <a:pPr defTabSz="533400">
                <a:lnSpc>
                  <a:spcPct val="90000"/>
                </a:lnSpc>
                <a:spcBef>
                  <a:spcPct val="0"/>
                </a:spcBef>
                <a:spcAft>
                  <a:spcPct val="35000"/>
                </a:spcAft>
                <a:defRPr/>
              </a:pPr>
              <a:r>
                <a:rPr lang="fr-FR" sz="1400" b="1" kern="0" dirty="0" err="1">
                  <a:solidFill>
                    <a:prstClr val="black">
                      <a:hueOff val="0"/>
                      <a:satOff val="0"/>
                      <a:lumOff val="0"/>
                      <a:alphaOff val="0"/>
                    </a:prstClr>
                  </a:solidFill>
                  <a:latin typeface="Arial"/>
                </a:rPr>
                <a:t>Unstructured</a:t>
              </a:r>
              <a:r>
                <a:rPr lang="fr-FR" sz="1400" b="1" kern="0" dirty="0">
                  <a:solidFill>
                    <a:prstClr val="black">
                      <a:hueOff val="0"/>
                      <a:satOff val="0"/>
                      <a:lumOff val="0"/>
                      <a:alphaOff val="0"/>
                    </a:prstClr>
                  </a:solidFill>
                  <a:latin typeface="Arial"/>
                </a:rPr>
                <a:t> i</a:t>
              </a:r>
              <a:r>
                <a:rPr lang="fr-FR" sz="1400" b="1" kern="0" dirty="0" err="1">
                  <a:solidFill>
                    <a:prstClr val="black">
                      <a:hueOff val="0"/>
                      <a:satOff val="0"/>
                      <a:lumOff val="0"/>
                      <a:alphaOff val="0"/>
                    </a:prstClr>
                  </a:solidFill>
                  <a:latin typeface="Arial"/>
                </a:rPr>
                <a:t>nformation</a:t>
              </a:r>
              <a:r>
                <a:rPr lang="fr-FR" sz="1400" b="1" kern="0" dirty="0">
                  <a:solidFill>
                    <a:prstClr val="black">
                      <a:hueOff val="0"/>
                      <a:satOff val="0"/>
                      <a:lumOff val="0"/>
                      <a:alphaOff val="0"/>
                    </a:prstClr>
                  </a:solidFill>
                  <a:latin typeface="Arial"/>
                </a:rPr>
                <a:t> </a:t>
              </a:r>
              <a:r>
                <a:rPr lang="fr-FR" sz="1400" b="1" kern="0" dirty="0" err="1">
                  <a:solidFill>
                    <a:prstClr val="black">
                      <a:hueOff val="0"/>
                      <a:satOff val="0"/>
                      <a:lumOff val="0"/>
                      <a:alphaOff val="0"/>
                    </a:prstClr>
                  </a:solidFill>
                  <a:latin typeface="Arial"/>
                </a:rPr>
                <a:t>without</a:t>
              </a:r>
              <a:r>
                <a:rPr lang="fr-FR" sz="1400" b="1" kern="0" dirty="0">
                  <a:solidFill>
                    <a:prstClr val="black">
                      <a:hueOff val="0"/>
                      <a:satOff val="0"/>
                      <a:lumOff val="0"/>
                      <a:alphaOff val="0"/>
                    </a:prstClr>
                  </a:solidFill>
                  <a:latin typeface="Arial"/>
                </a:rPr>
                <a:t> medium</a:t>
              </a:r>
            </a:p>
            <a:p>
              <a:pPr defTabSz="533400">
                <a:lnSpc>
                  <a:spcPct val="90000"/>
                </a:lnSpc>
                <a:spcBef>
                  <a:spcPct val="0"/>
                </a:spcBef>
                <a:spcAft>
                  <a:spcPct val="35000"/>
                </a:spcAft>
                <a:defRPr/>
              </a:pPr>
              <a:r>
                <a:rPr lang="fr-FR" sz="1400" b="1" kern="0" dirty="0">
                  <a:solidFill>
                    <a:prstClr val="black">
                      <a:hueOff val="0"/>
                      <a:satOff val="0"/>
                      <a:lumOff val="0"/>
                      <a:alphaOff val="0"/>
                    </a:prstClr>
                  </a:solidFill>
                  <a:latin typeface="Arial"/>
                </a:rPr>
                <a:t>Oral information</a:t>
              </a:r>
            </a:p>
            <a:p>
              <a:pPr defTabSz="533400">
                <a:lnSpc>
                  <a:spcPct val="90000"/>
                </a:lnSpc>
                <a:spcBef>
                  <a:spcPct val="0"/>
                </a:spcBef>
                <a:spcAft>
                  <a:spcPct val="35000"/>
                </a:spcAft>
                <a:defRPr/>
              </a:pPr>
              <a:r>
                <a:rPr lang="fr-FR" sz="1400" kern="0" dirty="0">
                  <a:solidFill>
                    <a:prstClr val="black">
                      <a:hueOff val="0"/>
                      <a:satOff val="0"/>
                      <a:lumOff val="0"/>
                      <a:alphaOff val="0"/>
                    </a:prstClr>
                  </a:solidFill>
                  <a:latin typeface="Arial"/>
                </a:rPr>
                <a:t> </a:t>
              </a:r>
              <a:r>
                <a:rPr lang="fr-FR" sz="1400" b="1" kern="0" dirty="0">
                  <a:solidFill>
                    <a:prstClr val="black">
                      <a:hueOff val="0"/>
                      <a:satOff val="0"/>
                      <a:lumOff val="0"/>
                      <a:alphaOff val="0"/>
                    </a:prstClr>
                  </a:solidFill>
                  <a:latin typeface="Arial"/>
                </a:rPr>
                <a:t>« </a:t>
              </a:r>
              <a:r>
                <a:rPr lang="fr-FR" sz="1400" b="1" kern="0" dirty="0" err="1">
                  <a:solidFill>
                    <a:prstClr val="black">
                      <a:hueOff val="0"/>
                      <a:satOff val="0"/>
                      <a:lumOff val="0"/>
                      <a:alphaOff val="0"/>
                    </a:prstClr>
                  </a:solidFill>
                  <a:latin typeface="Arial"/>
                </a:rPr>
                <a:t>What</a:t>
              </a:r>
              <a:r>
                <a:rPr lang="fr-FR" sz="1400" b="1" kern="0" dirty="0">
                  <a:solidFill>
                    <a:prstClr val="black">
                      <a:hueOff val="0"/>
                      <a:satOff val="0"/>
                      <a:lumOff val="0"/>
                      <a:alphaOff val="0"/>
                    </a:prstClr>
                  </a:solidFill>
                  <a:latin typeface="Arial"/>
                </a:rPr>
                <a:t> </a:t>
              </a:r>
              <a:r>
                <a:rPr lang="fr-FR" sz="1400" b="1" kern="0" dirty="0" err="1">
                  <a:solidFill>
                    <a:prstClr val="black">
                      <a:hueOff val="0"/>
                      <a:satOff val="0"/>
                      <a:lumOff val="0"/>
                      <a:alphaOff val="0"/>
                    </a:prstClr>
                  </a:solidFill>
                  <a:latin typeface="Arial"/>
                </a:rPr>
                <a:t>is</a:t>
              </a:r>
              <a:r>
                <a:rPr lang="fr-FR" sz="1400" b="1" kern="0" dirty="0">
                  <a:solidFill>
                    <a:prstClr val="black">
                      <a:hueOff val="0"/>
                      <a:satOff val="0"/>
                      <a:lumOff val="0"/>
                      <a:alphaOff val="0"/>
                    </a:prstClr>
                  </a:solidFill>
                  <a:latin typeface="Arial"/>
                </a:rPr>
                <a:t> </a:t>
              </a:r>
              <a:r>
                <a:rPr lang="fr-FR" sz="1400" b="1" kern="0" dirty="0" err="1">
                  <a:solidFill>
                    <a:prstClr val="black">
                      <a:hueOff val="0"/>
                      <a:satOff val="0"/>
                      <a:lumOff val="0"/>
                      <a:alphaOff val="0"/>
                    </a:prstClr>
                  </a:solidFill>
                  <a:latin typeface="Arial"/>
                </a:rPr>
                <a:t>told</a:t>
              </a:r>
              <a:r>
                <a:rPr lang="fr-FR" sz="1400" b="1" kern="0" dirty="0">
                  <a:solidFill>
                    <a:prstClr val="black">
                      <a:hueOff val="0"/>
                      <a:satOff val="0"/>
                      <a:lumOff val="0"/>
                      <a:alphaOff val="0"/>
                    </a:prstClr>
                  </a:solidFill>
                  <a:latin typeface="Arial"/>
                </a:rPr>
                <a:t> », </a:t>
              </a:r>
              <a:r>
                <a:rPr lang="fr-FR" sz="1400" kern="0" dirty="0">
                  <a:solidFill>
                    <a:prstClr val="black">
                      <a:hueOff val="0"/>
                      <a:satOff val="0"/>
                      <a:lumOff val="0"/>
                      <a:alphaOff val="0"/>
                    </a:prstClr>
                  </a:solidFill>
                  <a:latin typeface="Arial"/>
                </a:rPr>
                <a:t>information </a:t>
              </a:r>
              <a:r>
                <a:rPr lang="fr-FR" sz="1400" kern="0" dirty="0" err="1">
                  <a:solidFill>
                    <a:prstClr val="black">
                      <a:hueOff val="0"/>
                      <a:satOff val="0"/>
                      <a:lumOff val="0"/>
                      <a:alphaOff val="0"/>
                    </a:prstClr>
                  </a:solidFill>
                  <a:latin typeface="Arial"/>
                </a:rPr>
                <a:t>collected</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orally</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through</a:t>
              </a:r>
              <a:r>
                <a:rPr lang="fr-FR" sz="1400" kern="0" dirty="0">
                  <a:solidFill>
                    <a:prstClr val="black">
                      <a:hueOff val="0"/>
                      <a:satOff val="0"/>
                      <a:lumOff val="0"/>
                      <a:alphaOff val="0"/>
                    </a:prstClr>
                  </a:solidFill>
                  <a:latin typeface="Arial"/>
                </a:rPr>
                <a:t> exchanges</a:t>
              </a:r>
            </a:p>
            <a:p>
              <a:pPr defTabSz="533400">
                <a:lnSpc>
                  <a:spcPct val="90000"/>
                </a:lnSpc>
                <a:spcBef>
                  <a:spcPct val="0"/>
                </a:spcBef>
                <a:spcAft>
                  <a:spcPct val="35000"/>
                </a:spcAft>
                <a:defRPr/>
              </a:pPr>
              <a:r>
                <a:rPr lang="fr-FR" sz="1400" kern="0" dirty="0" err="1">
                  <a:solidFill>
                    <a:prstClr val="black">
                      <a:hueOff val="0"/>
                      <a:satOff val="0"/>
                      <a:lumOff val="0"/>
                      <a:alphaOff val="0"/>
                    </a:prstClr>
                  </a:solidFill>
                  <a:latin typeface="Arial"/>
                </a:rPr>
                <a:t>Company</a:t>
              </a:r>
              <a:r>
                <a:rPr lang="fr-FR" sz="1400" kern="0" dirty="0">
                  <a:solidFill>
                    <a:prstClr val="black">
                      <a:hueOff val="0"/>
                      <a:satOff val="0"/>
                      <a:lumOff val="0"/>
                      <a:alphaOff val="0"/>
                    </a:prstClr>
                  </a:solidFill>
                  <a:latin typeface="Arial"/>
                </a:rPr>
                <a:t> </a:t>
              </a:r>
              <a:r>
                <a:rPr lang="fr-FR" sz="1400" kern="0" dirty="0" err="1">
                  <a:solidFill>
                    <a:prstClr val="black">
                      <a:hueOff val="0"/>
                      <a:satOff val="0"/>
                      <a:lumOff val="0"/>
                      <a:alphaOff val="0"/>
                    </a:prstClr>
                  </a:solidFill>
                  <a:latin typeface="Arial"/>
                </a:rPr>
                <a:t>partners</a:t>
              </a:r>
              <a:r>
                <a:rPr lang="fr-FR" sz="1400" kern="0" dirty="0">
                  <a:solidFill>
                    <a:prstClr val="black">
                      <a:hueOff val="0"/>
                      <a:satOff val="0"/>
                      <a:lumOff val="0"/>
                      <a:alphaOff val="0"/>
                    </a:prstClr>
                  </a:solidFill>
                  <a:latin typeface="Arial"/>
                </a:rPr>
                <a:t>,  i</a:t>
              </a:r>
              <a:r>
                <a:rPr lang="fr-FR" sz="1400" kern="0" dirty="0" err="1">
                  <a:solidFill>
                    <a:prstClr val="black">
                      <a:hueOff val="0"/>
                      <a:satOff val="0"/>
                      <a:lumOff val="0"/>
                      <a:alphaOff val="0"/>
                    </a:prstClr>
                  </a:solidFill>
                  <a:latin typeface="Arial"/>
                </a:rPr>
                <a:t>nner</a:t>
              </a:r>
              <a:r>
                <a:rPr lang="fr-FR" sz="1400" kern="0" dirty="0">
                  <a:solidFill>
                    <a:prstClr val="black">
                      <a:hueOff val="0"/>
                      <a:satOff val="0"/>
                      <a:lumOff val="0"/>
                      <a:alphaOff val="0"/>
                    </a:prstClr>
                  </a:solidFill>
                  <a:latin typeface="Arial"/>
                </a:rPr>
                <a:t> or </a:t>
              </a:r>
              <a:r>
                <a:rPr lang="fr-FR" sz="1400" kern="0" dirty="0" err="1">
                  <a:solidFill>
                    <a:prstClr val="black">
                      <a:hueOff val="0"/>
                      <a:satOff val="0"/>
                      <a:lumOff val="0"/>
                      <a:alphaOff val="0"/>
                    </a:prstClr>
                  </a:solidFill>
                  <a:latin typeface="Arial"/>
                </a:rPr>
                <a:t>outer</a:t>
              </a:r>
              <a:r>
                <a:rPr lang="fr-FR" sz="1400" kern="0" dirty="0">
                  <a:solidFill>
                    <a:prstClr val="black">
                      <a:hueOff val="0"/>
                      <a:satOff val="0"/>
                      <a:lumOff val="0"/>
                      <a:alphaOff val="0"/>
                    </a:prstClr>
                  </a:solidFill>
                  <a:latin typeface="Arial"/>
                </a:rPr>
                <a:t> expert networks -  </a:t>
              </a:r>
              <a:r>
                <a:rPr lang="fr-FR" sz="1400" kern="0" dirty="0" err="1">
                  <a:solidFill>
                    <a:prstClr val="black">
                      <a:hueOff val="0"/>
                      <a:satOff val="0"/>
                      <a:lumOff val="0"/>
                      <a:alphaOff val="0"/>
                    </a:prstClr>
                  </a:solidFill>
                  <a:latin typeface="Arial"/>
                </a:rPr>
                <a:t>Fairs</a:t>
              </a:r>
              <a:r>
                <a:rPr lang="fr-FR" sz="1400" kern="0" dirty="0">
                  <a:solidFill>
                    <a:prstClr val="black">
                      <a:hueOff val="0"/>
                      <a:satOff val="0"/>
                      <a:lumOff val="0"/>
                      <a:alphaOff val="0"/>
                    </a:prstClr>
                  </a:solidFill>
                  <a:latin typeface="Arial"/>
                </a:rPr>
                <a:t> and shows</a:t>
              </a:r>
            </a:p>
            <a:p>
              <a:pPr defTabSz="533400">
                <a:lnSpc>
                  <a:spcPct val="90000"/>
                </a:lnSpc>
                <a:spcBef>
                  <a:spcPct val="0"/>
                </a:spcBef>
                <a:spcAft>
                  <a:spcPct val="35000"/>
                </a:spcAft>
                <a:defRPr/>
              </a:pPr>
              <a:r>
                <a:rPr lang="fr-FR" sz="1400" b="1" kern="0" dirty="0">
                  <a:solidFill>
                    <a:prstClr val="black">
                      <a:hueOff val="0"/>
                      <a:satOff val="0"/>
                      <a:lumOff val="0"/>
                      <a:alphaOff val="0"/>
                    </a:prstClr>
                  </a:solidFill>
                  <a:latin typeface="Arial"/>
                </a:rPr>
                <a:t>Free information (</a:t>
              </a:r>
              <a:r>
                <a:rPr lang="fr-FR" sz="1400" b="1" kern="0" dirty="0" err="1">
                  <a:solidFill>
                    <a:prstClr val="black">
                      <a:hueOff val="0"/>
                      <a:satOff val="0"/>
                      <a:lumOff val="0"/>
                      <a:alphaOff val="0"/>
                    </a:prstClr>
                  </a:solidFill>
                  <a:latin typeface="Arial"/>
                </a:rPr>
                <a:t>most</a:t>
              </a:r>
              <a:r>
                <a:rPr lang="fr-FR" sz="1400" b="1" kern="0" dirty="0">
                  <a:solidFill>
                    <a:prstClr val="black">
                      <a:hueOff val="0"/>
                      <a:satOff val="0"/>
                      <a:lumOff val="0"/>
                      <a:alphaOff val="0"/>
                    </a:prstClr>
                  </a:solidFill>
                  <a:latin typeface="Arial"/>
                </a:rPr>
                <a:t> of the time)</a:t>
              </a:r>
            </a:p>
          </p:txBody>
        </p:sp>
        <p:sp>
          <p:nvSpPr>
            <p:cNvPr id="7" name="Forme libre 6">
              <a:extLst>
                <a:ext uri="{FF2B5EF4-FFF2-40B4-BE49-F238E27FC236}">
                  <a16:creationId xmlns:a16="http://schemas.microsoft.com/office/drawing/2014/main" id="{2142EB1B-4E4A-4A87-BE7D-2D5CD2F118A8}"/>
                </a:ext>
              </a:extLst>
            </p:cNvPr>
            <p:cNvSpPr/>
            <p:nvPr/>
          </p:nvSpPr>
          <p:spPr>
            <a:xfrm>
              <a:off x="3382606" y="2864587"/>
              <a:ext cx="1079003" cy="1109679"/>
            </a:xfrm>
            <a:custGeom>
              <a:avLst/>
              <a:gdLst>
                <a:gd name="connsiteX0" fmla="*/ 0 w 1079003"/>
                <a:gd name="connsiteY0" fmla="*/ 554840 h 1109679"/>
                <a:gd name="connsiteX1" fmla="*/ 539502 w 1079003"/>
                <a:gd name="connsiteY1" fmla="*/ 0 h 1109679"/>
                <a:gd name="connsiteX2" fmla="*/ 1079004 w 1079003"/>
                <a:gd name="connsiteY2" fmla="*/ 554840 h 1109679"/>
                <a:gd name="connsiteX3" fmla="*/ 539502 w 1079003"/>
                <a:gd name="connsiteY3" fmla="*/ 1109680 h 1109679"/>
                <a:gd name="connsiteX4" fmla="*/ 0 w 1079003"/>
                <a:gd name="connsiteY4" fmla="*/ 554840 h 1109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003" h="1109679">
                  <a:moveTo>
                    <a:pt x="0" y="554840"/>
                  </a:moveTo>
                  <a:cubicBezTo>
                    <a:pt x="0" y="248410"/>
                    <a:pt x="241543" y="0"/>
                    <a:pt x="539502" y="0"/>
                  </a:cubicBezTo>
                  <a:cubicBezTo>
                    <a:pt x="837461" y="0"/>
                    <a:pt x="1079004" y="248410"/>
                    <a:pt x="1079004" y="554840"/>
                  </a:cubicBezTo>
                  <a:cubicBezTo>
                    <a:pt x="1079004" y="861270"/>
                    <a:pt x="837461" y="1109680"/>
                    <a:pt x="539502" y="1109680"/>
                  </a:cubicBezTo>
                  <a:cubicBezTo>
                    <a:pt x="241543" y="1109680"/>
                    <a:pt x="0" y="861270"/>
                    <a:pt x="0" y="554840"/>
                  </a:cubicBezTo>
                  <a:close/>
                </a:path>
              </a:pathLst>
            </a:custGeom>
            <a:gradFill rotWithShape="1">
              <a:gsLst>
                <a:gs pos="0">
                  <a:srgbClr val="F69322">
                    <a:hueOff val="0"/>
                    <a:satOff val="0"/>
                    <a:lumOff val="0"/>
                    <a:alphaOff val="0"/>
                    <a:shade val="51000"/>
                    <a:satMod val="130000"/>
                  </a:srgbClr>
                </a:gs>
                <a:gs pos="80000">
                  <a:srgbClr val="F69322">
                    <a:hueOff val="0"/>
                    <a:satOff val="0"/>
                    <a:lumOff val="0"/>
                    <a:alphaOff val="0"/>
                    <a:shade val="93000"/>
                    <a:satMod val="130000"/>
                  </a:srgbClr>
                </a:gs>
                <a:gs pos="100000">
                  <a:srgbClr val="F69322">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spcFirstLastPara="0" vert="horz" wrap="square" lIns="158016" tIns="162509" rIns="158016" bIns="162509" numCol="1" spcCol="1270" anchor="ctr" anchorCtr="0">
              <a:noAutofit/>
            </a:bodyPr>
            <a:lstStyle/>
            <a:p>
              <a:pPr algn="ctr" defTabSz="533400">
                <a:lnSpc>
                  <a:spcPct val="90000"/>
                </a:lnSpc>
                <a:spcBef>
                  <a:spcPct val="0"/>
                </a:spcBef>
                <a:spcAft>
                  <a:spcPct val="35000"/>
                </a:spcAft>
                <a:defRPr/>
              </a:pPr>
              <a:r>
                <a:rPr lang="fr-FR" sz="1200" kern="0" dirty="0">
                  <a:solidFill>
                    <a:prstClr val="white"/>
                  </a:solidFill>
                  <a:latin typeface="Arial"/>
                </a:rPr>
                <a:t>Informal information</a:t>
              </a:r>
            </a:p>
          </p:txBody>
        </p:sp>
      </p:grpSp>
      <p:sp>
        <p:nvSpPr>
          <p:cNvPr id="8" name="ZoneTexte 7">
            <a:extLst>
              <a:ext uri="{FF2B5EF4-FFF2-40B4-BE49-F238E27FC236}">
                <a16:creationId xmlns:a16="http://schemas.microsoft.com/office/drawing/2014/main" id="{9EEE3C1F-6986-4532-99CA-34287D43D3D2}"/>
              </a:ext>
            </a:extLst>
          </p:cNvPr>
          <p:cNvSpPr txBox="1"/>
          <p:nvPr/>
        </p:nvSpPr>
        <p:spPr>
          <a:xfrm>
            <a:off x="1817320" y="643730"/>
            <a:ext cx="7287491" cy="646331"/>
          </a:xfrm>
          <a:prstGeom prst="rect">
            <a:avLst/>
          </a:prstGeom>
          <a:noFill/>
        </p:spPr>
        <p:txBody>
          <a:bodyPr wrap="square" rtlCol="0">
            <a:spAutoFit/>
          </a:bodyPr>
          <a:lstStyle/>
          <a:p>
            <a:pPr algn="just"/>
            <a:r>
              <a:rPr lang="fr-FR" sz="3600" b="1" baseline="30000" dirty="0">
                <a:solidFill>
                  <a:srgbClr val="80276C"/>
                </a:solidFill>
                <a:latin typeface="Verdana" panose="020B0604030504040204" pitchFamily="34" charset="0"/>
                <a:ea typeface="Verdana" panose="020B0604030504040204" pitchFamily="34" charset="0"/>
              </a:rPr>
              <a:t>Forms of Information</a:t>
            </a:r>
          </a:p>
          <a:p>
            <a:pPr algn="just"/>
            <a:endParaRPr lang="fr-FR" baseline="3000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87384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A7DDD6A7-51D8-4910-8238-597B94D8CACC}"/>
              </a:ext>
            </a:extLst>
          </p:cNvPr>
          <p:cNvGrpSpPr/>
          <p:nvPr/>
        </p:nvGrpSpPr>
        <p:grpSpPr>
          <a:xfrm>
            <a:off x="825910" y="246721"/>
            <a:ext cx="10238330" cy="6116109"/>
            <a:chOff x="1297858" y="622805"/>
            <a:chExt cx="10238330" cy="6116109"/>
          </a:xfrm>
        </p:grpSpPr>
        <p:sp>
          <p:nvSpPr>
            <p:cNvPr id="5" name="ZoneTexte 4">
              <a:extLst>
                <a:ext uri="{FF2B5EF4-FFF2-40B4-BE49-F238E27FC236}">
                  <a16:creationId xmlns:a16="http://schemas.microsoft.com/office/drawing/2014/main" id="{649B9F49-4CFE-4294-B285-7AE85E4BBC69}"/>
                </a:ext>
              </a:extLst>
            </p:cNvPr>
            <p:cNvSpPr txBox="1"/>
            <p:nvPr/>
          </p:nvSpPr>
          <p:spPr>
            <a:xfrm>
              <a:off x="2032307" y="622805"/>
              <a:ext cx="7287491" cy="707886"/>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Information</a:t>
              </a:r>
              <a:r>
                <a:rPr lang="fr-FR" sz="2800" b="1" dirty="0">
                  <a:solidFill>
                    <a:srgbClr val="80276C"/>
                  </a:solidFill>
                  <a:latin typeface="Verdana" panose="020B0604030504040204" pitchFamily="34" charset="0"/>
                  <a:ea typeface="Verdana" panose="020B0604030504040204" pitchFamily="34" charset="0"/>
                </a:rPr>
                <a:t> </a:t>
              </a:r>
              <a:r>
                <a:rPr lang="fr-FR" sz="2800" b="1" dirty="0" err="1">
                  <a:solidFill>
                    <a:srgbClr val="80276C"/>
                  </a:solidFill>
                  <a:latin typeface="Verdana" panose="020B0604030504040204" pitchFamily="34" charset="0"/>
                  <a:ea typeface="Verdana" panose="020B0604030504040204" pitchFamily="34" charset="0"/>
                </a:rPr>
                <a:t>primary</a:t>
              </a:r>
              <a:r>
                <a:rPr lang="fr-FR" sz="2800" b="1" dirty="0">
                  <a:solidFill>
                    <a:srgbClr val="80276C"/>
                  </a:solidFill>
                  <a:latin typeface="Verdana" panose="020B0604030504040204" pitchFamily="34" charset="0"/>
                  <a:ea typeface="Verdana" panose="020B0604030504040204" pitchFamily="34" charset="0"/>
                </a:rPr>
                <a:t>/ </a:t>
              </a:r>
              <a:r>
                <a:rPr lang="fr-FR" sz="2800" b="1" dirty="0" err="1">
                  <a:solidFill>
                    <a:srgbClr val="80276C"/>
                  </a:solidFill>
                  <a:latin typeface="Verdana" panose="020B0604030504040204" pitchFamily="34" charset="0"/>
                  <a:ea typeface="Verdana" panose="020B0604030504040204" pitchFamily="34" charset="0"/>
                </a:rPr>
                <a:t>secondary</a:t>
              </a:r>
              <a:endParaRPr lang="fr-FR" sz="2800" b="1" baseline="30000" dirty="0">
                <a:solidFill>
                  <a:srgbClr val="80276C"/>
                </a:solidFill>
                <a:latin typeface="Verdana" panose="020B0604030504040204" pitchFamily="34" charset="0"/>
                <a:ea typeface="Verdana" panose="020B0604030504040204" pitchFamily="34" charset="0"/>
              </a:endParaRPr>
            </a:p>
            <a:p>
              <a:pPr algn="just"/>
              <a:endParaRPr lang="fr-FR" baseline="30000" dirty="0">
                <a:solidFill>
                  <a:srgbClr val="80276C"/>
                </a:solidFill>
                <a:latin typeface="Verdana" panose="020B0604030504040204" pitchFamily="34" charset="0"/>
                <a:ea typeface="Verdana" panose="020B0604030504040204" pitchFamily="34" charset="0"/>
              </a:endParaRPr>
            </a:p>
          </p:txBody>
        </p:sp>
        <p:grpSp>
          <p:nvGrpSpPr>
            <p:cNvPr id="6" name="Groupe 5">
              <a:extLst>
                <a:ext uri="{FF2B5EF4-FFF2-40B4-BE49-F238E27FC236}">
                  <a16:creationId xmlns:a16="http://schemas.microsoft.com/office/drawing/2014/main" id="{1CA37BDC-6A6A-4AB2-8E6F-F860AE0A1D3D}"/>
                </a:ext>
              </a:extLst>
            </p:cNvPr>
            <p:cNvGrpSpPr/>
            <p:nvPr/>
          </p:nvGrpSpPr>
          <p:grpSpPr>
            <a:xfrm>
              <a:off x="1297858" y="1135037"/>
              <a:ext cx="10238330" cy="5603877"/>
              <a:chOff x="1297858" y="1135037"/>
              <a:chExt cx="10238330" cy="5603877"/>
            </a:xfrm>
          </p:grpSpPr>
          <p:sp>
            <p:nvSpPr>
              <p:cNvPr id="7" name="Rectangle 3">
                <a:extLst>
                  <a:ext uri="{FF2B5EF4-FFF2-40B4-BE49-F238E27FC236}">
                    <a16:creationId xmlns:a16="http://schemas.microsoft.com/office/drawing/2014/main" id="{3C46B31C-7B48-4D6D-BF61-803C8EF186BF}"/>
                  </a:ext>
                </a:extLst>
              </p:cNvPr>
              <p:cNvSpPr txBox="1">
                <a:spLocks noChangeArrowheads="1"/>
              </p:cNvSpPr>
              <p:nvPr/>
            </p:nvSpPr>
            <p:spPr>
              <a:xfrm>
                <a:off x="1297858" y="4874329"/>
                <a:ext cx="4561075" cy="1864585"/>
              </a:xfrm>
              <a:prstGeom prst="rect">
                <a:avLst/>
              </a:prstGeom>
              <a:ln w="12700">
                <a:solidFill>
                  <a:srgbClr val="FFC000"/>
                </a:solidFill>
              </a:ln>
            </p:spPr>
            <p:txBody>
              <a:bodyPr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fr-FR" sz="6200" dirty="0" err="1">
                    <a:latin typeface="Times New Roman" panose="02020603050405020304" pitchFamily="18" charset="0"/>
                    <a:cs typeface="Times New Roman" panose="02020603050405020304" pitchFamily="18" charset="0"/>
                  </a:rPr>
                  <a:t>Primary</a:t>
                </a:r>
                <a:r>
                  <a:rPr lang="fr-FR" sz="6200" dirty="0">
                    <a:latin typeface="Times New Roman" panose="02020603050405020304" pitchFamily="18" charset="0"/>
                    <a:cs typeface="Times New Roman" panose="02020603050405020304" pitchFamily="18" charset="0"/>
                  </a:rPr>
                  <a:t> source</a:t>
                </a:r>
              </a:p>
              <a:p>
                <a:pPr lvl="1" indent="-182880" algn="just">
                  <a:defRPr/>
                </a:pPr>
                <a:r>
                  <a:rPr lang="fr-FR" sz="6200" dirty="0">
                    <a:latin typeface="Times New Roman" panose="02020603050405020304" pitchFamily="18" charset="0"/>
                    <a:cs typeface="Times New Roman" panose="02020603050405020304" pitchFamily="18" charset="0"/>
                  </a:rPr>
                  <a:t>Publication at the source of information  </a:t>
                </a:r>
              </a:p>
              <a:p>
                <a:pPr lvl="1" indent="-182880" algn="just">
                  <a:defRPr/>
                </a:pPr>
                <a:r>
                  <a:rPr lang="fr-FR" sz="6200" dirty="0">
                    <a:latin typeface="Times New Roman" panose="02020603050405020304" pitchFamily="18" charset="0"/>
                    <a:cs typeface="Times New Roman" panose="02020603050405020304" pitchFamily="18" charset="0"/>
                  </a:rPr>
                  <a:t>(article, patent, </a:t>
                </a:r>
                <a:r>
                  <a:rPr lang="fr-FR" sz="6200" dirty="0" err="1">
                    <a:latin typeface="Times New Roman" panose="02020603050405020304" pitchFamily="18" charset="0"/>
                    <a:cs typeface="Times New Roman" panose="02020603050405020304" pitchFamily="18" charset="0"/>
                  </a:rPr>
                  <a:t>thesis</a:t>
                </a:r>
                <a:r>
                  <a:rPr lang="fr-FR" sz="6200" dirty="0">
                    <a:latin typeface="Times New Roman" panose="02020603050405020304" pitchFamily="18" charset="0"/>
                    <a:cs typeface="Times New Roman" panose="02020603050405020304" pitchFamily="18" charset="0"/>
                  </a:rPr>
                  <a:t>…)</a:t>
                </a:r>
              </a:p>
              <a:p>
                <a:pPr lvl="1" indent="-182880" algn="just">
                  <a:defRPr/>
                </a:pPr>
                <a:r>
                  <a:rPr lang="fr-FR" sz="6200" dirty="0">
                    <a:latin typeface="Times New Roman" panose="02020603050405020304" pitchFamily="18" charset="0"/>
                    <a:cs typeface="Times New Roman" panose="02020603050405020304" pitchFamily="18" charset="0"/>
                  </a:rPr>
                  <a:t>Original information, as </a:t>
                </a:r>
                <a:r>
                  <a:rPr lang="fr-FR" sz="6200" dirty="0" err="1">
                    <a:latin typeface="Times New Roman" panose="02020603050405020304" pitchFamily="18" charset="0"/>
                    <a:cs typeface="Times New Roman" panose="02020603050405020304" pitchFamily="18" charset="0"/>
                  </a:rPr>
                  <a:t>it</a:t>
                </a:r>
                <a:r>
                  <a:rPr lang="fr-FR" sz="6200" dirty="0">
                    <a:latin typeface="Times New Roman" panose="02020603050405020304" pitchFamily="18" charset="0"/>
                    <a:cs typeface="Times New Roman" panose="02020603050405020304" pitchFamily="18" charset="0"/>
                  </a:rPr>
                  <a:t> </a:t>
                </a:r>
                <a:r>
                  <a:rPr lang="fr-FR" sz="6200" dirty="0" err="1">
                    <a:latin typeface="Times New Roman" panose="02020603050405020304" pitchFamily="18" charset="0"/>
                    <a:cs typeface="Times New Roman" panose="02020603050405020304" pitchFamily="18" charset="0"/>
                  </a:rPr>
                  <a:t>was</a:t>
                </a:r>
                <a:r>
                  <a:rPr lang="fr-FR" sz="6200" dirty="0">
                    <a:latin typeface="Times New Roman" panose="02020603050405020304" pitchFamily="18" charset="0"/>
                    <a:cs typeface="Times New Roman" panose="02020603050405020304" pitchFamily="18" charset="0"/>
                  </a:rPr>
                  <a:t> </a:t>
                </a:r>
                <a:r>
                  <a:rPr lang="fr-FR" sz="6200" dirty="0" err="1">
                    <a:latin typeface="Times New Roman" panose="02020603050405020304" pitchFamily="18" charset="0"/>
                    <a:cs typeface="Times New Roman" panose="02020603050405020304" pitchFamily="18" charset="0"/>
                  </a:rPr>
                  <a:t>written</a:t>
                </a:r>
                <a:r>
                  <a:rPr lang="fr-FR" sz="6200" dirty="0">
                    <a:latin typeface="Times New Roman" panose="02020603050405020304" pitchFamily="18" charset="0"/>
                    <a:cs typeface="Times New Roman" panose="02020603050405020304" pitchFamily="18" charset="0"/>
                  </a:rPr>
                  <a:t> by </a:t>
                </a:r>
                <a:r>
                  <a:rPr lang="fr-FR" sz="6200" dirty="0" err="1">
                    <a:latin typeface="Times New Roman" panose="02020603050405020304" pitchFamily="18" charset="0"/>
                    <a:cs typeface="Times New Roman" panose="02020603050405020304" pitchFamily="18" charset="0"/>
                  </a:rPr>
                  <a:t>its</a:t>
                </a:r>
                <a:r>
                  <a:rPr lang="fr-FR" sz="6200" dirty="0">
                    <a:latin typeface="Times New Roman" panose="02020603050405020304" pitchFamily="18" charset="0"/>
                    <a:cs typeface="Times New Roman" panose="02020603050405020304" pitchFamily="18" charset="0"/>
                  </a:rPr>
                  <a:t> </a:t>
                </a:r>
                <a:r>
                  <a:rPr lang="fr-FR" sz="6200" dirty="0" err="1">
                    <a:latin typeface="Times New Roman" panose="02020603050405020304" pitchFamily="18" charset="0"/>
                    <a:cs typeface="Times New Roman" panose="02020603050405020304" pitchFamily="18" charset="0"/>
                  </a:rPr>
                  <a:t>author</a:t>
                </a:r>
                <a:endParaRPr lang="fr-FR" sz="6200" dirty="0">
                  <a:latin typeface="Times New Roman" panose="02020603050405020304" pitchFamily="18" charset="0"/>
                  <a:cs typeface="Times New Roman" panose="02020603050405020304" pitchFamily="18" charset="0"/>
                </a:endParaRPr>
              </a:p>
              <a:p>
                <a:pPr lvl="1" indent="-182880">
                  <a:buNone/>
                  <a:defRPr/>
                </a:pPr>
                <a:endParaRPr lang="fr-FR" dirty="0"/>
              </a:p>
            </p:txBody>
          </p:sp>
          <p:sp>
            <p:nvSpPr>
              <p:cNvPr id="8" name="Espace réservé du contenu 2">
                <a:extLst>
                  <a:ext uri="{FF2B5EF4-FFF2-40B4-BE49-F238E27FC236}">
                    <a16:creationId xmlns:a16="http://schemas.microsoft.com/office/drawing/2014/main" id="{35534FD0-8C31-4FB7-8C86-96979F6AD627}"/>
                  </a:ext>
                </a:extLst>
              </p:cNvPr>
              <p:cNvSpPr txBox="1">
                <a:spLocks/>
              </p:cNvSpPr>
              <p:nvPr/>
            </p:nvSpPr>
            <p:spPr>
              <a:xfrm>
                <a:off x="6223040" y="4874327"/>
                <a:ext cx="4561075" cy="1864586"/>
              </a:xfrm>
              <a:prstGeom prst="rect">
                <a:avLst/>
              </a:prstGeom>
              <a:ln w="12700">
                <a:solidFill>
                  <a:srgbClr val="FFC000"/>
                </a:solidFill>
              </a:ln>
            </p:spPr>
            <p:txBody>
              <a:bodyPr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fr-FR" sz="2000" dirty="0" err="1">
                    <a:latin typeface="Times New Roman" panose="02020603050405020304" pitchFamily="18" charset="0"/>
                    <a:cs typeface="Times New Roman" panose="02020603050405020304" pitchFamily="18" charset="0"/>
                  </a:rPr>
                  <a:t>Secondary</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metatextual</a:t>
                </a:r>
                <a:r>
                  <a:rPr lang="fr-FR" sz="2000" dirty="0">
                    <a:latin typeface="Times New Roman" panose="02020603050405020304" pitchFamily="18" charset="0"/>
                    <a:cs typeface="Times New Roman" panose="02020603050405020304" pitchFamily="18" charset="0"/>
                  </a:rPr>
                  <a:t> source :</a:t>
                </a:r>
              </a:p>
              <a:p>
                <a:pPr algn="just">
                  <a:defRPr/>
                </a:pPr>
                <a:r>
                  <a:rPr lang="fr-FR" sz="2000" dirty="0">
                    <a:latin typeface="Times New Roman" panose="02020603050405020304" pitchFamily="18" charset="0"/>
                    <a:cs typeface="Times New Roman" panose="02020603050405020304" pitchFamily="18" charset="0"/>
                  </a:rPr>
                  <a:t> description, </a:t>
                </a:r>
                <a:r>
                  <a:rPr lang="fr-FR" sz="2000" dirty="0" err="1">
                    <a:latin typeface="Times New Roman" panose="02020603050405020304" pitchFamily="18" charset="0"/>
                    <a:cs typeface="Times New Roman" panose="02020603050405020304" pitchFamily="18" charset="0"/>
                  </a:rPr>
                  <a:t>analysis</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assessment</a:t>
                </a:r>
                <a:r>
                  <a:rPr lang="fr-FR" sz="2000" dirty="0">
                    <a:latin typeface="Times New Roman" panose="02020603050405020304" pitchFamily="18" charset="0"/>
                    <a:cs typeface="Times New Roman" panose="02020603050405020304" pitchFamily="18" charset="0"/>
                  </a:rPr>
                  <a:t> of </a:t>
                </a:r>
                <a:r>
                  <a:rPr lang="fr-FR" sz="2000" dirty="0" err="1">
                    <a:latin typeface="Times New Roman" panose="02020603050405020304" pitchFamily="18" charset="0"/>
                    <a:cs typeface="Times New Roman" panose="02020603050405020304" pitchFamily="18" charset="0"/>
                  </a:rPr>
                  <a:t>primary</a:t>
                </a:r>
                <a:r>
                  <a:rPr lang="fr-FR" sz="2000" dirty="0">
                    <a:latin typeface="Times New Roman" panose="02020603050405020304" pitchFamily="18" charset="0"/>
                    <a:cs typeface="Times New Roman" panose="02020603050405020304" pitchFamily="18" charset="0"/>
                  </a:rPr>
                  <a:t> information: </a:t>
                </a:r>
              </a:p>
              <a:p>
                <a:pPr algn="just">
                  <a:defRPr/>
                </a:pPr>
                <a:r>
                  <a:rPr lang="fr-FR" sz="2000" dirty="0" err="1">
                    <a:latin typeface="Times New Roman" panose="02020603050405020304" pitchFamily="18" charset="0"/>
                    <a:cs typeface="Times New Roman" panose="02020603050405020304" pitchFamily="18" charset="0"/>
                  </a:rPr>
                  <a:t>bibliographic</a:t>
                </a:r>
                <a:r>
                  <a:rPr lang="fr-FR" sz="2000" dirty="0">
                    <a:latin typeface="Times New Roman" panose="02020603050405020304" pitchFamily="18" charset="0"/>
                    <a:cs typeface="Times New Roman" panose="02020603050405020304" pitchFamily="18" charset="0"/>
                  </a:rPr>
                  <a:t> record, </a:t>
                </a:r>
                <a:r>
                  <a:rPr lang="fr-FR" sz="2000" dirty="0" err="1">
                    <a:latin typeface="Times New Roman" panose="02020603050405020304" pitchFamily="18" charset="0"/>
                    <a:cs typeface="Times New Roman" panose="02020603050405020304" pitchFamily="18" charset="0"/>
                  </a:rPr>
                  <a:t>summary</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database</a:t>
                </a:r>
                <a:r>
                  <a:rPr lang="fr-FR" sz="2000" dirty="0">
                    <a:latin typeface="Times New Roman" panose="02020603050405020304" pitchFamily="18" charset="0"/>
                    <a:cs typeface="Times New Roman" panose="02020603050405020304" pitchFamily="18" charset="0"/>
                  </a:rPr>
                  <a:t> catalogue</a:t>
                </a:r>
                <a:r>
                  <a:rPr lang="fr-FR" sz="1800" dirty="0">
                    <a:latin typeface="Times New Roman" panose="02020603050405020304" pitchFamily="18" charset="0"/>
                    <a:cs typeface="Times New Roman" panose="02020603050405020304" pitchFamily="18" charset="0"/>
                  </a:rPr>
                  <a:t>…</a:t>
                </a:r>
              </a:p>
              <a:p>
                <a:pPr marL="0" indent="0">
                  <a:buNone/>
                  <a:defRPr/>
                </a:pPr>
                <a:endParaRPr lang="fr-FR" dirty="0"/>
              </a:p>
              <a:p>
                <a:pPr marL="182880" indent="-182880">
                  <a:defRPr/>
                </a:pPr>
                <a:endParaRPr lang="fr-FR" dirty="0"/>
              </a:p>
            </p:txBody>
          </p:sp>
          <p:pic>
            <p:nvPicPr>
              <p:cNvPr id="9" name="Image 8">
                <a:extLst>
                  <a:ext uri="{FF2B5EF4-FFF2-40B4-BE49-F238E27FC236}">
                    <a16:creationId xmlns:a16="http://schemas.microsoft.com/office/drawing/2014/main" id="{E6ECC283-8B35-432D-8045-5B93E6F99928}"/>
                  </a:ext>
                </a:extLst>
              </p:cNvPr>
              <p:cNvPicPr/>
              <p:nvPr/>
            </p:nvPicPr>
            <p:blipFill rotWithShape="1">
              <a:blip r:embed="rId2"/>
              <a:srcRect l="60051" t="10325" r="413" b="4691"/>
              <a:stretch/>
            </p:blipFill>
            <p:spPr bwMode="auto">
              <a:xfrm>
                <a:off x="1967517" y="1135037"/>
                <a:ext cx="9568671" cy="3547872"/>
              </a:xfrm>
              <a:prstGeom prst="rect">
                <a:avLst/>
              </a:prstGeom>
              <a:ln>
                <a:noFill/>
              </a:ln>
              <a:extLst>
                <a:ext uri="{53640926-AAD7-44D8-BBD7-CCE9431645EC}">
                  <a14:shadowObscured xmlns:a14="http://schemas.microsoft.com/office/drawing/2010/main"/>
                </a:ext>
              </a:extLst>
            </p:spPr>
          </p:pic>
          <p:sp>
            <p:nvSpPr>
              <p:cNvPr id="10" name="Ellipse 9">
                <a:extLst>
                  <a:ext uri="{FF2B5EF4-FFF2-40B4-BE49-F238E27FC236}">
                    <a16:creationId xmlns:a16="http://schemas.microsoft.com/office/drawing/2014/main" id="{58D7A8CB-B5A2-4D6A-AC26-94ABBE823773}"/>
                  </a:ext>
                </a:extLst>
              </p:cNvPr>
              <p:cNvSpPr/>
              <p:nvPr/>
            </p:nvSpPr>
            <p:spPr>
              <a:xfrm>
                <a:off x="3013710" y="2793358"/>
                <a:ext cx="1276350" cy="23122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Tree>
    <p:extLst>
      <p:ext uri="{BB962C8B-B14F-4D97-AF65-F5344CB8AC3E}">
        <p14:creationId xmlns:p14="http://schemas.microsoft.com/office/powerpoint/2010/main" val="2782460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4518-69CC-6670-04D2-EAE45AD9314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1C83CD5-9623-459A-BC48-EE0B2472F515}"/>
              </a:ext>
            </a:extLst>
          </p:cNvPr>
          <p:cNvSpPr txBox="1"/>
          <p:nvPr/>
        </p:nvSpPr>
        <p:spPr>
          <a:xfrm>
            <a:off x="1233115" y="2459504"/>
            <a:ext cx="5025223" cy="1938992"/>
          </a:xfrm>
          <a:prstGeom prst="rect">
            <a:avLst/>
          </a:prstGeom>
          <a:noFill/>
        </p:spPr>
        <p:txBody>
          <a:bodyPr wrap="none" rtlCol="0">
            <a:spAutoFit/>
          </a:bodyPr>
          <a:lstStyle/>
          <a:p>
            <a:pPr algn="ctr"/>
            <a:r>
              <a:rPr lang="fr-FR" sz="6000" dirty="0">
                <a:solidFill>
                  <a:srgbClr val="80276C"/>
                </a:solidFill>
              </a:rPr>
              <a:t>Do </a:t>
            </a:r>
            <a:r>
              <a:rPr lang="fr-FR" sz="6000" dirty="0" err="1">
                <a:solidFill>
                  <a:srgbClr val="80276C"/>
                </a:solidFill>
              </a:rPr>
              <a:t>you</a:t>
            </a:r>
            <a:r>
              <a:rPr lang="fr-FR" sz="6000" dirty="0">
                <a:solidFill>
                  <a:srgbClr val="80276C"/>
                </a:solidFill>
              </a:rPr>
              <a:t> have </a:t>
            </a:r>
          </a:p>
          <a:p>
            <a:pPr algn="ctr"/>
            <a:r>
              <a:rPr lang="fr-FR" sz="6000" dirty="0" err="1">
                <a:solidFill>
                  <a:srgbClr val="80276C"/>
                </a:solidFill>
              </a:rPr>
              <a:t>any</a:t>
            </a:r>
            <a:r>
              <a:rPr lang="fr-FR" sz="6000" dirty="0">
                <a:solidFill>
                  <a:srgbClr val="80276C"/>
                </a:solidFill>
              </a:rPr>
              <a:t> questions ?</a:t>
            </a:r>
          </a:p>
        </p:txBody>
      </p:sp>
    </p:spTree>
    <p:extLst>
      <p:ext uri="{BB962C8B-B14F-4D97-AF65-F5344CB8AC3E}">
        <p14:creationId xmlns:p14="http://schemas.microsoft.com/office/powerpoint/2010/main" val="1128635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C949C75-30DF-4CFC-930E-69DEF5D89272}"/>
              </a:ext>
            </a:extLst>
          </p:cNvPr>
          <p:cNvSpPr>
            <a:spLocks noGrp="1"/>
          </p:cNvSpPr>
          <p:nvPr>
            <p:ph type="body" sz="quarter" idx="11"/>
          </p:nvPr>
        </p:nvSpPr>
        <p:spPr>
          <a:xfrm>
            <a:off x="5982586" y="1226288"/>
            <a:ext cx="5472230" cy="2565991"/>
          </a:xfrm>
        </p:spPr>
        <p:txBody>
          <a:bodyPr>
            <a:normAutofit/>
          </a:bodyPr>
          <a:lstStyle/>
          <a:p>
            <a:r>
              <a:rPr lang="fr-FR" sz="3600" dirty="0">
                <a:solidFill>
                  <a:srgbClr val="FFC000"/>
                </a:solidFill>
              </a:rPr>
              <a:t>3. </a:t>
            </a:r>
            <a:r>
              <a:rPr lang="fr-FR" sz="3600" dirty="0" err="1">
                <a:solidFill>
                  <a:srgbClr val="FFC000"/>
                </a:solidFill>
                <a:cs typeface="Times New Roman" panose="02020603050405020304" pitchFamily="18" charset="0"/>
              </a:rPr>
              <a:t>Typical</a:t>
            </a:r>
            <a:r>
              <a:rPr lang="fr-FR" sz="3600" dirty="0">
                <a:solidFill>
                  <a:srgbClr val="FFC000"/>
                </a:solidFill>
                <a:cs typeface="Times New Roman" panose="02020603050405020304" pitchFamily="18" charset="0"/>
              </a:rPr>
              <a:t> </a:t>
            </a:r>
            <a:r>
              <a:rPr lang="fr-FR" sz="3600" dirty="0" err="1">
                <a:solidFill>
                  <a:srgbClr val="FFC000"/>
                </a:solidFill>
                <a:cs typeface="Times New Roman" panose="02020603050405020304" pitchFamily="18" charset="0"/>
              </a:rPr>
              <a:t>features</a:t>
            </a:r>
            <a:r>
              <a:rPr lang="fr-FR" sz="3600" dirty="0">
                <a:solidFill>
                  <a:srgbClr val="FFC000"/>
                </a:solidFill>
                <a:cs typeface="Times New Roman" panose="02020603050405020304" pitchFamily="18" charset="0"/>
              </a:rPr>
              <a:t> of Scientific and </a:t>
            </a:r>
            <a:r>
              <a:rPr lang="fr-FR" sz="3600" dirty="0" err="1">
                <a:solidFill>
                  <a:srgbClr val="FFC000"/>
                </a:solidFill>
                <a:cs typeface="Times New Roman" panose="02020603050405020304" pitchFamily="18" charset="0"/>
              </a:rPr>
              <a:t>Technological</a:t>
            </a:r>
            <a:r>
              <a:rPr lang="fr-FR" sz="3600" dirty="0">
                <a:solidFill>
                  <a:srgbClr val="FFC000"/>
                </a:solidFill>
                <a:cs typeface="Times New Roman" panose="02020603050405020304" pitchFamily="18" charset="0"/>
              </a:rPr>
              <a:t> Information (STI)</a:t>
            </a:r>
          </a:p>
          <a:p>
            <a:endParaRPr lang="fr-FR" sz="3600" dirty="0"/>
          </a:p>
        </p:txBody>
      </p:sp>
    </p:spTree>
    <p:extLst>
      <p:ext uri="{BB962C8B-B14F-4D97-AF65-F5344CB8AC3E}">
        <p14:creationId xmlns:p14="http://schemas.microsoft.com/office/powerpoint/2010/main" val="3800003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6E64AA8-254E-4886-B081-5948096CE92E}"/>
              </a:ext>
            </a:extLst>
          </p:cNvPr>
          <p:cNvSpPr txBox="1"/>
          <p:nvPr/>
        </p:nvSpPr>
        <p:spPr>
          <a:xfrm>
            <a:off x="377579" y="1155744"/>
            <a:ext cx="10715723" cy="5293757"/>
          </a:xfrm>
          <a:prstGeom prst="rect">
            <a:avLst/>
          </a:prstGeom>
          <a:noFill/>
        </p:spPr>
        <p:txBody>
          <a:bodyPr wrap="square" rtlCol="0">
            <a:spAutoFit/>
          </a:bodyPr>
          <a:lstStyle/>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State-of-the-art, </a:t>
            </a:r>
            <a:r>
              <a:rPr lang="fr-FR" sz="2000" b="1" dirty="0" err="1">
                <a:solidFill>
                  <a:srgbClr val="80276C"/>
                </a:solidFill>
                <a:latin typeface="Times New Roman" panose="02020603050405020304" pitchFamily="18" charset="0"/>
                <a:cs typeface="Times New Roman" panose="02020603050405020304" pitchFamily="18" charset="0"/>
              </a:rPr>
              <a:t>review</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literature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resulting</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from</a:t>
            </a:r>
            <a:r>
              <a:rPr lang="fr-FR" sz="2000" b="1" dirty="0">
                <a:solidFill>
                  <a:srgbClr val="80276C"/>
                </a:solidFill>
                <a:latin typeface="Times New Roman" panose="02020603050405020304" pitchFamily="18" charset="0"/>
                <a:cs typeface="Times New Roman" panose="02020603050405020304" pitchFamily="18" charset="0"/>
              </a:rPr>
              <a:t> a </a:t>
            </a:r>
            <a:r>
              <a:rPr lang="fr-FR" sz="2000" b="1" dirty="0" err="1">
                <a:solidFill>
                  <a:srgbClr val="80276C"/>
                </a:solidFill>
                <a:latin typeface="Times New Roman" panose="02020603050405020304" pitchFamily="18" charset="0"/>
                <a:cs typeface="Times New Roman" panose="02020603050405020304" pitchFamily="18" charset="0"/>
              </a:rPr>
              <a:t>literature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search</a:t>
            </a:r>
            <a:endParaRPr lang="fr-FR" sz="2000" b="1" dirty="0">
              <a:solidFill>
                <a:srgbClr val="80276C"/>
              </a:solidFill>
              <a:highlight>
                <a:srgbClr val="FFFF00"/>
              </a:highlight>
              <a:latin typeface="Times New Roman" panose="02020603050405020304" pitchFamily="18" charset="0"/>
              <a:cs typeface="Times New Roman" panose="02020603050405020304" pitchFamily="18" charset="0"/>
            </a:endParaRP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Bibliometric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analysis</a:t>
            </a:r>
            <a:r>
              <a:rPr lang="fr-FR" sz="2000" b="1" dirty="0">
                <a:solidFill>
                  <a:srgbClr val="80276C"/>
                </a:solidFill>
                <a:latin typeface="Times New Roman" panose="02020603050405020304" pitchFamily="18" charset="0"/>
                <a:cs typeface="Times New Roman" panose="02020603050405020304" pitchFamily="18" charset="0"/>
              </a:rPr>
              <a:t> or </a:t>
            </a:r>
            <a:r>
              <a:rPr lang="fr-FR" sz="2000" b="1" dirty="0" err="1">
                <a:solidFill>
                  <a:srgbClr val="80276C"/>
                </a:solidFill>
                <a:latin typeface="Times New Roman" panose="02020603050405020304" pitchFamily="18" charset="0"/>
                <a:cs typeface="Times New Roman" panose="02020603050405020304" pitchFamily="18" charset="0"/>
              </a:rPr>
              <a:t>assessment</a:t>
            </a:r>
            <a:r>
              <a:rPr lang="fr-FR" sz="2000" b="1" dirty="0">
                <a:solidFill>
                  <a:srgbClr val="80276C"/>
                </a:solidFill>
                <a:latin typeface="Times New Roman" panose="02020603050405020304" pitchFamily="18" charset="0"/>
                <a:cs typeface="Times New Roman" panose="02020603050405020304" pitchFamily="18" charset="0"/>
              </a:rPr>
              <a:t> or </a:t>
            </a:r>
            <a:r>
              <a:rPr lang="fr-FR" sz="2000" b="1" dirty="0" err="1">
                <a:solidFill>
                  <a:srgbClr val="80276C"/>
                </a:solidFill>
                <a:latin typeface="Times New Roman" panose="02020603050405020304" pitchFamily="18" charset="0"/>
                <a:cs typeface="Times New Roman" panose="02020603050405020304" pitchFamily="18" charset="0"/>
              </a:rPr>
              <a:t>studies</a:t>
            </a:r>
            <a:r>
              <a:rPr lang="fr-FR" sz="2000" b="1" dirty="0">
                <a:solidFill>
                  <a:srgbClr val="80276C"/>
                </a:solidFill>
                <a:latin typeface="Times New Roman" panose="02020603050405020304" pitchFamily="18" charset="0"/>
                <a:cs typeface="Times New Roman" panose="02020603050405020304" pitchFamily="18" charset="0"/>
              </a:rPr>
              <a:t> (notion of quantification)</a:t>
            </a: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Research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works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work</a:t>
            </a:r>
            <a:r>
              <a:rPr lang="fr-FR" sz="2000" b="1" dirty="0">
                <a:solidFill>
                  <a:srgbClr val="80276C"/>
                </a:solidFill>
                <a:latin typeface="Times New Roman" panose="02020603050405020304" pitchFamily="18" charset="0"/>
                <a:cs typeface="Times New Roman" panose="02020603050405020304" pitchFamily="18" charset="0"/>
              </a:rPr>
              <a:t> documents</a:t>
            </a: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Patents</a:t>
            </a: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Specific</a:t>
            </a:r>
            <a:r>
              <a:rPr lang="fr-FR" sz="2000" b="1" dirty="0">
                <a:solidFill>
                  <a:srgbClr val="80276C"/>
                </a:solidFill>
                <a:latin typeface="Times New Roman" panose="02020603050405020304" pitchFamily="18" charset="0"/>
                <a:cs typeface="Times New Roman" panose="02020603050405020304" pitchFamily="18" charset="0"/>
              </a:rPr>
              <a:t> standards and </a:t>
            </a:r>
            <a:r>
              <a:rPr lang="fr-FR" sz="2000" b="1" dirty="0" err="1">
                <a:solidFill>
                  <a:srgbClr val="80276C"/>
                </a:solidFill>
                <a:latin typeface="Times New Roman" panose="02020603050405020304" pitchFamily="18" charset="0"/>
                <a:cs typeface="Times New Roman" panose="02020603050405020304" pitchFamily="18" charset="0"/>
              </a:rPr>
              <a:t>processes</a:t>
            </a:r>
            <a:r>
              <a:rPr lang="fr-FR" sz="2000" b="1" dirty="0">
                <a:solidFill>
                  <a:srgbClr val="80276C"/>
                </a:solidFill>
                <a:latin typeface="Times New Roman" panose="02020603050405020304" pitchFamily="18" charset="0"/>
                <a:cs typeface="Times New Roman" panose="02020603050405020304" pitchFamily="18" charset="0"/>
              </a:rPr>
              <a:t> (e.g. : </a:t>
            </a:r>
            <a:r>
              <a:rPr lang="fr-FR" sz="2000" b="1" dirty="0" err="1">
                <a:solidFill>
                  <a:srgbClr val="80276C"/>
                </a:solidFill>
                <a:latin typeface="Times New Roman" panose="02020603050405020304" pitchFamily="18" charset="0"/>
                <a:cs typeface="Times New Roman" panose="02020603050405020304" pitchFamily="18" charset="0"/>
              </a:rPr>
              <a:t>features</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mechanical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properties</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some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alloys</a:t>
            </a:r>
            <a:r>
              <a:rPr lang="fr-FR" sz="2000" b="1" dirty="0">
                <a:solidFill>
                  <a:srgbClr val="80276C"/>
                </a:solidFill>
                <a:latin typeface="Times New Roman" panose="02020603050405020304" pitchFamily="18" charset="0"/>
                <a:cs typeface="Times New Roman" panose="02020603050405020304" pitchFamily="18" charset="0"/>
              </a:rPr>
              <a:t>) – </a:t>
            </a:r>
            <a:r>
              <a:rPr lang="fr-FR" sz="2000" b="1" dirty="0" err="1">
                <a:solidFill>
                  <a:srgbClr val="80276C"/>
                </a:solidFill>
                <a:latin typeface="Times New Roman" panose="02020603050405020304" pitchFamily="18" charset="0"/>
                <a:cs typeface="Times New Roman" panose="02020603050405020304" pitchFamily="18" charset="0"/>
              </a:rPr>
              <a:t>Paid</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methodological</a:t>
            </a:r>
            <a:r>
              <a:rPr lang="fr-FR" sz="2000" b="1" dirty="0">
                <a:solidFill>
                  <a:srgbClr val="80276C"/>
                </a:solidFill>
                <a:latin typeface="Times New Roman" panose="02020603050405020304" pitchFamily="18" charset="0"/>
                <a:cs typeface="Times New Roman" panose="02020603050405020304" pitchFamily="18" charset="0"/>
              </a:rPr>
              <a:t> guidelines</a:t>
            </a:r>
          </a:p>
          <a:p>
            <a:pPr marL="342900" indent="-34290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Free Open Archives </a:t>
            </a:r>
            <a:r>
              <a:rPr lang="fr-FR" sz="2000" dirty="0">
                <a:solidFill>
                  <a:srgbClr val="80276C"/>
                </a:solidFill>
                <a:latin typeface="Times New Roman" panose="02020603050405020304" pitchFamily="18" charset="0"/>
                <a:cs typeface="Times New Roman" panose="02020603050405020304" pitchFamily="18" charset="0"/>
              </a:rPr>
              <a:t>if the </a:t>
            </a:r>
            <a:r>
              <a:rPr lang="fr-FR" sz="2000" dirty="0" err="1">
                <a:solidFill>
                  <a:srgbClr val="80276C"/>
                </a:solidFill>
                <a:latin typeface="Times New Roman" panose="02020603050405020304" pitchFamily="18" charset="0"/>
                <a:cs typeface="Times New Roman" panose="02020603050405020304" pitchFamily="18" charset="0"/>
              </a:rPr>
              <a:t>authors</a:t>
            </a:r>
            <a:r>
              <a:rPr lang="fr-FR" sz="2000" dirty="0">
                <a:solidFill>
                  <a:srgbClr val="80276C"/>
                </a:solidFill>
                <a:latin typeface="Times New Roman" panose="02020603050405020304" pitchFamily="18" charset="0"/>
                <a:cs typeface="Times New Roman" panose="02020603050405020304" pitchFamily="18" charset="0"/>
              </a:rPr>
              <a:t> have </a:t>
            </a:r>
            <a:r>
              <a:rPr lang="fr-FR" sz="2000" dirty="0" err="1">
                <a:solidFill>
                  <a:srgbClr val="80276C"/>
                </a:solidFill>
                <a:latin typeface="Times New Roman" panose="02020603050405020304" pitchFamily="18" charset="0"/>
                <a:cs typeface="Times New Roman" panose="02020603050405020304" pitchFamily="18" charset="0"/>
              </a:rPr>
              <a:t>chosen</a:t>
            </a:r>
            <a:r>
              <a:rPr lang="fr-FR" sz="2000" dirty="0">
                <a:solidFill>
                  <a:srgbClr val="80276C"/>
                </a:solidFill>
                <a:latin typeface="Times New Roman" panose="02020603050405020304" pitchFamily="18" charset="0"/>
                <a:cs typeface="Times New Roman" panose="02020603050405020304" pitchFamily="18" charset="0"/>
              </a:rPr>
              <a:t> a </a:t>
            </a:r>
            <a:r>
              <a:rPr lang="fr-FR" sz="2000" dirty="0" err="1">
                <a:solidFill>
                  <a:srgbClr val="80276C"/>
                </a:solidFill>
                <a:latin typeface="Times New Roman" panose="02020603050405020304" pitchFamily="18" charset="0"/>
                <a:cs typeface="Times New Roman" panose="02020603050405020304" pitchFamily="18" charset="0"/>
              </a:rPr>
              <a:t>creative</a:t>
            </a:r>
            <a:r>
              <a:rPr lang="fr-FR" sz="2000" dirty="0">
                <a:solidFill>
                  <a:srgbClr val="80276C"/>
                </a:solidFill>
                <a:latin typeface="Times New Roman" panose="02020603050405020304" pitchFamily="18" charset="0"/>
                <a:cs typeface="Times New Roman" panose="02020603050405020304" pitchFamily="18" charset="0"/>
              </a:rPr>
              <a:t> Commons Licence. </a:t>
            </a:r>
            <a:r>
              <a:rPr lang="fr-FR" sz="2000" b="1" dirty="0">
                <a:solidFill>
                  <a:srgbClr val="80276C"/>
                </a:solidFill>
                <a:latin typeface="Times New Roman" panose="02020603050405020304" pitchFamily="18" charset="0"/>
                <a:cs typeface="Times New Roman" panose="02020603050405020304" pitchFamily="18" charset="0"/>
              </a:rPr>
              <a:t>and data </a:t>
            </a:r>
            <a:r>
              <a:rPr lang="fr-FR" sz="2000" b="1" dirty="0" err="1">
                <a:solidFill>
                  <a:srgbClr val="80276C"/>
                </a:solidFill>
                <a:latin typeface="Times New Roman" panose="02020603050405020304" pitchFamily="18" charset="0"/>
                <a:cs typeface="Times New Roman" panose="02020603050405020304" pitchFamily="18" charset="0"/>
              </a:rPr>
              <a:t>warehouses</a:t>
            </a:r>
            <a:endParaRPr lang="fr-FR" sz="2000" b="1" dirty="0">
              <a:solidFill>
                <a:srgbClr val="80276C"/>
              </a:solidFill>
              <a:latin typeface="Times New Roman" panose="02020603050405020304" pitchFamily="18" charset="0"/>
              <a:cs typeface="Times New Roman" panose="02020603050405020304" pitchFamily="18" charset="0"/>
            </a:endParaRP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Benchmarks,  and </a:t>
            </a:r>
            <a:r>
              <a:rPr lang="fr-FR" sz="2000" b="1" dirty="0" err="1">
                <a:solidFill>
                  <a:srgbClr val="80276C"/>
                </a:solidFill>
                <a:latin typeface="Times New Roman" panose="02020603050405020304" pitchFamily="18" charset="0"/>
                <a:cs typeface="Times New Roman" panose="02020603050405020304" pitchFamily="18" charset="0"/>
              </a:rPr>
              <a:t>summaries</a:t>
            </a:r>
            <a:r>
              <a:rPr lang="fr-FR" sz="2000" b="1" dirty="0">
                <a:solidFill>
                  <a:srgbClr val="80276C"/>
                </a:solidFill>
                <a:latin typeface="Times New Roman" panose="02020603050405020304" pitchFamily="18" charset="0"/>
                <a:cs typeface="Times New Roman" panose="02020603050405020304" pitchFamily="18" charset="0"/>
              </a:rPr>
              <a:t> of test </a:t>
            </a:r>
            <a:r>
              <a:rPr lang="fr-FR" sz="2000" b="1" dirty="0" err="1">
                <a:solidFill>
                  <a:srgbClr val="80276C"/>
                </a:solidFill>
                <a:latin typeface="Times New Roman" panose="02020603050405020304" pitchFamily="18" charset="0"/>
                <a:cs typeface="Times New Roman" panose="02020603050405020304" pitchFamily="18" charset="0"/>
              </a:rPr>
              <a:t>beds</a:t>
            </a:r>
            <a:r>
              <a:rPr lang="fr-FR" sz="2000" b="1" dirty="0">
                <a:solidFill>
                  <a:srgbClr val="80276C"/>
                </a:solidFill>
                <a:latin typeface="Times New Roman" panose="02020603050405020304" pitchFamily="18" charset="0"/>
                <a:cs typeface="Times New Roman" panose="02020603050405020304" pitchFamily="18" charset="0"/>
              </a:rPr>
              <a:t> for a </a:t>
            </a:r>
            <a:r>
              <a:rPr lang="fr-FR" sz="2000" b="1" dirty="0" err="1">
                <a:solidFill>
                  <a:srgbClr val="80276C"/>
                </a:solidFill>
                <a:latin typeface="Times New Roman" panose="02020603050405020304" pitchFamily="18" charset="0"/>
                <a:cs typeface="Times New Roman" panose="02020603050405020304" pitchFamily="18" charset="0"/>
              </a:rPr>
              <a:t>product</a:t>
            </a:r>
            <a:r>
              <a:rPr lang="fr-FR" sz="2000" b="1" dirty="0">
                <a:solidFill>
                  <a:srgbClr val="80276C"/>
                </a:solidFill>
                <a:latin typeface="Times New Roman" panose="02020603050405020304" pitchFamily="18" charset="0"/>
                <a:cs typeface="Times New Roman" panose="02020603050405020304" pitchFamily="18" charset="0"/>
              </a:rPr>
              <a:t>, a process, an </a:t>
            </a:r>
            <a:r>
              <a:rPr lang="fr-FR" sz="2000" b="1" dirty="0" err="1">
                <a:solidFill>
                  <a:srgbClr val="80276C"/>
                </a:solidFill>
                <a:latin typeface="Times New Roman" panose="02020603050405020304" pitchFamily="18" charset="0"/>
                <a:cs typeface="Times New Roman" panose="02020603050405020304" pitchFamily="18" charset="0"/>
              </a:rPr>
              <a:t>alloy</a:t>
            </a:r>
            <a:r>
              <a:rPr lang="fr-FR" sz="2000" b="1" dirty="0">
                <a:solidFill>
                  <a:srgbClr val="80276C"/>
                </a:solidFill>
                <a:latin typeface="Times New Roman" panose="02020603050405020304" pitchFamily="18" charset="0"/>
                <a:cs typeface="Times New Roman" panose="02020603050405020304" pitchFamily="18" charset="0"/>
              </a:rPr>
              <a:t>, for instance in the </a:t>
            </a:r>
            <a:r>
              <a:rPr lang="fr-FR" sz="2000" b="1" dirty="0" err="1">
                <a:solidFill>
                  <a:srgbClr val="80276C"/>
                </a:solidFill>
                <a:latin typeface="Times New Roman" panose="02020603050405020304" pitchFamily="18" charset="0"/>
                <a:cs typeface="Times New Roman" panose="02020603050405020304" pitchFamily="18" charset="0"/>
              </a:rPr>
              <a:t>field</a:t>
            </a:r>
            <a:r>
              <a:rPr lang="fr-FR" sz="2000" b="1" dirty="0">
                <a:solidFill>
                  <a:srgbClr val="80276C"/>
                </a:solidFill>
                <a:latin typeface="Times New Roman" panose="02020603050405020304" pitchFamily="18" charset="0"/>
                <a:cs typeface="Times New Roman" panose="02020603050405020304" pitchFamily="18" charset="0"/>
              </a:rPr>
              <a:t> of additive </a:t>
            </a:r>
            <a:r>
              <a:rPr lang="fr-FR" sz="2000" b="1" dirty="0" err="1">
                <a:solidFill>
                  <a:srgbClr val="80276C"/>
                </a:solidFill>
                <a:latin typeface="Times New Roman" panose="02020603050405020304" pitchFamily="18" charset="0"/>
                <a:cs typeface="Times New Roman" panose="02020603050405020304" pitchFamily="18" charset="0"/>
              </a:rPr>
              <a:t>manufacturing</a:t>
            </a:r>
            <a:r>
              <a:rPr lang="fr-FR" sz="2000" b="1" dirty="0">
                <a:solidFill>
                  <a:srgbClr val="80276C"/>
                </a:solidFill>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80276C"/>
              </a:solidFill>
              <a:effectLst/>
              <a:uLnTx/>
              <a:uFillTx/>
              <a:latin typeface="Calibri" panose="020F0502020204030204"/>
              <a:ea typeface="+mn-ea"/>
              <a:cs typeface="+mn-cs"/>
            </a:endParaRPr>
          </a:p>
        </p:txBody>
      </p:sp>
      <p:sp>
        <p:nvSpPr>
          <p:cNvPr id="4" name="Titre 1">
            <a:extLst>
              <a:ext uri="{FF2B5EF4-FFF2-40B4-BE49-F238E27FC236}">
                <a16:creationId xmlns:a16="http://schemas.microsoft.com/office/drawing/2014/main" id="{4771A164-723D-45D4-BE41-7265DCCEDA86}"/>
              </a:ext>
            </a:extLst>
          </p:cNvPr>
          <p:cNvSpPr txBox="1">
            <a:spLocks/>
          </p:cNvSpPr>
          <p:nvPr/>
        </p:nvSpPr>
        <p:spPr>
          <a:xfrm>
            <a:off x="574346" y="525464"/>
            <a:ext cx="5211433" cy="69437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err="1">
                <a:solidFill>
                  <a:srgbClr val="80276C"/>
                </a:solidFill>
                <a:latin typeface="Times New Roman" panose="02020603050405020304" pitchFamily="18" charset="0"/>
                <a:cs typeface="Times New Roman" panose="02020603050405020304" pitchFamily="18" charset="0"/>
              </a:rPr>
              <a:t>Specific</a:t>
            </a:r>
            <a:r>
              <a:rPr lang="fr-FR" sz="2800" b="1" dirty="0">
                <a:solidFill>
                  <a:srgbClr val="80276C"/>
                </a:solidFill>
                <a:latin typeface="Times New Roman" panose="02020603050405020304" pitchFamily="18" charset="0"/>
                <a:cs typeface="Times New Roman" panose="02020603050405020304" pitchFamily="18" charset="0"/>
              </a:rPr>
              <a:t> STI documents</a:t>
            </a:r>
          </a:p>
        </p:txBody>
      </p:sp>
    </p:spTree>
    <p:extLst>
      <p:ext uri="{BB962C8B-B14F-4D97-AF65-F5344CB8AC3E}">
        <p14:creationId xmlns:p14="http://schemas.microsoft.com/office/powerpoint/2010/main" val="295106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21796EF3-D7D6-472E-AAC0-B4FE7B4A05A6}"/>
              </a:ext>
            </a:extLst>
          </p:cNvPr>
          <p:cNvSpPr txBox="1">
            <a:spLocks/>
          </p:cNvSpPr>
          <p:nvPr/>
        </p:nvSpPr>
        <p:spPr>
          <a:xfrm>
            <a:off x="884604" y="527310"/>
            <a:ext cx="7869535" cy="694370"/>
          </a:xfrm>
          <a:prstGeom prst="rect">
            <a:avLst/>
          </a:prstGeom>
        </p:spPr>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6">
                    <a:lumMod val="75000"/>
                  </a:schemeClr>
                </a:solidFill>
              </a:rPr>
              <a:t>A</a:t>
            </a:r>
            <a:r>
              <a:rPr lang="fr-FR" dirty="0">
                <a:solidFill>
                  <a:schemeClr val="accent6">
                    <a:lumMod val="75000"/>
                  </a:schemeClr>
                </a:solidFill>
              </a:rPr>
              <a:t> </a:t>
            </a:r>
            <a:r>
              <a:rPr lang="fr-FR" b="1" dirty="0" err="1">
                <a:solidFill>
                  <a:schemeClr val="accent6">
                    <a:lumMod val="75000"/>
                  </a:schemeClr>
                </a:solidFill>
              </a:rPr>
              <a:t>scientific</a:t>
            </a:r>
            <a:r>
              <a:rPr lang="fr-FR" b="1" dirty="0">
                <a:solidFill>
                  <a:schemeClr val="accent6">
                    <a:lumMod val="75000"/>
                  </a:schemeClr>
                </a:solidFill>
              </a:rPr>
              <a:t> article has </a:t>
            </a:r>
            <a:r>
              <a:rPr lang="fr-FR" b="1" dirty="0" err="1">
                <a:solidFill>
                  <a:schemeClr val="accent6">
                    <a:lumMod val="75000"/>
                  </a:schemeClr>
                </a:solidFill>
              </a:rPr>
              <a:t>its</a:t>
            </a:r>
            <a:r>
              <a:rPr lang="fr-FR" b="1" dirty="0">
                <a:solidFill>
                  <a:schemeClr val="accent6">
                    <a:lumMod val="75000"/>
                  </a:schemeClr>
                </a:solidFill>
              </a:rPr>
              <a:t> </a:t>
            </a:r>
            <a:r>
              <a:rPr lang="fr-FR" b="1" dirty="0" err="1">
                <a:solidFill>
                  <a:schemeClr val="accent6">
                    <a:lumMod val="75000"/>
                  </a:schemeClr>
                </a:solidFill>
              </a:rPr>
              <a:t>specific</a:t>
            </a:r>
            <a:r>
              <a:rPr lang="fr-FR" b="1" dirty="0">
                <a:solidFill>
                  <a:schemeClr val="accent6">
                    <a:lumMod val="75000"/>
                  </a:schemeClr>
                </a:solidFill>
              </a:rPr>
              <a:t> </a:t>
            </a:r>
            <a:r>
              <a:rPr lang="fr-FR" b="1" dirty="0" err="1">
                <a:solidFill>
                  <a:schemeClr val="accent6">
                    <a:lumMod val="75000"/>
                  </a:schemeClr>
                </a:solidFill>
              </a:rPr>
              <a:t>features</a:t>
            </a:r>
            <a:r>
              <a:rPr lang="fr-FR" dirty="0">
                <a:solidFill>
                  <a:schemeClr val="accent6">
                    <a:lumMod val="75000"/>
                  </a:schemeClr>
                </a:solidFill>
              </a:rPr>
              <a:t> </a:t>
            </a:r>
            <a:endParaRPr lang="fr-FR" dirty="0">
              <a:solidFill>
                <a:srgbClr val="80276C"/>
              </a:solidFill>
            </a:endParaRPr>
          </a:p>
        </p:txBody>
      </p:sp>
      <p:sp>
        <p:nvSpPr>
          <p:cNvPr id="4" name="ZoneTexte 3">
            <a:extLst>
              <a:ext uri="{FF2B5EF4-FFF2-40B4-BE49-F238E27FC236}">
                <a16:creationId xmlns:a16="http://schemas.microsoft.com/office/drawing/2014/main" id="{8F28939D-DD67-4C79-8FA2-2D735F7A60DA}"/>
              </a:ext>
            </a:extLst>
          </p:cNvPr>
          <p:cNvSpPr txBox="1"/>
          <p:nvPr/>
        </p:nvSpPr>
        <p:spPr>
          <a:xfrm>
            <a:off x="719603" y="966499"/>
            <a:ext cx="9721569" cy="5293757"/>
          </a:xfrm>
          <a:prstGeom prst="rect">
            <a:avLst/>
          </a:prstGeom>
          <a:noFill/>
        </p:spPr>
        <p:txBody>
          <a:bodyPr wrap="square" rtlCol="0">
            <a:spAutoFit/>
          </a:bodyPr>
          <a:lstStyle/>
          <a:p>
            <a:pPr algn="just"/>
            <a:r>
              <a:rPr lang="fr-FR" sz="2000" b="1" dirty="0">
                <a:solidFill>
                  <a:srgbClr val="80276C"/>
                </a:solidFill>
                <a:latin typeface="Times New Roman" panose="02020603050405020304" pitchFamily="18" charset="0"/>
                <a:cs typeface="Times New Roman" panose="02020603050405020304" pitchFamily="18" charset="0"/>
              </a:rPr>
              <a:t>How can </a:t>
            </a:r>
            <a:r>
              <a:rPr lang="fr-FR" sz="2000" b="1" dirty="0" err="1">
                <a:solidFill>
                  <a:srgbClr val="80276C"/>
                </a:solidFill>
                <a:latin typeface="Times New Roman" panose="02020603050405020304" pitchFamily="18" charset="0"/>
                <a:cs typeface="Times New Roman" panose="02020603050405020304" pitchFamily="18" charset="0"/>
              </a:rPr>
              <a:t>you</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get</a:t>
            </a:r>
            <a:r>
              <a:rPr lang="fr-FR" sz="2000" b="1" dirty="0">
                <a:solidFill>
                  <a:srgbClr val="80276C"/>
                </a:solidFill>
                <a:latin typeface="Times New Roman" panose="02020603050405020304" pitchFamily="18" charset="0"/>
                <a:cs typeface="Times New Roman" panose="02020603050405020304" pitchFamily="18" charset="0"/>
              </a:rPr>
              <a:t> a good state-of-the-art or </a:t>
            </a:r>
            <a:r>
              <a:rPr lang="fr-FR" sz="2000" b="1" dirty="0" err="1">
                <a:solidFill>
                  <a:srgbClr val="80276C"/>
                </a:solidFill>
                <a:latin typeface="Times New Roman" panose="02020603050405020304" pitchFamily="18" charset="0"/>
                <a:cs typeface="Times New Roman" panose="02020603050405020304" pitchFamily="18" charset="0"/>
              </a:rPr>
              <a:t>scientific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review</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literature</a:t>
            </a:r>
            <a:r>
              <a:rPr lang="fr-FR" sz="2000" b="1" dirty="0">
                <a:solidFill>
                  <a:srgbClr val="80276C"/>
                </a:solidFill>
                <a:latin typeface="Times New Roman" panose="02020603050405020304" pitchFamily="18" charset="0"/>
                <a:cs typeface="Times New Roman" panose="02020603050405020304" pitchFamily="18" charset="0"/>
              </a:rPr>
              <a:t> ?  </a:t>
            </a:r>
            <a:br>
              <a:rPr lang="fr-FR" sz="2000" b="1" dirty="0">
                <a:solidFill>
                  <a:srgbClr val="80276C"/>
                </a:solidFill>
                <a:latin typeface="Times New Roman" panose="02020603050405020304" pitchFamily="18" charset="0"/>
                <a:cs typeface="Times New Roman" panose="02020603050405020304" pitchFamily="18" charset="0"/>
              </a:rPr>
            </a:br>
            <a:br>
              <a:rPr lang="fr-FR" sz="2000" b="1" dirty="0">
                <a:solidFill>
                  <a:srgbClr val="80276C"/>
                </a:solidFill>
                <a:latin typeface="Times New Roman" panose="02020603050405020304" pitchFamily="18" charset="0"/>
                <a:cs typeface="Times New Roman" panose="02020603050405020304" pitchFamily="18" charset="0"/>
              </a:rPr>
            </a:br>
            <a:r>
              <a:rPr lang="fr-FR" sz="2000" b="1" dirty="0">
                <a:solidFill>
                  <a:srgbClr val="80276C"/>
                </a:solidFill>
                <a:latin typeface="Times New Roman" panose="02020603050405020304" pitchFamily="18" charset="0"/>
                <a:cs typeface="Times New Roman" panose="02020603050405020304" pitchFamily="18" charset="0"/>
              </a:rPr>
              <a:t>A </a:t>
            </a:r>
            <a:r>
              <a:rPr lang="fr-FR" sz="2000" b="1" dirty="0" err="1">
                <a:solidFill>
                  <a:srgbClr val="80276C"/>
                </a:solidFill>
                <a:latin typeface="Times New Roman" panose="02020603050405020304" pitchFamily="18" charset="0"/>
                <a:cs typeface="Times New Roman" panose="02020603050405020304" pitchFamily="18" charset="0"/>
              </a:rPr>
              <a:t>literature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has to </a:t>
            </a:r>
            <a:r>
              <a:rPr lang="fr-FR" sz="2000" b="1" dirty="0" err="1">
                <a:solidFill>
                  <a:srgbClr val="80276C"/>
                </a:solidFill>
                <a:latin typeface="Times New Roman" panose="02020603050405020304" pitchFamily="18" charset="0"/>
                <a:cs typeface="Times New Roman" panose="02020603050405020304" pitchFamily="18" charset="0"/>
              </a:rPr>
              <a:t>be</a:t>
            </a:r>
            <a:r>
              <a:rPr lang="fr-FR" sz="2000" b="1" dirty="0">
                <a:solidFill>
                  <a:schemeClr val="accent6">
                    <a:lumMod val="75000"/>
                  </a:schemeClr>
                </a:solidFill>
                <a:latin typeface="Times New Roman" panose="02020603050405020304" pitchFamily="18" charset="0"/>
                <a:cs typeface="Times New Roman" panose="02020603050405020304" pitchFamily="18" charset="0"/>
              </a:rPr>
              <a:t> </a:t>
            </a:r>
            <a:r>
              <a:rPr lang="fr-FR" sz="2000" b="1" dirty="0" err="1">
                <a:solidFill>
                  <a:schemeClr val="accent6">
                    <a:lumMod val="75000"/>
                  </a:schemeClr>
                </a:solidFill>
                <a:latin typeface="Times New Roman" panose="02020603050405020304" pitchFamily="18" charset="0"/>
                <a:cs typeface="Times New Roman" panose="02020603050405020304" pitchFamily="18" charset="0"/>
              </a:rPr>
              <a:t>targeted</a:t>
            </a:r>
            <a:r>
              <a:rPr lang="fr-FR" sz="2000" b="1" dirty="0">
                <a:solidFill>
                  <a:schemeClr val="accent6">
                    <a:lumMod val="75000"/>
                  </a:schemeClr>
                </a:solidFill>
                <a:latin typeface="Times New Roman" panose="02020603050405020304" pitchFamily="18" charset="0"/>
                <a:cs typeface="Times New Roman" panose="02020603050405020304" pitchFamily="18" charset="0"/>
              </a:rPr>
              <a:t> </a:t>
            </a:r>
            <a:r>
              <a:rPr lang="fr-FR" sz="2000" b="1" dirty="0">
                <a:solidFill>
                  <a:srgbClr val="80276C"/>
                </a:solidFill>
                <a:latin typeface="Times New Roman" panose="02020603050405020304" pitchFamily="18" charset="0"/>
                <a:cs typeface="Times New Roman" panose="02020603050405020304" pitchFamily="18" charset="0"/>
              </a:rPr>
              <a:t>and </a:t>
            </a:r>
            <a:r>
              <a:rPr lang="fr-FR" sz="2000" b="1" dirty="0" err="1">
                <a:solidFill>
                  <a:schemeClr val="accent6">
                    <a:lumMod val="75000"/>
                  </a:schemeClr>
                </a:solidFill>
                <a:latin typeface="Times New Roman" panose="02020603050405020304" pitchFamily="18" charset="0"/>
                <a:cs typeface="Times New Roman" panose="02020603050405020304" pitchFamily="18" charset="0"/>
              </a:rPr>
              <a:t>based</a:t>
            </a:r>
            <a:r>
              <a:rPr lang="fr-FR" sz="2000" b="1" dirty="0">
                <a:solidFill>
                  <a:schemeClr val="accent6">
                    <a:lumMod val="75000"/>
                  </a:schemeClr>
                </a:solidFill>
                <a:latin typeface="Times New Roman" panose="02020603050405020304" pitchFamily="18" charset="0"/>
                <a:cs typeface="Times New Roman" panose="02020603050405020304" pitchFamily="18" charset="0"/>
              </a:rPr>
              <a:t> on an </a:t>
            </a:r>
            <a:r>
              <a:rPr lang="fr-FR" sz="2000" b="1" dirty="0" err="1">
                <a:solidFill>
                  <a:schemeClr val="accent6">
                    <a:lumMod val="75000"/>
                  </a:schemeClr>
                </a:solidFill>
                <a:latin typeface="Times New Roman" panose="02020603050405020304" pitchFamily="18" charset="0"/>
                <a:cs typeface="Times New Roman" panose="02020603050405020304" pitchFamily="18" charset="0"/>
              </a:rPr>
              <a:t>assessment</a:t>
            </a:r>
            <a:r>
              <a:rPr lang="fr-FR" sz="2000" b="1" dirty="0">
                <a:solidFill>
                  <a:schemeClr val="accent6">
                    <a:lumMod val="75000"/>
                  </a:schemeClr>
                </a:solidFill>
                <a:latin typeface="Times New Roman" panose="02020603050405020304" pitchFamily="18" charset="0"/>
                <a:cs typeface="Times New Roman" panose="02020603050405020304" pitchFamily="18" charset="0"/>
              </a:rPr>
              <a:t> / a </a:t>
            </a:r>
            <a:r>
              <a:rPr lang="fr-FR" sz="2000" b="1" dirty="0" err="1">
                <a:solidFill>
                  <a:schemeClr val="accent6">
                    <a:lumMod val="75000"/>
                  </a:schemeClr>
                </a:solidFill>
                <a:latin typeface="Times New Roman" panose="02020603050405020304" pitchFamily="18" charset="0"/>
                <a:cs typeface="Times New Roman" panose="02020603050405020304" pitchFamily="18" charset="0"/>
              </a:rPr>
              <a:t>selection</a:t>
            </a:r>
            <a:r>
              <a:rPr lang="fr-FR" sz="2000" b="1" dirty="0">
                <a:solidFill>
                  <a:schemeClr val="accent6">
                    <a:lumMod val="75000"/>
                  </a:schemeClr>
                </a:solidFill>
                <a:latin typeface="Times New Roman" panose="02020603050405020304" pitchFamily="18" charset="0"/>
                <a:cs typeface="Times New Roman" panose="02020603050405020304" pitchFamily="18" charset="0"/>
              </a:rPr>
              <a:t>.</a:t>
            </a:r>
            <a:endParaRPr lang="fr-FR" sz="2000" b="1" dirty="0">
              <a:solidFill>
                <a:srgbClr val="80276C"/>
              </a:solidFill>
              <a:latin typeface="Times New Roman" panose="02020603050405020304" pitchFamily="18" charset="0"/>
              <a:cs typeface="Times New Roman" panose="02020603050405020304" pitchFamily="18" charset="0"/>
            </a:endParaRP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a:t>
            </a:r>
            <a:r>
              <a:rPr lang="fr-FR" sz="2000" b="1" dirty="0" err="1">
                <a:solidFill>
                  <a:srgbClr val="80276C"/>
                </a:solidFill>
                <a:latin typeface="Times New Roman" panose="02020603050405020304" pitchFamily="18" charset="0"/>
                <a:cs typeface="Times New Roman" panose="02020603050405020304" pitchFamily="18" charset="0"/>
              </a:rPr>
              <a:t>assumptions</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presuppositions</a:t>
            </a:r>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issue, the </a:t>
            </a:r>
            <a:r>
              <a:rPr lang="fr-FR" sz="2000" b="1" dirty="0" err="1">
                <a:solidFill>
                  <a:srgbClr val="80276C"/>
                </a:solidFill>
                <a:latin typeface="Times New Roman" panose="02020603050405020304" pitchFamily="18" charset="0"/>
                <a:cs typeface="Times New Roman" panose="02020603050405020304" pitchFamily="18" charset="0"/>
              </a:rPr>
              <a:t>specific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problem</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you</a:t>
            </a:r>
            <a:r>
              <a:rPr lang="fr-FR" sz="2000" b="1" dirty="0">
                <a:solidFill>
                  <a:srgbClr val="80276C"/>
                </a:solidFill>
                <a:latin typeface="Times New Roman" panose="02020603050405020304" pitchFamily="18" charset="0"/>
                <a:cs typeface="Times New Roman" panose="02020603050405020304" pitchFamily="18" charset="0"/>
              </a:rPr>
              <a:t> have to </a:t>
            </a:r>
            <a:r>
              <a:rPr lang="fr-FR" sz="2000" b="1" dirty="0" err="1">
                <a:solidFill>
                  <a:srgbClr val="80276C"/>
                </a:solidFill>
                <a:latin typeface="Times New Roman" panose="02020603050405020304" pitchFamily="18" charset="0"/>
                <a:cs typeface="Times New Roman" panose="02020603050405020304" pitchFamily="18" charset="0"/>
              </a:rPr>
              <a:t>address</a:t>
            </a:r>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a:t>
            </a:r>
            <a:r>
              <a:rPr lang="fr-FR" sz="2000" b="1" dirty="0" err="1">
                <a:solidFill>
                  <a:srgbClr val="80276C"/>
                </a:solidFill>
                <a:latin typeface="Times New Roman" panose="02020603050405020304" pitchFamily="18" charset="0"/>
                <a:cs typeface="Times New Roman" panose="02020603050405020304" pitchFamily="18" charset="0"/>
              </a:rPr>
              <a:t>methodology</a:t>
            </a:r>
            <a:r>
              <a:rPr lang="fr-FR" sz="2000" b="1" dirty="0">
                <a:solidFill>
                  <a:srgbClr val="80276C"/>
                </a:solidFill>
                <a:latin typeface="Times New Roman" panose="02020603050405020304" pitchFamily="18" charset="0"/>
                <a:cs typeface="Times New Roman" panose="02020603050405020304" pitchFamily="18" charset="0"/>
              </a:rPr>
              <a:t> and the </a:t>
            </a:r>
            <a:r>
              <a:rPr lang="fr-FR" sz="2000" b="1" dirty="0" err="1">
                <a:solidFill>
                  <a:srgbClr val="80276C"/>
                </a:solidFill>
                <a:latin typeface="Times New Roman" panose="02020603050405020304" pitchFamily="18" charset="0"/>
                <a:cs typeface="Times New Roman" panose="02020603050405020304" pitchFamily="18" charset="0"/>
              </a:rPr>
              <a:t>approach</a:t>
            </a:r>
            <a:r>
              <a:rPr lang="fr-FR" sz="2000" b="1" dirty="0">
                <a:solidFill>
                  <a:srgbClr val="80276C"/>
                </a:solidFill>
                <a:latin typeface="Times New Roman" panose="02020603050405020304" pitchFamily="18" charset="0"/>
                <a:cs typeface="Times New Roman" panose="02020603050405020304" pitchFamily="18" charset="0"/>
              </a:rPr>
              <a:t> to the </a:t>
            </a:r>
            <a:r>
              <a:rPr lang="fr-FR" sz="2000" b="1" dirty="0" err="1">
                <a:solidFill>
                  <a:srgbClr val="80276C"/>
                </a:solidFill>
                <a:latin typeface="Times New Roman" panose="02020603050405020304" pitchFamily="18" charset="0"/>
                <a:cs typeface="Times New Roman" panose="02020603050405020304" pitchFamily="18" charset="0"/>
              </a:rPr>
              <a:t>problem</a:t>
            </a:r>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affiliations of </a:t>
            </a:r>
            <a:r>
              <a:rPr lang="fr-FR" sz="2000" b="1" dirty="0" err="1">
                <a:solidFill>
                  <a:srgbClr val="80276C"/>
                </a:solidFill>
                <a:latin typeface="Times New Roman" panose="02020603050405020304" pitchFamily="18" charset="0"/>
                <a:cs typeface="Times New Roman" panose="02020603050405020304" pitchFamily="18" charset="0"/>
              </a:rPr>
              <a:t>authors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Laboratories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organizations</a:t>
            </a:r>
            <a:r>
              <a:rPr lang="fr-FR" sz="2000" b="1" dirty="0">
                <a:solidFill>
                  <a:srgbClr val="80276C"/>
                </a:solidFill>
                <a:latin typeface="Times New Roman" panose="02020603050405020304" pitchFamily="18" charset="0"/>
                <a:cs typeface="Times New Roman" panose="02020603050405020304" pitchFamily="18" charset="0"/>
              </a:rPr>
              <a:t> in </a:t>
            </a:r>
            <a:r>
              <a:rPr lang="fr-FR" sz="2000" b="1" dirty="0" err="1">
                <a:solidFill>
                  <a:srgbClr val="80276C"/>
                </a:solidFill>
                <a:latin typeface="Times New Roman" panose="02020603050405020304" pitchFamily="18" charset="0"/>
                <a:cs typeface="Times New Roman" panose="02020603050405020304" pitchFamily="18" charset="0"/>
              </a:rPr>
              <a:t>which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they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work</a:t>
            </a:r>
            <a:r>
              <a:rPr lang="fr-FR" sz="2000" b="1" dirty="0">
                <a:solidFill>
                  <a:srgbClr val="80276C"/>
                </a:solidFill>
                <a:latin typeface="Times New Roman" panose="02020603050405020304" pitchFamily="18" charset="0"/>
                <a:cs typeface="Times New Roman" panose="02020603050405020304" pitchFamily="18" charset="0"/>
              </a:rPr>
              <a:t>) </a:t>
            </a: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a:t>
            </a:r>
            <a:r>
              <a:rPr lang="fr-FR" sz="2000" b="1" dirty="0" err="1">
                <a:solidFill>
                  <a:srgbClr val="80276C"/>
                </a:solidFill>
                <a:latin typeface="Times New Roman" panose="02020603050405020304" pitchFamily="18" charset="0"/>
                <a:cs typeface="Times New Roman" panose="02020603050405020304" pitchFamily="18" charset="0"/>
              </a:rPr>
              <a:t>summary</a:t>
            </a:r>
            <a:r>
              <a:rPr lang="fr-FR" sz="2000" b="1" dirty="0">
                <a:solidFill>
                  <a:srgbClr val="80276C"/>
                </a:solidFill>
                <a:latin typeface="Times New Roman" panose="02020603050405020304" pitchFamily="18" charset="0"/>
                <a:cs typeface="Times New Roman" panose="02020603050405020304" pitchFamily="18" charset="0"/>
              </a:rPr>
              <a:t> (abstract)</a:t>
            </a:r>
          </a:p>
          <a:p>
            <a:pPr marL="800100" lvl="1"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The </a:t>
            </a:r>
            <a:r>
              <a:rPr lang="fr-FR" sz="2000" b="1" dirty="0" err="1">
                <a:solidFill>
                  <a:srgbClr val="80276C"/>
                </a:solidFill>
                <a:latin typeface="Times New Roman" panose="02020603050405020304" pitchFamily="18" charset="0"/>
                <a:cs typeface="Times New Roman" panose="02020603050405020304" pitchFamily="18" charset="0"/>
              </a:rPr>
              <a:t>references</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quotations</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scientifically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well-known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authors</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bibliographical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references</a:t>
            </a:r>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Sometimes</a:t>
            </a:r>
            <a:r>
              <a:rPr lang="fr-FR" sz="2000" b="1" dirty="0">
                <a:solidFill>
                  <a:srgbClr val="80276C"/>
                </a:solidFill>
                <a:latin typeface="Times New Roman" panose="02020603050405020304" pitchFamily="18" charset="0"/>
                <a:cs typeface="Times New Roman" panose="02020603050405020304" pitchFamily="18" charset="0"/>
              </a:rPr>
              <a:t> but not </a:t>
            </a:r>
            <a:r>
              <a:rPr lang="fr-FR" sz="2000" b="1" dirty="0" err="1">
                <a:solidFill>
                  <a:srgbClr val="80276C"/>
                </a:solidFill>
                <a:latin typeface="Times New Roman" panose="02020603050405020304" pitchFamily="18" charset="0"/>
                <a:cs typeface="Times New Roman" panose="02020603050405020304" pitchFamily="18" charset="0"/>
              </a:rPr>
              <a:t>always</a:t>
            </a:r>
            <a:r>
              <a:rPr lang="fr-FR" sz="2000" b="1" dirty="0">
                <a:solidFill>
                  <a:srgbClr val="80276C"/>
                </a:solidFill>
                <a:latin typeface="Times New Roman" panose="02020603050405020304" pitchFamily="18" charset="0"/>
                <a:cs typeface="Times New Roman" panose="02020603050405020304" pitchFamily="18" charset="0"/>
              </a:rPr>
              <a:t>, the DOI (Digital Object Identifier), the </a:t>
            </a:r>
            <a:r>
              <a:rPr lang="fr-FR" sz="2000" b="1" dirty="0" err="1">
                <a:solidFill>
                  <a:srgbClr val="80276C"/>
                </a:solidFill>
                <a:latin typeface="Times New Roman" panose="02020603050405020304" pitchFamily="18" charset="0"/>
                <a:cs typeface="Times New Roman" panose="02020603050405020304" pitchFamily="18" charset="0"/>
              </a:rPr>
              <a:t>only</a:t>
            </a:r>
            <a:r>
              <a:rPr lang="fr-FR" sz="2000" b="1" dirty="0">
                <a:solidFill>
                  <a:srgbClr val="80276C"/>
                </a:solidFill>
                <a:latin typeface="Times New Roman" panose="02020603050405020304" pitchFamily="18" charset="0"/>
                <a:cs typeface="Times New Roman" panose="02020603050405020304" pitchFamily="18" charset="0"/>
              </a:rPr>
              <a:t> document </a:t>
            </a:r>
            <a:r>
              <a:rPr lang="fr-FR" sz="2000" b="1" dirty="0" err="1">
                <a:solidFill>
                  <a:srgbClr val="80276C"/>
                </a:solidFill>
                <a:latin typeface="Times New Roman" panose="02020603050405020304" pitchFamily="18" charset="0"/>
                <a:cs typeface="Times New Roman" panose="02020603050405020304" pitchFamily="18" charset="0"/>
              </a:rPr>
              <a:t>identity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number</a:t>
            </a:r>
            <a:r>
              <a:rPr lang="fr-FR" sz="2000" b="1" dirty="0">
                <a:solidFill>
                  <a:srgbClr val="80276C"/>
                </a:solidFill>
                <a:latin typeface="Times New Roman" panose="02020603050405020304" pitchFamily="18" charset="0"/>
                <a:cs typeface="Times New Roman" panose="02020603050405020304" pitchFamily="18" charset="0"/>
              </a:rPr>
              <a:t>.</a:t>
            </a:r>
          </a:p>
          <a:p>
            <a:pPr lvl="1" algn="just"/>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algn="just"/>
            <a:endParaRPr lang="fr-FR" dirty="0">
              <a:solidFill>
                <a:srgbClr val="80276C"/>
              </a:solidFill>
            </a:endParaRPr>
          </a:p>
        </p:txBody>
      </p:sp>
    </p:spTree>
    <p:extLst>
      <p:ext uri="{BB962C8B-B14F-4D97-AF65-F5344CB8AC3E}">
        <p14:creationId xmlns:p14="http://schemas.microsoft.com/office/powerpoint/2010/main" val="4136278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933A460-ECE6-4EE5-9B52-CAC169ADC52F}"/>
              </a:ext>
            </a:extLst>
          </p:cNvPr>
          <p:cNvSpPr txBox="1">
            <a:spLocks/>
          </p:cNvSpPr>
          <p:nvPr/>
        </p:nvSpPr>
        <p:spPr>
          <a:xfrm>
            <a:off x="612648" y="362979"/>
            <a:ext cx="10711025" cy="12106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rgbClr val="80276C"/>
                </a:solidFill>
                <a:latin typeface="Times New Roman" panose="02020603050405020304" pitchFamily="18" charset="0"/>
                <a:cs typeface="Times New Roman" panose="02020603050405020304" pitchFamily="18" charset="0"/>
              </a:rPr>
              <a:t>The </a:t>
            </a:r>
            <a:r>
              <a:rPr lang="fr-FR" dirty="0" err="1">
                <a:solidFill>
                  <a:srgbClr val="80276C"/>
                </a:solidFill>
                <a:latin typeface="Times New Roman" panose="02020603050405020304" pitchFamily="18" charset="0"/>
                <a:cs typeface="Times New Roman" panose="02020603050405020304" pitchFamily="18" charset="0"/>
              </a:rPr>
              <a:t>quest</a:t>
            </a:r>
            <a:r>
              <a:rPr lang="fr-FR" dirty="0">
                <a:solidFill>
                  <a:srgbClr val="80276C"/>
                </a:solidFill>
                <a:latin typeface="Times New Roman" panose="02020603050405020304" pitchFamily="18" charset="0"/>
                <a:cs typeface="Times New Roman" panose="02020603050405020304" pitchFamily="18" charset="0"/>
              </a:rPr>
              <a:t> for </a:t>
            </a:r>
            <a:r>
              <a:rPr lang="fr-FR" dirty="0" err="1">
                <a:solidFill>
                  <a:srgbClr val="80276C"/>
                </a:solidFill>
                <a:latin typeface="Times New Roman" panose="02020603050405020304" pitchFamily="18" charset="0"/>
                <a:cs typeface="Times New Roman" panose="02020603050405020304" pitchFamily="18" charset="0"/>
              </a:rPr>
              <a:t>objectivity</a:t>
            </a:r>
            <a:r>
              <a:rPr lang="fr-FR" dirty="0">
                <a:solidFill>
                  <a:srgbClr val="80276C"/>
                </a:solidFill>
                <a:latin typeface="Times New Roman" panose="02020603050405020304" pitchFamily="18" charset="0"/>
                <a:cs typeface="Times New Roman" panose="02020603050405020304" pitchFamily="18" charset="0"/>
              </a:rPr>
              <a:t> </a:t>
            </a:r>
            <a:r>
              <a:rPr lang="fr-FR" dirty="0" err="1">
                <a:solidFill>
                  <a:srgbClr val="80276C"/>
                </a:solidFill>
                <a:latin typeface="Times New Roman" panose="02020603050405020304" pitchFamily="18" charset="0"/>
                <a:cs typeface="Times New Roman" panose="02020603050405020304" pitchFamily="18" charset="0"/>
              </a:rPr>
              <a:t>is</a:t>
            </a:r>
            <a:r>
              <a:rPr lang="fr-FR" dirty="0">
                <a:solidFill>
                  <a:srgbClr val="80276C"/>
                </a:solidFill>
                <a:latin typeface="Times New Roman" panose="02020603050405020304" pitchFamily="18" charset="0"/>
                <a:cs typeface="Times New Roman" panose="02020603050405020304" pitchFamily="18" charset="0"/>
              </a:rPr>
              <a:t> an </a:t>
            </a:r>
            <a:r>
              <a:rPr lang="fr-FR" dirty="0" err="1">
                <a:solidFill>
                  <a:srgbClr val="80276C"/>
                </a:solidFill>
                <a:latin typeface="Times New Roman" panose="02020603050405020304" pitchFamily="18" charset="0"/>
                <a:cs typeface="Times New Roman" panose="02020603050405020304" pitchFamily="18" charset="0"/>
              </a:rPr>
              <a:t>integral</a:t>
            </a:r>
            <a:r>
              <a:rPr lang="fr-FR" dirty="0">
                <a:solidFill>
                  <a:srgbClr val="80276C"/>
                </a:solidFill>
                <a:latin typeface="Times New Roman" panose="02020603050405020304" pitchFamily="18" charset="0"/>
                <a:cs typeface="Times New Roman" panose="02020603050405020304" pitchFamily="18" charset="0"/>
              </a:rPr>
              <a:t> part of Scientific and </a:t>
            </a:r>
            <a:r>
              <a:rPr lang="fr-FR" dirty="0" err="1">
                <a:solidFill>
                  <a:srgbClr val="80276C"/>
                </a:solidFill>
                <a:latin typeface="Times New Roman" panose="02020603050405020304" pitchFamily="18" charset="0"/>
                <a:cs typeface="Times New Roman" panose="02020603050405020304" pitchFamily="18" charset="0"/>
              </a:rPr>
              <a:t>Technical</a:t>
            </a:r>
            <a:r>
              <a:rPr lang="fr-FR" dirty="0">
                <a:solidFill>
                  <a:srgbClr val="80276C"/>
                </a:solidFill>
                <a:latin typeface="Times New Roman" panose="02020603050405020304" pitchFamily="18" charset="0"/>
                <a:cs typeface="Times New Roman" panose="02020603050405020304" pitchFamily="18" charset="0"/>
              </a:rPr>
              <a:t> Information</a:t>
            </a:r>
          </a:p>
        </p:txBody>
      </p:sp>
      <p:sp>
        <p:nvSpPr>
          <p:cNvPr id="5" name="ZoneTexte 4">
            <a:extLst>
              <a:ext uri="{FF2B5EF4-FFF2-40B4-BE49-F238E27FC236}">
                <a16:creationId xmlns:a16="http://schemas.microsoft.com/office/drawing/2014/main" id="{34CF6549-F431-4EAB-B7E6-618D2082C9D5}"/>
              </a:ext>
            </a:extLst>
          </p:cNvPr>
          <p:cNvSpPr txBox="1"/>
          <p:nvPr/>
        </p:nvSpPr>
        <p:spPr>
          <a:xfrm>
            <a:off x="443611" y="1766537"/>
            <a:ext cx="8157541" cy="4862870"/>
          </a:xfrm>
          <a:prstGeom prst="rect">
            <a:avLst/>
          </a:prstGeom>
          <a:noFill/>
        </p:spPr>
        <p:txBody>
          <a:bodyPr wrap="square" rtlCol="0">
            <a:spAutoFit/>
          </a:bodyPr>
          <a:lstStyle/>
          <a:p>
            <a:pPr marL="342900" indent="-342900" algn="just">
              <a:buAutoNum type="arabicParenR"/>
            </a:pPr>
            <a:r>
              <a:rPr lang="fr-FR" sz="2000" b="1" dirty="0">
                <a:solidFill>
                  <a:srgbClr val="80276C"/>
                </a:solidFill>
                <a:latin typeface="Times New Roman" panose="02020603050405020304" pitchFamily="18" charset="0"/>
                <a:cs typeface="Times New Roman" panose="02020603050405020304" pitchFamily="18" charset="0"/>
              </a:rPr>
              <a:t>Peer-</a:t>
            </a:r>
            <a:r>
              <a:rPr lang="fr-FR" sz="2000" b="1" dirty="0" err="1">
                <a:solidFill>
                  <a:srgbClr val="80276C"/>
                </a:solidFill>
                <a:latin typeface="Times New Roman" panose="02020603050405020304" pitchFamily="18" charset="0"/>
                <a:cs typeface="Times New Roman" panose="02020603050405020304" pitchFamily="18" charset="0"/>
              </a:rPr>
              <a:t>review</a:t>
            </a:r>
            <a:r>
              <a:rPr lang="fr-FR" sz="2000" b="1" dirty="0">
                <a:solidFill>
                  <a:srgbClr val="80276C"/>
                </a:solidFill>
                <a:latin typeface="Times New Roman" panose="02020603050405020304" pitchFamily="18" charset="0"/>
                <a:cs typeface="Times New Roman" panose="02020603050405020304" pitchFamily="18" charset="0"/>
              </a:rPr>
              <a:t> process : </a:t>
            </a:r>
            <a:r>
              <a:rPr lang="fr-FR" sz="2000" b="1" dirty="0" err="1">
                <a:solidFill>
                  <a:srgbClr val="80276C"/>
                </a:solidFill>
                <a:latin typeface="Times New Roman" panose="02020603050405020304" pitchFamily="18" charset="0"/>
                <a:cs typeface="Times New Roman" panose="02020603050405020304" pitchFamily="18" charset="0"/>
              </a:rPr>
              <a:t>assessing</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improving</a:t>
            </a:r>
            <a:r>
              <a:rPr lang="fr-FR" sz="2000" b="1" dirty="0">
                <a:solidFill>
                  <a:srgbClr val="80276C"/>
                </a:solidFill>
                <a:latin typeface="Times New Roman" panose="02020603050405020304" pitchFamily="18" charset="0"/>
                <a:cs typeface="Times New Roman" panose="02020603050405020304" pitchFamily="18" charset="0"/>
              </a:rPr>
              <a:t> by </a:t>
            </a:r>
            <a:r>
              <a:rPr lang="fr-FR" sz="2000" b="1" dirty="0" err="1">
                <a:solidFill>
                  <a:srgbClr val="80276C"/>
                </a:solidFill>
                <a:latin typeface="Times New Roman" panose="02020603050405020304" pitchFamily="18" charset="0"/>
                <a:cs typeface="Times New Roman" panose="02020603050405020304" pitchFamily="18" charset="0"/>
              </a:rPr>
              <a:t>peers</a:t>
            </a:r>
            <a:r>
              <a:rPr lang="fr-FR" sz="2000" b="1" dirty="0">
                <a:solidFill>
                  <a:srgbClr val="80276C"/>
                </a:solidFill>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r>
              <a:rPr lang="fr-FR" sz="2000" b="1" dirty="0">
                <a:solidFill>
                  <a:srgbClr val="80276C"/>
                </a:solidFill>
                <a:latin typeface="Times New Roman" panose="02020603050405020304" pitchFamily="18" charset="0"/>
                <a:cs typeface="Times New Roman" panose="02020603050405020304" pitchFamily="18" charset="0"/>
              </a:rPr>
              <a:t>contribution to the article to gain in </a:t>
            </a:r>
            <a:r>
              <a:rPr lang="fr-FR" sz="2000" b="1" dirty="0" err="1">
                <a:solidFill>
                  <a:srgbClr val="80276C"/>
                </a:solidFill>
                <a:latin typeface="Times New Roman" panose="02020603050405020304" pitchFamily="18" charset="0"/>
                <a:cs typeface="Times New Roman" panose="02020603050405020304" pitchFamily="18" charset="0"/>
              </a:rPr>
              <a:t>popularity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objectivity</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quality</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work</a:t>
            </a:r>
            <a:r>
              <a:rPr lang="fr-FR" sz="2000" b="1" dirty="0">
                <a:solidFill>
                  <a:srgbClr val="80276C"/>
                </a:solidFill>
                <a:latin typeface="Times New Roman" panose="02020603050405020304" pitchFamily="18" charset="0"/>
                <a:cs typeface="Times New Roman" panose="02020603050405020304" pitchFamily="18" charset="0"/>
              </a:rPr>
              <a:t> for </a:t>
            </a:r>
            <a:r>
              <a:rPr lang="fr-FR" sz="2000" b="1" dirty="0" err="1">
                <a:solidFill>
                  <a:srgbClr val="80276C"/>
                </a:solidFill>
                <a:latin typeface="Times New Roman" panose="02020603050405020304" pitchFamily="18" charset="0"/>
                <a:cs typeface="Times New Roman" panose="02020603050405020304" pitchFamily="18" charset="0"/>
              </a:rPr>
              <a:t>its</a:t>
            </a:r>
            <a:r>
              <a:rPr lang="fr-FR" sz="2000" b="1" dirty="0">
                <a:solidFill>
                  <a:srgbClr val="80276C"/>
                </a:solidFill>
                <a:latin typeface="Times New Roman" panose="02020603050405020304" pitchFamily="18" charset="0"/>
                <a:cs typeface="Times New Roman" panose="02020603050405020304" pitchFamily="18" charset="0"/>
              </a:rPr>
              <a:t> publication :  </a:t>
            </a:r>
            <a:r>
              <a:rPr lang="fr-FR" sz="2000" b="1" dirty="0" err="1">
                <a:solidFill>
                  <a:srgbClr val="80276C"/>
                </a:solidFill>
                <a:latin typeface="Times New Roman" panose="02020603050405020304" pitchFamily="18" charset="0"/>
                <a:cs typeface="Times New Roman" panose="02020603050405020304" pitchFamily="18" charset="0"/>
              </a:rPr>
              <a:t>example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with</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Supervisor</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your</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Master’s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work</a:t>
            </a:r>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AutoNum type="arabicParenR"/>
            </a:pPr>
            <a:endParaRPr lang="fr-FR" sz="2000" b="1" dirty="0">
              <a:solidFill>
                <a:srgbClr val="80276C"/>
              </a:solidFill>
              <a:latin typeface="Times New Roman" panose="02020603050405020304" pitchFamily="18" charset="0"/>
              <a:cs typeface="Times New Roman" panose="02020603050405020304" pitchFamily="18" charset="0"/>
            </a:endParaRPr>
          </a:p>
          <a:p>
            <a:pPr algn="just"/>
            <a:r>
              <a:rPr lang="fr-FR" sz="2000" b="1" dirty="0">
                <a:solidFill>
                  <a:srgbClr val="80276C"/>
                </a:solidFill>
                <a:latin typeface="Times New Roman" panose="02020603050405020304" pitchFamily="18" charset="0"/>
                <a:cs typeface="Times New Roman" panose="02020603050405020304" pitchFamily="18" charset="0"/>
              </a:rPr>
              <a:t>2) </a:t>
            </a:r>
            <a:r>
              <a:rPr lang="fr-FR" sz="2000" b="1" dirty="0" err="1">
                <a:solidFill>
                  <a:srgbClr val="80276C"/>
                </a:solidFill>
                <a:latin typeface="Times New Roman" panose="02020603050405020304" pitchFamily="18" charset="0"/>
                <a:cs typeface="Times New Roman" panose="02020603050405020304" pitchFamily="18" charset="0"/>
              </a:rPr>
              <a:t>Writing</a:t>
            </a:r>
            <a:r>
              <a:rPr lang="fr-FR" sz="2000" b="1" dirty="0">
                <a:solidFill>
                  <a:srgbClr val="80276C"/>
                </a:solidFill>
                <a:latin typeface="Times New Roman" panose="02020603050405020304" pitchFamily="18" charset="0"/>
                <a:cs typeface="Times New Roman" panose="02020603050405020304" pitchFamily="18" charset="0"/>
              </a:rPr>
              <a:t> a </a:t>
            </a:r>
            <a:r>
              <a:rPr lang="fr-FR" sz="2000" b="1" dirty="0" err="1">
                <a:solidFill>
                  <a:srgbClr val="80276C"/>
                </a:solidFill>
                <a:latin typeface="Times New Roman" panose="02020603050405020304" pitchFamily="18" charset="0"/>
                <a:cs typeface="Times New Roman" panose="02020603050405020304" pitchFamily="18" charset="0"/>
              </a:rPr>
              <a:t>metatext</a:t>
            </a:r>
            <a:r>
              <a:rPr lang="fr-FR" sz="2000" b="1" dirty="0">
                <a:solidFill>
                  <a:srgbClr val="80276C"/>
                </a:solidFill>
                <a:latin typeface="Times New Roman" panose="02020603050405020304" pitchFamily="18" charset="0"/>
                <a:cs typeface="Times New Roman" panose="02020603050405020304" pitchFamily="18" charset="0"/>
              </a:rPr>
              <a:t>, a </a:t>
            </a:r>
            <a:r>
              <a:rPr lang="fr-FR" sz="2000" b="1" dirty="0" err="1">
                <a:solidFill>
                  <a:srgbClr val="80276C"/>
                </a:solidFill>
                <a:latin typeface="Times New Roman" panose="02020603050405020304" pitchFamily="18" charset="0"/>
                <a:cs typeface="Times New Roman" panose="02020603050405020304" pitchFamily="18" charset="0"/>
              </a:rPr>
              <a:t>scientific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text</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which</a:t>
            </a:r>
            <a:r>
              <a:rPr lang="fr-FR" sz="2000" b="1" dirty="0">
                <a:solidFill>
                  <a:srgbClr val="80276C"/>
                </a:solidFill>
                <a:latin typeface="Times New Roman" panose="02020603050405020304" pitchFamily="18" charset="0"/>
                <a:cs typeface="Times New Roman" panose="02020603050405020304" pitchFamily="18" charset="0"/>
              </a:rPr>
              <a:t> relies on </a:t>
            </a:r>
            <a:r>
              <a:rPr lang="fr-FR" sz="2000" b="1" dirty="0" err="1">
                <a:solidFill>
                  <a:srgbClr val="80276C"/>
                </a:solidFill>
                <a:latin typeface="Times New Roman" panose="02020603050405020304" pitchFamily="18" charset="0"/>
                <a:cs typeface="Times New Roman" panose="02020603050405020304" pitchFamily="18" charset="0"/>
              </a:rPr>
              <a:t>other</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scientific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texts</a:t>
            </a:r>
            <a:r>
              <a:rPr lang="fr-FR" sz="2000" b="1" dirty="0">
                <a:solidFill>
                  <a:srgbClr val="80276C"/>
                </a:solidFill>
                <a:latin typeface="Times New Roman" panose="02020603050405020304" pitchFamily="18" charset="0"/>
                <a:cs typeface="Times New Roman" panose="02020603050405020304" pitchFamily="18" charset="0"/>
              </a:rPr>
              <a:t>. </a:t>
            </a:r>
          </a:p>
          <a:p>
            <a:pPr lvl="1" algn="just"/>
            <a:r>
              <a:rPr lang="fr-FR" sz="2000" b="1" dirty="0" err="1">
                <a:solidFill>
                  <a:srgbClr val="80276C"/>
                </a:solidFill>
                <a:latin typeface="Times New Roman" panose="02020603050405020304" pitchFamily="18" charset="0"/>
                <a:cs typeface="Times New Roman" panose="02020603050405020304" pitchFamily="18" charset="0"/>
              </a:rPr>
              <a:t>Hence</a:t>
            </a:r>
            <a:r>
              <a:rPr lang="fr-FR" sz="2000" b="1" dirty="0">
                <a:solidFill>
                  <a:srgbClr val="80276C"/>
                </a:solidFill>
                <a:latin typeface="Times New Roman" panose="02020603050405020304" pitchFamily="18" charset="0"/>
                <a:cs typeface="Times New Roman" panose="02020603050405020304" pitchFamily="18" charset="0"/>
              </a:rPr>
              <a:t>, the importance of  : </a:t>
            </a:r>
          </a:p>
          <a:p>
            <a:pPr marL="742950" lvl="1" indent="-285750" algn="just">
              <a:buFont typeface="Wingdings" panose="05000000000000000000" pitchFamily="2" charset="2"/>
              <a:buChar char="§"/>
            </a:pPr>
            <a:r>
              <a:rPr lang="fr-FR" sz="2000" b="1" dirty="0" err="1">
                <a:solidFill>
                  <a:srgbClr val="80276C"/>
                </a:solidFill>
                <a:latin typeface="Times New Roman" panose="02020603050405020304" pitchFamily="18" charset="0"/>
                <a:cs typeface="Times New Roman" panose="02020603050405020304" pitchFamily="18" charset="0"/>
              </a:rPr>
              <a:t>references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quotations</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scientifically-known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authors</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bibliographic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references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within</a:t>
            </a:r>
            <a:r>
              <a:rPr lang="fr-FR" sz="2000" b="1" dirty="0">
                <a:solidFill>
                  <a:srgbClr val="80276C"/>
                </a:solidFill>
                <a:latin typeface="Times New Roman" panose="02020603050405020304" pitchFamily="18" charset="0"/>
                <a:cs typeface="Times New Roman" panose="02020603050405020304" pitchFamily="18" charset="0"/>
              </a:rPr>
              <a:t>  the article</a:t>
            </a:r>
          </a:p>
          <a:p>
            <a:pPr marL="742950" lvl="1" indent="-285750" algn="just">
              <a:buFont typeface="Wingdings" panose="05000000000000000000" pitchFamily="2" charset="2"/>
              <a:buChar char="§"/>
            </a:pPr>
            <a:r>
              <a:rPr lang="fr-FR" sz="2000" b="1" dirty="0">
                <a:solidFill>
                  <a:srgbClr val="80276C"/>
                </a:solidFill>
                <a:latin typeface="Times New Roman" panose="02020603050405020304" pitchFamily="18" charset="0"/>
                <a:cs typeface="Times New Roman" panose="02020603050405020304" pitchFamily="18" charset="0"/>
              </a:rPr>
              <a:t>Putting </a:t>
            </a:r>
            <a:r>
              <a:rPr lang="fr-FR" sz="2000" b="1" dirty="0" err="1">
                <a:solidFill>
                  <a:srgbClr val="80276C"/>
                </a:solidFill>
                <a:latin typeface="Times New Roman" panose="02020603050405020304" pitchFamily="18" charset="0"/>
                <a:cs typeface="Times New Roman" panose="02020603050405020304" pitchFamily="18" charset="0"/>
              </a:rPr>
              <a:t>together</a:t>
            </a:r>
            <a:r>
              <a:rPr lang="fr-FR" sz="2000" b="1" dirty="0">
                <a:solidFill>
                  <a:srgbClr val="80276C"/>
                </a:solidFill>
                <a:latin typeface="Times New Roman" panose="02020603050405020304" pitchFamily="18" charset="0"/>
                <a:cs typeface="Times New Roman" panose="02020603050405020304" pitchFamily="18" charset="0"/>
              </a:rPr>
              <a:t> a state-of-the-art, a </a:t>
            </a:r>
            <a:r>
              <a:rPr lang="fr-FR" sz="2000" b="1" dirty="0" err="1">
                <a:solidFill>
                  <a:srgbClr val="80276C"/>
                </a:solidFill>
                <a:latin typeface="Times New Roman" panose="02020603050405020304" pitchFamily="18" charset="0"/>
                <a:cs typeface="Times New Roman" panose="02020603050405020304" pitchFamily="18" charset="0"/>
              </a:rPr>
              <a:t>review</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literature</a:t>
            </a:r>
            <a:endParaRPr lang="fr-FR" sz="2000"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Ø"/>
            </a:pPr>
            <a:endParaRPr lang="fr-FR"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ü"/>
            </a:pPr>
            <a:r>
              <a:rPr lang="fr-FR" b="1" dirty="0">
                <a:solidFill>
                  <a:srgbClr val="80276C"/>
                </a:solidFill>
                <a:latin typeface="Times New Roman" panose="02020603050405020304" pitchFamily="18" charset="0"/>
                <a:cs typeface="Times New Roman" panose="02020603050405020304" pitchFamily="18" charset="0"/>
                <a:hlinkClick r:id="rId2"/>
              </a:rPr>
              <a:t>https://www-sciencedirect-com.rp1.ensam.eu/science/article/pii/S0257897218300823</a:t>
            </a:r>
            <a:endParaRPr lang="fr-FR"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ü"/>
            </a:pPr>
            <a:r>
              <a:rPr lang="fr-FR" dirty="0" err="1">
                <a:hlinkClick r:id="rId3"/>
              </a:rPr>
              <a:t>Scopus</a:t>
            </a:r>
            <a:r>
              <a:rPr lang="fr-FR" dirty="0">
                <a:hlinkClick r:id="rId3"/>
              </a:rPr>
              <a:t> - Document Details</a:t>
            </a:r>
            <a:endParaRPr lang="fr-FR" b="1" dirty="0">
              <a:solidFill>
                <a:srgbClr val="80276C"/>
              </a:solidFill>
              <a:latin typeface="Times New Roman" panose="02020603050405020304" pitchFamily="18" charset="0"/>
              <a:cs typeface="Times New Roman" panose="02020603050405020304" pitchFamily="18" charset="0"/>
            </a:endParaRPr>
          </a:p>
          <a:p>
            <a:pPr lvl="1" algn="just"/>
            <a:endParaRPr lang="fr-FR" b="1" dirty="0">
              <a:solidFill>
                <a:srgbClr val="80276C"/>
              </a:solidFill>
              <a:highlight>
                <a:srgbClr val="FFFF00"/>
              </a:highlight>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9E854E2D-1325-4EFD-8F08-E75287B13E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2509" t="18838" r="1610" b="28415"/>
          <a:stretch/>
        </p:blipFill>
        <p:spPr bwMode="auto">
          <a:xfrm>
            <a:off x="8601152" y="2514644"/>
            <a:ext cx="3242321" cy="2642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9357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76F51C-CE7A-4468-B289-A94436602127}"/>
              </a:ext>
            </a:extLst>
          </p:cNvPr>
          <p:cNvSpPr/>
          <p:nvPr/>
        </p:nvSpPr>
        <p:spPr>
          <a:xfrm>
            <a:off x="662319" y="1818599"/>
            <a:ext cx="10521112" cy="4401205"/>
          </a:xfrm>
          <a:prstGeom prst="rect">
            <a:avLst/>
          </a:prstGeom>
        </p:spPr>
        <p:txBody>
          <a:bodyPr wrap="square">
            <a:spAutoFit/>
          </a:bodyPr>
          <a:lstStyle/>
          <a:p>
            <a:pPr marL="285750" indent="-285750">
              <a:buFont typeface="Wingdings" panose="05000000000000000000" pitchFamily="2" charset="2"/>
              <a:buChar char="ü"/>
            </a:pPr>
            <a:r>
              <a:rPr lang="fr-FR" sz="2800" b="1" dirty="0" err="1">
                <a:solidFill>
                  <a:srgbClr val="80276C"/>
                </a:solidFill>
                <a:latin typeface="Times New Roman" panose="02020603050405020304" pitchFamily="18" charset="0"/>
                <a:cs typeface="Times New Roman" panose="02020603050405020304" pitchFamily="18" charset="0"/>
              </a:rPr>
              <a:t>Query</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most</a:t>
            </a:r>
            <a:r>
              <a:rPr lang="fr-FR" sz="2800" b="1" dirty="0">
                <a:solidFill>
                  <a:srgbClr val="80276C"/>
                </a:solidFill>
                <a:latin typeface="Times New Roman" panose="02020603050405020304" pitchFamily="18" charset="0"/>
                <a:cs typeface="Times New Roman" panose="02020603050405020304" pitchFamily="18" charset="0"/>
              </a:rPr>
              <a:t> of the main big </a:t>
            </a:r>
            <a:r>
              <a:rPr lang="fr-FR" sz="2800" b="1" dirty="0" err="1">
                <a:solidFill>
                  <a:srgbClr val="80276C"/>
                </a:solidFill>
                <a:latin typeface="Times New Roman" panose="02020603050405020304" pitchFamily="18" charset="0"/>
                <a:cs typeface="Times New Roman" panose="02020603050405020304" pitchFamily="18" charset="0"/>
              </a:rPr>
              <a:t>databases</a:t>
            </a:r>
            <a:r>
              <a:rPr lang="fr-FR" sz="2800" b="1" dirty="0">
                <a:solidFill>
                  <a:srgbClr val="80276C"/>
                </a:solidFill>
                <a:latin typeface="Times New Roman" panose="02020603050405020304" pitchFamily="18" charset="0"/>
                <a:cs typeface="Times New Roman" panose="02020603050405020304" pitchFamily="18" charset="0"/>
              </a:rPr>
              <a:t> and </a:t>
            </a:r>
            <a:r>
              <a:rPr lang="fr-FR" sz="2800" b="1" dirty="0" err="1">
                <a:solidFill>
                  <a:srgbClr val="80276C"/>
                </a:solidFill>
                <a:latin typeface="Times New Roman" panose="02020603050405020304" pitchFamily="18" charset="0"/>
                <a:cs typeface="Times New Roman" panose="02020603050405020304" pitchFamily="18" charset="0"/>
              </a:rPr>
              <a:t>search</a:t>
            </a:r>
            <a:r>
              <a:rPr lang="fr-FR" sz="2800" b="1" dirty="0">
                <a:solidFill>
                  <a:srgbClr val="80276C"/>
                </a:solidFill>
                <a:latin typeface="Times New Roman" panose="02020603050405020304" pitchFamily="18" charset="0"/>
                <a:cs typeface="Times New Roman" panose="02020603050405020304" pitchFamily="18" charset="0"/>
              </a:rPr>
              <a:t> engines </a:t>
            </a:r>
            <a:r>
              <a:rPr lang="fr-FR" sz="2800" b="1" dirty="0" err="1">
                <a:solidFill>
                  <a:srgbClr val="80276C"/>
                </a:solidFill>
                <a:latin typeface="Times New Roman" panose="02020603050405020304" pitchFamily="18" charset="0"/>
                <a:cs typeface="Times New Roman" panose="02020603050405020304" pitchFamily="18" charset="0"/>
              </a:rPr>
              <a:t>preferably</a:t>
            </a:r>
            <a:r>
              <a:rPr lang="fr-FR" sz="2800" b="1" dirty="0">
                <a:solidFill>
                  <a:srgbClr val="80276C"/>
                </a:solidFill>
                <a:latin typeface="Times New Roman" panose="02020603050405020304" pitchFamily="18" charset="0"/>
                <a:cs typeface="Times New Roman" panose="02020603050405020304" pitchFamily="18" charset="0"/>
              </a:rPr>
              <a:t> in </a:t>
            </a:r>
            <a:r>
              <a:rPr lang="fr-FR" sz="2800" b="1" dirty="0">
                <a:solidFill>
                  <a:schemeClr val="accent4">
                    <a:lumMod val="75000"/>
                  </a:schemeClr>
                </a:solidFill>
                <a:latin typeface="Times New Roman" panose="02020603050405020304" pitchFamily="18" charset="0"/>
                <a:cs typeface="Times New Roman" panose="02020603050405020304" pitchFamily="18" charset="0"/>
              </a:rPr>
              <a:t>English</a:t>
            </a:r>
            <a:r>
              <a:rPr lang="fr-FR" sz="2800" b="1" dirty="0">
                <a:solidFill>
                  <a:srgbClr val="80276C"/>
                </a:solidFill>
                <a:latin typeface="Times New Roman" panose="02020603050405020304" pitchFamily="18" charset="0"/>
                <a:cs typeface="Times New Roman" panose="02020603050405020304" pitchFamily="18" charset="0"/>
              </a:rPr>
              <a:t> and </a:t>
            </a:r>
            <a:r>
              <a:rPr lang="fr-FR" sz="2800" b="1" dirty="0" err="1">
                <a:solidFill>
                  <a:srgbClr val="80276C"/>
                </a:solidFill>
                <a:latin typeface="Times New Roman" panose="02020603050405020304" pitchFamily="18" charset="0"/>
                <a:cs typeface="Times New Roman" panose="02020603050405020304" pitchFamily="18" charset="0"/>
              </a:rPr>
              <a:t>often</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with</a:t>
            </a:r>
            <a:r>
              <a:rPr lang="fr-FR" sz="2800" b="1" dirty="0">
                <a:solidFill>
                  <a:srgbClr val="80276C"/>
                </a:solidFill>
                <a:latin typeface="Times New Roman" panose="02020603050405020304" pitchFamily="18" charset="0"/>
                <a:cs typeface="Times New Roman" panose="02020603050405020304" pitchFamily="18" charset="0"/>
              </a:rPr>
              <a:t> Boolean </a:t>
            </a:r>
            <a:r>
              <a:rPr lang="fr-FR" sz="2800" b="1" dirty="0" err="1">
                <a:solidFill>
                  <a:srgbClr val="80276C"/>
                </a:solidFill>
                <a:latin typeface="Times New Roman" panose="02020603050405020304" pitchFamily="18" charset="0"/>
                <a:cs typeface="Times New Roman" panose="02020603050405020304" pitchFamily="18" charset="0"/>
              </a:rPr>
              <a:t>operators</a:t>
            </a:r>
            <a:r>
              <a:rPr lang="fr-FR" sz="2800" b="1" dirty="0">
                <a:solidFill>
                  <a:srgbClr val="80276C"/>
                </a:solidFill>
                <a:latin typeface="Times New Roman" panose="02020603050405020304" pitchFamily="18" charset="0"/>
                <a:cs typeface="Times New Roman" panose="02020603050405020304" pitchFamily="18" charset="0"/>
              </a:rPr>
              <a:t> in English</a:t>
            </a:r>
          </a:p>
          <a:p>
            <a:r>
              <a:rPr lang="fr-FR" sz="2800" b="1" dirty="0">
                <a:solidFill>
                  <a:srgbClr val="80276C"/>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fr-FR" sz="2800" b="1" dirty="0">
                <a:solidFill>
                  <a:srgbClr val="80276C"/>
                </a:solidFill>
                <a:latin typeface="Times New Roman" panose="02020603050405020304" pitchFamily="18" charset="0"/>
                <a:cs typeface="Times New Roman" panose="02020603050405020304" pitchFamily="18" charset="0"/>
              </a:rPr>
              <a:t>Ex : You </a:t>
            </a:r>
            <a:r>
              <a:rPr lang="fr-FR" sz="2800" b="1" dirty="0" err="1">
                <a:solidFill>
                  <a:srgbClr val="80276C"/>
                </a:solidFill>
                <a:latin typeface="Times New Roman" panose="02020603050405020304" pitchFamily="18" charset="0"/>
                <a:cs typeface="Times New Roman" panose="02020603050405020304" pitchFamily="18" charset="0"/>
              </a:rPr>
              <a:t>should</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query</a:t>
            </a:r>
            <a:r>
              <a:rPr lang="fr-FR" sz="2800" b="1" dirty="0">
                <a:solidFill>
                  <a:srgbClr val="80276C"/>
                </a:solidFill>
                <a:latin typeface="Times New Roman" panose="02020603050405020304" pitchFamily="18" charset="0"/>
                <a:cs typeface="Times New Roman" panose="02020603050405020304" pitchFamily="18" charset="0"/>
              </a:rPr>
              <a:t> Google </a:t>
            </a:r>
            <a:r>
              <a:rPr lang="fr-FR" sz="2800" b="1" dirty="0" err="1">
                <a:solidFill>
                  <a:srgbClr val="80276C"/>
                </a:solidFill>
                <a:latin typeface="Times New Roman" panose="02020603050405020304" pitchFamily="18" charset="0"/>
                <a:cs typeface="Times New Roman" panose="02020603050405020304" pitchFamily="18" charset="0"/>
              </a:rPr>
              <a:t>Scholar’s</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search</a:t>
            </a:r>
            <a:r>
              <a:rPr lang="fr-FR" sz="2800" b="1" dirty="0">
                <a:solidFill>
                  <a:srgbClr val="80276C"/>
                </a:solidFill>
                <a:latin typeface="Times New Roman" panose="02020603050405020304" pitchFamily="18" charset="0"/>
                <a:cs typeface="Times New Roman" panose="02020603050405020304" pitchFamily="18" charset="0"/>
              </a:rPr>
              <a:t> engine in English. </a:t>
            </a:r>
            <a:br>
              <a:rPr lang="fr-FR" sz="2800" b="1" dirty="0">
                <a:solidFill>
                  <a:srgbClr val="80276C"/>
                </a:solidFill>
                <a:latin typeface="Times New Roman" panose="02020603050405020304" pitchFamily="18" charset="0"/>
                <a:cs typeface="Times New Roman" panose="02020603050405020304" pitchFamily="18" charset="0"/>
              </a:rPr>
            </a:br>
            <a:br>
              <a:rPr lang="fr-FR" sz="2800" b="1" dirty="0">
                <a:solidFill>
                  <a:srgbClr val="80276C"/>
                </a:solidFill>
                <a:latin typeface="Times New Roman" panose="02020603050405020304" pitchFamily="18" charset="0"/>
                <a:cs typeface="Times New Roman" panose="02020603050405020304" pitchFamily="18" charset="0"/>
              </a:rPr>
            </a:br>
            <a:r>
              <a:rPr lang="fr-FR" sz="2800" b="1" dirty="0" err="1">
                <a:solidFill>
                  <a:srgbClr val="80276C"/>
                </a:solidFill>
                <a:latin typeface="Times New Roman" panose="02020603050405020304" pitchFamily="18" charset="0"/>
                <a:cs typeface="Times New Roman" panose="02020603050405020304" pitchFamily="18" charset="0"/>
              </a:rPr>
              <a:t>Purely</a:t>
            </a:r>
            <a:r>
              <a:rPr lang="fr-FR" sz="2800" b="1" dirty="0">
                <a:solidFill>
                  <a:srgbClr val="80276C"/>
                </a:solidFill>
                <a:latin typeface="Times New Roman" panose="02020603050405020304" pitchFamily="18" charset="0"/>
                <a:cs typeface="Times New Roman" panose="02020603050405020304" pitchFamily="18" charset="0"/>
              </a:rPr>
              <a:t> French </a:t>
            </a:r>
            <a:r>
              <a:rPr lang="fr-FR" sz="2800" b="1" i="1" dirty="0">
                <a:solidFill>
                  <a:srgbClr val="80276C"/>
                </a:solidFill>
                <a:latin typeface="Times New Roman" panose="02020603050405020304" pitchFamily="18" charset="0"/>
                <a:cs typeface="Times New Roman" panose="02020603050405020304" pitchFamily="18" charset="0"/>
              </a:rPr>
              <a:t>Techniques de l’ingénieur </a:t>
            </a:r>
            <a:r>
              <a:rPr lang="fr-FR" sz="2800" b="1" dirty="0" err="1">
                <a:solidFill>
                  <a:srgbClr val="80276C"/>
                </a:solidFill>
                <a:latin typeface="Times New Roman" panose="02020603050405020304" pitchFamily="18" charset="0"/>
                <a:cs typeface="Times New Roman" panose="02020603050405020304" pitchFamily="18" charset="0"/>
              </a:rPr>
              <a:t>database</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is</a:t>
            </a:r>
            <a:r>
              <a:rPr lang="fr-FR" sz="2800" b="1" dirty="0">
                <a:solidFill>
                  <a:srgbClr val="80276C"/>
                </a:solidFill>
                <a:latin typeface="Times New Roman" panose="02020603050405020304" pitchFamily="18" charset="0"/>
                <a:cs typeface="Times New Roman" panose="02020603050405020304" pitchFamily="18" charset="0"/>
              </a:rPr>
              <a:t> an exception to the </a:t>
            </a:r>
            <a:r>
              <a:rPr lang="fr-FR" sz="2800" b="1" dirty="0" err="1">
                <a:solidFill>
                  <a:srgbClr val="80276C"/>
                </a:solidFill>
                <a:latin typeface="Times New Roman" panose="02020603050405020304" pitchFamily="18" charset="0"/>
                <a:cs typeface="Times New Roman" panose="02020603050405020304" pitchFamily="18" charset="0"/>
              </a:rPr>
              <a:t>rule</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even</a:t>
            </a:r>
            <a:r>
              <a:rPr lang="fr-FR" sz="2800" b="1" dirty="0">
                <a:solidFill>
                  <a:srgbClr val="80276C"/>
                </a:solidFill>
                <a:latin typeface="Times New Roman" panose="02020603050405020304" pitchFamily="18" charset="0"/>
                <a:cs typeface="Times New Roman" panose="02020603050405020304" pitchFamily="18" charset="0"/>
              </a:rPr>
              <a:t> if the </a:t>
            </a:r>
            <a:r>
              <a:rPr lang="fr-FR" sz="2800" b="1" dirty="0" err="1">
                <a:solidFill>
                  <a:srgbClr val="80276C"/>
                </a:solidFill>
                <a:latin typeface="Times New Roman" panose="02020603050405020304" pitchFamily="18" charset="0"/>
                <a:cs typeface="Times New Roman" panose="02020603050405020304" pitchFamily="18" charset="0"/>
              </a:rPr>
              <a:t>reference</a:t>
            </a:r>
            <a:r>
              <a:rPr lang="fr-FR" sz="2800" b="1" dirty="0">
                <a:solidFill>
                  <a:srgbClr val="80276C"/>
                </a:solidFill>
                <a:latin typeface="Times New Roman" panose="02020603050405020304" pitchFamily="18" charset="0"/>
                <a:cs typeface="Times New Roman" panose="02020603050405020304" pitchFamily="18" charset="0"/>
              </a:rPr>
              <a:t> articles have been </a:t>
            </a:r>
            <a:r>
              <a:rPr lang="fr-FR" sz="2800" b="1" dirty="0" err="1">
                <a:solidFill>
                  <a:srgbClr val="80276C"/>
                </a:solidFill>
                <a:latin typeface="Times New Roman" panose="02020603050405020304" pitchFamily="18" charset="0"/>
                <a:cs typeface="Times New Roman" panose="02020603050405020304" pitchFamily="18" charset="0"/>
              </a:rPr>
              <a:t>translated</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into</a:t>
            </a:r>
            <a:r>
              <a:rPr lang="fr-FR" sz="2800" b="1" dirty="0">
                <a:solidFill>
                  <a:srgbClr val="80276C"/>
                </a:solidFill>
                <a:latin typeface="Times New Roman" panose="02020603050405020304" pitchFamily="18" charset="0"/>
                <a:cs typeface="Times New Roman" panose="02020603050405020304" pitchFamily="18" charset="0"/>
              </a:rPr>
              <a:t> English </a:t>
            </a:r>
            <a:r>
              <a:rPr lang="fr-FR" sz="2800" b="1" dirty="0" err="1">
                <a:solidFill>
                  <a:srgbClr val="80276C"/>
                </a:solidFill>
                <a:latin typeface="Times New Roman" panose="02020603050405020304" pitchFamily="18" charset="0"/>
                <a:cs typeface="Times New Roman" panose="02020603050405020304" pitchFamily="18" charset="0"/>
              </a:rPr>
              <a:t>since</a:t>
            </a:r>
            <a:r>
              <a:rPr lang="fr-FR" sz="2800" b="1" dirty="0">
                <a:solidFill>
                  <a:srgbClr val="80276C"/>
                </a:solidFill>
                <a:latin typeface="Times New Roman" panose="02020603050405020304" pitchFamily="18" charset="0"/>
                <a:cs typeface="Times New Roman" panose="02020603050405020304" pitchFamily="18" charset="0"/>
              </a:rPr>
              <a:t> 2024 (but </a:t>
            </a:r>
            <a:r>
              <a:rPr lang="fr-FR" sz="2800" b="1" dirty="0" err="1">
                <a:solidFill>
                  <a:srgbClr val="80276C"/>
                </a:solidFill>
                <a:latin typeface="Times New Roman" panose="02020603050405020304" pitchFamily="18" charset="0"/>
                <a:cs typeface="Times New Roman" panose="02020603050405020304" pitchFamily="18" charset="0"/>
              </a:rPr>
              <a:t>be</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careful</a:t>
            </a:r>
            <a:r>
              <a:rPr lang="fr-FR" sz="2800" b="1" dirty="0">
                <a:solidFill>
                  <a:srgbClr val="80276C"/>
                </a:solidFill>
                <a:latin typeface="Times New Roman" panose="02020603050405020304" pitchFamily="18" charset="0"/>
                <a:cs typeface="Times New Roman" panose="02020603050405020304" pitchFamily="18" charset="0"/>
              </a:rPr>
              <a:t> about the translation). </a:t>
            </a:r>
          </a:p>
        </p:txBody>
      </p:sp>
      <p:sp>
        <p:nvSpPr>
          <p:cNvPr id="4" name="Titre 1">
            <a:extLst>
              <a:ext uri="{FF2B5EF4-FFF2-40B4-BE49-F238E27FC236}">
                <a16:creationId xmlns:a16="http://schemas.microsoft.com/office/drawing/2014/main" id="{D25834DB-5A92-4770-B084-D7729AF6F78F}"/>
              </a:ext>
            </a:extLst>
          </p:cNvPr>
          <p:cNvSpPr txBox="1">
            <a:spLocks/>
          </p:cNvSpPr>
          <p:nvPr/>
        </p:nvSpPr>
        <p:spPr>
          <a:xfrm>
            <a:off x="662319" y="538560"/>
            <a:ext cx="10640090" cy="6943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dirty="0">
                <a:solidFill>
                  <a:srgbClr val="80276C"/>
                </a:solidFill>
                <a:latin typeface="Times New Roman" panose="02020603050405020304" pitchFamily="18" charset="0"/>
                <a:cs typeface="Times New Roman" panose="02020603050405020304" pitchFamily="18" charset="0"/>
              </a:rPr>
              <a:t>The </a:t>
            </a:r>
            <a:r>
              <a:rPr lang="fr-FR" sz="3200" b="1" dirty="0" err="1">
                <a:solidFill>
                  <a:srgbClr val="80276C"/>
                </a:solidFill>
                <a:latin typeface="Times New Roman" panose="02020603050405020304" pitchFamily="18" charset="0"/>
                <a:cs typeface="Times New Roman" panose="02020603050405020304" pitchFamily="18" charset="0"/>
              </a:rPr>
              <a:t>globalization</a:t>
            </a:r>
            <a:r>
              <a:rPr lang="fr-FR" sz="3200" b="1" dirty="0">
                <a:solidFill>
                  <a:srgbClr val="80276C"/>
                </a:solidFill>
                <a:latin typeface="Times New Roman" panose="02020603050405020304" pitchFamily="18" charset="0"/>
                <a:cs typeface="Times New Roman" panose="02020603050405020304" pitchFamily="18" charset="0"/>
              </a:rPr>
              <a:t> of Scientific and </a:t>
            </a:r>
            <a:r>
              <a:rPr lang="fr-FR" sz="3200" b="1" dirty="0" err="1">
                <a:solidFill>
                  <a:srgbClr val="80276C"/>
                </a:solidFill>
                <a:latin typeface="Times New Roman" panose="02020603050405020304" pitchFamily="18" charset="0"/>
                <a:cs typeface="Times New Roman" panose="02020603050405020304" pitchFamily="18" charset="0"/>
              </a:rPr>
              <a:t>Technical</a:t>
            </a:r>
            <a:r>
              <a:rPr lang="fr-FR" sz="3200" b="1" dirty="0">
                <a:solidFill>
                  <a:srgbClr val="80276C"/>
                </a:solidFill>
                <a:latin typeface="Times New Roman" panose="02020603050405020304" pitchFamily="18" charset="0"/>
                <a:cs typeface="Times New Roman" panose="02020603050405020304" pitchFamily="18" charset="0"/>
              </a:rPr>
              <a:t> Information :</a:t>
            </a:r>
            <a:r>
              <a:rPr lang="fr-FR" sz="3200" dirty="0">
                <a:solidFill>
                  <a:srgbClr val="80276C"/>
                </a:solidFill>
                <a:latin typeface="Times New Roman" panose="02020603050405020304" pitchFamily="18" charset="0"/>
                <a:cs typeface="Times New Roman" panose="02020603050405020304" pitchFamily="18" charset="0"/>
              </a:rPr>
              <a:t> </a:t>
            </a:r>
            <a:r>
              <a:rPr lang="fr-FR" sz="3200" dirty="0" err="1">
                <a:solidFill>
                  <a:srgbClr val="80276C"/>
                </a:solidFill>
                <a:latin typeface="Times New Roman" panose="02020603050405020304" pitchFamily="18" charset="0"/>
                <a:cs typeface="Times New Roman" panose="02020603050405020304" pitchFamily="18" charset="0"/>
              </a:rPr>
              <a:t>carried</a:t>
            </a:r>
            <a:r>
              <a:rPr lang="fr-FR" sz="3200" dirty="0">
                <a:solidFill>
                  <a:srgbClr val="80276C"/>
                </a:solidFill>
                <a:latin typeface="Times New Roman" panose="02020603050405020304" pitchFamily="18" charset="0"/>
                <a:cs typeface="Times New Roman" panose="02020603050405020304" pitchFamily="18" charset="0"/>
              </a:rPr>
              <a:t> out on a </a:t>
            </a:r>
            <a:r>
              <a:rPr lang="fr-FR" sz="3200" b="1" dirty="0">
                <a:solidFill>
                  <a:srgbClr val="80276C"/>
                </a:solidFill>
                <a:latin typeface="Times New Roman" panose="02020603050405020304" pitchFamily="18" charset="0"/>
                <a:cs typeface="Times New Roman" panose="02020603050405020304" pitchFamily="18" charset="0"/>
              </a:rPr>
              <a:t>world-</a:t>
            </a:r>
            <a:r>
              <a:rPr lang="fr-FR" sz="3200" b="1" dirty="0" err="1">
                <a:solidFill>
                  <a:srgbClr val="80276C"/>
                </a:solidFill>
                <a:latin typeface="Times New Roman" panose="02020603050405020304" pitchFamily="18" charset="0"/>
                <a:cs typeface="Times New Roman" panose="02020603050405020304" pitchFamily="18" charset="0"/>
              </a:rPr>
              <a:t>wide</a:t>
            </a:r>
            <a:r>
              <a:rPr lang="fr-FR" sz="3200" b="1" dirty="0">
                <a:solidFill>
                  <a:srgbClr val="80276C"/>
                </a:solidFill>
                <a:latin typeface="Times New Roman" panose="02020603050405020304" pitchFamily="18" charset="0"/>
                <a:cs typeface="Times New Roman" panose="02020603050405020304" pitchFamily="18" charset="0"/>
              </a:rPr>
              <a:t> </a:t>
            </a:r>
            <a:r>
              <a:rPr lang="fr-FR" sz="3200" b="1" dirty="0" err="1">
                <a:solidFill>
                  <a:srgbClr val="80276C"/>
                </a:solidFill>
                <a:latin typeface="Times New Roman" panose="02020603050405020304" pitchFamily="18" charset="0"/>
                <a:cs typeface="Times New Roman" panose="02020603050405020304" pitchFamily="18" charset="0"/>
              </a:rPr>
              <a:t>scale</a:t>
            </a:r>
            <a:r>
              <a:rPr lang="fr-FR" sz="3200" b="1" dirty="0">
                <a:solidFill>
                  <a:srgbClr val="80276C"/>
                </a:solidFill>
                <a:latin typeface="Times New Roman" panose="02020603050405020304" pitchFamily="18" charset="0"/>
                <a:cs typeface="Times New Roman" panose="02020603050405020304" pitchFamily="18" charset="0"/>
              </a:rPr>
              <a:t> </a:t>
            </a:r>
            <a:endParaRPr lang="fr-FR" dirty="0">
              <a:solidFill>
                <a:srgbClr val="80276C"/>
              </a:solidFill>
            </a:endParaRPr>
          </a:p>
        </p:txBody>
      </p:sp>
    </p:spTree>
    <p:extLst>
      <p:ext uri="{BB962C8B-B14F-4D97-AF65-F5344CB8AC3E}">
        <p14:creationId xmlns:p14="http://schemas.microsoft.com/office/powerpoint/2010/main" val="3073694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DCB13CBE-8B91-4290-A5A2-D0A5B5DE1E21}"/>
              </a:ext>
            </a:extLst>
          </p:cNvPr>
          <p:cNvSpPr txBox="1">
            <a:spLocks/>
          </p:cNvSpPr>
          <p:nvPr/>
        </p:nvSpPr>
        <p:spPr>
          <a:xfrm>
            <a:off x="503421" y="439769"/>
            <a:ext cx="10366140" cy="69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dirty="0">
                <a:solidFill>
                  <a:srgbClr val="80276C"/>
                </a:solidFill>
                <a:latin typeface="Times New Roman" panose="02020603050405020304" pitchFamily="18" charset="0"/>
                <a:cs typeface="Times New Roman" panose="02020603050405020304" pitchFamily="18" charset="0"/>
              </a:rPr>
              <a:t>The promotion of </a:t>
            </a:r>
            <a:r>
              <a:rPr lang="fr-FR" sz="2800" dirty="0" err="1">
                <a:solidFill>
                  <a:srgbClr val="80276C"/>
                </a:solidFill>
                <a:latin typeface="Times New Roman" panose="02020603050405020304" pitchFamily="18" charset="0"/>
                <a:cs typeface="Times New Roman" panose="02020603050405020304" pitchFamily="18" charset="0"/>
              </a:rPr>
              <a:t>knowledge</a:t>
            </a:r>
            <a:r>
              <a:rPr lang="fr-FR" sz="2800" dirty="0">
                <a:solidFill>
                  <a:srgbClr val="80276C"/>
                </a:solidFill>
                <a:latin typeface="Times New Roman" panose="02020603050405020304" pitchFamily="18" charset="0"/>
                <a:cs typeface="Times New Roman" panose="02020603050405020304" pitchFamily="18" charset="0"/>
              </a:rPr>
              <a:t> via </a:t>
            </a:r>
            <a:r>
              <a:rPr lang="fr-FR" sz="28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the </a:t>
            </a:r>
            <a:r>
              <a:rPr lang="fr-FR" sz="28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library</a:t>
            </a:r>
            <a:r>
              <a:rPr lang="fr-FR" sz="28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portal of Arts et </a:t>
            </a:r>
            <a:r>
              <a:rPr lang="fr-FR" sz="28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Metiers</a:t>
            </a:r>
            <a:r>
              <a:rPr lang="fr-FR" sz="28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8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campuses</a:t>
            </a:r>
            <a:endParaRPr lang="fr-FR" sz="2800" dirty="0">
              <a:solidFill>
                <a:srgbClr val="80276C"/>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9EAB03D3-D2A0-4CED-8E92-7F8938D0A640}"/>
              </a:ext>
            </a:extLst>
          </p:cNvPr>
          <p:cNvSpPr txBox="1"/>
          <p:nvPr/>
        </p:nvSpPr>
        <p:spPr>
          <a:xfrm>
            <a:off x="622293" y="1646203"/>
            <a:ext cx="11018019" cy="3170099"/>
          </a:xfrm>
          <a:prstGeom prst="rect">
            <a:avLst/>
          </a:prstGeom>
          <a:noFill/>
        </p:spPr>
        <p:txBody>
          <a:bodyPr wrap="square" rtlCol="0">
            <a:spAutoFit/>
          </a:bodyPr>
          <a:lstStyle/>
          <a:p>
            <a:pPr marL="342900" indent="-342900" algn="just">
              <a:buFont typeface="Wingdings" panose="05000000000000000000" pitchFamily="2" charset="2"/>
              <a:buChar char="ü"/>
            </a:pPr>
            <a:r>
              <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The </a:t>
            </a:r>
            <a:r>
              <a:rPr lang="fr-FR" sz="20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library</a:t>
            </a:r>
            <a:r>
              <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portal of Arts et </a:t>
            </a:r>
            <a:r>
              <a:rPr lang="fr-FR" sz="20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Metiers</a:t>
            </a:r>
            <a:r>
              <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campuses</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is</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a:t>
            </a:r>
            <a:r>
              <a:rPr lang="fr-FR" sz="2000" b="1"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FF0000"/>
                </a:solidFill>
                <a:latin typeface="Times New Roman" panose="02020603050405020304" pitchFamily="18" charset="0"/>
                <a:ea typeface="Verdana" panose="020B0604030504040204" pitchFamily="34" charset="0"/>
                <a:cs typeface="Times New Roman" panose="02020603050405020304" pitchFamily="18" charset="0"/>
              </a:rPr>
              <a:t>prerequisite</a:t>
            </a:r>
            <a:r>
              <a:rPr lang="fr-FR" sz="2000" b="1"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for </a:t>
            </a:r>
            <a:r>
              <a:rPr lang="fr-FR" sz="2000" b="1" dirty="0" err="1">
                <a:solidFill>
                  <a:srgbClr val="FF0000"/>
                </a:solidFill>
                <a:latin typeface="Times New Roman" panose="02020603050405020304" pitchFamily="18" charset="0"/>
                <a:ea typeface="Verdana" panose="020B0604030504040204" pitchFamily="34" charset="0"/>
                <a:cs typeface="Times New Roman" panose="02020603050405020304" pitchFamily="18" charset="0"/>
              </a:rPr>
              <a:t>you</a:t>
            </a:r>
            <a:r>
              <a:rPr lang="fr-FR" sz="2000" b="1"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to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make</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documentary</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monitoring or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literature</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searches</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to look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into</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its</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t>
            </a:r>
            <a:r>
              <a:rPr lang="fr-FR" sz="2000" b="1" dirty="0" err="1">
                <a:solidFill>
                  <a:srgbClr val="80276C"/>
                </a:solidFill>
                <a:latin typeface="Times New Roman" panose="02020603050405020304" pitchFamily="18" charset="0"/>
                <a:ea typeface="Verdana" panose="020B0604030504040204" pitchFamily="34" charset="0"/>
                <a:cs typeface="Times New Roman" panose="02020603050405020304" pitchFamily="18" charset="0"/>
              </a:rPr>
              <a:t>databases</a:t>
            </a:r>
            <a:r>
              <a:rPr lang="fr-FR" sz="2000" b="1" dirty="0">
                <a:solidFill>
                  <a:srgbClr val="80276C"/>
                </a:solidFill>
                <a:latin typeface="Times New Roman" panose="02020603050405020304" pitchFamily="18" charset="0"/>
                <a:ea typeface="Verdana" panose="020B0604030504040204" pitchFamily="34" charset="0"/>
                <a:cs typeface="Times New Roman" panose="02020603050405020304" pitchFamily="18" charset="0"/>
              </a:rPr>
              <a:t> and to look  for a document : </a:t>
            </a:r>
          </a:p>
          <a:p>
            <a:pPr marL="342900" indent="-342900" algn="just">
              <a:buFont typeface="Wingdings" panose="05000000000000000000" pitchFamily="2" charset="2"/>
              <a:buChar char="v"/>
            </a:pPr>
            <a:endPar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endParaRPr>
          </a:p>
          <a:p>
            <a:pPr algn="ctr"/>
            <a:r>
              <a:rPr lang="fr-FR" sz="2000" b="1" dirty="0">
                <a:solidFill>
                  <a:srgbClr val="FF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https://atrium.ensam.eu/</a:t>
            </a:r>
            <a:endPar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endParaRPr>
          </a:p>
          <a:p>
            <a:pPr marL="342900" indent="-342900" algn="just">
              <a:buFont typeface="Wingdings" panose="05000000000000000000" pitchFamily="2" charset="2"/>
              <a:buChar char="v"/>
            </a:pPr>
            <a:endParaRPr lang="fr-FR" sz="2000" dirty="0">
              <a:solidFill>
                <a:srgbClr val="80276C"/>
              </a:solidFill>
              <a:latin typeface="Times New Roman" panose="02020603050405020304" pitchFamily="18" charset="0"/>
              <a:ea typeface="Verdana" panose="020B0604030504040204" pitchFamily="34"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Sources, </a:t>
            </a:r>
            <a:r>
              <a:rPr lang="fr-FR" sz="2000" b="1" dirty="0" err="1">
                <a:solidFill>
                  <a:srgbClr val="80276C"/>
                </a:solidFill>
                <a:latin typeface="Times New Roman" panose="02020603050405020304" pitchFamily="18" charset="0"/>
                <a:cs typeface="Times New Roman" panose="02020603050405020304" pitchFamily="18" charset="0"/>
              </a:rPr>
              <a:t>tools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databases</a:t>
            </a:r>
            <a:r>
              <a:rPr lang="fr-FR" sz="2000" b="1" dirty="0">
                <a:solidFill>
                  <a:srgbClr val="80276C"/>
                </a:solidFill>
                <a:latin typeface="Times New Roman" panose="02020603050405020304" pitchFamily="18" charset="0"/>
                <a:cs typeface="Times New Roman" panose="02020603050405020304" pitchFamily="18" charset="0"/>
              </a:rPr>
              <a:t> (patents, standards, </a:t>
            </a:r>
            <a:r>
              <a:rPr lang="fr-FR" sz="2000" b="1" dirty="0" err="1">
                <a:solidFill>
                  <a:srgbClr val="80276C"/>
                </a:solidFill>
                <a:latin typeface="Times New Roman" panose="02020603050405020304" pitchFamily="18" charset="0"/>
                <a:cs typeface="Times New Roman" panose="02020603050405020304" pitchFamily="18" charset="0"/>
              </a:rPr>
              <a:t>molecules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alloy</a:t>
            </a:r>
            <a:r>
              <a:rPr lang="fr-FR" sz="2000" b="1" dirty="0">
                <a:solidFill>
                  <a:srgbClr val="80276C"/>
                </a:solidFill>
                <a:latin typeface="Times New Roman" panose="02020603050405020304" pitchFamily="18" charset="0"/>
                <a:cs typeface="Times New Roman" panose="02020603050405020304" pitchFamily="18" charset="0"/>
              </a:rPr>
              <a:t> grades) </a:t>
            </a:r>
            <a:r>
              <a:rPr lang="fr-FR" sz="2000" b="1" dirty="0" err="1">
                <a:solidFill>
                  <a:srgbClr val="80276C"/>
                </a:solidFill>
                <a:latin typeface="Times New Roman" panose="02020603050405020304" pitchFamily="18" charset="0"/>
                <a:cs typeface="Times New Roman" panose="02020603050405020304" pitchFamily="18" charset="0"/>
              </a:rPr>
              <a:t>private</a:t>
            </a:r>
            <a:r>
              <a:rPr lang="fr-FR" sz="2000" b="1" dirty="0">
                <a:solidFill>
                  <a:srgbClr val="80276C"/>
                </a:solidFill>
                <a:latin typeface="Times New Roman" panose="02020603050405020304" pitchFamily="18" charset="0"/>
                <a:cs typeface="Times New Roman" panose="02020603050405020304" pitchFamily="18" charset="0"/>
              </a:rPr>
              <a:t> and public servers, </a:t>
            </a:r>
            <a:r>
              <a:rPr lang="fr-FR" sz="2000" b="1" dirty="0" err="1">
                <a:solidFill>
                  <a:srgbClr val="80276C"/>
                </a:solidFill>
                <a:latin typeface="Times New Roman" panose="02020603050405020304" pitchFamily="18" charset="0"/>
                <a:cs typeface="Times New Roman" panose="02020603050405020304" pitchFamily="18" charset="0"/>
              </a:rPr>
              <a:t>websites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hyperlinks</a:t>
            </a:r>
            <a:r>
              <a:rPr lang="fr-FR" sz="2000" b="1" dirty="0">
                <a:solidFill>
                  <a:srgbClr val="80276C"/>
                </a:solidFill>
                <a:latin typeface="Times New Roman" panose="02020603050405020304" pitchFamily="18" charset="0"/>
                <a:cs typeface="Times New Roman" panose="02020603050405020304" pitchFamily="18" charset="0"/>
              </a:rPr>
              <a:t>…..	</a:t>
            </a:r>
            <a:endParaRPr lang="fr-FR" sz="2000" b="1" dirty="0">
              <a:solidFill>
                <a:srgbClr val="0070C0"/>
              </a:solidFill>
              <a:latin typeface="Times New Roman" panose="02020603050405020304" pitchFamily="18" charset="0"/>
              <a:cs typeface="Times New Roman" panose="02020603050405020304" pitchFamily="18" charset="0"/>
            </a:endParaRPr>
          </a:p>
          <a:p>
            <a:pPr algn="ctr"/>
            <a:endParaRPr lang="fr-FR" sz="2000" b="1" dirty="0">
              <a:solidFill>
                <a:srgbClr val="0070C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Typical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dissemination</a:t>
            </a:r>
            <a:r>
              <a:rPr lang="fr-FR" sz="2000" b="1" dirty="0">
                <a:solidFill>
                  <a:srgbClr val="80276C"/>
                </a:solidFill>
                <a:latin typeface="Times New Roman" panose="02020603050405020304" pitchFamily="18" charset="0"/>
                <a:cs typeface="Times New Roman" panose="02020603050405020304" pitchFamily="18" charset="0"/>
              </a:rPr>
              <a:t>, promotion and </a:t>
            </a:r>
            <a:r>
              <a:rPr lang="fr-FR" sz="2000" b="1" dirty="0" err="1">
                <a:solidFill>
                  <a:srgbClr val="80276C"/>
                </a:solidFill>
                <a:latin typeface="Times New Roman" panose="02020603050405020304" pitchFamily="18" charset="0"/>
                <a:cs typeface="Times New Roman" panose="02020603050405020304" pitchFamily="18" charset="0"/>
              </a:rPr>
              <a:t>enhancement</a:t>
            </a:r>
            <a:r>
              <a:rPr lang="fr-FR" sz="2000" b="1" dirty="0">
                <a:solidFill>
                  <a:srgbClr val="80276C"/>
                </a:solidFill>
                <a:latin typeface="Times New Roman" panose="02020603050405020304" pitchFamily="18" charset="0"/>
                <a:cs typeface="Times New Roman" panose="02020603050405020304" pitchFamily="18" charset="0"/>
              </a:rPr>
              <a:t> modes, </a:t>
            </a:r>
            <a:r>
              <a:rPr lang="fr-FR" sz="2000" b="1" dirty="0" err="1">
                <a:solidFill>
                  <a:srgbClr val="80276C"/>
                </a:solidFill>
                <a:latin typeface="Times New Roman" panose="02020603050405020304" pitchFamily="18" charset="0"/>
                <a:cs typeface="Times New Roman" panose="02020603050405020304" pitchFamily="18" charset="0"/>
              </a:rPr>
              <a:t>paid</a:t>
            </a:r>
            <a:r>
              <a:rPr lang="fr-FR" sz="2000" b="1" dirty="0">
                <a:solidFill>
                  <a:srgbClr val="80276C"/>
                </a:solidFill>
                <a:latin typeface="Times New Roman" panose="02020603050405020304" pitchFamily="18" charset="0"/>
                <a:cs typeface="Times New Roman" panose="02020603050405020304" pitchFamily="18" charset="0"/>
              </a:rPr>
              <a:t> servers, Open Science archives, </a:t>
            </a:r>
            <a:r>
              <a:rPr lang="fr-FR" sz="2000" b="1" dirty="0" err="1">
                <a:solidFill>
                  <a:srgbClr val="80276C"/>
                </a:solidFill>
                <a:latin typeface="Times New Roman" panose="02020603050405020304" pitchFamily="18" charset="0"/>
                <a:cs typeface="Times New Roman" panose="02020603050405020304" pitchFamily="18" charset="0"/>
              </a:rPr>
              <a:t>academic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engines,  </a:t>
            </a:r>
            <a:r>
              <a:rPr lang="fr-FR" sz="2000" b="1" dirty="0" err="1">
                <a:solidFill>
                  <a:srgbClr val="80276C"/>
                </a:solidFill>
                <a:latin typeface="Times New Roman" panose="02020603050405020304" pitchFamily="18" charset="0"/>
                <a:cs typeface="Times New Roman" panose="02020603050405020304" pitchFamily="18" charset="0"/>
              </a:rPr>
              <a:t>scientific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events</a:t>
            </a:r>
            <a:r>
              <a:rPr lang="fr-FR" sz="2000" b="1" dirty="0">
                <a:solidFill>
                  <a:srgbClr val="80276C"/>
                </a:solidFill>
                <a:latin typeface="Times New Roman" panose="02020603050405020304" pitchFamily="18" charset="0"/>
                <a:cs typeface="Times New Roman" panose="02020603050405020304" pitchFamily="18" charset="0"/>
              </a:rPr>
              <a:t> and exhibitions …</a:t>
            </a:r>
          </a:p>
        </p:txBody>
      </p:sp>
    </p:spTree>
    <p:extLst>
      <p:ext uri="{BB962C8B-B14F-4D97-AF65-F5344CB8AC3E}">
        <p14:creationId xmlns:p14="http://schemas.microsoft.com/office/powerpoint/2010/main" val="2715286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A33B0-0C57-8121-253E-F5BC43DC6FE6}"/>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49470EF5-E5D3-37FC-FBA5-D06EF7D90BDF}"/>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7" name="ZoneTexte 6">
            <a:extLst>
              <a:ext uri="{FF2B5EF4-FFF2-40B4-BE49-F238E27FC236}">
                <a16:creationId xmlns:a16="http://schemas.microsoft.com/office/drawing/2014/main" id="{42B67FA5-5715-40C0-54A5-85559263E072}"/>
              </a:ext>
            </a:extLst>
          </p:cNvPr>
          <p:cNvSpPr txBox="1"/>
          <p:nvPr/>
        </p:nvSpPr>
        <p:spPr>
          <a:xfrm>
            <a:off x="3215109" y="371905"/>
            <a:ext cx="5242973" cy="430887"/>
          </a:xfrm>
          <a:prstGeom prst="rect">
            <a:avLst/>
          </a:prstGeom>
          <a:noFill/>
        </p:spPr>
        <p:txBody>
          <a:bodyPr wrap="square" rtlCol="0">
            <a:spAutoFit/>
          </a:bodyPr>
          <a:lstStyle/>
          <a:p>
            <a:pPr algn="ctr"/>
            <a:r>
              <a:rPr lang="fr-FR" sz="2200" b="1" dirty="0">
                <a:solidFill>
                  <a:schemeClr val="accent2">
                    <a:lumMod val="75000"/>
                  </a:schemeClr>
                </a:solidFill>
                <a:latin typeface="Verdana" panose="020B0604030504040204" pitchFamily="34" charset="0"/>
                <a:ea typeface="Verdana" panose="020B0604030504040204" pitchFamily="34" charset="0"/>
              </a:rPr>
              <a:t>https://www.sudoc.abes.fr/</a:t>
            </a:r>
          </a:p>
        </p:txBody>
      </p:sp>
      <p:sp>
        <p:nvSpPr>
          <p:cNvPr id="4" name="ZoneTexte 3">
            <a:extLst>
              <a:ext uri="{FF2B5EF4-FFF2-40B4-BE49-F238E27FC236}">
                <a16:creationId xmlns:a16="http://schemas.microsoft.com/office/drawing/2014/main" id="{8F5E95B9-023B-6273-D67F-CCEDAA132197}"/>
              </a:ext>
            </a:extLst>
          </p:cNvPr>
          <p:cNvSpPr txBox="1"/>
          <p:nvPr/>
        </p:nvSpPr>
        <p:spPr>
          <a:xfrm>
            <a:off x="0" y="815819"/>
            <a:ext cx="12192000" cy="646331"/>
          </a:xfrm>
          <a:prstGeom prst="rect">
            <a:avLst/>
          </a:prstGeom>
          <a:noFill/>
        </p:spPr>
        <p:txBody>
          <a:bodyPr wrap="square" rtlCol="0">
            <a:spAutoFit/>
          </a:bodyPr>
          <a:lstStyle/>
          <a:p>
            <a:pPr algn="ctr"/>
            <a:r>
              <a:rPr lang="fr-FR" dirty="0" err="1">
                <a:latin typeface="Verdana" panose="020B0604030504040204" pitchFamily="34" charset="0"/>
                <a:ea typeface="Verdana" panose="020B0604030504040204" pitchFamily="34" charset="0"/>
                <a:sym typeface="Wingdings" panose="05000000000000000000" pitchFamily="2" charset="2"/>
              </a:rPr>
              <a:t>Higher</a:t>
            </a:r>
            <a:r>
              <a:rPr lang="fr-FR" dirty="0">
                <a:latin typeface="Verdana" panose="020B0604030504040204" pitchFamily="34" charset="0"/>
                <a:ea typeface="Verdana" panose="020B0604030504040204" pitchFamily="34" charset="0"/>
                <a:sym typeface="Wingdings" panose="05000000000000000000" pitchFamily="2" charset="2"/>
              </a:rPr>
              <a:t> Education Union Catalogue</a:t>
            </a:r>
            <a:br>
              <a:rPr lang="fr-FR" dirty="0">
                <a:latin typeface="Verdana" panose="020B0604030504040204" pitchFamily="34" charset="0"/>
                <a:ea typeface="Verdana" panose="020B0604030504040204" pitchFamily="34" charset="0"/>
                <a:sym typeface="Wingdings" panose="05000000000000000000" pitchFamily="2" charset="2"/>
              </a:rPr>
            </a:br>
            <a:r>
              <a:rPr lang="fr-FR" dirty="0">
                <a:latin typeface="Verdana" panose="020B0604030504040204" pitchFamily="34" charset="0"/>
                <a:ea typeface="Verdana" panose="020B0604030504040204" pitchFamily="34" charset="0"/>
                <a:sym typeface="Wingdings" panose="05000000000000000000" pitchFamily="2" charset="2"/>
              </a:rPr>
              <a:t>(15 millions </a:t>
            </a:r>
            <a:r>
              <a:rPr lang="fr-FR" dirty="0" err="1">
                <a:latin typeface="Verdana" panose="020B0604030504040204" pitchFamily="34" charset="0"/>
                <a:ea typeface="Verdana" panose="020B0604030504040204" pitchFamily="34" charset="0"/>
                <a:sym typeface="Wingdings" panose="05000000000000000000" pitchFamily="2" charset="2"/>
              </a:rPr>
              <a:t>bibliographic</a:t>
            </a:r>
            <a:r>
              <a:rPr lang="fr-FR" dirty="0">
                <a:latin typeface="Verdana" panose="020B0604030504040204" pitchFamily="34" charset="0"/>
                <a:ea typeface="Verdana" panose="020B0604030504040204" pitchFamily="34" charset="0"/>
                <a:sym typeface="Wingdings" panose="05000000000000000000" pitchFamily="2" charset="2"/>
              </a:rPr>
              <a:t> records, all document types)</a:t>
            </a:r>
          </a:p>
        </p:txBody>
      </p:sp>
      <p:pic>
        <p:nvPicPr>
          <p:cNvPr id="3" name="Image 2">
            <a:extLst>
              <a:ext uri="{FF2B5EF4-FFF2-40B4-BE49-F238E27FC236}">
                <a16:creationId xmlns:a16="http://schemas.microsoft.com/office/drawing/2014/main" id="{F29D1214-3C3A-16EC-2630-74CD7A79969B}"/>
              </a:ext>
            </a:extLst>
          </p:cNvPr>
          <p:cNvPicPr>
            <a:picLocks noChangeAspect="1"/>
          </p:cNvPicPr>
          <p:nvPr/>
        </p:nvPicPr>
        <p:blipFill>
          <a:blip r:embed="rId3"/>
          <a:srcRect t="10035" b="6642"/>
          <a:stretch>
            <a:fillRect/>
          </a:stretch>
        </p:blipFill>
        <p:spPr>
          <a:xfrm>
            <a:off x="1333344" y="1737361"/>
            <a:ext cx="9525312" cy="4151376"/>
          </a:xfrm>
          <a:prstGeom prst="rect">
            <a:avLst/>
          </a:prstGeom>
        </p:spPr>
      </p:pic>
    </p:spTree>
    <p:extLst>
      <p:ext uri="{BB962C8B-B14F-4D97-AF65-F5344CB8AC3E}">
        <p14:creationId xmlns:p14="http://schemas.microsoft.com/office/powerpoint/2010/main" val="800131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25751E7A-0995-4F4E-B409-11A43D4E4502}"/>
              </a:ext>
            </a:extLst>
          </p:cNvPr>
          <p:cNvGrpSpPr/>
          <p:nvPr/>
        </p:nvGrpSpPr>
        <p:grpSpPr>
          <a:xfrm>
            <a:off x="1160945" y="534759"/>
            <a:ext cx="6644639" cy="890593"/>
            <a:chOff x="3307379" y="207500"/>
            <a:chExt cx="6644639" cy="890593"/>
          </a:xfrm>
        </p:grpSpPr>
        <p:sp>
          <p:nvSpPr>
            <p:cNvPr id="4" name="ZoneTexte 3">
              <a:extLst>
                <a:ext uri="{FF2B5EF4-FFF2-40B4-BE49-F238E27FC236}">
                  <a16:creationId xmlns:a16="http://schemas.microsoft.com/office/drawing/2014/main" id="{19FFC42B-144C-4E83-BDDE-48214E3CBAF1}"/>
                </a:ext>
              </a:extLst>
            </p:cNvPr>
            <p:cNvSpPr txBox="1"/>
            <p:nvPr/>
          </p:nvSpPr>
          <p:spPr>
            <a:xfrm>
              <a:off x="3307379" y="207500"/>
              <a:ext cx="6644639" cy="379591"/>
            </a:xfrm>
            <a:prstGeom prst="rect">
              <a:avLst/>
            </a:prstGeom>
            <a:noFill/>
          </p:spPr>
          <p:txBody>
            <a:bodyPr wrap="square" rtlCol="0">
              <a:spAutoFit/>
            </a:bodyPr>
            <a:lstStyle/>
            <a:p>
              <a:pPr algn="just"/>
              <a:r>
                <a:rPr lang="fr-FR" sz="2800" b="1" baseline="30000" dirty="0" err="1">
                  <a:solidFill>
                    <a:srgbClr val="80276C"/>
                  </a:solidFill>
                  <a:latin typeface="Verdana" panose="020B0604030504040204" pitchFamily="34" charset="0"/>
                  <a:ea typeface="Verdana" panose="020B0604030504040204" pitchFamily="34" charset="0"/>
                </a:rPr>
                <a:t>Documentary</a:t>
              </a:r>
              <a:r>
                <a:rPr lang="fr-FR" sz="2800" b="1" baseline="30000" dirty="0">
                  <a:solidFill>
                    <a:srgbClr val="80276C"/>
                  </a:solidFill>
                  <a:latin typeface="Verdana" panose="020B0604030504040204" pitchFamily="34" charset="0"/>
                  <a:ea typeface="Verdana" panose="020B0604030504040204" pitchFamily="34" charset="0"/>
                </a:rPr>
                <a:t> ressources</a:t>
              </a:r>
              <a:endParaRPr lang="fr-FR" baseline="30000" dirty="0">
                <a:solidFill>
                  <a:srgbClr val="80276C"/>
                </a:solidFill>
                <a:latin typeface="Verdana" panose="020B0604030504040204" pitchFamily="34" charset="0"/>
                <a:ea typeface="Verdana" panose="020B0604030504040204" pitchFamily="34" charset="0"/>
              </a:endParaRPr>
            </a:p>
          </p:txBody>
        </p:sp>
        <p:sp>
          <p:nvSpPr>
            <p:cNvPr id="5" name="Rectangle 4">
              <a:extLst>
                <a:ext uri="{FF2B5EF4-FFF2-40B4-BE49-F238E27FC236}">
                  <a16:creationId xmlns:a16="http://schemas.microsoft.com/office/drawing/2014/main" id="{221639BC-BDD0-4C27-BD36-6235C0C06E3E}"/>
                </a:ext>
              </a:extLst>
            </p:cNvPr>
            <p:cNvSpPr/>
            <p:nvPr/>
          </p:nvSpPr>
          <p:spPr>
            <a:xfrm>
              <a:off x="3307379" y="728761"/>
              <a:ext cx="4572000" cy="369332"/>
            </a:xfrm>
            <a:prstGeom prst="rect">
              <a:avLst/>
            </a:prstGeom>
          </p:spPr>
          <p:txBody>
            <a:bodyPr>
              <a:spAutoFit/>
            </a:bodyPr>
            <a:lstStyle/>
            <a:p>
              <a:r>
                <a:rPr lang="fr-FR" dirty="0">
                  <a:hlinkClick r:id="rId2"/>
                </a:rPr>
                <a:t>https://atrium.ensam.eu/</a:t>
              </a:r>
              <a:endParaRPr lang="fr-FR" dirty="0"/>
            </a:p>
          </p:txBody>
        </p:sp>
      </p:grpSp>
      <p:pic>
        <p:nvPicPr>
          <p:cNvPr id="6" name="Image 5">
            <a:extLst>
              <a:ext uri="{FF2B5EF4-FFF2-40B4-BE49-F238E27FC236}">
                <a16:creationId xmlns:a16="http://schemas.microsoft.com/office/drawing/2014/main" id="{612F2C0C-77BF-4F4D-8BF5-8888B4F7D96B}"/>
              </a:ext>
            </a:extLst>
          </p:cNvPr>
          <p:cNvPicPr/>
          <p:nvPr/>
        </p:nvPicPr>
        <p:blipFill rotWithShape="1">
          <a:blip r:embed="rId3"/>
          <a:srcRect l="50093" t="3527" b="11800"/>
          <a:stretch/>
        </p:blipFill>
        <p:spPr bwMode="auto">
          <a:xfrm>
            <a:off x="1160945" y="2029756"/>
            <a:ext cx="9272359" cy="38360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6253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4518-69CC-6670-04D2-EAE45AD9314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1C83CD5-9623-459A-BC48-EE0B2472F515}"/>
              </a:ext>
            </a:extLst>
          </p:cNvPr>
          <p:cNvSpPr txBox="1"/>
          <p:nvPr/>
        </p:nvSpPr>
        <p:spPr>
          <a:xfrm>
            <a:off x="1233115" y="2459504"/>
            <a:ext cx="5025223" cy="1938992"/>
          </a:xfrm>
          <a:prstGeom prst="rect">
            <a:avLst/>
          </a:prstGeom>
          <a:noFill/>
        </p:spPr>
        <p:txBody>
          <a:bodyPr wrap="none" rtlCol="0">
            <a:spAutoFit/>
          </a:bodyPr>
          <a:lstStyle/>
          <a:p>
            <a:pPr algn="ctr"/>
            <a:r>
              <a:rPr lang="fr-FR" sz="6000" dirty="0">
                <a:solidFill>
                  <a:srgbClr val="80276C"/>
                </a:solidFill>
              </a:rPr>
              <a:t>Do </a:t>
            </a:r>
            <a:r>
              <a:rPr lang="fr-FR" sz="6000" dirty="0" err="1">
                <a:solidFill>
                  <a:srgbClr val="80276C"/>
                </a:solidFill>
              </a:rPr>
              <a:t>you</a:t>
            </a:r>
            <a:r>
              <a:rPr lang="fr-FR" sz="6000" dirty="0">
                <a:solidFill>
                  <a:srgbClr val="80276C"/>
                </a:solidFill>
              </a:rPr>
              <a:t> have </a:t>
            </a:r>
          </a:p>
          <a:p>
            <a:pPr algn="ctr"/>
            <a:r>
              <a:rPr lang="fr-FR" sz="6000" dirty="0" err="1">
                <a:solidFill>
                  <a:srgbClr val="80276C"/>
                </a:solidFill>
              </a:rPr>
              <a:t>any</a:t>
            </a:r>
            <a:r>
              <a:rPr lang="fr-FR" sz="6000" dirty="0">
                <a:solidFill>
                  <a:srgbClr val="80276C"/>
                </a:solidFill>
              </a:rPr>
              <a:t> questions ?</a:t>
            </a:r>
          </a:p>
        </p:txBody>
      </p:sp>
    </p:spTree>
    <p:extLst>
      <p:ext uri="{BB962C8B-B14F-4D97-AF65-F5344CB8AC3E}">
        <p14:creationId xmlns:p14="http://schemas.microsoft.com/office/powerpoint/2010/main" val="2573112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C949C75-30DF-4CFC-930E-69DEF5D89272}"/>
              </a:ext>
            </a:extLst>
          </p:cNvPr>
          <p:cNvSpPr>
            <a:spLocks noGrp="1"/>
          </p:cNvSpPr>
          <p:nvPr>
            <p:ph type="body" sz="quarter" idx="11"/>
          </p:nvPr>
        </p:nvSpPr>
        <p:spPr>
          <a:xfrm>
            <a:off x="5982586" y="1226288"/>
            <a:ext cx="5992078" cy="2565991"/>
          </a:xfrm>
        </p:spPr>
        <p:txBody>
          <a:bodyPr>
            <a:normAutofit/>
          </a:bodyPr>
          <a:lstStyle/>
          <a:p>
            <a:r>
              <a:rPr lang="fr-FR" sz="3600" dirty="0">
                <a:solidFill>
                  <a:srgbClr val="FFC000"/>
                </a:solidFill>
                <a:latin typeface="Times New Roman" panose="02020603050405020304" pitchFamily="18" charset="0"/>
                <a:cs typeface="Times New Roman" panose="02020603050405020304" pitchFamily="18" charset="0"/>
              </a:rPr>
              <a:t>4. </a:t>
            </a:r>
            <a:r>
              <a:rPr lang="fr-FR" sz="3600" dirty="0" err="1">
                <a:solidFill>
                  <a:srgbClr val="FFC000"/>
                </a:solidFill>
                <a:latin typeface="Times New Roman" panose="02020603050405020304" pitchFamily="18" charset="0"/>
                <a:cs typeface="Times New Roman" panose="02020603050405020304" pitchFamily="18" charset="0"/>
              </a:rPr>
              <a:t>Methodology</a:t>
            </a:r>
            <a:r>
              <a:rPr lang="fr-FR" sz="3600" dirty="0">
                <a:solidFill>
                  <a:srgbClr val="FFC000"/>
                </a:solidFill>
                <a:latin typeface="Times New Roman" panose="02020603050405020304" pitchFamily="18" charset="0"/>
                <a:cs typeface="Times New Roman" panose="02020603050405020304" pitchFamily="18" charset="0"/>
              </a:rPr>
              <a:t> of </a:t>
            </a:r>
            <a:r>
              <a:rPr lang="fr-FR" sz="3600" dirty="0" err="1">
                <a:solidFill>
                  <a:srgbClr val="FFC000"/>
                </a:solidFill>
                <a:latin typeface="Times New Roman" panose="02020603050405020304" pitchFamily="18" charset="0"/>
                <a:cs typeface="Times New Roman" panose="02020603050405020304" pitchFamily="18" charset="0"/>
              </a:rPr>
              <a:t>bibliographic</a:t>
            </a:r>
            <a:r>
              <a:rPr lang="fr-FR" sz="3600" dirty="0">
                <a:solidFill>
                  <a:srgbClr val="FFC000"/>
                </a:solidFill>
                <a:latin typeface="Times New Roman" panose="02020603050405020304" pitchFamily="18" charset="0"/>
                <a:cs typeface="Times New Roman" panose="02020603050405020304" pitchFamily="18" charset="0"/>
              </a:rPr>
              <a:t> </a:t>
            </a:r>
            <a:r>
              <a:rPr lang="fr-FR" sz="3600" dirty="0" err="1">
                <a:solidFill>
                  <a:srgbClr val="FFC000"/>
                </a:solidFill>
                <a:latin typeface="Times New Roman" panose="02020603050405020304" pitchFamily="18" charset="0"/>
                <a:cs typeface="Times New Roman" panose="02020603050405020304" pitchFamily="18" charset="0"/>
              </a:rPr>
              <a:t>search</a:t>
            </a:r>
            <a:r>
              <a:rPr lang="fr-FR" sz="3600" dirty="0">
                <a:solidFill>
                  <a:srgbClr val="FFC000"/>
                </a:solidFill>
                <a:latin typeface="Times New Roman" panose="02020603050405020304" pitchFamily="18" charset="0"/>
                <a:cs typeface="Times New Roman" panose="02020603050405020304" pitchFamily="18" charset="0"/>
              </a:rPr>
              <a:t> </a:t>
            </a:r>
            <a:r>
              <a:rPr lang="fr-FR" sz="3600" dirty="0" err="1">
                <a:solidFill>
                  <a:srgbClr val="FFC000"/>
                </a:solidFill>
                <a:latin typeface="Times New Roman" panose="02020603050405020304" pitchFamily="18" charset="0"/>
                <a:cs typeface="Times New Roman" panose="02020603050405020304" pitchFamily="18" charset="0"/>
              </a:rPr>
              <a:t>applied</a:t>
            </a:r>
            <a:r>
              <a:rPr lang="fr-FR" sz="3600" dirty="0">
                <a:solidFill>
                  <a:srgbClr val="FFC000"/>
                </a:solidFill>
                <a:latin typeface="Times New Roman" panose="02020603050405020304" pitchFamily="18" charset="0"/>
                <a:cs typeface="Times New Roman" panose="02020603050405020304" pitchFamily="18" charset="0"/>
              </a:rPr>
              <a:t> to the </a:t>
            </a:r>
            <a:r>
              <a:rPr lang="fr-FR" sz="3600" dirty="0" err="1">
                <a:solidFill>
                  <a:srgbClr val="FFC000"/>
                </a:solidFill>
                <a:latin typeface="Times New Roman" panose="02020603050405020304" pitchFamily="18" charset="0"/>
                <a:cs typeface="Times New Roman" panose="02020603050405020304" pitchFamily="18" charset="0"/>
              </a:rPr>
              <a:t>field</a:t>
            </a:r>
            <a:r>
              <a:rPr lang="fr-FR" sz="3600" dirty="0">
                <a:solidFill>
                  <a:srgbClr val="FFC000"/>
                </a:solidFill>
                <a:latin typeface="Times New Roman" panose="02020603050405020304" pitchFamily="18" charset="0"/>
                <a:cs typeface="Times New Roman" panose="02020603050405020304" pitchFamily="18" charset="0"/>
              </a:rPr>
              <a:t> of Scientific and </a:t>
            </a:r>
            <a:r>
              <a:rPr lang="fr-FR" sz="3600" dirty="0" err="1">
                <a:solidFill>
                  <a:srgbClr val="FFC000"/>
                </a:solidFill>
                <a:latin typeface="Times New Roman" panose="02020603050405020304" pitchFamily="18" charset="0"/>
                <a:cs typeface="Times New Roman" panose="02020603050405020304" pitchFamily="18" charset="0"/>
              </a:rPr>
              <a:t>Technical</a:t>
            </a:r>
            <a:r>
              <a:rPr lang="fr-FR" sz="3600" dirty="0">
                <a:solidFill>
                  <a:srgbClr val="FFC000"/>
                </a:solidFill>
                <a:latin typeface="Times New Roman" panose="02020603050405020304" pitchFamily="18" charset="0"/>
                <a:cs typeface="Times New Roman" panose="02020603050405020304" pitchFamily="18" charset="0"/>
              </a:rPr>
              <a:t> Information</a:t>
            </a:r>
          </a:p>
          <a:p>
            <a:endParaRPr lang="fr-FR" sz="3600" dirty="0"/>
          </a:p>
        </p:txBody>
      </p:sp>
    </p:spTree>
    <p:extLst>
      <p:ext uri="{BB962C8B-B14F-4D97-AF65-F5344CB8AC3E}">
        <p14:creationId xmlns:p14="http://schemas.microsoft.com/office/powerpoint/2010/main" val="190319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41671-D588-40F1-9A2F-43CE5C23906C}"/>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7AF51D59-E0FF-DF70-964B-8C4FAAB44D0F}"/>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8" name="Espace réservé du texte 1">
            <a:extLst>
              <a:ext uri="{FF2B5EF4-FFF2-40B4-BE49-F238E27FC236}">
                <a16:creationId xmlns:a16="http://schemas.microsoft.com/office/drawing/2014/main" id="{62F72875-25AD-EB20-4F85-73E9CD1B1B1A}"/>
              </a:ext>
            </a:extLst>
          </p:cNvPr>
          <p:cNvSpPr txBox="1">
            <a:spLocks/>
          </p:cNvSpPr>
          <p:nvPr/>
        </p:nvSpPr>
        <p:spPr>
          <a:xfrm>
            <a:off x="370830" y="-65793"/>
            <a:ext cx="5591177" cy="169616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300" dirty="0">
              <a:solidFill>
                <a:schemeClr val="bg1"/>
              </a:solidFill>
              <a:highlight>
                <a:srgbClr val="FFFF00"/>
              </a:highlight>
              <a:latin typeface="Verdana"/>
              <a:cs typeface="Verdana"/>
            </a:endParaRPr>
          </a:p>
          <a:p>
            <a:r>
              <a:rPr lang="fr-FR" sz="2800" dirty="0" err="1">
                <a:latin typeface="Verdana"/>
                <a:cs typeface="Verdana"/>
              </a:rPr>
              <a:t>Quote</a:t>
            </a:r>
            <a:r>
              <a:rPr lang="fr-FR" sz="2800" dirty="0">
                <a:latin typeface="Verdana"/>
                <a:cs typeface="Verdana"/>
              </a:rPr>
              <a:t> </a:t>
            </a:r>
            <a:r>
              <a:rPr lang="fr-FR" sz="2800" dirty="0" err="1">
                <a:latin typeface="Verdana"/>
                <a:cs typeface="Verdana"/>
              </a:rPr>
              <a:t>your</a:t>
            </a:r>
            <a:r>
              <a:rPr lang="fr-FR" sz="2800" dirty="0">
                <a:latin typeface="Verdana"/>
                <a:cs typeface="Verdana"/>
              </a:rPr>
              <a:t> </a:t>
            </a:r>
            <a:r>
              <a:rPr lang="fr-FR" sz="2800" dirty="0" err="1">
                <a:latin typeface="Verdana"/>
                <a:cs typeface="Verdana"/>
              </a:rPr>
              <a:t>references</a:t>
            </a:r>
            <a:r>
              <a:rPr lang="fr-FR" sz="2800" dirty="0">
                <a:latin typeface="Verdana"/>
                <a:cs typeface="Verdana"/>
              </a:rPr>
              <a:t>!</a:t>
            </a:r>
          </a:p>
        </p:txBody>
      </p:sp>
      <p:sp>
        <p:nvSpPr>
          <p:cNvPr id="12" name="ZoneTexte 11">
            <a:extLst>
              <a:ext uri="{FF2B5EF4-FFF2-40B4-BE49-F238E27FC236}">
                <a16:creationId xmlns:a16="http://schemas.microsoft.com/office/drawing/2014/main" id="{F43A8505-C50E-C54E-2BA3-A48EC10EF0FB}"/>
              </a:ext>
            </a:extLst>
          </p:cNvPr>
          <p:cNvSpPr txBox="1"/>
          <p:nvPr/>
        </p:nvSpPr>
        <p:spPr>
          <a:xfrm>
            <a:off x="4914718" y="899362"/>
            <a:ext cx="1595929" cy="646331"/>
          </a:xfrm>
          <a:prstGeom prst="rect">
            <a:avLst/>
          </a:prstGeom>
          <a:noFill/>
        </p:spPr>
        <p:txBody>
          <a:bodyPr wrap="square" rtlCol="0">
            <a:spAutoFit/>
          </a:bodyPr>
          <a:lstStyle/>
          <a:p>
            <a:pPr>
              <a:defRPr/>
            </a:pPr>
            <a:r>
              <a:rPr lang="en-US" altLang="fr-FR" sz="3600" b="1" kern="0" dirty="0">
                <a:solidFill>
                  <a:srgbClr val="80276C"/>
                </a:solidFill>
                <a:sym typeface="Wingdings" panose="05000000000000000000" pitchFamily="2" charset="2"/>
              </a:rPr>
              <a:t>Why?</a:t>
            </a:r>
            <a:endParaRPr lang="en-US" altLang="fr-FR" sz="3600" b="1" kern="0" dirty="0">
              <a:solidFill>
                <a:srgbClr val="80276C"/>
              </a:solidFill>
            </a:endParaRPr>
          </a:p>
        </p:txBody>
      </p:sp>
      <p:sp>
        <p:nvSpPr>
          <p:cNvPr id="4" name="ZoneTexte 3">
            <a:extLst>
              <a:ext uri="{FF2B5EF4-FFF2-40B4-BE49-F238E27FC236}">
                <a16:creationId xmlns:a16="http://schemas.microsoft.com/office/drawing/2014/main" id="{8732B4F6-C9AC-820F-96AD-E8B0348E2C08}"/>
              </a:ext>
            </a:extLst>
          </p:cNvPr>
          <p:cNvSpPr txBox="1"/>
          <p:nvPr/>
        </p:nvSpPr>
        <p:spPr>
          <a:xfrm>
            <a:off x="1485535" y="2750571"/>
            <a:ext cx="6858367" cy="446276"/>
          </a:xfrm>
          <a:prstGeom prst="rect">
            <a:avLst/>
          </a:prstGeom>
          <a:noFill/>
        </p:spPr>
        <p:txBody>
          <a:bodyPr wrap="square" rtlCol="0">
            <a:spAutoFit/>
          </a:bodyPr>
          <a:lstStyle/>
          <a:p>
            <a:pPr>
              <a:defRPr/>
            </a:pPr>
            <a:r>
              <a:rPr lang="en-US" altLang="fr-FR" sz="2300" b="1" kern="0" dirty="0">
                <a:solidFill>
                  <a:srgbClr val="80276C"/>
                </a:solidFill>
                <a:sym typeface="Wingdings" panose="05000000000000000000" pitchFamily="2" charset="2"/>
              </a:rPr>
              <a:t> </a:t>
            </a:r>
            <a:r>
              <a:rPr lang="en-US" altLang="fr-FR" sz="2300" b="1" kern="0" dirty="0">
                <a:solidFill>
                  <a:srgbClr val="80276C"/>
                </a:solidFill>
                <a:latin typeface="Verdana" panose="020B0604030504040204" pitchFamily="34" charset="0"/>
                <a:ea typeface="Verdana" panose="020B0604030504040204" pitchFamily="34" charset="0"/>
                <a:sym typeface="Wingdings" panose="05000000000000000000" pitchFamily="2" charset="2"/>
              </a:rPr>
              <a:t>To respect the copyright</a:t>
            </a:r>
            <a:endParaRPr lang="en-US" altLang="fr-FR" sz="2300" b="1" kern="0" dirty="0">
              <a:solidFill>
                <a:srgbClr val="80276C"/>
              </a:solidFill>
              <a:latin typeface="Verdana" panose="020B0604030504040204" pitchFamily="34" charset="0"/>
              <a:ea typeface="Verdana" panose="020B0604030504040204" pitchFamily="34" charset="0"/>
            </a:endParaRPr>
          </a:p>
        </p:txBody>
      </p:sp>
      <p:sp>
        <p:nvSpPr>
          <p:cNvPr id="7" name="ZoneTexte 6">
            <a:extLst>
              <a:ext uri="{FF2B5EF4-FFF2-40B4-BE49-F238E27FC236}">
                <a16:creationId xmlns:a16="http://schemas.microsoft.com/office/drawing/2014/main" id="{72EF786C-9550-7AC3-EC42-F8920F1E3A8E}"/>
              </a:ext>
            </a:extLst>
          </p:cNvPr>
          <p:cNvSpPr txBox="1"/>
          <p:nvPr/>
        </p:nvSpPr>
        <p:spPr>
          <a:xfrm rot="20985454">
            <a:off x="3410879" y="3434665"/>
            <a:ext cx="4902586" cy="452975"/>
          </a:xfrm>
          <a:prstGeom prst="rect">
            <a:avLst/>
          </a:prstGeom>
          <a:noFill/>
        </p:spPr>
        <p:txBody>
          <a:bodyPr wrap="square" rtlCol="0">
            <a:spAutoFit/>
          </a:bodyPr>
          <a:lstStyle/>
          <a:p>
            <a:pPr>
              <a:defRPr/>
            </a:pPr>
            <a:r>
              <a:rPr lang="en-US" altLang="fr-FR" sz="2300" b="1" kern="0" dirty="0">
                <a:solidFill>
                  <a:srgbClr val="80276C"/>
                </a:solidFill>
                <a:sym typeface="Wingdings" panose="05000000000000000000" pitchFamily="2" charset="2"/>
              </a:rPr>
              <a:t> </a:t>
            </a:r>
            <a:r>
              <a:rPr lang="en-US" altLang="fr-FR" sz="2300" b="1" kern="0" dirty="0">
                <a:solidFill>
                  <a:srgbClr val="80276C"/>
                </a:solidFill>
                <a:latin typeface="Verdana" panose="020B0604030504040204" pitchFamily="34" charset="0"/>
                <a:ea typeface="Verdana" panose="020B0604030504040204" pitchFamily="34" charset="0"/>
                <a:sym typeface="Wingdings" panose="05000000000000000000" pitchFamily="2" charset="2"/>
              </a:rPr>
              <a:t>otherwise :</a:t>
            </a:r>
            <a:endParaRPr lang="en-US" altLang="fr-FR" sz="2300" b="1" kern="0" dirty="0">
              <a:solidFill>
                <a:srgbClr val="80276C"/>
              </a:solidFill>
              <a:latin typeface="Verdana" panose="020B0604030504040204" pitchFamily="34" charset="0"/>
              <a:ea typeface="Verdana" panose="020B0604030504040204" pitchFamily="34" charset="0"/>
            </a:endParaRPr>
          </a:p>
        </p:txBody>
      </p:sp>
      <p:pic>
        <p:nvPicPr>
          <p:cNvPr id="9" name="Image 8">
            <a:extLst>
              <a:ext uri="{FF2B5EF4-FFF2-40B4-BE49-F238E27FC236}">
                <a16:creationId xmlns:a16="http://schemas.microsoft.com/office/drawing/2014/main" id="{DCA3EFF5-36A0-97DD-1BED-8C81C42818CE}"/>
              </a:ext>
            </a:extLst>
          </p:cNvPr>
          <p:cNvPicPr>
            <a:picLocks noChangeAspect="1"/>
          </p:cNvPicPr>
          <p:nvPr/>
        </p:nvPicPr>
        <p:blipFill>
          <a:blip r:embed="rId2"/>
          <a:stretch>
            <a:fillRect/>
          </a:stretch>
        </p:blipFill>
        <p:spPr>
          <a:xfrm>
            <a:off x="6096000" y="3347580"/>
            <a:ext cx="4303605" cy="2858910"/>
          </a:xfrm>
          <a:prstGeom prst="rect">
            <a:avLst/>
          </a:prstGeom>
        </p:spPr>
      </p:pic>
      <p:sp>
        <p:nvSpPr>
          <p:cNvPr id="14" name="ZoneTexte 13">
            <a:extLst>
              <a:ext uri="{FF2B5EF4-FFF2-40B4-BE49-F238E27FC236}">
                <a16:creationId xmlns:a16="http://schemas.microsoft.com/office/drawing/2014/main" id="{E2CEE39B-3FCD-A626-BBC2-405D2F77AEAD}"/>
              </a:ext>
            </a:extLst>
          </p:cNvPr>
          <p:cNvSpPr txBox="1"/>
          <p:nvPr/>
        </p:nvSpPr>
        <p:spPr>
          <a:xfrm rot="790611">
            <a:off x="3474251" y="4601449"/>
            <a:ext cx="2095101" cy="523220"/>
          </a:xfrm>
          <a:prstGeom prst="rect">
            <a:avLst/>
          </a:prstGeom>
          <a:noFill/>
        </p:spPr>
        <p:txBody>
          <a:bodyPr wrap="square" rtlCol="0">
            <a:spAutoFit/>
          </a:bodyPr>
          <a:lstStyle/>
          <a:p>
            <a:r>
              <a:rPr lang="fr-FR" sz="2800" b="1" dirty="0" err="1">
                <a:solidFill>
                  <a:srgbClr val="C00000"/>
                </a:solidFill>
                <a:effectLst>
                  <a:outerShdw blurRad="38100" dist="38100" dir="2700000" algn="tl">
                    <a:srgbClr val="000000">
                      <a:alpha val="43137"/>
                    </a:srgbClr>
                  </a:outerShdw>
                </a:effectLst>
              </a:rPr>
              <a:t>Plagiarism</a:t>
            </a:r>
            <a:endParaRPr lang="fr-FR" sz="2800" b="1" dirty="0">
              <a:solidFill>
                <a:srgbClr val="C00000"/>
              </a:solidFill>
              <a:effectLst>
                <a:outerShdw blurRad="38100" dist="38100" dir="2700000" algn="tl">
                  <a:srgbClr val="000000">
                    <a:alpha val="43137"/>
                  </a:srgbClr>
                </a:outerShdw>
              </a:effectLst>
            </a:endParaRPr>
          </a:p>
        </p:txBody>
      </p:sp>
      <p:sp>
        <p:nvSpPr>
          <p:cNvPr id="13" name="ZoneTexte 12">
            <a:extLst>
              <a:ext uri="{FF2B5EF4-FFF2-40B4-BE49-F238E27FC236}">
                <a16:creationId xmlns:a16="http://schemas.microsoft.com/office/drawing/2014/main" id="{BDCD0DFD-80C5-ACC3-3174-D9A705490032}"/>
              </a:ext>
            </a:extLst>
          </p:cNvPr>
          <p:cNvSpPr txBox="1"/>
          <p:nvPr/>
        </p:nvSpPr>
        <p:spPr>
          <a:xfrm>
            <a:off x="1485535" y="1622545"/>
            <a:ext cx="6072534" cy="446276"/>
          </a:xfrm>
          <a:prstGeom prst="rect">
            <a:avLst/>
          </a:prstGeom>
          <a:noFill/>
        </p:spPr>
        <p:txBody>
          <a:bodyPr wrap="square" rtlCol="0">
            <a:spAutoFit/>
          </a:bodyPr>
          <a:lstStyle/>
          <a:p>
            <a:pPr>
              <a:defRPr/>
            </a:pPr>
            <a:r>
              <a:rPr lang="en-US" altLang="fr-FR" sz="2300" b="1" kern="0" dirty="0">
                <a:solidFill>
                  <a:srgbClr val="80276C"/>
                </a:solidFill>
                <a:sym typeface="Wingdings" panose="05000000000000000000" pitchFamily="2" charset="2"/>
              </a:rPr>
              <a:t> </a:t>
            </a:r>
            <a:r>
              <a:rPr lang="en-US" altLang="fr-FR" sz="2300" b="1" kern="0" dirty="0">
                <a:solidFill>
                  <a:srgbClr val="80276C"/>
                </a:solidFill>
                <a:latin typeface="Verdana" panose="020B0604030504040204" pitchFamily="34" charset="0"/>
                <a:ea typeface="Verdana" panose="020B0604030504040204" pitchFamily="34" charset="0"/>
                <a:sym typeface="Wingdings" panose="05000000000000000000" pitchFamily="2" charset="2"/>
              </a:rPr>
              <a:t>For intellectual honesty</a:t>
            </a:r>
            <a:endParaRPr lang="en-US" altLang="fr-FR" sz="2300" b="1" kern="0" dirty="0">
              <a:solidFill>
                <a:srgbClr val="80276C"/>
              </a:solidFill>
              <a:latin typeface="Verdana" panose="020B0604030504040204" pitchFamily="34" charset="0"/>
              <a:ea typeface="Verdana" panose="020B0604030504040204" pitchFamily="34" charset="0"/>
            </a:endParaRPr>
          </a:p>
        </p:txBody>
      </p:sp>
      <p:sp>
        <p:nvSpPr>
          <p:cNvPr id="15" name="ZoneTexte 14">
            <a:extLst>
              <a:ext uri="{FF2B5EF4-FFF2-40B4-BE49-F238E27FC236}">
                <a16:creationId xmlns:a16="http://schemas.microsoft.com/office/drawing/2014/main" id="{64750A09-124B-8343-4C5E-721E69369437}"/>
              </a:ext>
            </a:extLst>
          </p:cNvPr>
          <p:cNvSpPr txBox="1"/>
          <p:nvPr/>
        </p:nvSpPr>
        <p:spPr>
          <a:xfrm>
            <a:off x="1485535" y="2163078"/>
            <a:ext cx="7779136" cy="446276"/>
          </a:xfrm>
          <a:prstGeom prst="rect">
            <a:avLst/>
          </a:prstGeom>
          <a:noFill/>
        </p:spPr>
        <p:txBody>
          <a:bodyPr wrap="square" rtlCol="0">
            <a:spAutoFit/>
          </a:bodyPr>
          <a:lstStyle/>
          <a:p>
            <a:pPr>
              <a:defRPr/>
            </a:pPr>
            <a:r>
              <a:rPr lang="en-US" altLang="fr-FR" sz="2300" b="1" kern="0" dirty="0">
                <a:solidFill>
                  <a:srgbClr val="80276C"/>
                </a:solidFill>
                <a:sym typeface="Wingdings" panose="05000000000000000000" pitchFamily="2" charset="2"/>
              </a:rPr>
              <a:t> </a:t>
            </a:r>
            <a:r>
              <a:rPr lang="en-US" altLang="fr-FR" sz="2300" b="1" kern="0" dirty="0">
                <a:solidFill>
                  <a:srgbClr val="80276C"/>
                </a:solidFill>
                <a:latin typeface="Verdana" panose="020B0604030504040204" pitchFamily="34" charset="0"/>
                <a:ea typeface="Verdana" panose="020B0604030504040204" pitchFamily="34" charset="0"/>
                <a:sym typeface="Wingdings" panose="05000000000000000000" pitchFamily="2" charset="2"/>
              </a:rPr>
              <a:t>To find the references used</a:t>
            </a:r>
            <a:endParaRPr lang="en-US" altLang="fr-FR" sz="2300" b="1" kern="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30596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D913EFE-9947-4BBD-B2A5-A0643F24E17E}"/>
              </a:ext>
            </a:extLst>
          </p:cNvPr>
          <p:cNvSpPr txBox="1"/>
          <p:nvPr/>
        </p:nvSpPr>
        <p:spPr>
          <a:xfrm>
            <a:off x="1393517" y="1079571"/>
            <a:ext cx="7867137" cy="379591"/>
          </a:xfrm>
          <a:prstGeom prst="rect">
            <a:avLst/>
          </a:prstGeom>
          <a:noFill/>
        </p:spPr>
        <p:txBody>
          <a:bodyPr wrap="square" rtlCol="0">
            <a:spAutoFit/>
          </a:bodyPr>
          <a:lstStyle/>
          <a:p>
            <a:pPr algn="just"/>
            <a:r>
              <a:rPr lang="fr-FR" sz="2800" b="1" baseline="30000" dirty="0" err="1">
                <a:solidFill>
                  <a:srgbClr val="80276C"/>
                </a:solidFill>
                <a:latin typeface="Verdana" panose="020B0604030504040204" pitchFamily="34" charset="0"/>
                <a:ea typeface="Verdana" panose="020B0604030504040204" pitchFamily="34" charset="0"/>
              </a:rPr>
              <a:t>Why</a:t>
            </a:r>
            <a:r>
              <a:rPr lang="fr-FR" sz="2800" b="1" baseline="30000" dirty="0">
                <a:solidFill>
                  <a:srgbClr val="80276C"/>
                </a:solidFill>
                <a:latin typeface="Verdana" panose="020B0604030504040204" pitchFamily="34" charset="0"/>
                <a:ea typeface="Verdana" panose="020B0604030504040204" pitchFamily="34" charset="0"/>
              </a:rPr>
              <a:t> </a:t>
            </a:r>
            <a:r>
              <a:rPr lang="fr-FR" sz="2800" b="1" baseline="30000" dirty="0" err="1">
                <a:solidFill>
                  <a:srgbClr val="80276C"/>
                </a:solidFill>
                <a:latin typeface="Verdana" panose="020B0604030504040204" pitchFamily="34" charset="0"/>
                <a:ea typeface="Verdana" panose="020B0604030504040204" pitchFamily="34" charset="0"/>
              </a:rPr>
              <a:t>is</a:t>
            </a:r>
            <a:r>
              <a:rPr lang="fr-FR" sz="2800" b="1" baseline="30000" dirty="0">
                <a:solidFill>
                  <a:srgbClr val="80276C"/>
                </a:solidFill>
                <a:latin typeface="Verdana" panose="020B0604030504040204" pitchFamily="34" charset="0"/>
                <a:ea typeface="Verdana" panose="020B0604030504040204" pitchFamily="34" charset="0"/>
              </a:rPr>
              <a:t> </a:t>
            </a:r>
            <a:r>
              <a:rPr lang="fr-FR" sz="2800" b="1" baseline="30000" dirty="0" err="1">
                <a:solidFill>
                  <a:srgbClr val="80276C"/>
                </a:solidFill>
                <a:latin typeface="Verdana" panose="020B0604030504040204" pitchFamily="34" charset="0"/>
                <a:ea typeface="Verdana" panose="020B0604030504040204" pitchFamily="34" charset="0"/>
              </a:rPr>
              <a:t>it</a:t>
            </a:r>
            <a:r>
              <a:rPr lang="fr-FR" sz="2800" b="1" baseline="30000" dirty="0">
                <a:solidFill>
                  <a:srgbClr val="80276C"/>
                </a:solidFill>
                <a:latin typeface="Verdana" panose="020B0604030504040204" pitchFamily="34" charset="0"/>
                <a:ea typeface="Verdana" panose="020B0604030504040204" pitchFamily="34" charset="0"/>
              </a:rPr>
              <a:t> relevant to do a </a:t>
            </a:r>
            <a:r>
              <a:rPr lang="fr-FR" sz="2800" b="1" baseline="30000" dirty="0" err="1">
                <a:solidFill>
                  <a:srgbClr val="80276C"/>
                </a:solidFill>
                <a:latin typeface="Verdana" panose="020B0604030504040204" pitchFamily="34" charset="0"/>
                <a:ea typeface="Verdana" panose="020B0604030504040204" pitchFamily="34" charset="0"/>
              </a:rPr>
              <a:t>bibliography</a:t>
            </a:r>
            <a:r>
              <a:rPr lang="fr-FR" sz="2800" b="1" baseline="30000" dirty="0">
                <a:solidFill>
                  <a:srgbClr val="80276C"/>
                </a:solidFill>
                <a:latin typeface="Verdana" panose="020B0604030504040204" pitchFamily="34" charset="0"/>
                <a:ea typeface="Verdana" panose="020B0604030504040204" pitchFamily="34" charset="0"/>
              </a:rPr>
              <a:t> ?</a:t>
            </a:r>
            <a:endParaRPr lang="fr-FR" baseline="30000" dirty="0">
              <a:solidFill>
                <a:srgbClr val="80276C"/>
              </a:solidFill>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8CB41C36-6959-4729-887D-CA00F328E773}"/>
              </a:ext>
            </a:extLst>
          </p:cNvPr>
          <p:cNvSpPr txBox="1">
            <a:spLocks noChangeArrowheads="1"/>
          </p:cNvSpPr>
          <p:nvPr/>
        </p:nvSpPr>
        <p:spPr bwMode="auto">
          <a:xfrm>
            <a:off x="1568361" y="1881218"/>
            <a:ext cx="9255256" cy="22437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447675" indent="-447675">
              <a:lnSpc>
                <a:spcPct val="80000"/>
              </a:lnSpc>
            </a:pPr>
            <a:r>
              <a:rPr lang="en-US" sz="2000" dirty="0"/>
              <a:t>To base one's reflection on scientifically recognized authors</a:t>
            </a:r>
          </a:p>
          <a:p>
            <a:pPr marL="447675" indent="-447675">
              <a:lnSpc>
                <a:spcPct val="80000"/>
              </a:lnSpc>
            </a:pPr>
            <a:r>
              <a:rPr lang="en-US" sz="2000" dirty="0"/>
              <a:t>To produce a verifiable study </a:t>
            </a:r>
          </a:p>
          <a:p>
            <a:pPr marL="447675" indent="-447675">
              <a:lnSpc>
                <a:spcPct val="80000"/>
              </a:lnSpc>
            </a:pPr>
            <a:r>
              <a:rPr lang="en-US" sz="2000" dirty="0"/>
              <a:t>To allow the reader to delve deeper into a subject</a:t>
            </a:r>
            <a:endParaRPr lang="fr-FR" sz="2000" kern="0" dirty="0"/>
          </a:p>
          <a:p>
            <a:pPr marL="0" indent="0">
              <a:lnSpc>
                <a:spcPct val="80000"/>
              </a:lnSpc>
              <a:buNone/>
            </a:pPr>
            <a:endParaRPr lang="fr-FR" sz="2000" kern="0" dirty="0">
              <a:solidFill>
                <a:srgbClr val="CC3300"/>
              </a:solidFill>
            </a:endParaRPr>
          </a:p>
          <a:p>
            <a:pPr marL="0" indent="0">
              <a:lnSpc>
                <a:spcPct val="80000"/>
              </a:lnSpc>
              <a:buNone/>
            </a:pPr>
            <a:r>
              <a:rPr lang="en-US" sz="2000" dirty="0"/>
              <a:t>Methodology: </a:t>
            </a:r>
          </a:p>
          <a:p>
            <a:pPr>
              <a:lnSpc>
                <a:spcPct val="80000"/>
              </a:lnSpc>
            </a:pPr>
            <a:r>
              <a:rPr lang="en-US" sz="2000" dirty="0"/>
              <a:t>as work progresses </a:t>
            </a:r>
          </a:p>
          <a:p>
            <a:pPr>
              <a:lnSpc>
                <a:spcPct val="80000"/>
              </a:lnSpc>
            </a:pPr>
            <a:r>
              <a:rPr lang="en-US" sz="2000" dirty="0"/>
              <a:t>use of bibliography software (to be discussed later)</a:t>
            </a:r>
            <a:endParaRPr lang="fr-FR" sz="2000" kern="0" dirty="0"/>
          </a:p>
        </p:txBody>
      </p:sp>
      <p:sp>
        <p:nvSpPr>
          <p:cNvPr id="5" name="Text Box 3">
            <a:extLst>
              <a:ext uri="{FF2B5EF4-FFF2-40B4-BE49-F238E27FC236}">
                <a16:creationId xmlns:a16="http://schemas.microsoft.com/office/drawing/2014/main" id="{992C0D3E-A8CC-409F-B0FB-E92BB21C7D6B}"/>
              </a:ext>
            </a:extLst>
          </p:cNvPr>
          <p:cNvSpPr txBox="1">
            <a:spLocks noChangeArrowheads="1"/>
          </p:cNvSpPr>
          <p:nvPr/>
        </p:nvSpPr>
        <p:spPr bwMode="auto">
          <a:xfrm>
            <a:off x="1568361" y="4589448"/>
            <a:ext cx="8339361" cy="646331"/>
          </a:xfrm>
          <a:prstGeom prst="rect">
            <a:avLst/>
          </a:prstGeom>
          <a:noFill/>
          <a:ln w="12700">
            <a:solidFill>
              <a:srgbClr val="80276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dirty="0"/>
              <a:t>A </a:t>
            </a:r>
            <a:r>
              <a:rPr lang="en-US" dirty="0">
                <a:solidFill>
                  <a:srgbClr val="FF0000"/>
                </a:solidFill>
              </a:rPr>
              <a:t>bibliographic citation </a:t>
            </a:r>
            <a:r>
              <a:rPr lang="en-US" dirty="0"/>
              <a:t>is a form of brief reference placed in parentheses within the text or appearing as a footnote.</a:t>
            </a:r>
          </a:p>
        </p:txBody>
      </p:sp>
    </p:spTree>
    <p:extLst>
      <p:ext uri="{BB962C8B-B14F-4D97-AF65-F5344CB8AC3E}">
        <p14:creationId xmlns:p14="http://schemas.microsoft.com/office/powerpoint/2010/main" val="3060467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11B56B16-CB62-42AB-A82F-A97BC63222E5}"/>
              </a:ext>
            </a:extLst>
          </p:cNvPr>
          <p:cNvSpPr txBox="1">
            <a:spLocks/>
          </p:cNvSpPr>
          <p:nvPr/>
        </p:nvSpPr>
        <p:spPr>
          <a:xfrm>
            <a:off x="535884" y="495960"/>
            <a:ext cx="10570461" cy="69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fr-FR" sz="2800" b="1" dirty="0">
                <a:solidFill>
                  <a:srgbClr val="80276C"/>
                </a:solidFill>
                <a:latin typeface="Times New Roman" panose="02020603050405020304" pitchFamily="18" charset="0"/>
                <a:cs typeface="Times New Roman" panose="02020603050405020304" pitchFamily="18" charset="0"/>
              </a:rPr>
              <a:t>The </a:t>
            </a:r>
            <a:r>
              <a:rPr lang="fr-FR" sz="2800" b="1" dirty="0" err="1">
                <a:solidFill>
                  <a:srgbClr val="80276C"/>
                </a:solidFill>
                <a:latin typeface="Times New Roman" panose="02020603050405020304" pitchFamily="18" charset="0"/>
                <a:cs typeface="Times New Roman" panose="02020603050405020304" pitchFamily="18" charset="0"/>
              </a:rPr>
              <a:t>fundamentals</a:t>
            </a:r>
            <a:r>
              <a:rPr lang="fr-FR" sz="2800" b="1" dirty="0">
                <a:solidFill>
                  <a:srgbClr val="80276C"/>
                </a:solidFill>
                <a:latin typeface="Times New Roman" panose="02020603050405020304" pitchFamily="18" charset="0"/>
                <a:cs typeface="Times New Roman" panose="02020603050405020304" pitchFamily="18" charset="0"/>
              </a:rPr>
              <a:t> of </a:t>
            </a:r>
            <a:r>
              <a:rPr lang="fr-FR" sz="2800" b="1" dirty="0" err="1">
                <a:solidFill>
                  <a:srgbClr val="80276C"/>
                </a:solidFill>
                <a:latin typeface="Times New Roman" panose="02020603050405020304" pitchFamily="18" charset="0"/>
                <a:cs typeface="Times New Roman" panose="02020603050405020304" pitchFamily="18" charset="0"/>
              </a:rPr>
              <a:t>bibliographic</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search</a:t>
            </a:r>
            <a:endParaRPr lang="fr-FR" sz="2800" b="1" dirty="0">
              <a:solidFill>
                <a:srgbClr val="80276C"/>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656BF84C-8FB5-4359-A310-92014D7ADB0A}"/>
              </a:ext>
            </a:extLst>
          </p:cNvPr>
          <p:cNvSpPr txBox="1"/>
          <p:nvPr/>
        </p:nvSpPr>
        <p:spPr>
          <a:xfrm>
            <a:off x="535884" y="1062962"/>
            <a:ext cx="11404479" cy="5109091"/>
          </a:xfrm>
          <a:prstGeom prst="rect">
            <a:avLst/>
          </a:prstGeom>
          <a:noFill/>
        </p:spPr>
        <p:txBody>
          <a:bodyPr wrap="square" rtlCol="0">
            <a:spAutoFit/>
          </a:bodyPr>
          <a:lstStyle/>
          <a:p>
            <a:r>
              <a:rPr lang="fr-FR" b="1" dirty="0" err="1">
                <a:solidFill>
                  <a:srgbClr val="8027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a:t>
            </a:r>
            <a:endParaRPr lang="fr-FR" b="1" dirty="0">
              <a:solidFill>
                <a:srgbClr val="8027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fr-FR" b="1" dirty="0">
                <a:solidFill>
                  <a:srgbClr val="80276C"/>
                </a:solidFill>
                <a:latin typeface="Times New Roman" panose="02020603050405020304" pitchFamily="18" charset="0"/>
                <a:cs typeface="Times New Roman" panose="02020603050405020304" pitchFamily="18" charset="0"/>
              </a:rPr>
              <a:t>Issue</a:t>
            </a:r>
          </a:p>
          <a:p>
            <a:pPr marL="1200150" lvl="2" indent="-285750">
              <a:buFont typeface="Arial" panose="020B0604020202020204" pitchFamily="34" charset="0"/>
              <a:buChar char="•"/>
            </a:pPr>
            <a:r>
              <a:rPr lang="fr-FR" b="1" dirty="0" err="1">
                <a:solidFill>
                  <a:srgbClr val="80276C"/>
                </a:solidFill>
                <a:latin typeface="Times New Roman" panose="02020603050405020304" pitchFamily="18" charset="0"/>
                <a:cs typeface="Times New Roman" panose="02020603050405020304" pitchFamily="18" charset="0"/>
              </a:rPr>
              <a:t>Purposes</a:t>
            </a:r>
            <a:endParaRPr lang="fr-FR" b="1" dirty="0">
              <a:solidFill>
                <a:srgbClr val="80276C"/>
              </a:solidFill>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fr-FR" b="1" dirty="0">
                <a:solidFill>
                  <a:srgbClr val="80276C"/>
                </a:solidFill>
                <a:latin typeface="Times New Roman" panose="02020603050405020304" pitchFamily="18" charset="0"/>
                <a:cs typeface="Times New Roman" panose="02020603050405020304" pitchFamily="18" charset="0"/>
              </a:rPr>
              <a:t> Assumptions, </a:t>
            </a:r>
          </a:p>
          <a:p>
            <a:pPr marL="1200150" lvl="2" indent="-285750">
              <a:buFont typeface="Arial" panose="020B0604020202020204" pitchFamily="34" charset="0"/>
              <a:buChar char="•"/>
            </a:pPr>
            <a:r>
              <a:rPr lang="fr-FR" b="1" dirty="0">
                <a:solidFill>
                  <a:srgbClr val="80276C"/>
                </a:solidFill>
                <a:latin typeface="Times New Roman" panose="02020603050405020304" pitchFamily="18" charset="0"/>
                <a:cs typeface="Times New Roman" panose="02020603050405020304" pitchFamily="18" charset="0"/>
              </a:rPr>
              <a:t> Scope, </a:t>
            </a:r>
            <a:r>
              <a:rPr lang="fr-FR" b="1" dirty="0" err="1">
                <a:solidFill>
                  <a:srgbClr val="80276C"/>
                </a:solidFill>
                <a:latin typeface="Times New Roman" panose="02020603050405020304" pitchFamily="18" charset="0"/>
                <a:cs typeface="Times New Roman" panose="02020603050405020304" pitchFamily="18" charset="0"/>
              </a:rPr>
              <a:t>perimeter</a:t>
            </a:r>
            <a:r>
              <a:rPr lang="fr-FR" b="1" dirty="0">
                <a:solidFill>
                  <a:srgbClr val="80276C"/>
                </a:solidFill>
                <a:latin typeface="Times New Roman" panose="02020603050405020304" pitchFamily="18" charset="0"/>
                <a:cs typeface="Times New Roman" panose="02020603050405020304" pitchFamily="18" charset="0"/>
              </a:rPr>
              <a:t> of the </a:t>
            </a:r>
            <a:r>
              <a:rPr lang="fr-FR" b="1" dirty="0" err="1">
                <a:solidFill>
                  <a:srgbClr val="80276C"/>
                </a:solidFill>
                <a:latin typeface="Times New Roman" panose="02020603050405020304" pitchFamily="18" charset="0"/>
                <a:cs typeface="Times New Roman" panose="02020603050405020304" pitchFamily="18" charset="0"/>
              </a:rPr>
              <a:t>search</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targeted</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search</a:t>
            </a:r>
            <a:r>
              <a:rPr lang="fr-FR" b="1" dirty="0">
                <a:solidFill>
                  <a:srgbClr val="80276C"/>
                </a:solidFill>
                <a:latin typeface="Times New Roman" panose="02020603050405020304" pitchFamily="18" charset="0"/>
                <a:cs typeface="Times New Roman" panose="02020603050405020304" pitchFamily="18" charset="0"/>
              </a:rPr>
              <a:t>)</a:t>
            </a:r>
          </a:p>
          <a:p>
            <a:pPr marL="1200150" lvl="2" indent="-285750">
              <a:buFont typeface="Arial" panose="020B0604020202020204" pitchFamily="34" charset="0"/>
              <a:buChar char="•"/>
            </a:pP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Stakes</a:t>
            </a:r>
            <a:endParaRPr lang="fr-FR" b="1" dirty="0">
              <a:solidFill>
                <a:srgbClr val="80276C"/>
              </a:solidFill>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fr-FR" b="1" dirty="0" err="1">
                <a:solidFill>
                  <a:srgbClr val="80276C"/>
                </a:solidFill>
                <a:latin typeface="Times New Roman" panose="02020603050405020304" pitchFamily="18" charset="0"/>
                <a:cs typeface="Times New Roman" panose="02020603050405020304" pitchFamily="18" charset="0"/>
              </a:rPr>
              <a:t>Methodology</a:t>
            </a:r>
            <a:r>
              <a:rPr lang="fr-FR" b="1" dirty="0">
                <a:solidFill>
                  <a:srgbClr val="80276C"/>
                </a:solidFill>
                <a:latin typeface="Times New Roman" panose="02020603050405020304" pitchFamily="18" charset="0"/>
                <a:cs typeface="Times New Roman" panose="02020603050405020304" pitchFamily="18" charset="0"/>
              </a:rPr>
              <a:t> and </a:t>
            </a:r>
            <a:r>
              <a:rPr lang="fr-FR" b="1" dirty="0" err="1">
                <a:solidFill>
                  <a:srgbClr val="80276C"/>
                </a:solidFill>
                <a:latin typeface="Times New Roman" panose="02020603050405020304" pitchFamily="18" charset="0"/>
                <a:cs typeface="Times New Roman" panose="02020603050405020304" pitchFamily="18" charset="0"/>
              </a:rPr>
              <a:t>approach</a:t>
            </a:r>
            <a:r>
              <a:rPr lang="fr-FR" b="1" dirty="0">
                <a:solidFill>
                  <a:srgbClr val="80276C"/>
                </a:solidFill>
                <a:latin typeface="Times New Roman" panose="02020603050405020304" pitchFamily="18" charset="0"/>
                <a:cs typeface="Times New Roman" panose="02020603050405020304" pitchFamily="18" charset="0"/>
              </a:rPr>
              <a:t> to the issue</a:t>
            </a:r>
          </a:p>
          <a:p>
            <a:pPr lvl="2"/>
            <a:endParaRPr lang="fr-FR" b="1" dirty="0">
              <a:solidFill>
                <a:srgbClr val="80276C"/>
              </a:solidFill>
              <a:latin typeface="Times New Roman" panose="02020603050405020304" pitchFamily="18" charset="0"/>
              <a:cs typeface="Times New Roman" panose="02020603050405020304" pitchFamily="18" charset="0"/>
            </a:endParaRPr>
          </a:p>
          <a:p>
            <a:pPr lvl="2"/>
            <a:endParaRPr lang="fr-FR" b="1" dirty="0">
              <a:solidFill>
                <a:srgbClr val="80276C"/>
              </a:solidFill>
              <a:latin typeface="Times New Roman" panose="02020603050405020304" pitchFamily="18" charset="0"/>
              <a:cs typeface="Times New Roman" panose="02020603050405020304" pitchFamily="18" charset="0"/>
            </a:endParaRPr>
          </a:p>
          <a:p>
            <a:pPr lvl="2"/>
            <a:endParaRPr lang="fr-FR" b="1" dirty="0">
              <a:solidFill>
                <a:srgbClr val="80276C"/>
              </a:solidFill>
              <a:latin typeface="Times New Roman" panose="02020603050405020304" pitchFamily="18" charset="0"/>
              <a:cs typeface="Times New Roman" panose="02020603050405020304" pitchFamily="18" charset="0"/>
            </a:endParaRPr>
          </a:p>
          <a:p>
            <a:pPr marL="0" lvl="2" algn="just"/>
            <a:r>
              <a:rPr lang="fr-FR" b="1" dirty="0">
                <a:solidFill>
                  <a:srgbClr val="80276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 </a:t>
            </a:r>
            <a:r>
              <a:rPr lang="fr-FR" b="1" dirty="0">
                <a:solidFill>
                  <a:srgbClr val="80276C"/>
                </a:solidFill>
                <a:latin typeface="Times New Roman" panose="02020603050405020304" pitchFamily="18" charset="0"/>
                <a:cs typeface="Times New Roman" panose="02020603050405020304" pitchFamily="18" charset="0"/>
              </a:rPr>
              <a:t>  </a:t>
            </a:r>
          </a:p>
          <a:p>
            <a:pPr marL="0" lvl="2" algn="just"/>
            <a:r>
              <a:rPr lang="fr-FR" b="1" dirty="0" err="1">
                <a:solidFill>
                  <a:srgbClr val="80276C"/>
                </a:solidFill>
                <a:latin typeface="Times New Roman" panose="02020603050405020304" pitchFamily="18" charset="0"/>
                <a:cs typeface="Times New Roman" panose="02020603050405020304" pitchFamily="18" charset="0"/>
              </a:rPr>
              <a:t>documentary</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search</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is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based</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upon</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experience</a:t>
            </a:r>
            <a:r>
              <a:rPr lang="fr-FR" b="1" dirty="0">
                <a:solidFill>
                  <a:srgbClr val="80276C"/>
                </a:solidFill>
                <a:latin typeface="Times New Roman" panose="02020603050405020304" pitchFamily="18" charset="0"/>
                <a:cs typeface="Times New Roman" panose="02020603050405020304" pitchFamily="18" charset="0"/>
              </a:rPr>
              <a:t> and an </a:t>
            </a:r>
            <a:r>
              <a:rPr lang="fr-FR" b="1" dirty="0" err="1">
                <a:solidFill>
                  <a:srgbClr val="80276C"/>
                </a:solidFill>
                <a:latin typeface="Times New Roman" panose="02020603050405020304" pitchFamily="18" charset="0"/>
                <a:cs typeface="Times New Roman" panose="02020603050405020304" pitchFamily="18" charset="0"/>
              </a:rPr>
              <a:t>empirical</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method</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just</a:t>
            </a:r>
            <a:r>
              <a:rPr lang="fr-FR" b="1" dirty="0">
                <a:solidFill>
                  <a:srgbClr val="80276C"/>
                </a:solidFill>
                <a:latin typeface="Times New Roman" panose="02020603050405020304" pitchFamily="18" charset="0"/>
                <a:cs typeface="Times New Roman" panose="02020603050405020304" pitchFamily="18" charset="0"/>
              </a:rPr>
              <a:t> like </a:t>
            </a:r>
            <a:r>
              <a:rPr lang="fr-FR" b="1" dirty="0" err="1">
                <a:solidFill>
                  <a:srgbClr val="80276C"/>
                </a:solidFill>
                <a:latin typeface="Times New Roman" panose="02020603050405020304" pitchFamily="18" charset="0"/>
                <a:cs typeface="Times New Roman" panose="02020603050405020304" pitchFamily="18" charset="0"/>
              </a:rPr>
              <a:t>scientific</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enquiry</a:t>
            </a:r>
            <a:r>
              <a:rPr lang="fr-FR" b="1" dirty="0">
                <a:solidFill>
                  <a:srgbClr val="80276C"/>
                </a:solidFill>
                <a:latin typeface="Times New Roman" panose="02020603050405020304" pitchFamily="18" charset="0"/>
                <a:cs typeface="Times New Roman" panose="02020603050405020304" pitchFamily="18" charset="0"/>
              </a:rPr>
              <a:t> :  </a:t>
            </a:r>
            <a:r>
              <a:rPr lang="fr-FR" b="1" dirty="0" err="1">
                <a:solidFill>
                  <a:srgbClr val="80276C"/>
                </a:solidFill>
                <a:latin typeface="Times New Roman" panose="02020603050405020304" pitchFamily="18" charset="0"/>
                <a:cs typeface="Times New Roman" panose="02020603050405020304" pitchFamily="18" charset="0"/>
              </a:rPr>
              <a:t>you</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often</a:t>
            </a:r>
            <a:r>
              <a:rPr lang="fr-FR" b="1" dirty="0">
                <a:solidFill>
                  <a:srgbClr val="80276C"/>
                </a:solidFill>
                <a:latin typeface="Times New Roman" panose="02020603050405020304" pitchFamily="18" charset="0"/>
                <a:cs typeface="Times New Roman" panose="02020603050405020304" pitchFamily="18" charset="0"/>
              </a:rPr>
              <a:t> have to </a:t>
            </a:r>
            <a:r>
              <a:rPr lang="fr-FR" b="1" dirty="0" err="1">
                <a:solidFill>
                  <a:srgbClr val="80276C"/>
                </a:solidFill>
                <a:latin typeface="Times New Roman" panose="02020603050405020304" pitchFamily="18" charset="0"/>
                <a:cs typeface="Times New Roman" panose="02020603050405020304" pitchFamily="18" charset="0"/>
              </a:rPr>
              <a:t>grope</a:t>
            </a:r>
            <a:r>
              <a:rPr lang="fr-FR" b="1" dirty="0">
                <a:solidFill>
                  <a:srgbClr val="80276C"/>
                </a:solidFill>
                <a:latin typeface="Times New Roman" panose="02020603050405020304" pitchFamily="18" charset="0"/>
                <a:cs typeface="Times New Roman" panose="02020603050405020304" pitchFamily="18" charset="0"/>
              </a:rPr>
              <a:t> in the </a:t>
            </a:r>
            <a:r>
              <a:rPr lang="fr-FR" b="1" dirty="0" err="1">
                <a:solidFill>
                  <a:srgbClr val="80276C"/>
                </a:solidFill>
                <a:latin typeface="Times New Roman" panose="02020603050405020304" pitchFamily="18" charset="0"/>
                <a:cs typeface="Times New Roman" panose="02020603050405020304" pitchFamily="18" charset="0"/>
              </a:rPr>
              <a:t>dark</a:t>
            </a:r>
            <a:r>
              <a:rPr lang="fr-FR" b="1" dirty="0">
                <a:solidFill>
                  <a:srgbClr val="80276C"/>
                </a:solidFill>
                <a:latin typeface="Times New Roman" panose="02020603050405020304" pitchFamily="18" charset="0"/>
                <a:cs typeface="Times New Roman" panose="02020603050405020304" pitchFamily="18" charset="0"/>
              </a:rPr>
              <a:t>, as </a:t>
            </a:r>
            <a:r>
              <a:rPr lang="fr-FR" b="1" dirty="0" err="1">
                <a:solidFill>
                  <a:srgbClr val="80276C"/>
                </a:solidFill>
                <a:latin typeface="Times New Roman" panose="02020603050405020304" pitchFamily="18" charset="0"/>
                <a:cs typeface="Times New Roman" panose="02020603050405020304" pitchFamily="18" charset="0"/>
              </a:rPr>
              <a:t>you</a:t>
            </a:r>
            <a:r>
              <a:rPr lang="fr-FR" b="1" dirty="0">
                <a:solidFill>
                  <a:srgbClr val="80276C"/>
                </a:solidFill>
                <a:latin typeface="Times New Roman" panose="02020603050405020304" pitchFamily="18" charset="0"/>
                <a:cs typeface="Times New Roman" panose="02020603050405020304" pitchFamily="18" charset="0"/>
              </a:rPr>
              <a:t> do in the </a:t>
            </a:r>
            <a:r>
              <a:rPr lang="fr-FR" b="1" dirty="0" err="1">
                <a:solidFill>
                  <a:srgbClr val="80276C"/>
                </a:solidFill>
                <a:latin typeface="Times New Roman" panose="02020603050405020304" pitchFamily="18" charset="0"/>
                <a:cs typeface="Times New Roman" panose="02020603050405020304" pitchFamily="18" charset="0"/>
              </a:rPr>
              <a:t>research</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field</a:t>
            </a:r>
            <a:r>
              <a:rPr lang="fr-FR" b="1" dirty="0">
                <a:solidFill>
                  <a:srgbClr val="80276C"/>
                </a:solidFill>
                <a:latin typeface="Times New Roman" panose="02020603050405020304" pitchFamily="18" charset="0"/>
                <a:cs typeface="Times New Roman" panose="02020603050405020304" pitchFamily="18" charset="0"/>
              </a:rPr>
              <a:t>. There are </a:t>
            </a:r>
            <a:r>
              <a:rPr lang="fr-FR" b="1" dirty="0" err="1">
                <a:solidFill>
                  <a:srgbClr val="80276C"/>
                </a:solidFill>
                <a:latin typeface="Times New Roman" panose="02020603050405020304" pitchFamily="18" charset="0"/>
                <a:cs typeface="Times New Roman" panose="02020603050405020304" pitchFamily="18" charset="0"/>
              </a:rPr>
              <a:t>often</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several</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ways</a:t>
            </a:r>
            <a:r>
              <a:rPr lang="fr-FR" b="1" dirty="0">
                <a:solidFill>
                  <a:srgbClr val="80276C"/>
                </a:solidFill>
                <a:latin typeface="Times New Roman" panose="02020603050405020304" pitchFamily="18" charset="0"/>
                <a:cs typeface="Times New Roman" panose="02020603050405020304" pitchFamily="18" charset="0"/>
              </a:rPr>
              <a:t> and </a:t>
            </a:r>
            <a:r>
              <a:rPr lang="fr-FR" b="1" dirty="0" err="1">
                <a:solidFill>
                  <a:srgbClr val="80276C"/>
                </a:solidFill>
                <a:latin typeface="Times New Roman" panose="02020603050405020304" pitchFamily="18" charset="0"/>
                <a:cs typeface="Times New Roman" panose="02020603050405020304" pitchFamily="18" charset="0"/>
              </a:rPr>
              <a:t>means</a:t>
            </a:r>
            <a:r>
              <a:rPr lang="fr-FR" b="1" dirty="0">
                <a:solidFill>
                  <a:srgbClr val="80276C"/>
                </a:solidFill>
                <a:latin typeface="Times New Roman" panose="02020603050405020304" pitchFamily="18" charset="0"/>
                <a:cs typeface="Times New Roman" panose="02020603050405020304" pitchFamily="18" charset="0"/>
              </a:rPr>
              <a:t> to </a:t>
            </a:r>
            <a:r>
              <a:rPr lang="fr-FR" b="1" dirty="0" err="1">
                <a:solidFill>
                  <a:srgbClr val="80276C"/>
                </a:solidFill>
                <a:latin typeface="Times New Roman" panose="02020603050405020304" pitchFamily="18" charset="0"/>
                <a:cs typeface="Times New Roman" panose="02020603050405020304" pitchFamily="18" charset="0"/>
              </a:rPr>
              <a:t>reach</a:t>
            </a:r>
            <a:r>
              <a:rPr lang="fr-FR" b="1" dirty="0">
                <a:solidFill>
                  <a:srgbClr val="80276C"/>
                </a:solidFill>
                <a:latin typeface="Times New Roman" panose="02020603050405020304" pitchFamily="18" charset="0"/>
                <a:cs typeface="Times New Roman" panose="02020603050405020304" pitchFamily="18" charset="0"/>
              </a:rPr>
              <a:t> the </a:t>
            </a:r>
            <a:r>
              <a:rPr lang="fr-FR" b="1" dirty="0" err="1">
                <a:solidFill>
                  <a:srgbClr val="80276C"/>
                </a:solidFill>
                <a:latin typeface="Times New Roman" panose="02020603050405020304" pitchFamily="18" charset="0"/>
                <a:cs typeface="Times New Roman" panose="02020603050405020304" pitchFamily="18" charset="0"/>
              </a:rPr>
              <a:t>results</a:t>
            </a:r>
            <a:r>
              <a:rPr lang="fr-FR" b="1" dirty="0">
                <a:solidFill>
                  <a:srgbClr val="80276C"/>
                </a:solidFill>
                <a:latin typeface="Times New Roman" panose="02020603050405020304" pitchFamily="18" charset="0"/>
                <a:cs typeface="Times New Roman" panose="02020603050405020304" pitchFamily="18" charset="0"/>
              </a:rPr>
              <a:t>.</a:t>
            </a:r>
          </a:p>
          <a:p>
            <a:pPr marL="0" lvl="2" algn="just"/>
            <a:endParaRPr lang="fr-FR" b="1" dirty="0">
              <a:solidFill>
                <a:srgbClr val="80276C"/>
              </a:solidFill>
              <a:latin typeface="Times New Roman" panose="02020603050405020304" pitchFamily="18" charset="0"/>
              <a:cs typeface="Times New Roman" panose="02020603050405020304" pitchFamily="18" charset="0"/>
            </a:endParaRPr>
          </a:p>
          <a:p>
            <a:pPr marL="0" lvl="2" algn="just"/>
            <a:r>
              <a:rPr lang="fr-FR" b="1" u="sng" dirty="0">
                <a:solidFill>
                  <a:srgbClr val="80276C"/>
                </a:solidFill>
                <a:latin typeface="Times New Roman" panose="02020603050405020304" pitchFamily="18" charset="0"/>
                <a:cs typeface="Times New Roman" panose="02020603050405020304" pitchFamily="18" charset="0"/>
              </a:rPr>
              <a:t>Documentation </a:t>
            </a:r>
            <a:r>
              <a:rPr lang="fr-FR" b="1" u="sng" dirty="0" err="1">
                <a:solidFill>
                  <a:srgbClr val="80276C"/>
                </a:solidFill>
                <a:latin typeface="Times New Roman" panose="02020603050405020304" pitchFamily="18" charset="0"/>
                <a:cs typeface="Times New Roman" panose="02020603050405020304" pitchFamily="18" charset="0"/>
              </a:rPr>
              <a:t>language</a:t>
            </a:r>
            <a:endParaRPr lang="fr-FR" b="1" u="sng" dirty="0">
              <a:solidFill>
                <a:srgbClr val="80276C"/>
              </a:solidFill>
              <a:latin typeface="Times New Roman" panose="02020603050405020304" pitchFamily="18" charset="0"/>
              <a:cs typeface="Times New Roman" panose="02020603050405020304" pitchFamily="18" charset="0"/>
            </a:endParaRPr>
          </a:p>
          <a:p>
            <a:pPr marL="0" lvl="2" algn="just"/>
            <a:r>
              <a:rPr lang="fr-FR" b="1" dirty="0">
                <a:solidFill>
                  <a:srgbClr val="80276C"/>
                </a:solidFill>
                <a:latin typeface="Times New Roman" panose="02020603050405020304" pitchFamily="18" charset="0"/>
                <a:cs typeface="Times New Roman" panose="02020603050405020304" pitchFamily="18" charset="0"/>
              </a:rPr>
              <a:t>Most of the </a:t>
            </a:r>
            <a:r>
              <a:rPr lang="fr-FR" b="1" dirty="0" err="1">
                <a:solidFill>
                  <a:srgbClr val="80276C"/>
                </a:solidFill>
                <a:latin typeface="Times New Roman" panose="02020603050405020304" pitchFamily="18" charset="0"/>
                <a:cs typeface="Times New Roman" panose="02020603050405020304" pitchFamily="18" charset="0"/>
              </a:rPr>
              <a:t>paid</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databases</a:t>
            </a:r>
            <a:r>
              <a:rPr lang="fr-FR" b="1" dirty="0">
                <a:solidFill>
                  <a:srgbClr val="80276C"/>
                </a:solidFill>
                <a:latin typeface="Times New Roman" panose="02020603050405020304" pitchFamily="18" charset="0"/>
                <a:cs typeface="Times New Roman" panose="02020603050405020304" pitchFamily="18" charset="0"/>
              </a:rPr>
              <a:t> have to </a:t>
            </a:r>
            <a:r>
              <a:rPr lang="fr-FR" b="1" dirty="0" err="1">
                <a:solidFill>
                  <a:srgbClr val="80276C"/>
                </a:solidFill>
                <a:latin typeface="Times New Roman" panose="02020603050405020304" pitchFamily="18" charset="0"/>
                <a:cs typeface="Times New Roman" panose="02020603050405020304" pitchFamily="18" charset="0"/>
              </a:rPr>
              <a:t>be</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queried</a:t>
            </a:r>
            <a:r>
              <a:rPr lang="fr-FR" b="1" dirty="0">
                <a:solidFill>
                  <a:srgbClr val="80276C"/>
                </a:solidFill>
                <a:latin typeface="Times New Roman" panose="02020603050405020304" pitchFamily="18" charset="0"/>
                <a:cs typeface="Times New Roman" panose="02020603050405020304" pitchFamily="18" charset="0"/>
              </a:rPr>
              <a:t> in documentation </a:t>
            </a:r>
            <a:r>
              <a:rPr lang="fr-FR" b="1" dirty="0" err="1">
                <a:solidFill>
                  <a:srgbClr val="80276C"/>
                </a:solidFill>
                <a:latin typeface="Times New Roman" panose="02020603050405020304" pitchFamily="18" charset="0"/>
                <a:cs typeface="Times New Roman" panose="02020603050405020304" pitchFamily="18" charset="0"/>
              </a:rPr>
              <a:t>language</a:t>
            </a:r>
            <a:r>
              <a:rPr lang="fr-FR" b="1" dirty="0">
                <a:solidFill>
                  <a:srgbClr val="80276C"/>
                </a:solidFill>
                <a:latin typeface="Times New Roman" panose="02020603050405020304" pitchFamily="18" charset="0"/>
                <a:cs typeface="Times New Roman" panose="02020603050405020304" pitchFamily="18" charset="0"/>
              </a:rPr>
              <a:t> more </a:t>
            </a:r>
            <a:r>
              <a:rPr lang="fr-FR" b="1" dirty="0" err="1">
                <a:solidFill>
                  <a:srgbClr val="80276C"/>
                </a:solidFill>
                <a:latin typeface="Times New Roman" panose="02020603050405020304" pitchFamily="18" charset="0"/>
                <a:cs typeface="Times New Roman" panose="02020603050405020304" pitchFamily="18" charset="0"/>
              </a:rPr>
              <a:t>rigorous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than</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natural</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language</a:t>
            </a:r>
            <a:r>
              <a:rPr lang="fr-FR" b="1" dirty="0">
                <a:solidFill>
                  <a:srgbClr val="80276C"/>
                </a:solidFill>
                <a:latin typeface="Times New Roman" panose="02020603050405020304" pitchFamily="18" charset="0"/>
                <a:cs typeface="Times New Roman" panose="02020603050405020304" pitchFamily="18" charset="0"/>
              </a:rPr>
              <a:t> :  AND </a:t>
            </a:r>
            <a:r>
              <a:rPr lang="fr-FR" b="1" dirty="0" err="1">
                <a:solidFill>
                  <a:srgbClr val="80276C"/>
                </a:solidFill>
                <a:latin typeface="Times New Roman" panose="02020603050405020304" pitchFamily="18" charset="0"/>
                <a:cs typeface="Times New Roman" panose="02020603050405020304" pitchFamily="18" charset="0"/>
              </a:rPr>
              <a:t>and</a:t>
            </a:r>
            <a:r>
              <a:rPr lang="fr-FR" b="1" dirty="0">
                <a:solidFill>
                  <a:srgbClr val="80276C"/>
                </a:solidFill>
                <a:latin typeface="Times New Roman" panose="02020603050405020304" pitchFamily="18" charset="0"/>
                <a:cs typeface="Times New Roman" panose="02020603050405020304" pitchFamily="18" charset="0"/>
              </a:rPr>
              <a:t> NOT are not </a:t>
            </a:r>
            <a:r>
              <a:rPr lang="fr-FR" b="1" dirty="0" err="1">
                <a:solidFill>
                  <a:srgbClr val="80276C"/>
                </a:solidFill>
                <a:latin typeface="Times New Roman" panose="02020603050405020304" pitchFamily="18" charset="0"/>
                <a:cs typeface="Times New Roman" panose="02020603050405020304" pitchFamily="18" charset="0"/>
              </a:rPr>
              <a:t>used</a:t>
            </a:r>
            <a:r>
              <a:rPr lang="fr-FR" b="1" dirty="0">
                <a:solidFill>
                  <a:srgbClr val="80276C"/>
                </a:solidFill>
                <a:latin typeface="Times New Roman" panose="02020603050405020304" pitchFamily="18" charset="0"/>
                <a:cs typeface="Times New Roman" panose="02020603050405020304" pitchFamily="18" charset="0"/>
              </a:rPr>
              <a:t> in the </a:t>
            </a:r>
            <a:r>
              <a:rPr lang="fr-FR" b="1" dirty="0" err="1">
                <a:solidFill>
                  <a:srgbClr val="80276C"/>
                </a:solidFill>
                <a:latin typeface="Times New Roman" panose="02020603050405020304" pitchFamily="18" charset="0"/>
                <a:cs typeface="Times New Roman" panose="02020603050405020304" pitchFamily="18" charset="0"/>
              </a:rPr>
              <a:t>same</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way</a:t>
            </a:r>
            <a:r>
              <a:rPr lang="fr-FR" b="1" dirty="0">
                <a:solidFill>
                  <a:srgbClr val="80276C"/>
                </a:solidFill>
                <a:latin typeface="Times New Roman" panose="02020603050405020304" pitchFamily="18" charset="0"/>
                <a:cs typeface="Times New Roman" panose="02020603050405020304" pitchFamily="18" charset="0"/>
              </a:rPr>
              <a:t> in the </a:t>
            </a:r>
            <a:r>
              <a:rPr lang="fr-FR" b="1" dirty="0" err="1">
                <a:solidFill>
                  <a:srgbClr val="80276C"/>
                </a:solidFill>
                <a:latin typeface="Times New Roman" panose="02020603050405020304" pitchFamily="18" charset="0"/>
                <a:cs typeface="Times New Roman" panose="02020603050405020304" pitchFamily="18" charset="0"/>
              </a:rPr>
              <a:t>two</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languages</a:t>
            </a:r>
            <a:endParaRPr lang="fr-FR" b="1" dirty="0">
              <a:solidFill>
                <a:srgbClr val="80276C"/>
              </a:solidFill>
              <a:latin typeface="Times New Roman" panose="02020603050405020304" pitchFamily="18" charset="0"/>
              <a:cs typeface="Times New Roman" panose="02020603050405020304" pitchFamily="18" charset="0"/>
            </a:endParaRPr>
          </a:p>
          <a:p>
            <a:pPr marL="0" lvl="2"/>
            <a:endParaRPr lang="fr-FR" sz="2000" b="1" dirty="0">
              <a:solidFill>
                <a:srgbClr val="80276C"/>
              </a:solidFill>
              <a:latin typeface="Times New Roman" panose="02020603050405020304" pitchFamily="18" charset="0"/>
              <a:cs typeface="Times New Roman" panose="02020603050405020304" pitchFamily="18" charset="0"/>
            </a:endParaRPr>
          </a:p>
        </p:txBody>
      </p:sp>
      <p:sp>
        <p:nvSpPr>
          <p:cNvPr id="12" name="Espace réservé du texte 1">
            <a:extLst>
              <a:ext uri="{FF2B5EF4-FFF2-40B4-BE49-F238E27FC236}">
                <a16:creationId xmlns:a16="http://schemas.microsoft.com/office/drawing/2014/main" id="{C9E831AA-B272-E3F2-11C7-2C5FD3FF89B7}"/>
              </a:ext>
            </a:extLst>
          </p:cNvPr>
          <p:cNvSpPr>
            <a:spLocks noGrp="1"/>
          </p:cNvSpPr>
          <p:nvPr>
            <p:ph type="body" sz="quarter" idx="11"/>
          </p:nvPr>
        </p:nvSpPr>
        <p:spPr>
          <a:xfrm>
            <a:off x="7304900" y="1190330"/>
            <a:ext cx="4017841" cy="2532281"/>
          </a:xfrm>
        </p:spPr>
        <p:txBody>
          <a:bodyPr>
            <a:normAutofit fontScale="70000" lnSpcReduction="20000"/>
          </a:bodyPr>
          <a:lstStyle/>
          <a:p>
            <a:r>
              <a:rPr 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Steps of document research</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Define the topic (go from general to specific)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the key concepts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Choose keywords and search terms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Select research tools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for and analyze content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Sort the results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Organize references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Produce a summary.</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72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E17AF-8A42-4398-90BA-C60ADBE1CA99}"/>
              </a:ext>
            </a:extLst>
          </p:cNvPr>
          <p:cNvSpPr/>
          <p:nvPr/>
        </p:nvSpPr>
        <p:spPr>
          <a:xfrm>
            <a:off x="730102" y="489949"/>
            <a:ext cx="10093841" cy="923330"/>
          </a:xfrm>
          <a:prstGeom prst="rect">
            <a:avLst/>
          </a:prstGeom>
        </p:spPr>
        <p:txBody>
          <a:bodyPr wrap="square">
            <a:spAutoFit/>
          </a:bodyPr>
          <a:lstStyle/>
          <a:p>
            <a:r>
              <a:rPr lang="fr-FR" b="1" dirty="0" err="1">
                <a:solidFill>
                  <a:srgbClr val="80276C"/>
                </a:solidFill>
                <a:latin typeface="Times New Roman" panose="02020603050405020304" pitchFamily="18" charset="0"/>
                <a:cs typeface="Times New Roman" panose="02020603050405020304" pitchFamily="18" charset="0"/>
              </a:rPr>
              <a:t>Steps</a:t>
            </a:r>
            <a:r>
              <a:rPr lang="fr-FR" b="1" dirty="0">
                <a:solidFill>
                  <a:srgbClr val="80276C"/>
                </a:solidFill>
                <a:latin typeface="Times New Roman" panose="02020603050405020304" pitchFamily="18" charset="0"/>
                <a:cs typeface="Times New Roman" panose="02020603050405020304" pitchFamily="18" charset="0"/>
              </a:rPr>
              <a:t> of </a:t>
            </a:r>
            <a:r>
              <a:rPr lang="fr-FR" b="1" dirty="0" err="1">
                <a:solidFill>
                  <a:srgbClr val="80276C"/>
                </a:solidFill>
                <a:latin typeface="Times New Roman" panose="02020603050405020304" pitchFamily="18" charset="0"/>
                <a:cs typeface="Times New Roman" panose="02020603050405020304" pitchFamily="18" charset="0"/>
              </a:rPr>
              <a:t>bibliographic</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search</a:t>
            </a:r>
            <a:r>
              <a:rPr lang="fr-FR" b="1" dirty="0">
                <a:solidFill>
                  <a:srgbClr val="80276C"/>
                </a:solidFill>
                <a:latin typeface="Times New Roman" panose="02020603050405020304" pitchFamily="18" charset="0"/>
                <a:cs typeface="Times New Roman" panose="02020603050405020304" pitchFamily="18" charset="0"/>
              </a:rPr>
              <a:t> (1) </a:t>
            </a:r>
          </a:p>
          <a:p>
            <a:r>
              <a:rPr lang="fr-FR" dirty="0" err="1">
                <a:solidFill>
                  <a:srgbClr val="80276C"/>
                </a:solidFill>
                <a:latin typeface="Times New Roman" panose="02020603050405020304" pitchFamily="18" charset="0"/>
                <a:cs typeface="Times New Roman" panose="02020603050405020304" pitchFamily="18" charset="0"/>
              </a:rPr>
              <a:t>From</a:t>
            </a:r>
            <a:r>
              <a:rPr lang="fr-FR" dirty="0">
                <a:solidFill>
                  <a:srgbClr val="80276C"/>
                </a:solidFill>
                <a:latin typeface="Times New Roman" panose="02020603050405020304" pitchFamily="18" charset="0"/>
                <a:cs typeface="Times New Roman" panose="02020603050405020304" pitchFamily="18" charset="0"/>
              </a:rPr>
              <a:t> an </a:t>
            </a:r>
            <a:r>
              <a:rPr lang="fr-FR" dirty="0" err="1">
                <a:solidFill>
                  <a:srgbClr val="80276C"/>
                </a:solidFill>
                <a:latin typeface="Times New Roman" panose="02020603050405020304" pitchFamily="18" charset="0"/>
                <a:cs typeface="Times New Roman" panose="02020603050405020304" pitchFamily="18" charset="0"/>
              </a:rPr>
              <a:t>example</a:t>
            </a:r>
            <a:r>
              <a:rPr lang="fr-FR" dirty="0">
                <a:solidFill>
                  <a:srgbClr val="80276C"/>
                </a:solidFill>
                <a:latin typeface="Times New Roman" panose="02020603050405020304" pitchFamily="18" charset="0"/>
                <a:cs typeface="Times New Roman" panose="02020603050405020304" pitchFamily="18" charset="0"/>
              </a:rPr>
              <a:t> in a state-of-the art about </a:t>
            </a:r>
            <a:r>
              <a:rPr lang="fr-FR" dirty="0" err="1">
                <a:solidFill>
                  <a:srgbClr val="80276C"/>
                </a:solidFill>
                <a:latin typeface="Times New Roman" panose="02020603050405020304" pitchFamily="18" charset="0"/>
                <a:cs typeface="Times New Roman" panose="02020603050405020304" pitchFamily="18" charset="0"/>
              </a:rPr>
              <a:t>metal</a:t>
            </a:r>
            <a:r>
              <a:rPr lang="fr-FR" dirty="0">
                <a:solidFill>
                  <a:srgbClr val="80276C"/>
                </a:solidFill>
                <a:latin typeface="Times New Roman" panose="02020603050405020304" pitchFamily="18" charset="0"/>
                <a:cs typeface="Times New Roman" panose="02020603050405020304" pitchFamily="18" charset="0"/>
              </a:rPr>
              <a:t> additive </a:t>
            </a:r>
            <a:r>
              <a:rPr lang="fr-FR" dirty="0" err="1">
                <a:solidFill>
                  <a:srgbClr val="80276C"/>
                </a:solidFill>
                <a:latin typeface="Times New Roman" panose="02020603050405020304" pitchFamily="18" charset="0"/>
                <a:cs typeface="Times New Roman" panose="02020603050405020304" pitchFamily="18" charset="0"/>
              </a:rPr>
              <a:t>manufacturing</a:t>
            </a:r>
            <a:r>
              <a:rPr lang="fr-FR" dirty="0">
                <a:solidFill>
                  <a:srgbClr val="80276C"/>
                </a:solidFill>
                <a:latin typeface="Times New Roman" panose="02020603050405020304" pitchFamily="18" charset="0"/>
                <a:cs typeface="Times New Roman" panose="02020603050405020304" pitchFamily="18" charset="0"/>
              </a:rPr>
              <a:t> </a:t>
            </a:r>
          </a:p>
          <a:p>
            <a:r>
              <a:rPr lang="fr-FR" dirty="0">
                <a:solidFill>
                  <a:srgbClr val="80276C"/>
                </a:solidFill>
                <a:latin typeface="Times New Roman" panose="02020603050405020304" pitchFamily="18" charset="0"/>
                <a:cs typeface="Times New Roman" panose="02020603050405020304" pitchFamily="18" charset="0"/>
              </a:rPr>
              <a:t>Background : </a:t>
            </a:r>
            <a:r>
              <a:rPr lang="fr-FR" dirty="0" err="1">
                <a:solidFill>
                  <a:srgbClr val="80276C"/>
                </a:solidFill>
                <a:latin typeface="Times New Roman" panose="02020603050405020304" pitchFamily="18" charset="0"/>
                <a:cs typeface="Times New Roman" panose="02020603050405020304" pitchFamily="18" charset="0"/>
              </a:rPr>
              <a:t>you</a:t>
            </a:r>
            <a:r>
              <a:rPr lang="fr-FR" dirty="0">
                <a:solidFill>
                  <a:srgbClr val="80276C"/>
                </a:solidFill>
                <a:latin typeface="Times New Roman" panose="02020603050405020304" pitchFamily="18" charset="0"/>
                <a:cs typeface="Times New Roman" panose="02020603050405020304" pitchFamily="18" charset="0"/>
              </a:rPr>
              <a:t> have to file a patent for a new process </a:t>
            </a:r>
            <a:r>
              <a:rPr lang="fr-FR" dirty="0" err="1">
                <a:solidFill>
                  <a:srgbClr val="80276C"/>
                </a:solidFill>
                <a:latin typeface="Times New Roman" panose="02020603050405020304" pitchFamily="18" charset="0"/>
                <a:cs typeface="Times New Roman" panose="02020603050405020304" pitchFamily="18" charset="0"/>
              </a:rPr>
              <a:t>deposit</a:t>
            </a:r>
            <a:endParaRPr lang="fr-FR" dirty="0"/>
          </a:p>
        </p:txBody>
      </p:sp>
      <p:sp>
        <p:nvSpPr>
          <p:cNvPr id="4" name="ZoneTexte 3">
            <a:extLst>
              <a:ext uri="{FF2B5EF4-FFF2-40B4-BE49-F238E27FC236}">
                <a16:creationId xmlns:a16="http://schemas.microsoft.com/office/drawing/2014/main" id="{19B796D8-275D-4082-B99F-4FE111FA5A79}"/>
              </a:ext>
            </a:extLst>
          </p:cNvPr>
          <p:cNvSpPr txBox="1"/>
          <p:nvPr/>
        </p:nvSpPr>
        <p:spPr>
          <a:xfrm>
            <a:off x="554172" y="1749179"/>
            <a:ext cx="10093841" cy="3539430"/>
          </a:xfrm>
          <a:prstGeom prst="rect">
            <a:avLst/>
          </a:prstGeom>
          <a:noFill/>
        </p:spPr>
        <p:txBody>
          <a:bodyPr wrap="square" rtlCol="0">
            <a:spAutoFit/>
          </a:bodyPr>
          <a:lstStyle/>
          <a:p>
            <a:pPr marL="285750" indent="-285750" algn="just">
              <a:buFont typeface="Wingdings" panose="05000000000000000000" pitchFamily="2" charset="2"/>
              <a:buChar char="v"/>
            </a:pPr>
            <a:r>
              <a:rPr lang="fr-FR" sz="1600" b="1" dirty="0" err="1">
                <a:solidFill>
                  <a:srgbClr val="80276C"/>
                </a:solidFill>
                <a:latin typeface="Times New Roman" panose="02020603050405020304" pitchFamily="18" charset="0"/>
                <a:cs typeface="Times New Roman" panose="02020603050405020304" pitchFamily="18" charset="0"/>
              </a:rPr>
              <a:t>Review</a:t>
            </a:r>
            <a:r>
              <a:rPr lang="fr-FR" sz="1600" b="1" dirty="0">
                <a:solidFill>
                  <a:srgbClr val="80276C"/>
                </a:solidFill>
                <a:latin typeface="Times New Roman" panose="02020603050405020304" pitchFamily="18" charset="0"/>
                <a:cs typeface="Times New Roman" panose="02020603050405020304" pitchFamily="18" charset="0"/>
              </a:rPr>
              <a:t> of the situation, </a:t>
            </a:r>
            <a:r>
              <a:rPr lang="fr-FR" sz="1600" b="1" dirty="0" err="1">
                <a:solidFill>
                  <a:srgbClr val="80276C"/>
                </a:solidFill>
                <a:latin typeface="Times New Roman" panose="02020603050405020304" pitchFamily="18" charset="0"/>
                <a:cs typeface="Times New Roman" panose="02020603050405020304" pitchFamily="18" charset="0"/>
              </a:rPr>
              <a:t>review</a:t>
            </a:r>
            <a:r>
              <a:rPr lang="fr-FR" sz="1600" b="1" dirty="0">
                <a:solidFill>
                  <a:srgbClr val="80276C"/>
                </a:solidFill>
                <a:latin typeface="Times New Roman" panose="02020603050405020304" pitchFamily="18" charset="0"/>
                <a:cs typeface="Times New Roman" panose="02020603050405020304" pitchFamily="18" charset="0"/>
              </a:rPr>
              <a:t> of </a:t>
            </a:r>
            <a:r>
              <a:rPr lang="fr-FR" sz="1600" b="1" dirty="0" err="1">
                <a:solidFill>
                  <a:srgbClr val="80276C"/>
                </a:solidFill>
                <a:latin typeface="Times New Roman" panose="02020603050405020304" pitchFamily="18" charset="0"/>
                <a:cs typeface="Times New Roman" panose="02020603050405020304" pitchFamily="18" charset="0"/>
              </a:rPr>
              <a:t>literature</a:t>
            </a:r>
            <a:r>
              <a:rPr lang="fr-FR" sz="1600" b="1" dirty="0">
                <a:solidFill>
                  <a:srgbClr val="80276C"/>
                </a:solidFill>
                <a:latin typeface="Times New Roman" panose="02020603050405020304" pitchFamily="18" charset="0"/>
                <a:cs typeface="Times New Roman" panose="02020603050405020304" pitchFamily="18" charset="0"/>
              </a:rPr>
              <a:t>, state-of-the-art (</a:t>
            </a:r>
            <a:r>
              <a:rPr lang="fr-FR" sz="1600" b="1" dirty="0" err="1">
                <a:solidFill>
                  <a:srgbClr val="80276C"/>
                </a:solidFill>
                <a:latin typeface="Times New Roman" panose="02020603050405020304" pitchFamily="18" charset="0"/>
                <a:cs typeface="Times New Roman" panose="02020603050405020304" pitchFamily="18" charset="0"/>
              </a:rPr>
              <a:t>assessment</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analysis</a:t>
            </a:r>
            <a:r>
              <a:rPr lang="fr-FR" sz="1600" b="1" dirty="0">
                <a:solidFill>
                  <a:srgbClr val="80276C"/>
                </a:solidFill>
                <a:latin typeface="Times New Roman" panose="02020603050405020304" pitchFamily="18" charset="0"/>
                <a:cs typeface="Times New Roman" panose="02020603050405020304" pitchFamily="18" charset="0"/>
              </a:rPr>
              <a:t> of </a:t>
            </a:r>
            <a:r>
              <a:rPr lang="fr-FR" sz="1600" b="1" dirty="0" err="1">
                <a:solidFill>
                  <a:srgbClr val="80276C"/>
                </a:solidFill>
                <a:latin typeface="Times New Roman" panose="02020603050405020304" pitchFamily="18" charset="0"/>
                <a:cs typeface="Times New Roman" panose="02020603050405020304" pitchFamily="18" charset="0"/>
              </a:rPr>
              <a:t>what</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already</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exists</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needs</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requirements</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analysis</a:t>
            </a:r>
            <a:r>
              <a:rPr lang="fr-FR" sz="1600" b="1" dirty="0">
                <a:solidFill>
                  <a:srgbClr val="80276C"/>
                </a:solidFill>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v"/>
            </a:pPr>
            <a:r>
              <a:rPr lang="fr-FR" sz="1600" b="1" dirty="0" err="1">
                <a:solidFill>
                  <a:srgbClr val="80276C"/>
                </a:solidFill>
                <a:latin typeface="Times New Roman" panose="02020603050405020304" pitchFamily="18" charset="0"/>
                <a:cs typeface="Times New Roman" panose="02020603050405020304" pitchFamily="18" charset="0"/>
              </a:rPr>
              <a:t>Sourcing</a:t>
            </a:r>
            <a:r>
              <a:rPr lang="fr-FR" sz="1600" b="1" dirty="0">
                <a:solidFill>
                  <a:srgbClr val="80276C"/>
                </a:solidFill>
                <a:latin typeface="Times New Roman" panose="02020603050405020304" pitchFamily="18" charset="0"/>
                <a:cs typeface="Times New Roman" panose="02020603050405020304" pitchFamily="18" charset="0"/>
              </a:rPr>
              <a:t> and </a:t>
            </a:r>
            <a:r>
              <a:rPr lang="fr-FR" sz="1600" b="1" dirty="0" err="1">
                <a:solidFill>
                  <a:srgbClr val="80276C"/>
                </a:solidFill>
                <a:latin typeface="Times New Roman" panose="02020603050405020304" pitchFamily="18" charset="0"/>
                <a:cs typeface="Times New Roman" panose="02020603050405020304" pitchFamily="18" charset="0"/>
              </a:rPr>
              <a:t>upstream</a:t>
            </a:r>
            <a:r>
              <a:rPr lang="fr-FR" sz="1600" b="1" dirty="0">
                <a:solidFill>
                  <a:srgbClr val="80276C"/>
                </a:solidFill>
                <a:latin typeface="Times New Roman" panose="02020603050405020304" pitchFamily="18" charset="0"/>
                <a:cs typeface="Times New Roman" panose="02020603050405020304" pitchFamily="18" charset="0"/>
              </a:rPr>
              <a:t> monitoring:  benchmark, </a:t>
            </a:r>
            <a:r>
              <a:rPr lang="fr-FR" sz="1600" b="1" dirty="0" err="1">
                <a:solidFill>
                  <a:srgbClr val="80276C"/>
                </a:solidFill>
                <a:latin typeface="Times New Roman" panose="02020603050405020304" pitchFamily="18" charset="0"/>
                <a:cs typeface="Times New Roman" panose="02020603050405020304" pitchFamily="18" charset="0"/>
              </a:rPr>
              <a:t>critical</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analysis</a:t>
            </a:r>
            <a:r>
              <a:rPr lang="fr-FR" sz="1600" b="1" dirty="0">
                <a:solidFill>
                  <a:srgbClr val="80276C"/>
                </a:solidFill>
                <a:latin typeface="Times New Roman" panose="02020603050405020304" pitchFamily="18" charset="0"/>
                <a:cs typeface="Times New Roman" panose="02020603050405020304" pitchFamily="18" charset="0"/>
              </a:rPr>
              <a:t>,  cross-checking, </a:t>
            </a:r>
            <a:r>
              <a:rPr lang="fr-FR" sz="1600" b="1" dirty="0" err="1">
                <a:solidFill>
                  <a:srgbClr val="80276C"/>
                </a:solidFill>
                <a:latin typeface="Times New Roman" panose="02020603050405020304" pitchFamily="18" charset="0"/>
                <a:cs typeface="Times New Roman" panose="02020603050405020304" pitchFamily="18" charset="0"/>
              </a:rPr>
              <a:t>combining</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collecting</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paper</a:t>
            </a:r>
            <a:r>
              <a:rPr lang="fr-FR" sz="1600" b="1" dirty="0">
                <a:solidFill>
                  <a:srgbClr val="80276C"/>
                </a:solidFill>
                <a:latin typeface="Times New Roman" panose="02020603050405020304" pitchFamily="18" charset="0"/>
                <a:cs typeface="Times New Roman" panose="02020603050405020304" pitchFamily="18" charset="0"/>
              </a:rPr>
              <a:t> and digital sources, </a:t>
            </a:r>
            <a:r>
              <a:rPr lang="fr-FR" sz="1600" b="1" dirty="0" err="1">
                <a:solidFill>
                  <a:srgbClr val="80276C"/>
                </a:solidFill>
                <a:latin typeface="Times New Roman" panose="02020603050405020304" pitchFamily="18" charset="0"/>
                <a:cs typeface="Times New Roman" panose="02020603050405020304" pitchFamily="18" charset="0"/>
              </a:rPr>
              <a:t>tools</a:t>
            </a:r>
            <a:r>
              <a:rPr lang="fr-FR" sz="1600" b="1" dirty="0">
                <a:solidFill>
                  <a:srgbClr val="80276C"/>
                </a:solidFill>
                <a:latin typeface="Times New Roman" panose="02020603050405020304" pitchFamily="18" charset="0"/>
                <a:cs typeface="Times New Roman" panose="02020603050405020304" pitchFamily="18" charset="0"/>
              </a:rPr>
              <a:t> (servers, </a:t>
            </a:r>
            <a:r>
              <a:rPr lang="fr-FR" sz="1600" b="1" dirty="0" err="1">
                <a:solidFill>
                  <a:srgbClr val="80276C"/>
                </a:solidFill>
                <a:latin typeface="Times New Roman" panose="02020603050405020304" pitchFamily="18" charset="0"/>
                <a:cs typeface="Times New Roman" panose="02020603050405020304" pitchFamily="18" charset="0"/>
              </a:rPr>
              <a:t>databases</a:t>
            </a:r>
            <a:r>
              <a:rPr lang="fr-FR" sz="1600" b="1" dirty="0">
                <a:solidFill>
                  <a:srgbClr val="80276C"/>
                </a:solidFill>
                <a:latin typeface="Times New Roman" panose="02020603050405020304" pitchFamily="18" charset="0"/>
                <a:cs typeface="Times New Roman" panose="02020603050405020304" pitchFamily="18" charset="0"/>
              </a:rPr>
              <a:t> and </a:t>
            </a:r>
            <a:r>
              <a:rPr lang="fr-FR" sz="1600" b="1" dirty="0" err="1">
                <a:solidFill>
                  <a:srgbClr val="80276C"/>
                </a:solidFill>
                <a:latin typeface="Times New Roman" panose="02020603050405020304" pitchFamily="18" charset="0"/>
                <a:cs typeface="Times New Roman" panose="02020603050405020304" pitchFamily="18" charset="0"/>
              </a:rPr>
              <a:t>search</a:t>
            </a:r>
            <a:r>
              <a:rPr lang="fr-FR" sz="1600" b="1" dirty="0">
                <a:solidFill>
                  <a:srgbClr val="80276C"/>
                </a:solidFill>
                <a:latin typeface="Times New Roman" panose="02020603050405020304" pitchFamily="18" charset="0"/>
                <a:cs typeface="Times New Roman" panose="02020603050405020304" pitchFamily="18" charset="0"/>
              </a:rPr>
              <a:t> engines)</a:t>
            </a:r>
          </a:p>
          <a:p>
            <a:pPr algn="ctr"/>
            <a:r>
              <a:rPr lang="fr-FR" sz="1600" b="1" dirty="0">
                <a:solidFill>
                  <a:schemeClr val="accent1"/>
                </a:solidFill>
                <a:latin typeface="Times New Roman" panose="02020603050405020304" pitchFamily="18" charset="0"/>
                <a:cs typeface="Times New Roman" panose="02020603050405020304" pitchFamily="18" charset="0"/>
              </a:rPr>
              <a:t> (Entry </a:t>
            </a:r>
            <a:r>
              <a:rPr lang="fr-FR" sz="1600" b="1" dirty="0" err="1">
                <a:solidFill>
                  <a:schemeClr val="accent1"/>
                </a:solidFill>
                <a:latin typeface="Times New Roman" panose="02020603050405020304" pitchFamily="18" charset="0"/>
                <a:cs typeface="Times New Roman" panose="02020603050405020304" pitchFamily="18" charset="0"/>
              </a:rPr>
              <a:t>gate</a:t>
            </a:r>
            <a:r>
              <a:rPr lang="fr-FR" sz="1600" b="1" dirty="0">
                <a:solidFill>
                  <a:schemeClr val="accent1"/>
                </a:solidFill>
                <a:latin typeface="Times New Roman" panose="02020603050405020304" pitchFamily="18" charset="0"/>
                <a:cs typeface="Times New Roman" panose="02020603050405020304" pitchFamily="18" charset="0"/>
              </a:rPr>
              <a:t> to </a:t>
            </a:r>
            <a:r>
              <a:rPr lang="fr-FR" sz="1600" b="1" dirty="0" err="1">
                <a:solidFill>
                  <a:schemeClr val="accent1"/>
                </a:solidFill>
                <a:latin typeface="Times New Roman" panose="02020603050405020304" pitchFamily="18" charset="0"/>
                <a:cs typeface="Times New Roman" panose="02020603050405020304" pitchFamily="18" charset="0"/>
              </a:rPr>
              <a:t>research</a:t>
            </a:r>
            <a:r>
              <a:rPr lang="fr-FR" sz="1600" b="1" dirty="0">
                <a:solidFill>
                  <a:schemeClr val="accent1"/>
                </a:solidFill>
                <a:latin typeface="Times New Roman" panose="02020603050405020304" pitchFamily="18" charset="0"/>
                <a:cs typeface="Times New Roman" panose="02020603050405020304" pitchFamily="18" charset="0"/>
              </a:rPr>
              <a:t>:  </a:t>
            </a:r>
            <a:r>
              <a:rPr lang="fr-FR" sz="1600" b="1" dirty="0" err="1">
                <a:solidFill>
                  <a:schemeClr val="accent1"/>
                </a:solidFill>
                <a:latin typeface="Times New Roman" panose="02020603050405020304" pitchFamily="18" charset="0"/>
                <a:cs typeface="Times New Roman" panose="02020603050405020304" pitchFamily="18" charset="0"/>
              </a:rPr>
              <a:t>Scopus</a:t>
            </a:r>
            <a:r>
              <a:rPr lang="fr-FR" sz="1600" b="1" dirty="0">
                <a:solidFill>
                  <a:schemeClr val="accent1"/>
                </a:solidFill>
                <a:latin typeface="Times New Roman" panose="02020603050405020304" pitchFamily="18" charset="0"/>
                <a:cs typeface="Times New Roman" panose="02020603050405020304" pitchFamily="18" charset="0"/>
              </a:rPr>
              <a:t> or Google Scholar)</a:t>
            </a:r>
          </a:p>
          <a:p>
            <a:pPr algn="ctr"/>
            <a:endParaRPr lang="fr-FR" sz="1600" b="1" dirty="0">
              <a:solidFill>
                <a:schemeClr val="accent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Designing</a:t>
            </a:r>
            <a:r>
              <a:rPr lang="fr-FR" sz="1600" b="1" dirty="0">
                <a:solidFill>
                  <a:srgbClr val="80276C"/>
                </a:solidFill>
                <a:latin typeface="Times New Roman" panose="02020603050405020304" pitchFamily="18" charset="0"/>
                <a:cs typeface="Times New Roman" panose="02020603050405020304" pitchFamily="18" charset="0"/>
              </a:rPr>
              <a:t>  the </a:t>
            </a:r>
            <a:r>
              <a:rPr lang="fr-FR" sz="1600" b="1" dirty="0" err="1">
                <a:solidFill>
                  <a:srgbClr val="80276C"/>
                </a:solidFill>
                <a:latin typeface="Times New Roman" panose="02020603050405020304" pitchFamily="18" charset="0"/>
                <a:cs typeface="Times New Roman" panose="02020603050405020304" pitchFamily="18" charset="0"/>
              </a:rPr>
              <a:t>search</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strategy</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syntax</a:t>
            </a:r>
            <a:r>
              <a:rPr lang="fr-FR" sz="1600" b="1" dirty="0">
                <a:solidFill>
                  <a:srgbClr val="80276C"/>
                </a:solidFill>
                <a:latin typeface="Times New Roman" panose="02020603050405020304" pitchFamily="18" charset="0"/>
                <a:cs typeface="Times New Roman" panose="02020603050405020304" pitchFamily="18" charset="0"/>
              </a:rPr>
              <a:t> and </a:t>
            </a:r>
            <a:r>
              <a:rPr lang="fr-FR" sz="1600" b="1" dirty="0" err="1">
                <a:solidFill>
                  <a:srgbClr val="80276C"/>
                </a:solidFill>
                <a:latin typeface="Times New Roman" panose="02020603050405020304" pitchFamily="18" charset="0"/>
                <a:cs typeface="Times New Roman" panose="02020603050405020304" pitchFamily="18" charset="0"/>
              </a:rPr>
              <a:t>equation</a:t>
            </a:r>
            <a:endParaRPr lang="fr-FR" sz="1600" b="1" dirty="0">
              <a:solidFill>
                <a:srgbClr val="80276C"/>
              </a:solidFill>
              <a:latin typeface="Times New Roman" panose="02020603050405020304" pitchFamily="18" charset="0"/>
              <a:cs typeface="Times New Roman" panose="02020603050405020304" pitchFamily="18" charset="0"/>
            </a:endParaRPr>
          </a:p>
          <a:p>
            <a:pPr algn="just"/>
            <a:endParaRPr lang="fr-FR" sz="1600" b="1" dirty="0">
              <a:solidFill>
                <a:srgbClr val="80276C"/>
              </a:solidFill>
              <a:latin typeface="Times New Roman" panose="02020603050405020304" pitchFamily="18" charset="0"/>
              <a:cs typeface="Times New Roman" panose="02020603050405020304" pitchFamily="18" charset="0"/>
            </a:endParaRPr>
          </a:p>
          <a:p>
            <a:pPr algn="ctr"/>
            <a:r>
              <a:rPr lang="en-US" sz="1600" b="1" dirty="0">
                <a:solidFill>
                  <a:srgbClr val="80276C"/>
                </a:solidFill>
                <a:latin typeface="Times New Roman" panose="02020603050405020304" pitchFamily="18" charset="0"/>
                <a:cs typeface="Times New Roman" panose="02020603050405020304" pitchFamily="18" charset="0"/>
                <a:hlinkClick r:id="rId2"/>
              </a:rPr>
              <a:t>(innovation AND “engineer ")    </a:t>
            </a:r>
            <a:r>
              <a:rPr lang="en-US" sz="1600" b="1" dirty="0">
                <a:solidFill>
                  <a:srgbClr val="80276C"/>
                </a:solidFill>
                <a:latin typeface="Times New Roman" panose="02020603050405020304" pitchFamily="18" charset="0"/>
                <a:cs typeface="Times New Roman" panose="02020603050405020304" pitchFamily="18" charset="0"/>
              </a:rPr>
              <a:t>(Google Scholar)</a:t>
            </a:r>
          </a:p>
          <a:p>
            <a:pPr algn="ctr"/>
            <a:r>
              <a:rPr lang="fr-FR" sz="1600" b="1" dirty="0">
                <a:solidFill>
                  <a:srgbClr val="80276C"/>
                </a:solidFill>
                <a:latin typeface="Times New Roman" panose="02020603050405020304" pitchFamily="18" charset="0"/>
                <a:cs typeface="Times New Roman" panose="02020603050405020304" pitchFamily="18" charset="0"/>
                <a:hlinkClick r:id="rId3"/>
              </a:rPr>
              <a:t> </a:t>
            </a:r>
            <a:r>
              <a:rPr lang="en-US" sz="1600" b="1" dirty="0">
                <a:solidFill>
                  <a:srgbClr val="80276C"/>
                </a:solidFill>
                <a:latin typeface="Times New Roman" panose="02020603050405020304" pitchFamily="18" charset="0"/>
                <a:cs typeface="Times New Roman" panose="02020603050405020304" pitchFamily="18" charset="0"/>
                <a:hlinkClick r:id="rId3"/>
              </a:rPr>
              <a:t>“innovation" AND ( engineer OR review )</a:t>
            </a:r>
            <a:r>
              <a:rPr lang="en-US" sz="1600" b="1" dirty="0">
                <a:solidFill>
                  <a:srgbClr val="80276C"/>
                </a:solidFill>
                <a:latin typeface="Times New Roman" panose="02020603050405020304" pitchFamily="18" charset="0"/>
                <a:cs typeface="Times New Roman" panose="02020603050405020304" pitchFamily="18" charset="0"/>
              </a:rPr>
              <a:t>  (Scopus)</a:t>
            </a:r>
            <a:endParaRPr lang="fr-FR" sz="1600" dirty="0"/>
          </a:p>
          <a:p>
            <a:pPr algn="just"/>
            <a:endParaRPr lang="fr-FR" sz="1600" b="1" dirty="0">
              <a:solidFill>
                <a:srgbClr val="80276C"/>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fr-FR" sz="1600" dirty="0">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Documentary</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processing</a:t>
            </a:r>
            <a:r>
              <a:rPr lang="fr-FR" sz="1600" b="1" dirty="0">
                <a:solidFill>
                  <a:srgbClr val="80276C"/>
                </a:solidFill>
                <a:latin typeface="Times New Roman" panose="02020603050405020304" pitchFamily="18" charset="0"/>
                <a:cs typeface="Times New Roman" panose="02020603050405020304" pitchFamily="18" charset="0"/>
              </a:rPr>
              <a:t> :  </a:t>
            </a:r>
            <a:r>
              <a:rPr lang="fr-FR" sz="1600" b="1" dirty="0" err="1">
                <a:solidFill>
                  <a:srgbClr val="80276C"/>
                </a:solidFill>
                <a:latin typeface="Times New Roman" panose="02020603050405020304" pitchFamily="18" charset="0"/>
                <a:cs typeface="Times New Roman" panose="02020603050405020304" pitchFamily="18" charset="0"/>
              </a:rPr>
              <a:t>analysis</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synthesis</a:t>
            </a:r>
            <a:r>
              <a:rPr lang="fr-FR" sz="1600" b="1" dirty="0">
                <a:solidFill>
                  <a:srgbClr val="80276C"/>
                </a:solidFill>
                <a:latin typeface="Times New Roman" panose="02020603050405020304" pitchFamily="18" charset="0"/>
                <a:cs typeface="Times New Roman" panose="02020603050405020304" pitchFamily="18" charset="0"/>
              </a:rPr>
              <a:t> and </a:t>
            </a:r>
            <a:r>
              <a:rPr lang="fr-FR" sz="1600" b="1" dirty="0" err="1">
                <a:solidFill>
                  <a:srgbClr val="80276C"/>
                </a:solidFill>
                <a:latin typeface="Times New Roman" panose="02020603050405020304" pitchFamily="18" charset="0"/>
                <a:cs typeface="Times New Roman" panose="02020603050405020304" pitchFamily="18" charset="0"/>
              </a:rPr>
              <a:t>assessment</a:t>
            </a:r>
            <a:r>
              <a:rPr lang="fr-FR" sz="1600" b="1" dirty="0">
                <a:solidFill>
                  <a:srgbClr val="80276C"/>
                </a:solidFill>
                <a:latin typeface="Times New Roman" panose="02020603050405020304" pitchFamily="18" charset="0"/>
                <a:cs typeface="Times New Roman" panose="02020603050405020304" pitchFamily="18" charset="0"/>
              </a:rPr>
              <a:t> of </a:t>
            </a:r>
            <a:r>
              <a:rPr lang="fr-FR" sz="1600" b="1" dirty="0" err="1">
                <a:solidFill>
                  <a:srgbClr val="80276C"/>
                </a:solidFill>
                <a:latin typeface="Times New Roman" panose="02020603050405020304" pitchFamily="18" charset="0"/>
                <a:cs typeface="Times New Roman" panose="02020603050405020304" pitchFamily="18" charset="0"/>
              </a:rPr>
              <a:t>search</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results</a:t>
            </a:r>
            <a:r>
              <a:rPr lang="fr-FR" sz="1600" b="1" dirty="0">
                <a:solidFill>
                  <a:srgbClr val="80276C"/>
                </a:solidFill>
                <a:latin typeface="Times New Roman" panose="02020603050405020304" pitchFamily="18" charset="0"/>
                <a:cs typeface="Times New Roman" panose="02020603050405020304" pitchFamily="18" charset="0"/>
              </a:rPr>
              <a:t> : The information has to </a:t>
            </a:r>
            <a:r>
              <a:rPr lang="fr-FR" sz="1600" b="1" dirty="0" err="1">
                <a:solidFill>
                  <a:srgbClr val="80276C"/>
                </a:solidFill>
                <a:latin typeface="Times New Roman" panose="02020603050405020304" pitchFamily="18" charset="0"/>
                <a:cs typeface="Times New Roman" panose="02020603050405020304" pitchFamily="18" charset="0"/>
              </a:rPr>
              <a:t>be</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assessed</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with</a:t>
            </a:r>
            <a:r>
              <a:rPr lang="fr-FR" sz="1600" b="1" dirty="0">
                <a:solidFill>
                  <a:srgbClr val="80276C"/>
                </a:solidFill>
                <a:latin typeface="Times New Roman" panose="02020603050405020304" pitchFamily="18" charset="0"/>
                <a:cs typeface="Times New Roman" panose="02020603050405020304" pitchFamily="18" charset="0"/>
              </a:rPr>
              <a:t> high </a:t>
            </a:r>
            <a:r>
              <a:rPr lang="fr-FR" sz="1600" b="1" dirty="0" err="1">
                <a:solidFill>
                  <a:srgbClr val="80276C"/>
                </a:solidFill>
                <a:latin typeface="Times New Roman" panose="02020603050405020304" pitchFamily="18" charset="0"/>
                <a:cs typeface="Times New Roman" panose="02020603050405020304" pitchFamily="18" charset="0"/>
              </a:rPr>
              <a:t>added</a:t>
            </a:r>
            <a:r>
              <a:rPr lang="fr-FR" sz="1600" b="1" dirty="0">
                <a:solidFill>
                  <a:srgbClr val="80276C"/>
                </a:solidFill>
                <a:latin typeface="Times New Roman" panose="02020603050405020304" pitchFamily="18" charset="0"/>
                <a:cs typeface="Times New Roman" panose="02020603050405020304" pitchFamily="18" charset="0"/>
              </a:rPr>
              <a:t> value, </a:t>
            </a:r>
            <a:r>
              <a:rPr lang="fr-FR" sz="1600" b="1" dirty="0" err="1">
                <a:solidFill>
                  <a:srgbClr val="80276C"/>
                </a:solidFill>
                <a:latin typeface="Times New Roman" panose="02020603050405020304" pitchFamily="18" charset="0"/>
                <a:cs typeface="Times New Roman" panose="02020603050405020304" pitchFamily="18" charset="0"/>
              </a:rPr>
              <a:t>it</a:t>
            </a:r>
            <a:r>
              <a:rPr lang="fr-FR" sz="1600" b="1" dirty="0">
                <a:solidFill>
                  <a:srgbClr val="80276C"/>
                </a:solidFill>
                <a:latin typeface="Times New Roman" panose="02020603050405020304" pitchFamily="18" charset="0"/>
                <a:cs typeface="Times New Roman" panose="02020603050405020304" pitchFamily="18" charset="0"/>
              </a:rPr>
              <a:t> must enable </a:t>
            </a:r>
            <a:r>
              <a:rPr lang="fr-FR" sz="1600" b="1" dirty="0" err="1">
                <a:solidFill>
                  <a:srgbClr val="80276C"/>
                </a:solidFill>
                <a:latin typeface="Times New Roman" panose="02020603050405020304" pitchFamily="18" charset="0"/>
                <a:cs typeface="Times New Roman" panose="02020603050405020304" pitchFamily="18" charset="0"/>
              </a:rPr>
              <a:t>you</a:t>
            </a:r>
            <a:r>
              <a:rPr lang="fr-FR" sz="1600" b="1" dirty="0">
                <a:solidFill>
                  <a:srgbClr val="80276C"/>
                </a:solidFill>
                <a:latin typeface="Times New Roman" panose="02020603050405020304" pitchFamily="18" charset="0"/>
                <a:cs typeface="Times New Roman" panose="02020603050405020304" pitchFamily="18" charset="0"/>
              </a:rPr>
              <a:t> to </a:t>
            </a:r>
            <a:r>
              <a:rPr lang="fr-FR" sz="1600" b="1" dirty="0" err="1">
                <a:solidFill>
                  <a:srgbClr val="80276C"/>
                </a:solidFill>
                <a:latin typeface="Times New Roman" panose="02020603050405020304" pitchFamily="18" charset="0"/>
                <a:cs typeface="Times New Roman" panose="02020603050405020304" pitchFamily="18" charset="0"/>
              </a:rPr>
              <a:t>capitalize</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knowledge</a:t>
            </a:r>
            <a:r>
              <a:rPr lang="fr-FR" sz="1600" b="1" dirty="0">
                <a:solidFill>
                  <a:srgbClr val="80276C"/>
                </a:solidFill>
                <a:latin typeface="Times New Roman" panose="02020603050405020304" pitchFamily="18" charset="0"/>
                <a:cs typeface="Times New Roman" panose="02020603050405020304" pitchFamily="18" charset="0"/>
              </a:rPr>
              <a:t>,  to </a:t>
            </a:r>
            <a:r>
              <a:rPr lang="fr-FR" sz="1600" b="1" dirty="0" err="1">
                <a:solidFill>
                  <a:srgbClr val="80276C"/>
                </a:solidFill>
                <a:latin typeface="Times New Roman" panose="02020603050405020304" pitchFamily="18" charset="0"/>
                <a:cs typeface="Times New Roman" panose="02020603050405020304" pitchFamily="18" charset="0"/>
              </a:rPr>
              <a:t>provide</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strategic</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decision</a:t>
            </a:r>
            <a:r>
              <a:rPr lang="fr-FR" sz="1600" b="1" dirty="0">
                <a:solidFill>
                  <a:srgbClr val="80276C"/>
                </a:solidFill>
                <a:latin typeface="Times New Roman" panose="02020603050405020304" pitchFamily="18" charset="0"/>
                <a:cs typeface="Times New Roman" panose="02020603050405020304" pitchFamily="18" charset="0"/>
              </a:rPr>
              <a:t> support,  to </a:t>
            </a:r>
            <a:r>
              <a:rPr lang="fr-FR" sz="1600" b="1" dirty="0" err="1">
                <a:solidFill>
                  <a:srgbClr val="80276C"/>
                </a:solidFill>
                <a:latin typeface="Times New Roman" panose="02020603050405020304" pitchFamily="18" charset="0"/>
                <a:cs typeface="Times New Roman" panose="02020603050405020304" pitchFamily="18" charset="0"/>
              </a:rPr>
              <a:t>feed</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your</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research</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work</a:t>
            </a:r>
            <a:r>
              <a:rPr lang="fr-FR" sz="1600" b="1" dirty="0">
                <a:solidFill>
                  <a:srgbClr val="80276C"/>
                </a:solidFill>
                <a:latin typeface="Times New Roman" panose="02020603050405020304" pitchFamily="18" charset="0"/>
                <a:cs typeface="Times New Roman" panose="02020603050405020304" pitchFamily="18" charset="0"/>
              </a:rPr>
              <a:t>, </a:t>
            </a:r>
            <a:r>
              <a:rPr lang="fr-FR" sz="1600" b="1" dirty="0" err="1">
                <a:solidFill>
                  <a:srgbClr val="80276C"/>
                </a:solidFill>
                <a:latin typeface="Times New Roman" panose="02020603050405020304" pitchFamily="18" charset="0"/>
                <a:cs typeface="Times New Roman" panose="02020603050405020304" pitchFamily="18" charset="0"/>
              </a:rPr>
              <a:t>your</a:t>
            </a:r>
            <a:r>
              <a:rPr lang="fr-FR" sz="1600" b="1" dirty="0">
                <a:solidFill>
                  <a:srgbClr val="80276C"/>
                </a:solidFill>
                <a:latin typeface="Times New Roman" panose="02020603050405020304" pitchFamily="18" charset="0"/>
                <a:cs typeface="Times New Roman" panose="02020603050405020304" pitchFamily="18" charset="0"/>
              </a:rPr>
              <a:t> master dissertation.</a:t>
            </a:r>
          </a:p>
        </p:txBody>
      </p:sp>
    </p:spTree>
    <p:extLst>
      <p:ext uri="{BB962C8B-B14F-4D97-AF65-F5344CB8AC3E}">
        <p14:creationId xmlns:p14="http://schemas.microsoft.com/office/powerpoint/2010/main" val="3332035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The eight checkpoints of a clean record</a:t>
            </a:r>
            <a:endParaRPr lang="en-US" sz="3000" dirty="0"/>
          </a:p>
        </p:txBody>
      </p:sp>
      <p:sp>
        <p:nvSpPr>
          <p:cNvPr id="4" name="Text 2"/>
          <p:cNvSpPr/>
          <p:nvPr/>
        </p:nvSpPr>
        <p:spPr>
          <a:xfrm>
            <a:off x="566928" y="1261872"/>
            <a:ext cx="11057839" cy="365760"/>
          </a:xfrm>
          <a:prstGeom prst="rect">
            <a:avLst/>
          </a:prstGeom>
          <a:noFill/>
          <a:ln/>
        </p:spPr>
        <p:txBody>
          <a:bodyPr wrap="square" lIns="0" tIns="0" rIns="0" bIns="0" rtlCol="0" anchor="t"/>
          <a:lstStyle/>
          <a:p>
            <a:pPr marL="0" indent="0">
              <a:buNone/>
            </a:pPr>
            <a:r>
              <a:rPr lang="en-US" sz="1400" i="1" dirty="0">
                <a:solidFill>
                  <a:srgbClr val="5C6B73"/>
                </a:solidFill>
                <a:latin typeface="Calibri" pitchFamily="34" charset="0"/>
                <a:ea typeface="Calibri" pitchFamily="34" charset="-122"/>
                <a:cs typeface="Calibri" pitchFamily="34" charset="-120"/>
              </a:rPr>
              <a:t>Thirty seconds per record. Skipping the check costs half a day of rework before submission.</a:t>
            </a:r>
            <a:endParaRPr lang="en-US" sz="1400" dirty="0"/>
          </a:p>
        </p:txBody>
      </p:sp>
      <p:sp>
        <p:nvSpPr>
          <p:cNvPr id="5" name="Shape 3"/>
          <p:cNvSpPr/>
          <p:nvPr/>
        </p:nvSpPr>
        <p:spPr>
          <a:xfrm>
            <a:off x="566928" y="184251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6" name="Shape 4"/>
          <p:cNvSpPr/>
          <p:nvPr/>
        </p:nvSpPr>
        <p:spPr>
          <a:xfrm>
            <a:off x="786384" y="2043684"/>
            <a:ext cx="384048" cy="384048"/>
          </a:xfrm>
          <a:prstGeom prst="ellipse">
            <a:avLst/>
          </a:prstGeom>
          <a:solidFill>
            <a:srgbClr val="80276C"/>
          </a:solidFill>
          <a:ln w="12700">
            <a:solidFill>
              <a:srgbClr val="1F8A70"/>
            </a:solidFill>
            <a:prstDash val="solid"/>
          </a:ln>
        </p:spPr>
        <p:txBody>
          <a:bodyPr/>
          <a:lstStyle/>
          <a:p>
            <a:endParaRPr lang="fr-FR">
              <a:solidFill>
                <a:srgbClr val="80276C"/>
              </a:solidFill>
            </a:endParaRPr>
          </a:p>
        </p:txBody>
      </p:sp>
      <p:sp>
        <p:nvSpPr>
          <p:cNvPr id="7" name="Text 5"/>
          <p:cNvSpPr/>
          <p:nvPr/>
        </p:nvSpPr>
        <p:spPr>
          <a:xfrm>
            <a:off x="786384" y="20436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0160" y="202539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Item type</a:t>
            </a:r>
            <a:endParaRPr lang="en-US" sz="1450" dirty="0"/>
          </a:p>
        </p:txBody>
      </p:sp>
      <p:sp>
        <p:nvSpPr>
          <p:cNvPr id="9" name="Text 7"/>
          <p:cNvSpPr/>
          <p:nvPr/>
        </p:nvSpPr>
        <p:spPr>
          <a:xfrm>
            <a:off x="804672" y="255574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Article, conference paper, chapter, thesis, report, patent, standard.</a:t>
            </a:r>
            <a:endParaRPr lang="en-US" sz="1200" dirty="0"/>
          </a:p>
        </p:txBody>
      </p:sp>
      <p:sp>
        <p:nvSpPr>
          <p:cNvPr id="10" name="Shape 8"/>
          <p:cNvSpPr/>
          <p:nvPr/>
        </p:nvSpPr>
        <p:spPr>
          <a:xfrm>
            <a:off x="3399968" y="184251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1" name="Shape 9"/>
          <p:cNvSpPr/>
          <p:nvPr/>
        </p:nvSpPr>
        <p:spPr>
          <a:xfrm>
            <a:off x="3619424" y="2043684"/>
            <a:ext cx="384048" cy="384048"/>
          </a:xfrm>
          <a:prstGeom prst="ellipse">
            <a:avLst/>
          </a:prstGeom>
          <a:solidFill>
            <a:srgbClr val="80276C"/>
          </a:solidFill>
          <a:ln w="12700">
            <a:solidFill>
              <a:srgbClr val="1F8A70"/>
            </a:solidFill>
            <a:prstDash val="solid"/>
          </a:ln>
        </p:spPr>
        <p:txBody>
          <a:bodyPr/>
          <a:lstStyle/>
          <a:p>
            <a:endParaRPr lang="fr-FR"/>
          </a:p>
        </p:txBody>
      </p:sp>
      <p:sp>
        <p:nvSpPr>
          <p:cNvPr id="12" name="Text 10"/>
          <p:cNvSpPr/>
          <p:nvPr/>
        </p:nvSpPr>
        <p:spPr>
          <a:xfrm>
            <a:off x="3619424" y="20436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113200" y="202539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Authors</a:t>
            </a:r>
            <a:endParaRPr lang="en-US" sz="1450" dirty="0"/>
          </a:p>
        </p:txBody>
      </p:sp>
      <p:sp>
        <p:nvSpPr>
          <p:cNvPr id="14" name="Text 12"/>
          <p:cNvSpPr/>
          <p:nvPr/>
        </p:nvSpPr>
        <p:spPr>
          <a:xfrm>
            <a:off x="3637712" y="255574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“Last, First” format, one per line, without “et al.”.</a:t>
            </a:r>
            <a:endParaRPr lang="en-US" sz="1200" dirty="0"/>
          </a:p>
        </p:txBody>
      </p:sp>
      <p:sp>
        <p:nvSpPr>
          <p:cNvPr id="15" name="Shape 13"/>
          <p:cNvSpPr/>
          <p:nvPr/>
        </p:nvSpPr>
        <p:spPr>
          <a:xfrm>
            <a:off x="6260440" y="1828800"/>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6" name="Shape 14"/>
          <p:cNvSpPr/>
          <p:nvPr/>
        </p:nvSpPr>
        <p:spPr>
          <a:xfrm>
            <a:off x="6452464" y="2043684"/>
            <a:ext cx="384048" cy="384048"/>
          </a:xfrm>
          <a:prstGeom prst="ellipse">
            <a:avLst/>
          </a:prstGeom>
          <a:solidFill>
            <a:srgbClr val="80276C"/>
          </a:solidFill>
          <a:ln w="12700">
            <a:solidFill>
              <a:srgbClr val="1F8A70"/>
            </a:solidFill>
            <a:prstDash val="solid"/>
          </a:ln>
        </p:spPr>
        <p:txBody>
          <a:bodyPr/>
          <a:lstStyle/>
          <a:p>
            <a:endParaRPr lang="fr-FR"/>
          </a:p>
        </p:txBody>
      </p:sp>
      <p:sp>
        <p:nvSpPr>
          <p:cNvPr id="17" name="Text 15"/>
          <p:cNvSpPr/>
          <p:nvPr/>
        </p:nvSpPr>
        <p:spPr>
          <a:xfrm>
            <a:off x="6452464" y="20436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946240" y="202539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Title</a:t>
            </a:r>
            <a:endParaRPr lang="en-US" sz="1450" dirty="0"/>
          </a:p>
        </p:txBody>
      </p:sp>
      <p:sp>
        <p:nvSpPr>
          <p:cNvPr id="19" name="Text 17"/>
          <p:cNvSpPr/>
          <p:nvPr/>
        </p:nvSpPr>
        <p:spPr>
          <a:xfrm>
            <a:off x="6470752" y="255574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Consistent capitalisation, no stray capitals inherited from the export.</a:t>
            </a:r>
            <a:endParaRPr lang="en-US" sz="1200" dirty="0"/>
          </a:p>
        </p:txBody>
      </p:sp>
      <p:sp>
        <p:nvSpPr>
          <p:cNvPr id="20" name="Shape 18"/>
          <p:cNvSpPr/>
          <p:nvPr/>
        </p:nvSpPr>
        <p:spPr>
          <a:xfrm>
            <a:off x="9066047" y="184251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23" name="Text 21"/>
          <p:cNvSpPr/>
          <p:nvPr/>
        </p:nvSpPr>
        <p:spPr>
          <a:xfrm>
            <a:off x="9779279" y="202539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Source</a:t>
            </a:r>
            <a:endParaRPr lang="en-US" sz="1450" dirty="0"/>
          </a:p>
        </p:txBody>
      </p:sp>
      <p:sp>
        <p:nvSpPr>
          <p:cNvPr id="24" name="Text 22"/>
          <p:cNvSpPr/>
          <p:nvPr/>
        </p:nvSpPr>
        <p:spPr>
          <a:xfrm>
            <a:off x="9303791" y="255574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Journal or conference, volume, issue, pages — complete.</a:t>
            </a:r>
            <a:endParaRPr lang="en-US" sz="1200" dirty="0"/>
          </a:p>
        </p:txBody>
      </p:sp>
      <p:sp>
        <p:nvSpPr>
          <p:cNvPr id="25" name="Shape 23"/>
          <p:cNvSpPr/>
          <p:nvPr/>
        </p:nvSpPr>
        <p:spPr>
          <a:xfrm>
            <a:off x="566928" y="399135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26" name="Shape 24"/>
          <p:cNvSpPr/>
          <p:nvPr/>
        </p:nvSpPr>
        <p:spPr>
          <a:xfrm>
            <a:off x="786384" y="4192524"/>
            <a:ext cx="384048" cy="384048"/>
          </a:xfrm>
          <a:prstGeom prst="ellipse">
            <a:avLst/>
          </a:prstGeom>
          <a:solidFill>
            <a:srgbClr val="80276C"/>
          </a:solidFill>
          <a:ln w="12700">
            <a:solidFill>
              <a:srgbClr val="1F8A70"/>
            </a:solidFill>
            <a:prstDash val="solid"/>
          </a:ln>
        </p:spPr>
        <p:txBody>
          <a:bodyPr/>
          <a:lstStyle/>
          <a:p>
            <a:endParaRPr lang="fr-FR"/>
          </a:p>
        </p:txBody>
      </p:sp>
      <p:sp>
        <p:nvSpPr>
          <p:cNvPr id="27" name="Text 25"/>
          <p:cNvSpPr/>
          <p:nvPr/>
        </p:nvSpPr>
        <p:spPr>
          <a:xfrm>
            <a:off x="786384" y="41925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280160" y="417423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Year</a:t>
            </a:r>
            <a:endParaRPr lang="en-US" sz="1450" dirty="0"/>
          </a:p>
        </p:txBody>
      </p:sp>
      <p:sp>
        <p:nvSpPr>
          <p:cNvPr id="29" name="Text 27"/>
          <p:cNvSpPr/>
          <p:nvPr/>
        </p:nvSpPr>
        <p:spPr>
          <a:xfrm>
            <a:off x="804672" y="470458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The year of publication, not the year it went online.</a:t>
            </a:r>
            <a:endParaRPr lang="en-US" sz="1200" dirty="0"/>
          </a:p>
        </p:txBody>
      </p:sp>
      <p:sp>
        <p:nvSpPr>
          <p:cNvPr id="30" name="Shape 28"/>
          <p:cNvSpPr/>
          <p:nvPr/>
        </p:nvSpPr>
        <p:spPr>
          <a:xfrm>
            <a:off x="3399968" y="399135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31" name="Shape 29"/>
          <p:cNvSpPr/>
          <p:nvPr/>
        </p:nvSpPr>
        <p:spPr>
          <a:xfrm>
            <a:off x="3619424" y="4192524"/>
            <a:ext cx="384048" cy="384048"/>
          </a:xfrm>
          <a:prstGeom prst="ellipse">
            <a:avLst/>
          </a:prstGeom>
          <a:solidFill>
            <a:srgbClr val="80276C"/>
          </a:solidFill>
          <a:ln w="12700">
            <a:solidFill>
              <a:srgbClr val="1F8A70"/>
            </a:solidFill>
            <a:prstDash val="solid"/>
          </a:ln>
        </p:spPr>
        <p:txBody>
          <a:bodyPr/>
          <a:lstStyle/>
          <a:p>
            <a:endParaRPr lang="fr-FR"/>
          </a:p>
        </p:txBody>
      </p:sp>
      <p:sp>
        <p:nvSpPr>
          <p:cNvPr id="32" name="Text 30"/>
          <p:cNvSpPr/>
          <p:nvPr/>
        </p:nvSpPr>
        <p:spPr>
          <a:xfrm>
            <a:off x="3619424" y="41925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4113200" y="417423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Identify</a:t>
            </a:r>
            <a:endParaRPr lang="en-US" sz="1450" dirty="0"/>
          </a:p>
        </p:txBody>
      </p:sp>
      <p:sp>
        <p:nvSpPr>
          <p:cNvPr id="34" name="Text 32"/>
          <p:cNvSpPr/>
          <p:nvPr/>
        </p:nvSpPr>
        <p:spPr>
          <a:xfrm>
            <a:off x="3637712" y="470458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DOI or equivalent persistent identifier, where one exists.</a:t>
            </a:r>
            <a:endParaRPr lang="en-US" sz="1200" dirty="0"/>
          </a:p>
        </p:txBody>
      </p:sp>
      <p:sp>
        <p:nvSpPr>
          <p:cNvPr id="35" name="Shape 33"/>
          <p:cNvSpPr/>
          <p:nvPr/>
        </p:nvSpPr>
        <p:spPr>
          <a:xfrm>
            <a:off x="6233008" y="399135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38" name="Text 36"/>
          <p:cNvSpPr/>
          <p:nvPr/>
        </p:nvSpPr>
        <p:spPr>
          <a:xfrm>
            <a:off x="6946240" y="417423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Language</a:t>
            </a:r>
            <a:endParaRPr lang="en-US" sz="1450" dirty="0"/>
          </a:p>
        </p:txBody>
      </p:sp>
      <p:sp>
        <p:nvSpPr>
          <p:cNvPr id="39" name="Text 37"/>
          <p:cNvSpPr/>
          <p:nvPr/>
        </p:nvSpPr>
        <p:spPr>
          <a:xfrm>
            <a:off x="6470752" y="470458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It drives the typographic rules of the citation style.</a:t>
            </a:r>
            <a:endParaRPr lang="en-US" sz="1200" dirty="0"/>
          </a:p>
        </p:txBody>
      </p:sp>
      <p:sp>
        <p:nvSpPr>
          <p:cNvPr id="40" name="Shape 38"/>
          <p:cNvSpPr/>
          <p:nvPr/>
        </p:nvSpPr>
        <p:spPr>
          <a:xfrm>
            <a:off x="9066047" y="399135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43" name="Text 41"/>
          <p:cNvSpPr/>
          <p:nvPr/>
        </p:nvSpPr>
        <p:spPr>
          <a:xfrm>
            <a:off x="9779279" y="417423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Attachment</a:t>
            </a:r>
            <a:endParaRPr lang="en-US" sz="1450" dirty="0"/>
          </a:p>
        </p:txBody>
      </p:sp>
      <p:sp>
        <p:nvSpPr>
          <p:cNvPr id="44" name="Text 42"/>
          <p:cNvSpPr/>
          <p:nvPr/>
        </p:nvSpPr>
        <p:spPr>
          <a:xfrm>
            <a:off x="9303791" y="4704588"/>
            <a:ext cx="208323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It opens — and it is the right document.</a:t>
            </a:r>
            <a:endParaRPr lang="en-US" sz="1200" dirty="0"/>
          </a:p>
        </p:txBody>
      </p:sp>
      <p:sp>
        <p:nvSpPr>
          <p:cNvPr id="45" name="Text 43"/>
          <p:cNvSpPr/>
          <p:nvPr/>
        </p:nvSpPr>
        <p:spPr>
          <a:xfrm>
            <a:off x="566928" y="6080760"/>
            <a:ext cx="10143439" cy="365760"/>
          </a:xfrm>
          <a:prstGeom prst="rect">
            <a:avLst/>
          </a:prstGeom>
          <a:noFill/>
          <a:ln/>
        </p:spPr>
        <p:txBody>
          <a:bodyPr wrap="square" lIns="0" tIns="0" rIns="0" bIns="0" rtlCol="0" anchor="ctr"/>
          <a:lstStyle/>
          <a:p>
            <a:pPr marL="0" indent="0">
              <a:buNone/>
            </a:pPr>
            <a:r>
              <a:rPr lang="en-US" sz="1200" i="1" dirty="0">
                <a:solidFill>
                  <a:srgbClr val="5C6B73"/>
                </a:solidFill>
                <a:latin typeface="Calibri" pitchFamily="34" charset="0"/>
                <a:ea typeface="Calibri" pitchFamily="34" charset="-122"/>
                <a:cs typeface="Calibri" pitchFamily="34" charset="-120"/>
              </a:rPr>
              <a:t>De-duplication is done by merging, never by deleting: merging preserves the attachments and notes of both records.</a:t>
            </a:r>
            <a:endParaRPr lang="en-US" sz="1200" dirty="0"/>
          </a:p>
        </p:txBody>
      </p:sp>
      <p:sp>
        <p:nvSpPr>
          <p:cNvPr id="46"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26</a:t>
            </a:fld>
            <a:endParaRPr lang="en-US"/>
          </a:p>
        </p:txBody>
      </p:sp>
      <p:sp>
        <p:nvSpPr>
          <p:cNvPr id="51" name="Shape 14">
            <a:extLst>
              <a:ext uri="{FF2B5EF4-FFF2-40B4-BE49-F238E27FC236}">
                <a16:creationId xmlns:a16="http://schemas.microsoft.com/office/drawing/2014/main" id="{D022D2D5-7287-049A-F2D5-F7F09CB0EC80}"/>
              </a:ext>
            </a:extLst>
          </p:cNvPr>
          <p:cNvSpPr/>
          <p:nvPr/>
        </p:nvSpPr>
        <p:spPr>
          <a:xfrm>
            <a:off x="9160536" y="2043684"/>
            <a:ext cx="384048" cy="384048"/>
          </a:xfrm>
          <a:prstGeom prst="ellipse">
            <a:avLst/>
          </a:prstGeom>
          <a:solidFill>
            <a:srgbClr val="80276C"/>
          </a:solidFill>
          <a:ln w="12700">
            <a:solidFill>
              <a:srgbClr val="1F8A70"/>
            </a:solidFill>
            <a:prstDash val="solid"/>
          </a:ln>
        </p:spPr>
        <p:txBody>
          <a:bodyPr/>
          <a:lstStyle/>
          <a:p>
            <a:r>
              <a:rPr lang="fr-FR" sz="1200" b="1" dirty="0">
                <a:solidFill>
                  <a:schemeClr val="bg1"/>
                </a:solidFill>
              </a:rPr>
              <a:t>4</a:t>
            </a:r>
          </a:p>
        </p:txBody>
      </p:sp>
      <p:sp>
        <p:nvSpPr>
          <p:cNvPr id="53" name="Shape 14">
            <a:extLst>
              <a:ext uri="{FF2B5EF4-FFF2-40B4-BE49-F238E27FC236}">
                <a16:creationId xmlns:a16="http://schemas.microsoft.com/office/drawing/2014/main" id="{098529E4-AD87-47D3-6051-F788107AD003}"/>
              </a:ext>
            </a:extLst>
          </p:cNvPr>
          <p:cNvSpPr/>
          <p:nvPr/>
        </p:nvSpPr>
        <p:spPr>
          <a:xfrm>
            <a:off x="6452464" y="4176522"/>
            <a:ext cx="384048" cy="384048"/>
          </a:xfrm>
          <a:prstGeom prst="ellipse">
            <a:avLst/>
          </a:prstGeom>
          <a:solidFill>
            <a:srgbClr val="80276C"/>
          </a:solidFill>
          <a:ln w="12700">
            <a:solidFill>
              <a:srgbClr val="1F8A70"/>
            </a:solidFill>
            <a:prstDash val="solid"/>
          </a:ln>
        </p:spPr>
        <p:txBody>
          <a:bodyPr/>
          <a:lstStyle/>
          <a:p>
            <a:r>
              <a:rPr lang="fr-FR" sz="1300" b="1" dirty="0">
                <a:solidFill>
                  <a:schemeClr val="bg1"/>
                </a:solidFill>
              </a:rPr>
              <a:t>7</a:t>
            </a:r>
          </a:p>
        </p:txBody>
      </p:sp>
      <p:sp>
        <p:nvSpPr>
          <p:cNvPr id="55" name="Shape 14">
            <a:extLst>
              <a:ext uri="{FF2B5EF4-FFF2-40B4-BE49-F238E27FC236}">
                <a16:creationId xmlns:a16="http://schemas.microsoft.com/office/drawing/2014/main" id="{CEA55B02-9F48-4AE6-73AA-129842A1300A}"/>
              </a:ext>
            </a:extLst>
          </p:cNvPr>
          <p:cNvSpPr/>
          <p:nvPr/>
        </p:nvSpPr>
        <p:spPr>
          <a:xfrm>
            <a:off x="9210599" y="4201668"/>
            <a:ext cx="384048" cy="384048"/>
          </a:xfrm>
          <a:prstGeom prst="ellipse">
            <a:avLst/>
          </a:prstGeom>
          <a:solidFill>
            <a:srgbClr val="80276C"/>
          </a:solidFill>
          <a:ln w="12700">
            <a:solidFill>
              <a:srgbClr val="1F8A70"/>
            </a:solidFill>
            <a:prstDash val="solid"/>
          </a:ln>
        </p:spPr>
        <p:txBody>
          <a:bodyPr/>
          <a:lstStyle/>
          <a:p>
            <a:r>
              <a:rPr lang="fr-FR" sz="1300" b="1" dirty="0">
                <a:solidFill>
                  <a:schemeClr val="bg1"/>
                </a:solidFill>
              </a:rPr>
              <a:t>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BF69-8577-EBCD-DB7A-EBC5A14BF83D}"/>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1FC0EF35-E0AD-5BD2-E9E5-D7C87678430A}"/>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13" name="ZoneTexte 12">
            <a:extLst>
              <a:ext uri="{FF2B5EF4-FFF2-40B4-BE49-F238E27FC236}">
                <a16:creationId xmlns:a16="http://schemas.microsoft.com/office/drawing/2014/main" id="{88F3C757-CAD5-713B-CA40-0B8DEF578479}"/>
              </a:ext>
            </a:extLst>
          </p:cNvPr>
          <p:cNvSpPr txBox="1"/>
          <p:nvPr/>
        </p:nvSpPr>
        <p:spPr>
          <a:xfrm>
            <a:off x="3462591" y="472686"/>
            <a:ext cx="7906792" cy="430887"/>
          </a:xfrm>
          <a:prstGeom prst="rect">
            <a:avLst/>
          </a:prstGeom>
          <a:noFill/>
        </p:spPr>
        <p:txBody>
          <a:bodyPr wrap="square" rtlCol="0">
            <a:spAutoFit/>
          </a:bodyPr>
          <a:lstStyle/>
          <a:p>
            <a:pPr>
              <a:defRPr/>
            </a:pPr>
            <a:r>
              <a:rPr lang="en-US" altLang="fr-FR" sz="2200" b="1" kern="0" dirty="0">
                <a:solidFill>
                  <a:srgbClr val="80276C"/>
                </a:solidFill>
                <a:latin typeface="Verdana" panose="020B0604030504040204" pitchFamily="34" charset="0"/>
                <a:ea typeface="Verdana" panose="020B0604030504040204" pitchFamily="34" charset="0"/>
              </a:rPr>
              <a:t>Others useful and reliable sources on internet:</a:t>
            </a:r>
          </a:p>
        </p:txBody>
      </p:sp>
      <p:sp>
        <p:nvSpPr>
          <p:cNvPr id="2" name="Espace réservé du texte 5">
            <a:extLst>
              <a:ext uri="{FF2B5EF4-FFF2-40B4-BE49-F238E27FC236}">
                <a16:creationId xmlns:a16="http://schemas.microsoft.com/office/drawing/2014/main" id="{0D1CACDB-EA31-CC7B-796D-1C7259C29226}"/>
              </a:ext>
            </a:extLst>
          </p:cNvPr>
          <p:cNvSpPr txBox="1">
            <a:spLocks/>
          </p:cNvSpPr>
          <p:nvPr/>
        </p:nvSpPr>
        <p:spPr>
          <a:xfrm>
            <a:off x="3462591" y="1301397"/>
            <a:ext cx="8456768" cy="55566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dirty="0">
                <a:solidFill>
                  <a:srgbClr val="6C1743"/>
                </a:solidFill>
                <a:latin typeface="Verdana" panose="020B0604030504040204" pitchFamily="34" charset="0"/>
                <a:ea typeface="Verdana" panose="020B0604030504040204" pitchFamily="34" charset="0"/>
              </a:rPr>
              <a:t>News : </a:t>
            </a:r>
            <a:r>
              <a:rPr lang="fr-FR" sz="2000" dirty="0">
                <a:solidFill>
                  <a:srgbClr val="6C1743"/>
                </a:solidFill>
                <a:latin typeface="Verdana" panose="020B0604030504040204" pitchFamily="34" charset="0"/>
                <a:ea typeface="Verdana" panose="020B0604030504040204" pitchFamily="34" charset="0"/>
                <a:hlinkClick r:id="rId3"/>
              </a:rPr>
              <a:t>AFP - Plateforme de l'info</a:t>
            </a:r>
            <a:endParaRPr lang="fr-FR" sz="2000" dirty="0">
              <a:solidFill>
                <a:srgbClr val="6C1743"/>
              </a:solidFill>
              <a:latin typeface="Verdana" panose="020B0604030504040204" pitchFamily="34" charset="0"/>
              <a:ea typeface="Verdana" panose="020B0604030504040204" pitchFamily="34" charset="0"/>
            </a:endParaRPr>
          </a:p>
          <a:p>
            <a:endParaRPr lang="fr-FR" sz="2000" dirty="0">
              <a:solidFill>
                <a:srgbClr val="6C1743"/>
              </a:solidFill>
              <a:latin typeface="Verdana" panose="020B0604030504040204" pitchFamily="34" charset="0"/>
              <a:ea typeface="Verdana" panose="020B0604030504040204" pitchFamily="34" charset="0"/>
            </a:endParaRPr>
          </a:p>
          <a:p>
            <a:r>
              <a:rPr lang="fr-FR" sz="2000" dirty="0" err="1">
                <a:solidFill>
                  <a:srgbClr val="6C1743"/>
                </a:solidFill>
                <a:latin typeface="Verdana" panose="020B0604030504040204" pitchFamily="34" charset="0"/>
                <a:ea typeface="Verdana" panose="020B0604030504040204" pitchFamily="34" charset="0"/>
              </a:rPr>
              <a:t>Legislation</a:t>
            </a:r>
            <a:r>
              <a:rPr lang="fr-FR" sz="2000" dirty="0">
                <a:solidFill>
                  <a:srgbClr val="6C1743"/>
                </a:solidFill>
                <a:latin typeface="Verdana" panose="020B0604030504040204" pitchFamily="34" charset="0"/>
                <a:ea typeface="Verdana" panose="020B0604030504040204" pitchFamily="34" charset="0"/>
              </a:rPr>
              <a:t> : </a:t>
            </a:r>
            <a:r>
              <a:rPr lang="fr-FR" sz="2000" dirty="0" err="1">
                <a:solidFill>
                  <a:srgbClr val="6C1743"/>
                </a:solidFill>
                <a:latin typeface="Verdana" panose="020B0604030504040204" pitchFamily="34" charset="0"/>
                <a:ea typeface="Verdana" panose="020B0604030504040204" pitchFamily="34" charset="0"/>
                <a:hlinkClick r:id="rId4"/>
              </a:rPr>
              <a:t>Legifrance</a:t>
            </a:r>
            <a:endParaRPr lang="fr-FR" sz="2000" dirty="0">
              <a:solidFill>
                <a:srgbClr val="6C1743"/>
              </a:solidFill>
              <a:latin typeface="Verdana" panose="020B0604030504040204" pitchFamily="34" charset="0"/>
              <a:ea typeface="Verdana" panose="020B0604030504040204" pitchFamily="34" charset="0"/>
            </a:endParaRPr>
          </a:p>
          <a:p>
            <a:pPr marL="0" indent="0">
              <a:buNone/>
            </a:pPr>
            <a:endParaRPr lang="fr-FR" sz="2000" dirty="0">
              <a:solidFill>
                <a:srgbClr val="6C1743"/>
              </a:solidFill>
              <a:latin typeface="Verdana" panose="020B0604030504040204" pitchFamily="34" charset="0"/>
              <a:ea typeface="Verdana" panose="020B0604030504040204" pitchFamily="34" charset="0"/>
            </a:endParaRPr>
          </a:p>
          <a:p>
            <a:r>
              <a:rPr lang="fr-FR" sz="2000" dirty="0">
                <a:solidFill>
                  <a:srgbClr val="6C1743"/>
                </a:solidFill>
                <a:latin typeface="Verdana" panose="020B0604030504040204" pitchFamily="34" charset="0"/>
                <a:ea typeface="Verdana" panose="020B0604030504040204" pitchFamily="34" charset="0"/>
              </a:rPr>
              <a:t>Health : </a:t>
            </a:r>
            <a:r>
              <a:rPr lang="fr-FR" sz="2000" dirty="0">
                <a:solidFill>
                  <a:srgbClr val="6C1743"/>
                </a:solidFill>
                <a:latin typeface="Verdana" panose="020B0604030504040204" pitchFamily="34" charset="0"/>
                <a:ea typeface="Verdana" panose="020B0604030504040204" pitchFamily="34" charset="0"/>
                <a:hlinkClick r:id="rId5"/>
              </a:rPr>
              <a:t>Institut national de la santé et de la recherche médicale</a:t>
            </a:r>
            <a:endParaRPr lang="fr-FR" sz="2000" dirty="0">
              <a:solidFill>
                <a:srgbClr val="6C1743"/>
              </a:solidFill>
              <a:latin typeface="Verdana" panose="020B0604030504040204" pitchFamily="34" charset="0"/>
              <a:ea typeface="Verdana" panose="020B0604030504040204" pitchFamily="34" charset="0"/>
            </a:endParaRPr>
          </a:p>
          <a:p>
            <a:endParaRPr lang="fr-FR" sz="2000" dirty="0">
              <a:solidFill>
                <a:srgbClr val="6C1743"/>
              </a:solidFill>
              <a:latin typeface="Verdana" panose="020B0604030504040204" pitchFamily="34" charset="0"/>
              <a:ea typeface="Verdana" panose="020B0604030504040204" pitchFamily="34" charset="0"/>
            </a:endParaRPr>
          </a:p>
          <a:p>
            <a:r>
              <a:rPr lang="fr-FR" sz="2000" dirty="0">
                <a:solidFill>
                  <a:srgbClr val="6C1743"/>
                </a:solidFill>
                <a:latin typeface="Verdana" panose="020B0604030504040204" pitchFamily="34" charset="0"/>
                <a:ea typeface="Verdana" panose="020B0604030504040204" pitchFamily="34" charset="0"/>
              </a:rPr>
              <a:t>Sciences et </a:t>
            </a:r>
            <a:r>
              <a:rPr lang="fr-FR" sz="2000" dirty="0" err="1">
                <a:solidFill>
                  <a:srgbClr val="6C1743"/>
                </a:solidFill>
                <a:latin typeface="Verdana" panose="020B0604030504040204" pitchFamily="34" charset="0"/>
                <a:ea typeface="Verdana" panose="020B0604030504040204" pitchFamily="34" charset="0"/>
              </a:rPr>
              <a:t>technics</a:t>
            </a:r>
            <a:r>
              <a:rPr lang="fr-FR" sz="2000" dirty="0">
                <a:solidFill>
                  <a:srgbClr val="6C1743"/>
                </a:solidFill>
                <a:latin typeface="Verdana" panose="020B0604030504040204" pitchFamily="34" charset="0"/>
                <a:ea typeface="Verdana" panose="020B0604030504040204" pitchFamily="34" charset="0"/>
              </a:rPr>
              <a:t> : </a:t>
            </a:r>
            <a:r>
              <a:rPr lang="fr-FR" sz="2000" dirty="0">
                <a:solidFill>
                  <a:srgbClr val="6C1743"/>
                </a:solidFill>
                <a:latin typeface="Verdana" panose="020B0604030504040204" pitchFamily="34" charset="0"/>
                <a:ea typeface="Verdana" panose="020B0604030504040204" pitchFamily="34" charset="0"/>
                <a:hlinkClick r:id="rId6"/>
              </a:rPr>
              <a:t>CNRS</a:t>
            </a:r>
            <a:r>
              <a:rPr lang="fr-FR" sz="2000" dirty="0">
                <a:solidFill>
                  <a:srgbClr val="6C1743"/>
                </a:solidFill>
                <a:latin typeface="Verdana" panose="020B0604030504040204" pitchFamily="34" charset="0"/>
                <a:ea typeface="Verdana" panose="020B0604030504040204" pitchFamily="34" charset="0"/>
              </a:rPr>
              <a:t>, </a:t>
            </a:r>
            <a:r>
              <a:rPr lang="fr-FR" sz="2000" dirty="0">
                <a:solidFill>
                  <a:srgbClr val="6C1743"/>
                </a:solidFill>
                <a:latin typeface="Verdana" panose="020B0604030504040204" pitchFamily="34" charset="0"/>
                <a:ea typeface="Verdana" panose="020B0604030504040204" pitchFamily="34" charset="0"/>
                <a:hlinkClick r:id="rId7"/>
              </a:rPr>
              <a:t>Inria</a:t>
            </a:r>
            <a:r>
              <a:rPr lang="fr-FR" sz="2000" dirty="0">
                <a:solidFill>
                  <a:srgbClr val="6C1743"/>
                </a:solidFill>
                <a:latin typeface="Verdana" panose="020B0604030504040204" pitchFamily="34" charset="0"/>
                <a:ea typeface="Verdana" panose="020B0604030504040204" pitchFamily="34" charset="0"/>
              </a:rPr>
              <a:t>, </a:t>
            </a:r>
            <a:r>
              <a:rPr lang="fr-FR" sz="2000" dirty="0">
                <a:solidFill>
                  <a:srgbClr val="6C1743"/>
                </a:solidFill>
                <a:latin typeface="Verdana" panose="020B0604030504040204" pitchFamily="34" charset="0"/>
                <a:ea typeface="Verdana" panose="020B0604030504040204" pitchFamily="34" charset="0"/>
                <a:hlinkClick r:id="rId8"/>
              </a:rPr>
              <a:t>CNES</a:t>
            </a:r>
            <a:r>
              <a:rPr lang="fr-FR" sz="2000" dirty="0">
                <a:solidFill>
                  <a:srgbClr val="6C1743"/>
                </a:solidFill>
                <a:latin typeface="Verdana" panose="020B0604030504040204" pitchFamily="34" charset="0"/>
                <a:ea typeface="Verdana" panose="020B0604030504040204" pitchFamily="34" charset="0"/>
              </a:rPr>
              <a:t>, etc.</a:t>
            </a:r>
          </a:p>
          <a:p>
            <a:endParaRPr lang="fr-FR" sz="2000" dirty="0">
              <a:solidFill>
                <a:srgbClr val="6C1743"/>
              </a:solidFill>
              <a:latin typeface="Verdana" panose="020B0604030504040204" pitchFamily="34" charset="0"/>
              <a:ea typeface="Verdana" panose="020B0604030504040204" pitchFamily="34" charset="0"/>
            </a:endParaRPr>
          </a:p>
          <a:p>
            <a:r>
              <a:rPr lang="fr-FR" sz="2000" dirty="0">
                <a:solidFill>
                  <a:srgbClr val="6C1743"/>
                </a:solidFill>
                <a:latin typeface="Verdana" panose="020B0604030504040204" pitchFamily="34" charset="0"/>
                <a:ea typeface="Verdana" panose="020B0604030504040204" pitchFamily="34" charset="0"/>
              </a:rPr>
              <a:t>Economy : </a:t>
            </a:r>
            <a:r>
              <a:rPr lang="fr-FR" sz="2000" dirty="0">
                <a:solidFill>
                  <a:srgbClr val="6C1743"/>
                </a:solidFill>
                <a:latin typeface="Verdana" panose="020B0604030504040204" pitchFamily="34" charset="0"/>
                <a:ea typeface="Verdana" panose="020B0604030504040204" pitchFamily="34" charset="0"/>
                <a:hlinkClick r:id="rId9"/>
              </a:rPr>
              <a:t>Insee</a:t>
            </a:r>
            <a:r>
              <a:rPr lang="fr-FR" sz="2000" dirty="0">
                <a:solidFill>
                  <a:srgbClr val="6C1743"/>
                </a:solidFill>
                <a:latin typeface="Verdana" panose="020B0604030504040204" pitchFamily="34" charset="0"/>
                <a:ea typeface="Verdana" panose="020B0604030504040204" pitchFamily="34" charset="0"/>
              </a:rPr>
              <a:t> </a:t>
            </a:r>
          </a:p>
          <a:p>
            <a:pPr marL="0" indent="0">
              <a:buNone/>
            </a:pPr>
            <a:endParaRPr lang="fr-FR" sz="2000" dirty="0">
              <a:solidFill>
                <a:srgbClr val="6C1743"/>
              </a:solidFill>
              <a:latin typeface="Verdana" panose="020B0604030504040204" pitchFamily="34" charset="0"/>
              <a:ea typeface="Verdana" panose="020B0604030504040204" pitchFamily="34" charset="0"/>
            </a:endParaRPr>
          </a:p>
          <a:p>
            <a:r>
              <a:rPr lang="fr-FR" sz="2000" dirty="0">
                <a:solidFill>
                  <a:srgbClr val="6C1743"/>
                </a:solidFill>
                <a:latin typeface="Verdana" panose="020B0604030504040204" pitchFamily="34" charset="0"/>
                <a:ea typeface="Verdana" panose="020B0604030504040204" pitchFamily="34" charset="0"/>
              </a:rPr>
              <a:t>Ancient documents : </a:t>
            </a:r>
            <a:r>
              <a:rPr lang="fr-FR" sz="2000" dirty="0">
                <a:solidFill>
                  <a:srgbClr val="6C1743"/>
                </a:solidFill>
                <a:latin typeface="Verdana" panose="020B0604030504040204" pitchFamily="34" charset="0"/>
                <a:ea typeface="Verdana" panose="020B0604030504040204" pitchFamily="34" charset="0"/>
                <a:hlinkClick r:id="rId10"/>
              </a:rPr>
              <a:t>Gallica</a:t>
            </a:r>
            <a:endParaRPr lang="fr-FR" sz="2000" dirty="0">
              <a:solidFill>
                <a:srgbClr val="6C1743"/>
              </a:solidFill>
              <a:latin typeface="Verdana" panose="020B0604030504040204" pitchFamily="34" charset="0"/>
              <a:ea typeface="Verdana" panose="020B0604030504040204" pitchFamily="34" charset="0"/>
            </a:endParaRPr>
          </a:p>
        </p:txBody>
      </p:sp>
      <p:sp>
        <p:nvSpPr>
          <p:cNvPr id="5" name="ZoneTexte 4">
            <a:extLst>
              <a:ext uri="{FF2B5EF4-FFF2-40B4-BE49-F238E27FC236}">
                <a16:creationId xmlns:a16="http://schemas.microsoft.com/office/drawing/2014/main" id="{87C226B1-AEA9-90D3-3BB0-3D8DA9F13A0E}"/>
              </a:ext>
            </a:extLst>
          </p:cNvPr>
          <p:cNvSpPr txBox="1"/>
          <p:nvPr/>
        </p:nvSpPr>
        <p:spPr>
          <a:xfrm>
            <a:off x="0" y="0"/>
            <a:ext cx="3299297" cy="6858000"/>
          </a:xfrm>
          <a:prstGeom prst="rect">
            <a:avLst/>
          </a:prstGeom>
          <a:solidFill>
            <a:srgbClr val="002060"/>
          </a:solidFill>
        </p:spPr>
        <p:txBody>
          <a:bodyPr wrap="square" rtlCol="0">
            <a:spAutoFit/>
          </a:bodyPr>
          <a:lstStyle/>
          <a:p>
            <a:endParaRPr lang="fr-FR" dirty="0"/>
          </a:p>
        </p:txBody>
      </p:sp>
      <p:sp>
        <p:nvSpPr>
          <p:cNvPr id="8" name="Espace réservé du texte 1">
            <a:extLst>
              <a:ext uri="{FF2B5EF4-FFF2-40B4-BE49-F238E27FC236}">
                <a16:creationId xmlns:a16="http://schemas.microsoft.com/office/drawing/2014/main" id="{AEF1DE3B-8470-59EC-B8ED-90ACEE05518C}"/>
              </a:ext>
            </a:extLst>
          </p:cNvPr>
          <p:cNvSpPr txBox="1">
            <a:spLocks/>
          </p:cNvSpPr>
          <p:nvPr/>
        </p:nvSpPr>
        <p:spPr>
          <a:xfrm>
            <a:off x="100963" y="231442"/>
            <a:ext cx="3198334" cy="12498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300" dirty="0" err="1">
                <a:solidFill>
                  <a:schemeClr val="bg1"/>
                </a:solidFill>
                <a:latin typeface="Verdana"/>
                <a:cs typeface="Verdana"/>
              </a:rPr>
              <a:t>Evaluate</a:t>
            </a:r>
            <a:r>
              <a:rPr lang="fr-FR" sz="2300" dirty="0">
                <a:solidFill>
                  <a:schemeClr val="bg1"/>
                </a:solidFill>
                <a:latin typeface="Verdana"/>
                <a:cs typeface="Verdana"/>
              </a:rPr>
              <a:t> sources</a:t>
            </a:r>
          </a:p>
        </p:txBody>
      </p:sp>
      <p:sp>
        <p:nvSpPr>
          <p:cNvPr id="11" name="ZoneTexte 10">
            <a:extLst>
              <a:ext uri="{FF2B5EF4-FFF2-40B4-BE49-F238E27FC236}">
                <a16:creationId xmlns:a16="http://schemas.microsoft.com/office/drawing/2014/main" id="{A9EE5C63-997A-5F54-7756-818D05E926AF}"/>
              </a:ext>
            </a:extLst>
          </p:cNvPr>
          <p:cNvSpPr txBox="1"/>
          <p:nvPr/>
        </p:nvSpPr>
        <p:spPr>
          <a:xfrm>
            <a:off x="269174" y="1265884"/>
            <a:ext cx="2946947" cy="430887"/>
          </a:xfrm>
          <a:prstGeom prst="rect">
            <a:avLst/>
          </a:prstGeom>
          <a:noFill/>
        </p:spPr>
        <p:txBody>
          <a:bodyPr wrap="square" rtlCol="0">
            <a:spAutoFit/>
          </a:bodyPr>
          <a:lstStyle/>
          <a:p>
            <a:pPr>
              <a:defRPr/>
            </a:pPr>
            <a:r>
              <a:rPr lang="en-US" altLang="fr-FR" sz="2200" b="1" kern="0" dirty="0">
                <a:solidFill>
                  <a:schemeClr val="accent2">
                    <a:lumMod val="60000"/>
                    <a:lumOff val="40000"/>
                  </a:schemeClr>
                </a:solidFill>
                <a:sym typeface="Wingdings" panose="05000000000000000000" pitchFamily="2" charset="2"/>
              </a:rPr>
              <a:t>Reliable sources</a:t>
            </a:r>
            <a:endParaRPr lang="en-US" altLang="fr-FR" sz="2200" b="1" kern="0" dirty="0">
              <a:solidFill>
                <a:schemeClr val="accent2">
                  <a:lumMod val="60000"/>
                  <a:lumOff val="40000"/>
                </a:schemeClr>
              </a:solidFill>
            </a:endParaRPr>
          </a:p>
        </p:txBody>
      </p:sp>
    </p:spTree>
    <p:extLst>
      <p:ext uri="{BB962C8B-B14F-4D97-AF65-F5344CB8AC3E}">
        <p14:creationId xmlns:p14="http://schemas.microsoft.com/office/powerpoint/2010/main" val="2904848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FA4CD-67CF-E3C6-3745-602909049D45}"/>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33BAED2C-C7E3-346F-D353-6FFADBAE29F2}"/>
              </a:ext>
            </a:extLst>
          </p:cNvPr>
          <p:cNvSpPr txBox="1"/>
          <p:nvPr/>
        </p:nvSpPr>
        <p:spPr>
          <a:xfrm>
            <a:off x="0" y="0"/>
            <a:ext cx="3299297" cy="6858000"/>
          </a:xfrm>
          <a:prstGeom prst="rect">
            <a:avLst/>
          </a:prstGeom>
          <a:solidFill>
            <a:srgbClr val="0070C0"/>
          </a:solidFill>
        </p:spPr>
        <p:txBody>
          <a:bodyPr wrap="square" rtlCol="0">
            <a:spAutoFit/>
          </a:bodyPr>
          <a:lstStyle/>
          <a:p>
            <a:endParaRPr lang="fr-FR" dirty="0"/>
          </a:p>
        </p:txBody>
      </p:sp>
      <p:sp>
        <p:nvSpPr>
          <p:cNvPr id="6" name="Espace réservé du texte 1">
            <a:extLst>
              <a:ext uri="{FF2B5EF4-FFF2-40B4-BE49-F238E27FC236}">
                <a16:creationId xmlns:a16="http://schemas.microsoft.com/office/drawing/2014/main" id="{17746BF6-520A-E827-D6C3-E1F610F3F9DF}"/>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9" name="Espace réservé du texte 1">
            <a:extLst>
              <a:ext uri="{FF2B5EF4-FFF2-40B4-BE49-F238E27FC236}">
                <a16:creationId xmlns:a16="http://schemas.microsoft.com/office/drawing/2014/main" id="{A9BB646D-4352-C5D2-BD05-460E50261B8E}"/>
              </a:ext>
            </a:extLst>
          </p:cNvPr>
          <p:cNvSpPr txBox="1">
            <a:spLocks/>
          </p:cNvSpPr>
          <p:nvPr/>
        </p:nvSpPr>
        <p:spPr>
          <a:xfrm>
            <a:off x="100963" y="231442"/>
            <a:ext cx="3198334" cy="12498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endParaRPr lang="fr-FR" sz="2300" dirty="0"/>
          </a:p>
        </p:txBody>
      </p:sp>
      <p:sp>
        <p:nvSpPr>
          <p:cNvPr id="2" name="ZoneTexte 1">
            <a:extLst>
              <a:ext uri="{FF2B5EF4-FFF2-40B4-BE49-F238E27FC236}">
                <a16:creationId xmlns:a16="http://schemas.microsoft.com/office/drawing/2014/main" id="{C4D87B95-B845-7C10-22E9-1EBFE35929F8}"/>
              </a:ext>
            </a:extLst>
          </p:cNvPr>
          <p:cNvSpPr txBox="1"/>
          <p:nvPr/>
        </p:nvSpPr>
        <p:spPr>
          <a:xfrm>
            <a:off x="100963" y="997256"/>
            <a:ext cx="2927835" cy="430887"/>
          </a:xfrm>
          <a:prstGeom prst="rect">
            <a:avLst/>
          </a:prstGeom>
          <a:noFill/>
        </p:spPr>
        <p:txBody>
          <a:bodyPr wrap="square" rtlCol="0">
            <a:spAutoFit/>
          </a:bodyPr>
          <a:lstStyle/>
          <a:p>
            <a:r>
              <a:rPr lang="fr-FR" sz="2200" b="1" dirty="0">
                <a:solidFill>
                  <a:schemeClr val="accent2">
                    <a:lumMod val="40000"/>
                    <a:lumOff val="60000"/>
                  </a:schemeClr>
                </a:solidFill>
                <a:latin typeface="Verdana" panose="020B0604030504040204" pitchFamily="34" charset="0"/>
                <a:ea typeface="Verdana" panose="020B0604030504040204" pitchFamily="34" charset="0"/>
              </a:rPr>
              <a:t>Atrium.ensam.eu</a:t>
            </a:r>
          </a:p>
        </p:txBody>
      </p:sp>
      <p:sp>
        <p:nvSpPr>
          <p:cNvPr id="13" name="ZoneTexte 12">
            <a:extLst>
              <a:ext uri="{FF2B5EF4-FFF2-40B4-BE49-F238E27FC236}">
                <a16:creationId xmlns:a16="http://schemas.microsoft.com/office/drawing/2014/main" id="{A88818F7-2EC7-74B0-C2BC-289341C3E338}"/>
              </a:ext>
            </a:extLst>
          </p:cNvPr>
          <p:cNvSpPr txBox="1"/>
          <p:nvPr/>
        </p:nvSpPr>
        <p:spPr>
          <a:xfrm>
            <a:off x="3337928" y="307053"/>
            <a:ext cx="7388291" cy="446276"/>
          </a:xfrm>
          <a:prstGeom prst="rect">
            <a:avLst/>
          </a:prstGeom>
          <a:noFill/>
        </p:spPr>
        <p:txBody>
          <a:bodyPr wrap="square" rtlCol="0">
            <a:spAutoFit/>
          </a:bodyPr>
          <a:lstStyle/>
          <a:p>
            <a:r>
              <a:rPr lang="en-US" sz="2300" b="1" dirty="0">
                <a:solidFill>
                  <a:srgbClr val="80276C"/>
                </a:solidFill>
                <a:latin typeface="Verdana" panose="020B0604030504040204" pitchFamily="34" charset="0"/>
                <a:ea typeface="Verdana" panose="020B0604030504040204" pitchFamily="34" charset="0"/>
              </a:rPr>
              <a:t>Where to search for press articles?</a:t>
            </a:r>
            <a:endParaRPr lang="fr-FR" sz="2300" b="1" dirty="0">
              <a:solidFill>
                <a:srgbClr val="80276C"/>
              </a:solidFill>
              <a:latin typeface="Verdana" panose="020B0604030504040204" pitchFamily="34" charset="0"/>
              <a:ea typeface="Verdana" panose="020B0604030504040204" pitchFamily="34" charset="0"/>
            </a:endParaRPr>
          </a:p>
        </p:txBody>
      </p:sp>
      <p:pic>
        <p:nvPicPr>
          <p:cNvPr id="5" name="Image 4">
            <a:extLst>
              <a:ext uri="{FF2B5EF4-FFF2-40B4-BE49-F238E27FC236}">
                <a16:creationId xmlns:a16="http://schemas.microsoft.com/office/drawing/2014/main" id="{5B78333D-887A-796C-6228-A48EB0727281}"/>
              </a:ext>
            </a:extLst>
          </p:cNvPr>
          <p:cNvPicPr>
            <a:picLocks noChangeAspect="1"/>
          </p:cNvPicPr>
          <p:nvPr/>
        </p:nvPicPr>
        <p:blipFill>
          <a:blip r:embed="rId3"/>
          <a:stretch>
            <a:fillRect/>
          </a:stretch>
        </p:blipFill>
        <p:spPr>
          <a:xfrm>
            <a:off x="3423959" y="856385"/>
            <a:ext cx="8299431" cy="5573939"/>
          </a:xfrm>
          <a:prstGeom prst="rect">
            <a:avLst/>
          </a:prstGeom>
          <a:ln>
            <a:solidFill>
              <a:schemeClr val="accent1"/>
            </a:solidFill>
          </a:ln>
        </p:spPr>
      </p:pic>
      <p:sp>
        <p:nvSpPr>
          <p:cNvPr id="8" name="ZoneTexte 7">
            <a:extLst>
              <a:ext uri="{FF2B5EF4-FFF2-40B4-BE49-F238E27FC236}">
                <a16:creationId xmlns:a16="http://schemas.microsoft.com/office/drawing/2014/main" id="{5A2B5FE2-6189-896A-4E32-900D7E5604FE}"/>
              </a:ext>
            </a:extLst>
          </p:cNvPr>
          <p:cNvSpPr txBox="1"/>
          <p:nvPr/>
        </p:nvSpPr>
        <p:spPr>
          <a:xfrm>
            <a:off x="225787" y="1951469"/>
            <a:ext cx="2803011" cy="430887"/>
          </a:xfrm>
          <a:prstGeom prst="rect">
            <a:avLst/>
          </a:prstGeom>
          <a:noFill/>
        </p:spPr>
        <p:txBody>
          <a:bodyPr wrap="square" rtlCol="0">
            <a:spAutoFit/>
          </a:bodyPr>
          <a:lstStyle/>
          <a:p>
            <a:r>
              <a:rPr lang="fr-FR" sz="2200" b="1" dirty="0" err="1">
                <a:solidFill>
                  <a:schemeClr val="tx1">
                    <a:lumMod val="85000"/>
                    <a:lumOff val="15000"/>
                  </a:schemeClr>
                </a:solidFill>
                <a:latin typeface="Verdana" panose="020B0604030504040204" pitchFamily="34" charset="0"/>
                <a:ea typeface="Verdana" panose="020B0604030504040204" pitchFamily="34" charset="0"/>
                <a:sym typeface="Wingdings" panose="05000000000000000000" pitchFamily="2" charset="2"/>
              </a:rPr>
              <a:t>Cafeyn</a:t>
            </a:r>
            <a:endParaRPr lang="fr-FR" sz="2200" b="1" dirty="0">
              <a:solidFill>
                <a:schemeClr val="tx1">
                  <a:lumMod val="85000"/>
                  <a:lumOff val="15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23166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83BA314-EC17-4ED9-A53A-3A70707E99CF}"/>
              </a:ext>
            </a:extLst>
          </p:cNvPr>
          <p:cNvSpPr txBox="1"/>
          <p:nvPr/>
        </p:nvSpPr>
        <p:spPr>
          <a:xfrm>
            <a:off x="535884" y="2021392"/>
            <a:ext cx="8104533" cy="3724096"/>
          </a:xfrm>
          <a:prstGeom prst="rect">
            <a:avLst/>
          </a:prstGeom>
          <a:noFill/>
        </p:spPr>
        <p:txBody>
          <a:bodyPr wrap="square" rtlCol="0">
            <a:spAutoFit/>
          </a:bodyPr>
          <a:lstStyle/>
          <a:p>
            <a:pPr algn="just"/>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Communicating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restituting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returning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disseminating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promoting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enhancing</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search</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findings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through</a:t>
            </a:r>
            <a:endPar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endParaRPr>
          </a:p>
          <a:p>
            <a:pPr algn="just"/>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your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Master’s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dissertation  in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particular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to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your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Supervisor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to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other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researchers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your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thesis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or dissertation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defence</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a:t>
            </a:r>
          </a:p>
          <a:p>
            <a:pPr marL="285750" indent="-285750" algn="just">
              <a:buFont typeface="Wingdings" panose="05000000000000000000" pitchFamily="2" charset="2"/>
              <a:buChar char="v"/>
            </a:pPr>
            <a:endPar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endParaRPr>
          </a:p>
          <a:p>
            <a:pPr algn="just"/>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Possibly</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setting up a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scientific</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technological</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watch</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or an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economic</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normative,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environnmental</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regulatory</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or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strategic</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monitoring on the issue, to go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further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a:solidFill>
                  <a:schemeClr val="accent4">
                    <a:lumMod val="75000"/>
                  </a:schemeClr>
                </a:solidFill>
                <a:latin typeface="Verdana" panose="020B0604030504040204" pitchFamily="34" charset="0"/>
                <a:ea typeface="Verdana" panose="020B0604030504040204" pitchFamily="34" charset="0"/>
                <a:cs typeface="Times New Roman" panose="02020603050405020304" pitchFamily="18" charset="0"/>
              </a:rPr>
              <a:t>to </a:t>
            </a:r>
            <a:r>
              <a:rPr lang="fr-FR" sz="1600" b="1" dirty="0" err="1">
                <a:solidFill>
                  <a:schemeClr val="accent4">
                    <a:lumMod val="75000"/>
                  </a:schemeClr>
                </a:solidFill>
                <a:latin typeface="Verdana" panose="020B0604030504040204" pitchFamily="34" charset="0"/>
                <a:ea typeface="Verdana" panose="020B0604030504040204" pitchFamily="34" charset="0"/>
                <a:cs typeface="Times New Roman" panose="02020603050405020304" pitchFamily="18" charset="0"/>
              </a:rPr>
              <a:t>keep</a:t>
            </a:r>
            <a:r>
              <a:rPr lang="fr-FR" sz="1600" b="1" dirty="0">
                <a:solidFill>
                  <a:schemeClr val="accent4">
                    <a:lumMod val="75000"/>
                  </a:schemeClr>
                </a:solidFill>
                <a:latin typeface="Verdana" panose="020B0604030504040204" pitchFamily="34" charset="0"/>
                <a:ea typeface="Verdana" panose="020B0604030504040204" pitchFamily="34" charset="0"/>
                <a:cs typeface="Times New Roman" panose="02020603050405020304" pitchFamily="18" charset="0"/>
              </a:rPr>
              <a:t> a permanent or active </a:t>
            </a:r>
            <a:r>
              <a:rPr lang="fr-FR" sz="1600" b="1" dirty="0" err="1">
                <a:solidFill>
                  <a:schemeClr val="accent4">
                    <a:lumMod val="75000"/>
                  </a:schemeClr>
                </a:solidFill>
                <a:latin typeface="Verdana" panose="020B0604030504040204" pitchFamily="34" charset="0"/>
                <a:ea typeface="Verdana" panose="020B0604030504040204" pitchFamily="34" charset="0"/>
                <a:cs typeface="Times New Roman" panose="02020603050405020304" pitchFamily="18" charset="0"/>
              </a:rPr>
              <a:t>watch</a:t>
            </a:r>
            <a:r>
              <a:rPr lang="fr-FR" sz="1600" b="1" dirty="0">
                <a:solidFill>
                  <a:schemeClr val="accent4">
                    <a:lumMod val="75000"/>
                  </a:schemeClr>
                </a:solidFill>
                <a:latin typeface="Verdana" panose="020B0604030504040204" pitchFamily="34" charset="0"/>
                <a:ea typeface="Verdana" panose="020B0604030504040204" pitchFamily="34" charset="0"/>
                <a:cs typeface="Times New Roman" panose="02020603050405020304" pitchFamily="18" charset="0"/>
              </a:rPr>
              <a:t> over</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novelties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developments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be</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ahead</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of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others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in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this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field</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in a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logic</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and a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quality</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drive of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continuous</a:t>
            </a:r>
            <a:r>
              <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6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improvement</a:t>
            </a:r>
            <a:endParaRPr lang="fr-FR" sz="1600" b="1" dirty="0">
              <a:solidFill>
                <a:srgbClr val="80276C"/>
              </a:solidFill>
              <a:latin typeface="Verdana" panose="020B0604030504040204" pitchFamily="34" charset="0"/>
              <a:ea typeface="Verdana" panose="020B0604030504040204" pitchFamily="34" charset="0"/>
              <a:cs typeface="Times New Roman" panose="02020603050405020304" pitchFamily="18" charset="0"/>
            </a:endParaRPr>
          </a:p>
          <a:p>
            <a:pPr marL="285750" indent="-285750" algn="just">
              <a:buFont typeface="Wingdings" panose="05000000000000000000" pitchFamily="2" charset="2"/>
              <a:buChar char="v"/>
            </a:pPr>
            <a:endParaRPr lang="fr-FR" sz="2000" b="1" dirty="0">
              <a:solidFill>
                <a:srgbClr val="80276C"/>
              </a:solidFill>
              <a:latin typeface="Times New Roman" panose="02020603050405020304" pitchFamily="18" charset="0"/>
              <a:cs typeface="Times New Roman" panose="02020603050405020304" pitchFamily="18" charset="0"/>
            </a:endParaRPr>
          </a:p>
          <a:p>
            <a:pPr algn="ctr"/>
            <a:r>
              <a:rPr lang="fr-FR" b="1" dirty="0">
                <a:solidFill>
                  <a:schemeClr val="accent1"/>
                </a:solidFill>
                <a:latin typeface="Times New Roman" panose="02020603050405020304" pitchFamily="18" charset="0"/>
                <a:cs typeface="Times New Roman" panose="02020603050405020304" pitchFamily="18" charset="0"/>
              </a:rPr>
              <a:t> (</a:t>
            </a:r>
            <a:r>
              <a:rPr lang="fr-FR" b="1" dirty="0" err="1">
                <a:solidFill>
                  <a:schemeClr val="accent1"/>
                </a:solidFill>
                <a:latin typeface="Times New Roman" panose="02020603050405020304" pitchFamily="18" charset="0"/>
                <a:cs typeface="Times New Roman" panose="02020603050405020304" pitchFamily="18" charset="0"/>
              </a:rPr>
              <a:t>Some</a:t>
            </a:r>
            <a:r>
              <a:rPr lang="fr-FR" b="1" dirty="0">
                <a:solidFill>
                  <a:schemeClr val="accent1"/>
                </a:solidFill>
                <a:latin typeface="Times New Roman" panose="02020603050405020304" pitchFamily="18" charset="0"/>
                <a:cs typeface="Times New Roman" panose="02020603050405020304" pitchFamily="18" charset="0"/>
              </a:rPr>
              <a:t> </a:t>
            </a:r>
            <a:r>
              <a:rPr lang="fr-FR" b="1" dirty="0" err="1">
                <a:solidFill>
                  <a:schemeClr val="accent1"/>
                </a:solidFill>
                <a:latin typeface="Times New Roman" panose="02020603050405020304" pitchFamily="18" charset="0"/>
                <a:cs typeface="Times New Roman" panose="02020603050405020304" pitchFamily="18" charset="0"/>
              </a:rPr>
              <a:t>tips</a:t>
            </a:r>
            <a:r>
              <a:rPr lang="fr-FR" b="1" dirty="0">
                <a:solidFill>
                  <a:schemeClr val="accent1"/>
                </a:solidFill>
                <a:latin typeface="Times New Roman" panose="02020603050405020304" pitchFamily="18" charset="0"/>
                <a:cs typeface="Times New Roman" panose="02020603050405020304" pitchFamily="18" charset="0"/>
              </a:rPr>
              <a:t> for setting up and </a:t>
            </a:r>
            <a:r>
              <a:rPr lang="fr-FR" b="1" dirty="0" err="1">
                <a:solidFill>
                  <a:schemeClr val="accent1"/>
                </a:solidFill>
                <a:latin typeface="Times New Roman" panose="02020603050405020304" pitchFamily="18" charset="0"/>
                <a:cs typeface="Times New Roman" panose="02020603050405020304" pitchFamily="18" charset="0"/>
              </a:rPr>
              <a:t>keeping</a:t>
            </a:r>
            <a:r>
              <a:rPr lang="fr-FR" b="1" dirty="0">
                <a:solidFill>
                  <a:schemeClr val="accent1"/>
                </a:solidFill>
                <a:latin typeface="Times New Roman" panose="02020603050405020304" pitchFamily="18" charset="0"/>
                <a:cs typeface="Times New Roman" panose="02020603050405020304" pitchFamily="18" charset="0"/>
              </a:rPr>
              <a:t> a </a:t>
            </a:r>
            <a:r>
              <a:rPr lang="fr-FR" b="1" dirty="0" err="1">
                <a:solidFill>
                  <a:schemeClr val="accent1"/>
                </a:solidFill>
                <a:latin typeface="Times New Roman" panose="02020603050405020304" pitchFamily="18" charset="0"/>
                <a:cs typeface="Times New Roman" panose="02020603050405020304" pitchFamily="18" charset="0"/>
              </a:rPr>
              <a:t>watch</a:t>
            </a:r>
            <a:r>
              <a:rPr lang="fr-FR" b="1" dirty="0">
                <a:solidFill>
                  <a:schemeClr val="accent1"/>
                </a:solidFill>
                <a:latin typeface="Times New Roman" panose="02020603050405020304" pitchFamily="18" charset="0"/>
                <a:cs typeface="Times New Roman" panose="02020603050405020304" pitchFamily="18" charset="0"/>
              </a:rPr>
              <a:t> </a:t>
            </a:r>
            <a:r>
              <a:rPr lang="fr-FR" b="1" dirty="0" err="1">
                <a:solidFill>
                  <a:schemeClr val="accent1"/>
                </a:solidFill>
                <a:latin typeface="Times New Roman" panose="02020603050405020304" pitchFamily="18" charset="0"/>
                <a:cs typeface="Times New Roman" panose="02020603050405020304" pitchFamily="18" charset="0"/>
              </a:rPr>
              <a:t>with</a:t>
            </a:r>
            <a:r>
              <a:rPr lang="fr-FR" b="1" dirty="0">
                <a:solidFill>
                  <a:schemeClr val="accent1"/>
                </a:solidFill>
                <a:latin typeface="Times New Roman" panose="02020603050405020304" pitchFamily="18" charset="0"/>
                <a:cs typeface="Times New Roman" panose="02020603050405020304" pitchFamily="18" charset="0"/>
              </a:rPr>
              <a:t> Google Scholar)</a:t>
            </a:r>
          </a:p>
          <a:p>
            <a:pPr algn="ctr"/>
            <a:r>
              <a:rPr lang="en-US" b="1" dirty="0">
                <a:solidFill>
                  <a:srgbClr val="80276C"/>
                </a:solidFill>
                <a:latin typeface="Times New Roman" panose="02020603050405020304" pitchFamily="18" charset="0"/>
                <a:cs typeface="Times New Roman" panose="02020603050405020304" pitchFamily="18" charset="0"/>
                <a:hlinkClick r:id="rId2"/>
              </a:rPr>
              <a:t>(“innovation” AND “engineering”)</a:t>
            </a:r>
            <a:r>
              <a:rPr lang="en-US" b="1" dirty="0">
                <a:solidFill>
                  <a:srgbClr val="80276C"/>
                </a:solidFill>
                <a:latin typeface="Times New Roman" panose="02020603050405020304" pitchFamily="18" charset="0"/>
                <a:cs typeface="Times New Roman" panose="02020603050405020304" pitchFamily="18" charset="0"/>
              </a:rPr>
              <a:t>    </a:t>
            </a:r>
          </a:p>
          <a:p>
            <a:pPr algn="ctr"/>
            <a:endParaRPr lang="fr-FR" sz="2000" b="1" dirty="0">
              <a:solidFill>
                <a:schemeClr val="accent1"/>
              </a:solidFill>
              <a:latin typeface="Times New Roman" panose="02020603050405020304" pitchFamily="18" charset="0"/>
              <a:cs typeface="Times New Roman" panose="02020603050405020304" pitchFamily="18" charset="0"/>
            </a:endParaRPr>
          </a:p>
        </p:txBody>
      </p:sp>
      <p:sp>
        <p:nvSpPr>
          <p:cNvPr id="6" name="Titre 1">
            <a:extLst>
              <a:ext uri="{FF2B5EF4-FFF2-40B4-BE49-F238E27FC236}">
                <a16:creationId xmlns:a16="http://schemas.microsoft.com/office/drawing/2014/main" id="{1D997422-A755-4A33-A222-FB8CBDFC3147}"/>
              </a:ext>
            </a:extLst>
          </p:cNvPr>
          <p:cNvSpPr txBox="1">
            <a:spLocks/>
          </p:cNvSpPr>
          <p:nvPr/>
        </p:nvSpPr>
        <p:spPr>
          <a:xfrm>
            <a:off x="738673" y="599372"/>
            <a:ext cx="11020936" cy="69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800" b="1" dirty="0" err="1">
                <a:solidFill>
                  <a:srgbClr val="80276C"/>
                </a:solidFill>
                <a:cs typeface="Times New Roman" panose="02020603050405020304" pitchFamily="18" charset="0"/>
              </a:rPr>
              <a:t>Steps</a:t>
            </a:r>
            <a:r>
              <a:rPr lang="fr-FR" sz="1800" b="1" dirty="0">
                <a:solidFill>
                  <a:srgbClr val="80276C"/>
                </a:solidFill>
                <a:cs typeface="Times New Roman" panose="02020603050405020304" pitchFamily="18" charset="0"/>
              </a:rPr>
              <a:t> of </a:t>
            </a:r>
            <a:r>
              <a:rPr lang="fr-FR" sz="1800" b="1" dirty="0" err="1">
                <a:solidFill>
                  <a:srgbClr val="80276C"/>
                </a:solidFill>
                <a:cs typeface="Times New Roman" panose="02020603050405020304" pitchFamily="18" charset="0"/>
              </a:rPr>
              <a:t>bibliographic</a:t>
            </a:r>
            <a:r>
              <a:rPr lang="fr-FR" sz="1800" b="1" dirty="0">
                <a:solidFill>
                  <a:srgbClr val="80276C"/>
                </a:solidFill>
                <a:cs typeface="Times New Roman" panose="02020603050405020304" pitchFamily="18" charset="0"/>
              </a:rPr>
              <a:t> </a:t>
            </a:r>
            <a:r>
              <a:rPr lang="fr-FR" sz="1800" b="1" dirty="0" err="1">
                <a:solidFill>
                  <a:srgbClr val="80276C"/>
                </a:solidFill>
                <a:cs typeface="Times New Roman" panose="02020603050405020304" pitchFamily="18" charset="0"/>
              </a:rPr>
              <a:t>search</a:t>
            </a:r>
            <a:r>
              <a:rPr lang="fr-FR" sz="1800" b="1" dirty="0">
                <a:solidFill>
                  <a:srgbClr val="80276C"/>
                </a:solidFill>
                <a:cs typeface="Times New Roman" panose="02020603050405020304" pitchFamily="18" charset="0"/>
              </a:rPr>
              <a:t> (2) </a:t>
            </a:r>
            <a:br>
              <a:rPr lang="fr-FR" sz="1800" dirty="0">
                <a:solidFill>
                  <a:srgbClr val="80276C"/>
                </a:solidFill>
                <a:cs typeface="Times New Roman" panose="02020603050405020304" pitchFamily="18" charset="0"/>
              </a:rPr>
            </a:br>
            <a:r>
              <a:rPr lang="fr-FR" sz="1800" dirty="0">
                <a:solidFill>
                  <a:srgbClr val="80276C"/>
                </a:solidFill>
                <a:cs typeface="Times New Roman" panose="02020603050405020304" pitchFamily="18" charset="0"/>
              </a:rPr>
              <a:t>(</a:t>
            </a:r>
            <a:r>
              <a:rPr lang="fr-FR" sz="1800" dirty="0" err="1">
                <a:solidFill>
                  <a:srgbClr val="80276C"/>
                </a:solidFill>
                <a:cs typeface="Times New Roman" panose="02020603050405020304" pitchFamily="18" charset="0"/>
              </a:rPr>
              <a:t>From</a:t>
            </a:r>
            <a:r>
              <a:rPr lang="fr-FR" sz="1800" dirty="0">
                <a:solidFill>
                  <a:srgbClr val="80276C"/>
                </a:solidFill>
                <a:cs typeface="Times New Roman" panose="02020603050405020304" pitchFamily="18" charset="0"/>
              </a:rPr>
              <a:t> an </a:t>
            </a:r>
            <a:r>
              <a:rPr lang="fr-FR" sz="1800" dirty="0" err="1">
                <a:solidFill>
                  <a:srgbClr val="80276C"/>
                </a:solidFill>
                <a:cs typeface="Times New Roman" panose="02020603050405020304" pitchFamily="18" charset="0"/>
              </a:rPr>
              <a:t>example</a:t>
            </a:r>
            <a:r>
              <a:rPr lang="fr-FR" sz="1800" dirty="0">
                <a:solidFill>
                  <a:srgbClr val="80276C"/>
                </a:solidFill>
                <a:cs typeface="Times New Roman" panose="02020603050405020304" pitchFamily="18" charset="0"/>
              </a:rPr>
              <a:t> in a state-of-the art about INNOVATION IN ENGINEERING : </a:t>
            </a:r>
          </a:p>
          <a:p>
            <a:endParaRPr lang="fr-FR" sz="1800" dirty="0">
              <a:solidFill>
                <a:srgbClr val="80276C"/>
              </a:solidFill>
              <a:cs typeface="Times New Roman" panose="02020603050405020304" pitchFamily="18" charset="0"/>
            </a:endParaRPr>
          </a:p>
          <a:p>
            <a:r>
              <a:rPr lang="fr-FR" sz="1800" dirty="0">
                <a:solidFill>
                  <a:srgbClr val="80276C"/>
                </a:solidFill>
                <a:cs typeface="Times New Roman" panose="02020603050405020304" pitchFamily="18" charset="0"/>
              </a:rPr>
              <a:t>Background :  </a:t>
            </a:r>
            <a:r>
              <a:rPr lang="fr-FR" sz="1800" dirty="0" err="1">
                <a:solidFill>
                  <a:srgbClr val="80276C"/>
                </a:solidFill>
                <a:cs typeface="Times New Roman" panose="02020603050405020304" pitchFamily="18" charset="0"/>
              </a:rPr>
              <a:t>you</a:t>
            </a:r>
            <a:r>
              <a:rPr lang="fr-FR" sz="1800" dirty="0">
                <a:solidFill>
                  <a:srgbClr val="80276C"/>
                </a:solidFill>
                <a:cs typeface="Times New Roman" panose="02020603050405020304" pitchFamily="18" charset="0"/>
              </a:rPr>
              <a:t> have to file a patent for a new process </a:t>
            </a:r>
            <a:r>
              <a:rPr lang="fr-FR" sz="1800" dirty="0" err="1">
                <a:solidFill>
                  <a:srgbClr val="80276C"/>
                </a:solidFill>
                <a:cs typeface="Times New Roman" panose="02020603050405020304" pitchFamily="18" charset="0"/>
              </a:rPr>
              <a:t>deposit</a:t>
            </a:r>
            <a:endParaRPr lang="fr-FR" sz="1800" dirty="0">
              <a:solidFill>
                <a:srgbClr val="80276C"/>
              </a:solidFill>
              <a:cs typeface="Times New Roman" panose="02020603050405020304" pitchFamily="18" charset="0"/>
            </a:endParaRPr>
          </a:p>
        </p:txBody>
      </p:sp>
    </p:spTree>
    <p:extLst>
      <p:ext uri="{BB962C8B-B14F-4D97-AF65-F5344CB8AC3E}">
        <p14:creationId xmlns:p14="http://schemas.microsoft.com/office/powerpoint/2010/main" val="437450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4F248A-77A1-428B-855E-EAA89A6C5CDF}"/>
              </a:ext>
            </a:extLst>
          </p:cNvPr>
          <p:cNvSpPr/>
          <p:nvPr/>
        </p:nvSpPr>
        <p:spPr>
          <a:xfrm>
            <a:off x="907312" y="603639"/>
            <a:ext cx="6096000" cy="707886"/>
          </a:xfrm>
          <a:prstGeom prst="rect">
            <a:avLst/>
          </a:prstGeom>
        </p:spPr>
        <p:txBody>
          <a:bodyPr>
            <a:spAutoFit/>
          </a:bodyPr>
          <a:lstStyle/>
          <a:p>
            <a:r>
              <a:rPr lang="fr-FR" sz="2000" b="1" dirty="0" err="1">
                <a:solidFill>
                  <a:srgbClr val="80276C"/>
                </a:solidFill>
                <a:latin typeface="Times New Roman" panose="02020603050405020304" pitchFamily="18" charset="0"/>
                <a:cs typeface="Times New Roman" panose="02020603050405020304" pitchFamily="18" charset="0"/>
              </a:rPr>
              <a:t>Designing</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equation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syntax</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strategy</a:t>
            </a:r>
            <a:r>
              <a:rPr lang="fr-FR" sz="2000" b="1" dirty="0">
                <a:solidFill>
                  <a:srgbClr val="80276C"/>
                </a:solidFill>
                <a:latin typeface="Times New Roman" panose="02020603050405020304" pitchFamily="18" charset="0"/>
                <a:cs typeface="Times New Roman" panose="02020603050405020304" pitchFamily="18" charset="0"/>
              </a:rPr>
              <a:t> (1) Principles and </a:t>
            </a:r>
            <a:r>
              <a:rPr lang="fr-FR" sz="2000" b="1" dirty="0" err="1">
                <a:solidFill>
                  <a:srgbClr val="80276C"/>
                </a:solidFill>
                <a:latin typeface="Times New Roman" panose="02020603050405020304" pitchFamily="18" charset="0"/>
                <a:cs typeface="Times New Roman" panose="02020603050405020304" pitchFamily="18" charset="0"/>
              </a:rPr>
              <a:t>methods</a:t>
            </a:r>
            <a:endParaRPr lang="fr-FR" sz="2000" dirty="0"/>
          </a:p>
        </p:txBody>
      </p:sp>
      <p:sp>
        <p:nvSpPr>
          <p:cNvPr id="4" name="ZoneTexte 3">
            <a:extLst>
              <a:ext uri="{FF2B5EF4-FFF2-40B4-BE49-F238E27FC236}">
                <a16:creationId xmlns:a16="http://schemas.microsoft.com/office/drawing/2014/main" id="{BD946685-6D5A-4B27-A40B-471326331727}"/>
              </a:ext>
            </a:extLst>
          </p:cNvPr>
          <p:cNvSpPr txBox="1"/>
          <p:nvPr/>
        </p:nvSpPr>
        <p:spPr>
          <a:xfrm>
            <a:off x="708333" y="1690062"/>
            <a:ext cx="10197792" cy="3170099"/>
          </a:xfrm>
          <a:prstGeom prst="rect">
            <a:avLst/>
          </a:prstGeom>
          <a:noFill/>
        </p:spPr>
        <p:txBody>
          <a:bodyPr wrap="square" rtlCol="0">
            <a:spAutoFit/>
          </a:bodyPr>
          <a:lstStyle/>
          <a:p>
            <a:pPr marL="342900" indent="-342900" algn="just">
              <a:buFont typeface="Wingdings" panose="05000000000000000000" pitchFamily="2" charset="2"/>
              <a:buChar char="ü"/>
            </a:pPr>
            <a:r>
              <a:rPr lang="fr-FR" b="1" dirty="0">
                <a:solidFill>
                  <a:srgbClr val="80276C"/>
                </a:solidFill>
                <a:latin typeface="Times New Roman" panose="02020603050405020304" pitchFamily="18" charset="0"/>
                <a:cs typeface="Times New Roman" panose="02020603050405020304" pitchFamily="18" charset="0"/>
              </a:rPr>
              <a:t>Highlight </a:t>
            </a:r>
            <a:r>
              <a:rPr lang="fr-FR" sz="2000" b="1" dirty="0">
                <a:solidFill>
                  <a:srgbClr val="80276C"/>
                </a:solidFill>
                <a:latin typeface="Times New Roman" panose="02020603050405020304" pitchFamily="18" charset="0"/>
                <a:cs typeface="Times New Roman" panose="02020603050405020304" pitchFamily="18" charset="0"/>
              </a:rPr>
              <a:t>the issue (as a </a:t>
            </a:r>
            <a:r>
              <a:rPr lang="fr-FR" sz="2000" b="1" dirty="0" err="1">
                <a:solidFill>
                  <a:srgbClr val="80276C"/>
                </a:solidFill>
                <a:latin typeface="Times New Roman" panose="02020603050405020304" pitchFamily="18" charset="0"/>
                <a:cs typeface="Times New Roman" panose="02020603050405020304" pitchFamily="18" charset="0"/>
              </a:rPr>
              <a:t>too</a:t>
            </a:r>
            <a:r>
              <a:rPr lang="fr-FR" sz="2000" b="1" dirty="0">
                <a:solidFill>
                  <a:srgbClr val="80276C"/>
                </a:solidFill>
                <a:latin typeface="Times New Roman" panose="02020603050405020304" pitchFamily="18" charset="0"/>
                <a:cs typeface="Times New Roman" panose="02020603050405020304" pitchFamily="18" charset="0"/>
              </a:rPr>
              <a:t> long </a:t>
            </a:r>
            <a:r>
              <a:rPr lang="fr-FR" sz="2000" b="1" dirty="0" err="1">
                <a:solidFill>
                  <a:srgbClr val="80276C"/>
                </a:solidFill>
                <a:latin typeface="Times New Roman" panose="02020603050405020304" pitchFamily="18" charset="0"/>
                <a:cs typeface="Times New Roman" panose="02020603050405020304" pitchFamily="18" charset="0"/>
              </a:rPr>
              <a:t>equation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according</a:t>
            </a:r>
            <a:r>
              <a:rPr lang="fr-FR" sz="2000" b="1" dirty="0">
                <a:solidFill>
                  <a:srgbClr val="80276C"/>
                </a:solidFill>
                <a:latin typeface="Times New Roman" panose="02020603050405020304" pitchFamily="18" charset="0"/>
                <a:cs typeface="Times New Roman" panose="02020603050405020304" pitchFamily="18" charset="0"/>
              </a:rPr>
              <a:t> to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engines and </a:t>
            </a:r>
            <a:r>
              <a:rPr lang="fr-FR" sz="2000" b="1" dirty="0" err="1">
                <a:solidFill>
                  <a:srgbClr val="80276C"/>
                </a:solidFill>
                <a:latin typeface="Times New Roman" panose="02020603050405020304" pitchFamily="18" charset="0"/>
                <a:cs typeface="Times New Roman" panose="02020603050405020304" pitchFamily="18" charset="0"/>
              </a:rPr>
              <a:t>databases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will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either</a:t>
            </a:r>
            <a:r>
              <a:rPr lang="fr-FR" sz="2000" b="1" dirty="0">
                <a:solidFill>
                  <a:srgbClr val="80276C"/>
                </a:solidFill>
                <a:latin typeface="Times New Roman" panose="02020603050405020304" pitchFamily="18" charset="0"/>
                <a:cs typeface="Times New Roman" panose="02020603050405020304" pitchFamily="18" charset="0"/>
              </a:rPr>
              <a:t> return no </a:t>
            </a:r>
            <a:r>
              <a:rPr lang="fr-FR" sz="2000" b="1" dirty="0" err="1">
                <a:solidFill>
                  <a:srgbClr val="80276C"/>
                </a:solidFill>
                <a:latin typeface="Times New Roman" panose="02020603050405020304" pitchFamily="18" charset="0"/>
                <a:cs typeface="Times New Roman" panose="02020603050405020304" pitchFamily="18" charset="0"/>
              </a:rPr>
              <a:t>results</a:t>
            </a:r>
            <a:r>
              <a:rPr lang="fr-FR" sz="2000" b="1" dirty="0">
                <a:solidFill>
                  <a:srgbClr val="80276C"/>
                </a:solidFill>
                <a:latin typeface="Times New Roman" panose="02020603050405020304" pitchFamily="18" charset="0"/>
                <a:cs typeface="Times New Roman" panose="02020603050405020304" pitchFamily="18" charset="0"/>
              </a:rPr>
              <a:t> or </a:t>
            </a:r>
            <a:r>
              <a:rPr lang="fr-FR" sz="2000" b="1" dirty="0" err="1">
                <a:solidFill>
                  <a:srgbClr val="80276C"/>
                </a:solidFill>
                <a:latin typeface="Times New Roman" panose="02020603050405020304" pitchFamily="18" charset="0"/>
                <a:cs typeface="Times New Roman" panose="02020603050405020304" pitchFamily="18" charset="0"/>
              </a:rPr>
              <a:t>will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badly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interpreted</a:t>
            </a:r>
            <a:r>
              <a:rPr lang="fr-FR" sz="2000" b="1" dirty="0">
                <a:solidFill>
                  <a:srgbClr val="80276C"/>
                </a:solidFill>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 Be </a:t>
            </a:r>
            <a:r>
              <a:rPr lang="fr-FR" sz="2000" b="1" dirty="0" err="1">
                <a:solidFill>
                  <a:srgbClr val="80276C"/>
                </a:solidFill>
                <a:latin typeface="Times New Roman" panose="02020603050405020304" pitchFamily="18" charset="0"/>
                <a:cs typeface="Times New Roman" panose="02020603050405020304" pitchFamily="18" charset="0"/>
              </a:rPr>
              <a:t>rigorous</a:t>
            </a:r>
            <a:r>
              <a:rPr lang="fr-FR" sz="2000" b="1" dirty="0">
                <a:solidFill>
                  <a:srgbClr val="80276C"/>
                </a:solidFill>
                <a:latin typeface="Times New Roman" panose="02020603050405020304" pitchFamily="18" charset="0"/>
                <a:cs typeface="Times New Roman" panose="02020603050405020304" pitchFamily="18" charset="0"/>
              </a:rPr>
              <a:t> : </a:t>
            </a:r>
            <a:r>
              <a:rPr lang="fr-FR" sz="2000" b="1" dirty="0" err="1">
                <a:solidFill>
                  <a:srgbClr val="80276C"/>
                </a:solidFill>
                <a:latin typeface="Times New Roman" panose="02020603050405020304" pitchFamily="18" charset="0"/>
                <a:cs typeface="Times New Roman" panose="02020603050405020304" pitchFamily="18" charset="0"/>
              </a:rPr>
              <a:t>pay</a:t>
            </a:r>
            <a:r>
              <a:rPr lang="fr-FR" sz="2000" b="1" dirty="0">
                <a:solidFill>
                  <a:srgbClr val="80276C"/>
                </a:solidFill>
                <a:latin typeface="Times New Roman" panose="02020603050405020304" pitchFamily="18" charset="0"/>
                <a:cs typeface="Times New Roman" panose="02020603050405020304" pitchFamily="18" charset="0"/>
              </a:rPr>
              <a:t> attention to the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syntax</a:t>
            </a:r>
            <a:r>
              <a:rPr lang="fr-FR" sz="2000" b="1" dirty="0">
                <a:solidFill>
                  <a:srgbClr val="80276C"/>
                </a:solidFill>
                <a:latin typeface="Times New Roman" panose="02020603050405020304" pitchFamily="18" charset="0"/>
                <a:cs typeface="Times New Roman" panose="02020603050405020304" pitchFamily="18" charset="0"/>
              </a:rPr>
              <a:t>, to </a:t>
            </a:r>
            <a:r>
              <a:rPr lang="fr-FR" sz="2000" b="1" dirty="0" err="1">
                <a:solidFill>
                  <a:srgbClr val="80276C"/>
                </a:solidFill>
                <a:latin typeface="Times New Roman" panose="02020603050405020304" pitchFamily="18" charset="0"/>
                <a:cs typeface="Times New Roman" panose="02020603050405020304" pitchFamily="18" charset="0"/>
              </a:rPr>
              <a:t>spaces</a:t>
            </a:r>
            <a:r>
              <a:rPr lang="fr-FR" sz="2000" b="1" dirty="0">
                <a:solidFill>
                  <a:srgbClr val="80276C"/>
                </a:solidFill>
                <a:latin typeface="Times New Roman" panose="02020603050405020304" pitchFamily="18" charset="0"/>
                <a:cs typeface="Times New Roman" panose="02020603050405020304" pitchFamily="18" charset="0"/>
              </a:rPr>
              <a:t>, to the langage, to  </a:t>
            </a:r>
            <a:r>
              <a:rPr lang="fr-FR" sz="2000" b="1" dirty="0" err="1">
                <a:solidFill>
                  <a:srgbClr val="80276C"/>
                </a:solidFill>
                <a:latin typeface="Times New Roman" panose="02020603050405020304" pitchFamily="18" charset="0"/>
                <a:cs typeface="Times New Roman" panose="02020603050405020304" pitchFamily="18" charset="0"/>
              </a:rPr>
              <a:t>parentheses</a:t>
            </a:r>
            <a:r>
              <a:rPr lang="fr-FR" sz="2000" b="1" dirty="0">
                <a:solidFill>
                  <a:srgbClr val="80276C"/>
                </a:solidFill>
                <a:latin typeface="Times New Roman" panose="02020603050405020304" pitchFamily="18" charset="0"/>
                <a:cs typeface="Times New Roman" panose="02020603050405020304" pitchFamily="18" charset="0"/>
              </a:rPr>
              <a:t>, to </a:t>
            </a:r>
            <a:r>
              <a:rPr lang="fr-FR" sz="2000" b="1" dirty="0" err="1">
                <a:solidFill>
                  <a:srgbClr val="80276C"/>
                </a:solidFill>
                <a:latin typeface="Times New Roman" panose="02020603050405020304" pitchFamily="18" charset="0"/>
                <a:cs typeface="Times New Roman" panose="02020603050405020304" pitchFamily="18" charset="0"/>
              </a:rPr>
              <a:t>truncations</a:t>
            </a:r>
            <a:r>
              <a:rPr lang="fr-FR" sz="2000" b="1" dirty="0">
                <a:solidFill>
                  <a:srgbClr val="80276C"/>
                </a:solidFill>
                <a:latin typeface="Times New Roman" panose="02020603050405020304" pitchFamily="18" charset="0"/>
                <a:cs typeface="Times New Roman" panose="02020603050405020304" pitchFamily="18" charset="0"/>
              </a:rPr>
              <a:t>, to </a:t>
            </a:r>
            <a:r>
              <a:rPr lang="fr-FR" sz="2000" b="1" dirty="0" err="1">
                <a:solidFill>
                  <a:srgbClr val="80276C"/>
                </a:solidFill>
                <a:latin typeface="Times New Roman" panose="02020603050405020304" pitchFamily="18" charset="0"/>
                <a:cs typeface="Times New Roman" panose="02020603050405020304" pitchFamily="18" charset="0"/>
              </a:rPr>
              <a:t>upper</a:t>
            </a:r>
            <a:r>
              <a:rPr lang="fr-FR" sz="2000" b="1" dirty="0">
                <a:solidFill>
                  <a:srgbClr val="80276C"/>
                </a:solidFill>
                <a:latin typeface="Times New Roman" panose="02020603050405020304" pitchFamily="18" charset="0"/>
                <a:cs typeface="Times New Roman" panose="02020603050405020304" pitchFamily="18" charset="0"/>
              </a:rPr>
              <a:t> case </a:t>
            </a:r>
            <a:r>
              <a:rPr lang="fr-FR" sz="2000" b="1" dirty="0" err="1">
                <a:solidFill>
                  <a:srgbClr val="80276C"/>
                </a:solidFill>
                <a:latin typeface="Times New Roman" panose="02020603050405020304" pitchFamily="18" charset="0"/>
                <a:cs typeface="Times New Roman" panose="02020603050405020304" pitchFamily="18" charset="0"/>
              </a:rPr>
              <a:t>letters</a:t>
            </a:r>
            <a:r>
              <a:rPr lang="fr-FR" sz="2000" b="1" dirty="0">
                <a:solidFill>
                  <a:srgbClr val="80276C"/>
                </a:solidFill>
                <a:latin typeface="Times New Roman" panose="02020603050405020304" pitchFamily="18" charset="0"/>
                <a:cs typeface="Times New Roman" panose="02020603050405020304" pitchFamily="18" charset="0"/>
              </a:rPr>
              <a:t> for Boolean </a:t>
            </a:r>
            <a:r>
              <a:rPr lang="fr-FR" sz="2000" b="1" dirty="0" err="1">
                <a:solidFill>
                  <a:srgbClr val="80276C"/>
                </a:solidFill>
                <a:latin typeface="Times New Roman" panose="02020603050405020304" pitchFamily="18" charset="0"/>
                <a:cs typeface="Times New Roman" panose="02020603050405020304" pitchFamily="18" charset="0"/>
              </a:rPr>
              <a:t>operators</a:t>
            </a:r>
            <a:r>
              <a:rPr lang="fr-FR" sz="2000" b="1" dirty="0">
                <a:solidFill>
                  <a:srgbClr val="80276C"/>
                </a:solidFill>
                <a:latin typeface="Times New Roman" panose="02020603050405020304" pitchFamily="18" charset="0"/>
                <a:cs typeface="Times New Roman" panose="02020603050405020304" pitchFamily="18" charset="0"/>
              </a:rPr>
              <a:t> (or </a:t>
            </a:r>
            <a:r>
              <a:rPr lang="fr-FR" sz="2000" b="1" dirty="0" err="1">
                <a:solidFill>
                  <a:srgbClr val="80276C"/>
                </a:solidFill>
                <a:latin typeface="Times New Roman" panose="02020603050405020304" pitchFamily="18" charset="0"/>
                <a:cs typeface="Times New Roman" panose="02020603050405020304" pitchFamily="18" charset="0"/>
              </a:rPr>
              <a:t>they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could</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regarded</a:t>
            </a:r>
            <a:r>
              <a:rPr lang="fr-FR" sz="2000" b="1" dirty="0">
                <a:solidFill>
                  <a:srgbClr val="80276C"/>
                </a:solidFill>
                <a:latin typeface="Times New Roman" panose="02020603050405020304" pitchFamily="18" charset="0"/>
                <a:cs typeface="Times New Roman" panose="02020603050405020304" pitchFamily="18" charset="0"/>
              </a:rPr>
              <a:t> as </a:t>
            </a:r>
            <a:r>
              <a:rPr lang="fr-FR" sz="2000" b="1" dirty="0" err="1">
                <a:solidFill>
                  <a:srgbClr val="80276C"/>
                </a:solidFill>
                <a:latin typeface="Times New Roman" panose="02020603050405020304" pitchFamily="18" charset="0"/>
                <a:cs typeface="Times New Roman" panose="02020603050405020304" pitchFamily="18" charset="0"/>
              </a:rPr>
              <a:t>semantic</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words</a:t>
            </a:r>
            <a:r>
              <a:rPr lang="fr-FR" sz="2000" b="1" dirty="0">
                <a:solidFill>
                  <a:srgbClr val="80276C"/>
                </a:solidFill>
                <a:latin typeface="Times New Roman" panose="02020603050405020304" pitchFamily="18" charset="0"/>
                <a:cs typeface="Times New Roman" panose="02020603050405020304" pitchFamily="18" charset="0"/>
              </a:rPr>
              <a:t>), as if </a:t>
            </a:r>
            <a:r>
              <a:rPr lang="fr-FR" sz="2000" b="1" dirty="0" err="1">
                <a:solidFill>
                  <a:srgbClr val="80276C"/>
                </a:solidFill>
                <a:latin typeface="Times New Roman" panose="02020603050405020304" pitchFamily="18" charset="0"/>
                <a:cs typeface="Times New Roman" panose="02020603050405020304" pitchFamily="18" charset="0"/>
              </a:rPr>
              <a:t>you</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were</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dealing</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with</a:t>
            </a:r>
            <a:r>
              <a:rPr lang="fr-FR" sz="2000" b="1" dirty="0">
                <a:solidFill>
                  <a:srgbClr val="80276C"/>
                </a:solidFill>
                <a:latin typeface="Times New Roman" panose="02020603050405020304" pitchFamily="18" charset="0"/>
                <a:cs typeface="Times New Roman" panose="02020603050405020304" pitchFamily="18" charset="0"/>
              </a:rPr>
              <a:t> a </a:t>
            </a:r>
            <a:r>
              <a:rPr lang="fr-FR" sz="2000" b="1" dirty="0" err="1">
                <a:solidFill>
                  <a:srgbClr val="80276C"/>
                </a:solidFill>
                <a:latin typeface="Times New Roman" panose="02020603050405020304" pitchFamily="18" charset="0"/>
                <a:cs typeface="Times New Roman" panose="02020603050405020304" pitchFamily="18" charset="0"/>
              </a:rPr>
              <a:t>mathematical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equations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remove</a:t>
            </a:r>
            <a:r>
              <a:rPr lang="fr-FR" sz="2000" b="1" dirty="0">
                <a:solidFill>
                  <a:srgbClr val="80276C"/>
                </a:solidFill>
                <a:latin typeface="Times New Roman" panose="02020603050405020304" pitchFamily="18" charset="0"/>
                <a:cs typeface="Times New Roman" panose="02020603050405020304" pitchFamily="18" charset="0"/>
              </a:rPr>
              <a:t> all accents and </a:t>
            </a:r>
            <a:r>
              <a:rPr lang="fr-FR" sz="2000" b="1" dirty="0" err="1">
                <a:solidFill>
                  <a:srgbClr val="80276C"/>
                </a:solidFill>
                <a:latin typeface="Times New Roman" panose="02020603050405020304" pitchFamily="18" charset="0"/>
                <a:cs typeface="Times New Roman" panose="02020603050405020304" pitchFamily="18" charset="0"/>
              </a:rPr>
              <a:t>favor</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singular</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form</a:t>
            </a:r>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Analyse the </a:t>
            </a:r>
            <a:r>
              <a:rPr lang="fr-FR" sz="2000" b="1" dirty="0" err="1">
                <a:solidFill>
                  <a:srgbClr val="80276C"/>
                </a:solidFill>
                <a:latin typeface="Times New Roman" panose="02020603050405020304" pitchFamily="18" charset="0"/>
                <a:cs typeface="Times New Roman" panose="02020603050405020304" pitchFamily="18" charset="0"/>
              </a:rPr>
              <a:t>meaning</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words</a:t>
            </a:r>
            <a:r>
              <a:rPr lang="fr-FR" sz="2000" b="1" dirty="0">
                <a:solidFill>
                  <a:srgbClr val="80276C"/>
                </a:solidFill>
                <a:latin typeface="Times New Roman" panose="02020603050405020304" pitchFamily="18" charset="0"/>
                <a:cs typeface="Times New Roman" panose="02020603050405020304" pitchFamily="18" charset="0"/>
              </a:rPr>
              <a:t> and phrases and </a:t>
            </a:r>
            <a:r>
              <a:rPr lang="fr-FR" sz="2000" b="1" dirty="0" err="1">
                <a:solidFill>
                  <a:srgbClr val="80276C"/>
                </a:solidFill>
                <a:latin typeface="Times New Roman" panose="02020603050405020304" pitchFamily="18" charset="0"/>
                <a:cs typeface="Times New Roman" panose="02020603050405020304" pitchFamily="18" charset="0"/>
              </a:rPr>
              <a:t>think</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synonyms</a:t>
            </a:r>
            <a:r>
              <a:rPr lang="fr-FR" sz="2000" b="1" dirty="0">
                <a:solidFill>
                  <a:srgbClr val="80276C"/>
                </a:solidFill>
                <a:latin typeface="Times New Roman" panose="02020603050405020304" pitchFamily="18" charset="0"/>
                <a:cs typeface="Times New Roman" panose="02020603050405020304" pitchFamily="18" charset="0"/>
              </a:rPr>
              <a:t> and of </a:t>
            </a:r>
            <a:r>
              <a:rPr lang="fr-FR" sz="2000" b="1" dirty="0" err="1">
                <a:solidFill>
                  <a:srgbClr val="80276C"/>
                </a:solidFill>
                <a:latin typeface="Times New Roman" panose="02020603050405020304" pitchFamily="18" charset="0"/>
                <a:cs typeface="Times New Roman" panose="02020603050405020304" pitchFamily="18" charset="0"/>
              </a:rPr>
              <a:t>various</a:t>
            </a:r>
            <a:r>
              <a:rPr lang="fr-FR" sz="2000" b="1" dirty="0">
                <a:solidFill>
                  <a:srgbClr val="80276C"/>
                </a:solidFill>
                <a:latin typeface="Times New Roman" panose="02020603050405020304" pitchFamily="18" charset="0"/>
                <a:cs typeface="Times New Roman" panose="02020603050405020304" pitchFamily="18" charset="0"/>
              </a:rPr>
              <a:t> scripts of a </a:t>
            </a:r>
            <a:r>
              <a:rPr lang="fr-FR" sz="2000" b="1" dirty="0" err="1">
                <a:solidFill>
                  <a:srgbClr val="80276C"/>
                </a:solidFill>
                <a:latin typeface="Times New Roman" panose="02020603050405020304" pitchFamily="18" charset="0"/>
                <a:cs typeface="Times New Roman" panose="02020603050405020304" pitchFamily="18" charset="0"/>
              </a:rPr>
              <a:t>word</a:t>
            </a:r>
            <a:r>
              <a:rPr lang="fr-FR" sz="2000" b="1" dirty="0">
                <a:solidFill>
                  <a:srgbClr val="80276C"/>
                </a:solidFill>
                <a:latin typeface="Times New Roman" panose="02020603050405020304" pitchFamily="18" charset="0"/>
                <a:cs typeface="Times New Roman" panose="02020603050405020304" pitchFamily="18" charset="0"/>
              </a:rPr>
              <a:t> or a phrase</a:t>
            </a:r>
          </a:p>
        </p:txBody>
      </p:sp>
    </p:spTree>
    <p:extLst>
      <p:ext uri="{BB962C8B-B14F-4D97-AF65-F5344CB8AC3E}">
        <p14:creationId xmlns:p14="http://schemas.microsoft.com/office/powerpoint/2010/main" val="3436003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5C6FE93-8545-4331-B4E6-A015E8910A40}"/>
              </a:ext>
            </a:extLst>
          </p:cNvPr>
          <p:cNvSpPr txBox="1">
            <a:spLocks/>
          </p:cNvSpPr>
          <p:nvPr/>
        </p:nvSpPr>
        <p:spPr>
          <a:xfrm>
            <a:off x="780613" y="311868"/>
            <a:ext cx="9221080" cy="69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fr-FR" sz="2800" dirty="0" err="1">
                <a:solidFill>
                  <a:srgbClr val="80276C"/>
                </a:solidFill>
                <a:latin typeface="Times New Roman" panose="02020603050405020304" pitchFamily="18" charset="0"/>
                <a:cs typeface="Times New Roman" panose="02020603050405020304" pitchFamily="18" charset="0"/>
              </a:rPr>
              <a:t>Designing</a:t>
            </a:r>
            <a:r>
              <a:rPr lang="fr-FR" sz="2800" dirty="0">
                <a:solidFill>
                  <a:srgbClr val="80276C"/>
                </a:solidFill>
                <a:latin typeface="Times New Roman" panose="02020603050405020304" pitchFamily="18" charset="0"/>
                <a:cs typeface="Times New Roman" panose="02020603050405020304" pitchFamily="18" charset="0"/>
              </a:rPr>
              <a:t> the </a:t>
            </a:r>
            <a:r>
              <a:rPr lang="fr-FR" sz="2800" dirty="0" err="1">
                <a:solidFill>
                  <a:srgbClr val="80276C"/>
                </a:solidFill>
                <a:latin typeface="Times New Roman" panose="02020603050405020304" pitchFamily="18" charset="0"/>
                <a:cs typeface="Times New Roman" panose="02020603050405020304" pitchFamily="18" charset="0"/>
              </a:rPr>
              <a:t>search</a:t>
            </a:r>
            <a:r>
              <a:rPr lang="fr-FR" sz="2800" dirty="0">
                <a:solidFill>
                  <a:srgbClr val="80276C"/>
                </a:solidFill>
                <a:latin typeface="Times New Roman" panose="02020603050405020304" pitchFamily="18" charset="0"/>
                <a:cs typeface="Times New Roman" panose="02020603050405020304" pitchFamily="18" charset="0"/>
              </a:rPr>
              <a:t> </a:t>
            </a:r>
            <a:r>
              <a:rPr lang="fr-FR" sz="2800" dirty="0" err="1">
                <a:solidFill>
                  <a:srgbClr val="80276C"/>
                </a:solidFill>
                <a:latin typeface="Times New Roman" panose="02020603050405020304" pitchFamily="18" charset="0"/>
                <a:cs typeface="Times New Roman" panose="02020603050405020304" pitchFamily="18" charset="0"/>
              </a:rPr>
              <a:t>equation</a:t>
            </a:r>
            <a:r>
              <a:rPr lang="fr-FR" sz="2800" dirty="0">
                <a:solidFill>
                  <a:srgbClr val="80276C"/>
                </a:solidFill>
                <a:latin typeface="Times New Roman" panose="02020603050405020304" pitchFamily="18" charset="0"/>
                <a:cs typeface="Times New Roman" panose="02020603050405020304" pitchFamily="18" charset="0"/>
              </a:rPr>
              <a:t>, </a:t>
            </a:r>
            <a:r>
              <a:rPr lang="fr-FR" sz="2800" dirty="0" err="1">
                <a:solidFill>
                  <a:srgbClr val="80276C"/>
                </a:solidFill>
                <a:latin typeface="Times New Roman" panose="02020603050405020304" pitchFamily="18" charset="0"/>
                <a:cs typeface="Times New Roman" panose="02020603050405020304" pitchFamily="18" charset="0"/>
              </a:rPr>
              <a:t>syntax</a:t>
            </a:r>
            <a:r>
              <a:rPr lang="fr-FR" sz="2800" dirty="0">
                <a:solidFill>
                  <a:srgbClr val="80276C"/>
                </a:solidFill>
                <a:latin typeface="Times New Roman" panose="02020603050405020304" pitchFamily="18" charset="0"/>
                <a:cs typeface="Times New Roman" panose="02020603050405020304" pitchFamily="18" charset="0"/>
              </a:rPr>
              <a:t> and </a:t>
            </a:r>
            <a:r>
              <a:rPr lang="fr-FR" sz="2800" dirty="0" err="1">
                <a:solidFill>
                  <a:srgbClr val="80276C"/>
                </a:solidFill>
                <a:latin typeface="Times New Roman" panose="02020603050405020304" pitchFamily="18" charset="0"/>
                <a:cs typeface="Times New Roman" panose="02020603050405020304" pitchFamily="18" charset="0"/>
              </a:rPr>
              <a:t>strategy</a:t>
            </a:r>
            <a:r>
              <a:rPr lang="fr-FR" sz="2800" dirty="0">
                <a:solidFill>
                  <a:srgbClr val="80276C"/>
                </a:solidFill>
                <a:latin typeface="Times New Roman" panose="02020603050405020304" pitchFamily="18" charset="0"/>
                <a:cs typeface="Times New Roman" panose="02020603050405020304" pitchFamily="18" charset="0"/>
              </a:rPr>
              <a:t> – (2) :  </a:t>
            </a:r>
            <a:r>
              <a:rPr lang="fr-FR" sz="2800" dirty="0" err="1">
                <a:solidFill>
                  <a:srgbClr val="80276C"/>
                </a:solidFill>
                <a:latin typeface="Times New Roman" panose="02020603050405020304" pitchFamily="18" charset="0"/>
                <a:cs typeface="Times New Roman" panose="02020603050405020304" pitchFamily="18" charset="0"/>
              </a:rPr>
              <a:t>methods</a:t>
            </a:r>
            <a:r>
              <a:rPr lang="fr-FR" sz="2800" dirty="0">
                <a:solidFill>
                  <a:srgbClr val="80276C"/>
                </a:solidFill>
                <a:latin typeface="Times New Roman" panose="02020603050405020304" pitchFamily="18" charset="0"/>
                <a:cs typeface="Times New Roman" panose="02020603050405020304" pitchFamily="18" charset="0"/>
              </a:rPr>
              <a:t> </a:t>
            </a:r>
          </a:p>
        </p:txBody>
      </p:sp>
      <p:sp>
        <p:nvSpPr>
          <p:cNvPr id="4" name="ZoneTexte 3">
            <a:extLst>
              <a:ext uri="{FF2B5EF4-FFF2-40B4-BE49-F238E27FC236}">
                <a16:creationId xmlns:a16="http://schemas.microsoft.com/office/drawing/2014/main" id="{BB883C3E-CB39-44D9-89C4-A9FECABC969E}"/>
              </a:ext>
            </a:extLst>
          </p:cNvPr>
          <p:cNvSpPr txBox="1"/>
          <p:nvPr/>
        </p:nvSpPr>
        <p:spPr>
          <a:xfrm>
            <a:off x="950288" y="1247182"/>
            <a:ext cx="9986624" cy="1569660"/>
          </a:xfrm>
          <a:prstGeom prst="rect">
            <a:avLst/>
          </a:prstGeom>
          <a:noFill/>
        </p:spPr>
        <p:txBody>
          <a:bodyPr wrap="square" rtlCol="0">
            <a:spAutoFit/>
          </a:bodyPr>
          <a:lstStyle/>
          <a:p>
            <a:pPr marL="285750" indent="-285750" algn="just">
              <a:buFont typeface="Wingdings" panose="05000000000000000000" pitchFamily="2" charset="2"/>
              <a:buChar char="ü"/>
            </a:pPr>
            <a:r>
              <a:rPr lang="fr-FR" sz="2000" b="1" dirty="0">
                <a:solidFill>
                  <a:srgbClr val="00B050"/>
                </a:solidFill>
                <a:latin typeface="Times New Roman" panose="02020603050405020304" pitchFamily="18" charset="0"/>
                <a:cs typeface="Times New Roman" panose="02020603050405020304" pitchFamily="18" charset="0"/>
              </a:rPr>
              <a:t>Boolean </a:t>
            </a:r>
            <a:r>
              <a:rPr lang="fr-FR" sz="2000" b="1" dirty="0" err="1">
                <a:solidFill>
                  <a:srgbClr val="00B050"/>
                </a:solidFill>
                <a:latin typeface="Times New Roman" panose="02020603050405020304" pitchFamily="18" charset="0"/>
                <a:cs typeface="Times New Roman" panose="02020603050405020304" pitchFamily="18" charset="0"/>
              </a:rPr>
              <a:t>operators</a:t>
            </a:r>
            <a:r>
              <a:rPr lang="fr-FR" sz="2000" b="1" dirty="0">
                <a:solidFill>
                  <a:srgbClr val="00B050"/>
                </a:solidFill>
                <a:latin typeface="Times New Roman" panose="02020603050405020304" pitchFamily="18" charset="0"/>
                <a:cs typeface="Times New Roman" panose="02020603050405020304" pitchFamily="18" charset="0"/>
              </a:rPr>
              <a:t> </a:t>
            </a:r>
            <a:r>
              <a:rPr lang="fr-FR" sz="2000" b="1" dirty="0">
                <a:solidFill>
                  <a:srgbClr val="80276C"/>
                </a:solidFill>
                <a:latin typeface="Times New Roman" panose="02020603050405020304" pitchFamily="18" charset="0"/>
                <a:cs typeface="Times New Roman" panose="02020603050405020304" pitchFamily="18" charset="0"/>
              </a:rPr>
              <a:t>:  AND, OR, NOT (or AND NOT) in English : use capital </a:t>
            </a:r>
            <a:r>
              <a:rPr lang="fr-FR" sz="2000" b="1" dirty="0" err="1">
                <a:solidFill>
                  <a:srgbClr val="80276C"/>
                </a:solidFill>
                <a:latin typeface="Times New Roman" panose="02020603050405020304" pitchFamily="18" charset="0"/>
                <a:cs typeface="Times New Roman" panose="02020603050405020304" pitchFamily="18" charset="0"/>
              </a:rPr>
              <a:t>letters</a:t>
            </a:r>
            <a:endParaRPr lang="fr-FR" sz="2000"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fr-FR" sz="2000" b="1" dirty="0">
                <a:solidFill>
                  <a:srgbClr val="80276C"/>
                </a:solidFill>
                <a:latin typeface="Times New Roman" panose="02020603050405020304" pitchFamily="18" charset="0"/>
                <a:cs typeface="Times New Roman" panose="02020603050405020304" pitchFamily="18" charset="0"/>
              </a:rPr>
              <a:t>OR : </a:t>
            </a:r>
            <a:r>
              <a:rPr lang="fr-FR" sz="2000" b="1" dirty="0" err="1">
                <a:solidFill>
                  <a:srgbClr val="80276C"/>
                </a:solidFill>
                <a:latin typeface="Times New Roman" panose="02020603050405020304" pitchFamily="18" charset="0"/>
                <a:cs typeface="Times New Roman" panose="02020603050405020304" pitchFamily="18" charset="0"/>
              </a:rPr>
              <a:t>useful</a:t>
            </a:r>
            <a:r>
              <a:rPr lang="fr-FR" sz="2000" b="1" dirty="0">
                <a:solidFill>
                  <a:srgbClr val="80276C"/>
                </a:solidFill>
                <a:latin typeface="Times New Roman" panose="02020603050405020304" pitchFamily="18" charset="0"/>
                <a:cs typeface="Times New Roman" panose="02020603050405020304" pitchFamily="18" charset="0"/>
              </a:rPr>
              <a:t> for </a:t>
            </a:r>
            <a:r>
              <a:rPr lang="fr-FR" sz="2000" b="1" dirty="0" err="1">
                <a:solidFill>
                  <a:srgbClr val="80276C"/>
                </a:solidFill>
                <a:latin typeface="Times New Roman" panose="02020603050405020304" pitchFamily="18" charset="0"/>
                <a:cs typeface="Times New Roman" panose="02020603050405020304" pitchFamily="18" charset="0"/>
              </a:rPr>
              <a:t>synonyms</a:t>
            </a:r>
            <a:r>
              <a:rPr lang="fr-FR" sz="2000" b="1" dirty="0">
                <a:solidFill>
                  <a:srgbClr val="80276C"/>
                </a:solidFill>
                <a:latin typeface="Times New Roman" panose="02020603050405020304" pitchFamily="18" charset="0"/>
                <a:cs typeface="Times New Roman" panose="02020603050405020304" pitchFamily="18" charset="0"/>
              </a:rPr>
              <a:t> or </a:t>
            </a:r>
            <a:r>
              <a:rPr lang="fr-FR" sz="2000" b="1" dirty="0" err="1">
                <a:solidFill>
                  <a:srgbClr val="80276C"/>
                </a:solidFill>
                <a:latin typeface="Times New Roman" panose="02020603050405020304" pitchFamily="18" charset="0"/>
                <a:cs typeface="Times New Roman" panose="02020603050405020304" pitchFamily="18" charset="0"/>
              </a:rPr>
              <a:t>spell</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diferences</a:t>
            </a:r>
            <a:r>
              <a:rPr lang="fr-FR" sz="2000" b="1" dirty="0">
                <a:solidFill>
                  <a:srgbClr val="80276C"/>
                </a:solidFill>
                <a:latin typeface="Times New Roman" panose="02020603050405020304" pitchFamily="18" charset="0"/>
                <a:cs typeface="Times New Roman" panose="02020603050405020304" pitchFamily="18" charset="0"/>
              </a:rPr>
              <a:t> </a:t>
            </a:r>
          </a:p>
          <a:p>
            <a:pPr marL="742950" lvl="1" indent="-285750" algn="just">
              <a:buFont typeface="Wingdings" panose="05000000000000000000" pitchFamily="2" charset="2"/>
              <a:buChar char="§"/>
            </a:pPr>
            <a:r>
              <a:rPr lang="fr-FR" sz="2000" b="1" dirty="0">
                <a:solidFill>
                  <a:srgbClr val="80276C"/>
                </a:solidFill>
                <a:latin typeface="Times New Roman" panose="02020603050405020304" pitchFamily="18" charset="0"/>
                <a:cs typeface="Times New Roman" panose="02020603050405020304" pitchFamily="18" charset="0"/>
              </a:rPr>
              <a:t>AND : to combine </a:t>
            </a:r>
            <a:r>
              <a:rPr lang="fr-FR" sz="2000" b="1" dirty="0" err="1">
                <a:solidFill>
                  <a:srgbClr val="80276C"/>
                </a:solidFill>
                <a:latin typeface="Times New Roman" panose="02020603050405020304" pitchFamily="18" charset="0"/>
                <a:cs typeface="Times New Roman" panose="02020603050405020304" pitchFamily="18" charset="0"/>
              </a:rPr>
              <a:t>ideas</a:t>
            </a:r>
            <a:r>
              <a:rPr lang="fr-FR" sz="2000" b="1" dirty="0">
                <a:solidFill>
                  <a:srgbClr val="80276C"/>
                </a:solidFill>
                <a:latin typeface="Times New Roman" panose="02020603050405020304" pitchFamily="18" charset="0"/>
                <a:cs typeface="Times New Roman" panose="02020603050405020304" pitchFamily="18" charset="0"/>
              </a:rPr>
              <a:t> and concepts, </a:t>
            </a:r>
            <a:r>
              <a:rPr lang="fr-FR" sz="2000" b="1" dirty="0" err="1">
                <a:solidFill>
                  <a:srgbClr val="80276C"/>
                </a:solidFill>
                <a:latin typeface="Times New Roman" panose="02020603050405020304" pitchFamily="18" charset="0"/>
                <a:cs typeface="Times New Roman" panose="02020603050405020304" pitchFamily="18" charset="0"/>
              </a:rPr>
              <a:t>make</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results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less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numerous</a:t>
            </a:r>
            <a:r>
              <a:rPr lang="fr-FR" sz="2000" b="1" dirty="0">
                <a:solidFill>
                  <a:srgbClr val="80276C"/>
                </a:solidFill>
                <a:latin typeface="Times New Roman" panose="02020603050405020304" pitchFamily="18" charset="0"/>
                <a:cs typeface="Times New Roman" panose="02020603050405020304" pitchFamily="18" charset="0"/>
              </a:rPr>
              <a:t>,</a:t>
            </a:r>
          </a:p>
          <a:p>
            <a:pPr marL="742950" lvl="1" indent="-285750" algn="just">
              <a:buFont typeface="Wingdings" panose="05000000000000000000" pitchFamily="2" charset="2"/>
              <a:buChar char="§"/>
            </a:pPr>
            <a:r>
              <a:rPr lang="fr-FR" sz="2000" b="1" dirty="0">
                <a:solidFill>
                  <a:srgbClr val="80276C"/>
                </a:solidFill>
                <a:latin typeface="Times New Roman" panose="02020603050405020304" pitchFamily="18" charset="0"/>
                <a:cs typeface="Times New Roman" panose="02020603050405020304" pitchFamily="18" charset="0"/>
              </a:rPr>
              <a:t>NOT : use </a:t>
            </a:r>
            <a:r>
              <a:rPr lang="fr-FR" sz="2000" b="1" dirty="0" err="1">
                <a:solidFill>
                  <a:srgbClr val="80276C"/>
                </a:solidFill>
                <a:latin typeface="Times New Roman" panose="02020603050405020304" pitchFamily="18" charset="0"/>
                <a:cs typeface="Times New Roman" panose="02020603050405020304" pitchFamily="18" charset="0"/>
              </a:rPr>
              <a:t>cautiously</a:t>
            </a:r>
            <a:r>
              <a:rPr lang="fr-FR" sz="2000" b="1" dirty="0">
                <a:solidFill>
                  <a:srgbClr val="80276C"/>
                </a:solidFill>
                <a:latin typeface="Times New Roman" panose="02020603050405020304" pitchFamily="18" charset="0"/>
                <a:cs typeface="Times New Roman" panose="02020603050405020304" pitchFamily="18" charset="0"/>
              </a:rPr>
              <a:t>, to </a:t>
            </a:r>
            <a:r>
              <a:rPr lang="fr-FR" sz="2000" b="1" dirty="0" err="1">
                <a:solidFill>
                  <a:srgbClr val="80276C"/>
                </a:solidFill>
                <a:latin typeface="Times New Roman" panose="02020603050405020304" pitchFamily="18" charset="0"/>
                <a:cs typeface="Times New Roman" panose="02020603050405020304" pitchFamily="18" charset="0"/>
              </a:rPr>
              <a:t>be</a:t>
            </a:r>
            <a:r>
              <a:rPr lang="fr-FR" sz="2000" b="1" dirty="0">
                <a:solidFill>
                  <a:srgbClr val="80276C"/>
                </a:solidFill>
                <a:latin typeface="Times New Roman" panose="02020603050405020304" pitchFamily="18" charset="0"/>
                <a:cs typeface="Times New Roman" panose="02020603050405020304" pitchFamily="18" charset="0"/>
              </a:rPr>
              <a:t> more </a:t>
            </a:r>
            <a:r>
              <a:rPr lang="fr-FR" sz="2000" b="1" dirty="0" err="1">
                <a:solidFill>
                  <a:srgbClr val="80276C"/>
                </a:solidFill>
                <a:latin typeface="Times New Roman" panose="02020603050405020304" pitchFamily="18" charset="0"/>
                <a:cs typeface="Times New Roman" panose="02020603050405020304" pitchFamily="18" charset="0"/>
              </a:rPr>
              <a:t>accurate</a:t>
            </a:r>
            <a:endParaRPr lang="fr-FR" sz="2000" b="1" dirty="0">
              <a:solidFill>
                <a:srgbClr val="80276C"/>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endParaRPr lang="fr-FR" sz="1600" b="1" dirty="0">
              <a:solidFill>
                <a:srgbClr val="80276C"/>
              </a:solidFill>
              <a:latin typeface="Times New Roman" panose="02020603050405020304" pitchFamily="18" charset="0"/>
              <a:cs typeface="Times New Roman" panose="02020603050405020304" pitchFamily="18" charset="0"/>
            </a:endParaRPr>
          </a:p>
        </p:txBody>
      </p:sp>
      <p:sp>
        <p:nvSpPr>
          <p:cNvPr id="2" name="AutoShape 2" descr="Boolean operators">
            <a:extLst>
              <a:ext uri="{FF2B5EF4-FFF2-40B4-BE49-F238E27FC236}">
                <a16:creationId xmlns:a16="http://schemas.microsoft.com/office/drawing/2014/main" id="{C9BCFC4A-3B52-41B6-943D-D34A584F4B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6" descr="Boolean operators">
            <a:extLst>
              <a:ext uri="{FF2B5EF4-FFF2-40B4-BE49-F238E27FC236}">
                <a16:creationId xmlns:a16="http://schemas.microsoft.com/office/drawing/2014/main" id="{2831CE76-4F6D-44A8-8F65-7744CD1B49F8}"/>
              </a:ext>
            </a:extLst>
          </p:cNvPr>
          <p:cNvSpPr>
            <a:spLocks noChangeAspect="1" noChangeArrowheads="1"/>
          </p:cNvSpPr>
          <p:nvPr/>
        </p:nvSpPr>
        <p:spPr bwMode="auto">
          <a:xfrm>
            <a:off x="6096000" y="3429000"/>
            <a:ext cx="3581400" cy="3581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8" name="Image 7" descr="Afficher l’image source">
            <a:extLst>
              <a:ext uri="{FF2B5EF4-FFF2-40B4-BE49-F238E27FC236}">
                <a16:creationId xmlns:a16="http://schemas.microsoft.com/office/drawing/2014/main" id="{83F9119F-7C16-95CE-211A-9EBCE87EAC94}"/>
              </a:ext>
            </a:extLst>
          </p:cNvPr>
          <p:cNvPicPr>
            <a:picLocks noChangeAspect="1"/>
          </p:cNvPicPr>
          <p:nvPr/>
        </p:nvPicPr>
        <p:blipFill>
          <a:blip r:embed="rId2"/>
          <a:stretch>
            <a:fillRect/>
          </a:stretch>
        </p:blipFill>
        <p:spPr>
          <a:xfrm>
            <a:off x="1379193" y="2893042"/>
            <a:ext cx="9388044" cy="3327409"/>
          </a:xfrm>
          <a:prstGeom prst="rect">
            <a:avLst/>
          </a:prstGeom>
        </p:spPr>
      </p:pic>
    </p:spTree>
    <p:extLst>
      <p:ext uri="{BB962C8B-B14F-4D97-AF65-F5344CB8AC3E}">
        <p14:creationId xmlns:p14="http://schemas.microsoft.com/office/powerpoint/2010/main" val="1538721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ADB8D72-4C47-BAB7-3A93-C566F7CA2DF8}"/>
              </a:ext>
            </a:extLst>
          </p:cNvPr>
          <p:cNvSpPr txBox="1"/>
          <p:nvPr/>
        </p:nvSpPr>
        <p:spPr>
          <a:xfrm>
            <a:off x="1162526" y="741164"/>
            <a:ext cx="9866948" cy="4093428"/>
          </a:xfrm>
          <a:prstGeom prst="rect">
            <a:avLst/>
          </a:prstGeom>
          <a:noFill/>
        </p:spPr>
        <p:txBody>
          <a:bodyPr wrap="square">
            <a:spAutoFit/>
          </a:bodyPr>
          <a:lstStyle/>
          <a:p>
            <a:pPr marL="285750" indent="-28575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Truncations</a:t>
            </a:r>
            <a:r>
              <a:rPr lang="fr-FR" sz="2000" b="1" dirty="0">
                <a:solidFill>
                  <a:srgbClr val="80276C"/>
                </a:solidFill>
                <a:latin typeface="Times New Roman" panose="02020603050405020304" pitchFamily="18" charset="0"/>
                <a:cs typeface="Times New Roman" panose="02020603050405020304" pitchFamily="18" charset="0"/>
              </a:rPr>
              <a:t> :   a question mark ? to replace 0 or 1 </a:t>
            </a:r>
            <a:r>
              <a:rPr lang="fr-FR" sz="2000" b="1" dirty="0" err="1">
                <a:solidFill>
                  <a:srgbClr val="80276C"/>
                </a:solidFill>
                <a:latin typeface="Times New Roman" panose="02020603050405020304" pitchFamily="18" charset="0"/>
                <a:cs typeface="Times New Roman" panose="02020603050405020304" pitchFamily="18" charset="0"/>
              </a:rPr>
              <a:t>character</a:t>
            </a:r>
            <a:r>
              <a:rPr lang="fr-FR" sz="2000" b="1" dirty="0">
                <a:solidFill>
                  <a:srgbClr val="80276C"/>
                </a:solidFill>
                <a:latin typeface="Times New Roman" panose="02020603050405020304" pitchFamily="18" charset="0"/>
                <a:cs typeface="Times New Roman" panose="02020603050405020304" pitchFamily="18" charset="0"/>
              </a:rPr>
              <a:t>: bike? for bike (</a:t>
            </a:r>
            <a:r>
              <a:rPr lang="fr-FR" sz="2000" b="1" dirty="0" err="1">
                <a:solidFill>
                  <a:srgbClr val="80276C"/>
                </a:solidFill>
                <a:latin typeface="Times New Roman" panose="02020603050405020304" pitchFamily="18" charset="0"/>
                <a:cs typeface="Times New Roman" panose="02020603050405020304" pitchFamily="18" charset="0"/>
              </a:rPr>
              <a:t>singular</a:t>
            </a:r>
            <a:r>
              <a:rPr lang="fr-FR" sz="2000" b="1" dirty="0">
                <a:solidFill>
                  <a:srgbClr val="80276C"/>
                </a:solidFill>
                <a:latin typeface="Times New Roman" panose="02020603050405020304" pitchFamily="18" charset="0"/>
                <a:cs typeface="Times New Roman" panose="02020603050405020304" pitchFamily="18" charset="0"/>
              </a:rPr>
              <a:t>) or bikes(plural) -  </a:t>
            </a:r>
            <a:r>
              <a:rPr lang="fr-FR" sz="2000" b="1" dirty="0" err="1">
                <a:solidFill>
                  <a:srgbClr val="80276C"/>
                </a:solidFill>
                <a:latin typeface="Times New Roman" panose="02020603050405020304" pitchFamily="18" charset="0"/>
                <a:cs typeface="Times New Roman" panose="02020603050405020304" pitchFamily="18" charset="0"/>
              </a:rPr>
              <a:t>asterisk</a:t>
            </a:r>
            <a:r>
              <a:rPr lang="fr-FR" sz="2000" b="1" dirty="0">
                <a:solidFill>
                  <a:srgbClr val="80276C"/>
                </a:solidFill>
                <a:latin typeface="Times New Roman" panose="02020603050405020304" pitchFamily="18" charset="0"/>
                <a:cs typeface="Times New Roman" panose="02020603050405020304" pitchFamily="18" charset="0"/>
              </a:rPr>
              <a:t> * to replace n </a:t>
            </a:r>
            <a:r>
              <a:rPr lang="fr-FR" sz="2000" b="1" dirty="0" err="1">
                <a:solidFill>
                  <a:srgbClr val="80276C"/>
                </a:solidFill>
                <a:latin typeface="Times New Roman" panose="02020603050405020304" pitchFamily="18" charset="0"/>
                <a:cs typeface="Times New Roman" panose="02020603050405020304" pitchFamily="18" charset="0"/>
              </a:rPr>
              <a:t>characters</a:t>
            </a:r>
            <a:r>
              <a:rPr lang="fr-FR" sz="2000" b="1" dirty="0">
                <a:solidFill>
                  <a:srgbClr val="80276C"/>
                </a:solidFill>
                <a:latin typeface="Times New Roman" panose="02020603050405020304" pitchFamily="18" charset="0"/>
                <a:cs typeface="Times New Roman" panose="02020603050405020304" pitchFamily="18" charset="0"/>
              </a:rPr>
              <a:t>:  comput* for computer, </a:t>
            </a:r>
            <a:r>
              <a:rPr lang="fr-FR" sz="2000" b="1" dirty="0" err="1">
                <a:solidFill>
                  <a:srgbClr val="80276C"/>
                </a:solidFill>
                <a:latin typeface="Times New Roman" panose="02020603050405020304" pitchFamily="18" charset="0"/>
                <a:cs typeface="Times New Roman" panose="02020603050405020304" pitchFamily="18" charset="0"/>
              </a:rPr>
              <a:t>computing</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computerize</a:t>
            </a:r>
            <a:r>
              <a:rPr lang="fr-FR" sz="2000" b="1" dirty="0">
                <a:solidFill>
                  <a:srgbClr val="80276C"/>
                </a:solidFill>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Quotation marks to confine the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of a phrase to the exact phrase. They </a:t>
            </a:r>
            <a:r>
              <a:rPr lang="fr-FR" sz="2000" b="1" dirty="0" err="1">
                <a:solidFill>
                  <a:srgbClr val="80276C"/>
                </a:solidFill>
                <a:latin typeface="Times New Roman" panose="02020603050405020304" pitchFamily="18" charset="0"/>
                <a:cs typeface="Times New Roman" panose="02020603050405020304" pitchFamily="18" charset="0"/>
              </a:rPr>
              <a:t>make</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research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much</a:t>
            </a:r>
            <a:r>
              <a:rPr lang="fr-FR" sz="2000" b="1" dirty="0">
                <a:solidFill>
                  <a:srgbClr val="80276C"/>
                </a:solidFill>
                <a:latin typeface="Times New Roman" panose="02020603050405020304" pitchFamily="18" charset="0"/>
                <a:cs typeface="Times New Roman" panose="02020603050405020304" pitchFamily="18" charset="0"/>
              </a:rPr>
              <a:t> more </a:t>
            </a:r>
            <a:r>
              <a:rPr lang="fr-FR" sz="2000" b="1" dirty="0" err="1">
                <a:solidFill>
                  <a:srgbClr val="80276C"/>
                </a:solidFill>
                <a:latin typeface="Times New Roman" panose="02020603050405020304" pitchFamily="18" charset="0"/>
                <a:cs typeface="Times New Roman" panose="02020603050405020304" pitchFamily="18" charset="0"/>
              </a:rPr>
              <a:t>precise</a:t>
            </a:r>
            <a:r>
              <a:rPr lang="fr-FR" sz="2000" b="1" dirty="0">
                <a:solidFill>
                  <a:srgbClr val="80276C"/>
                </a:solidFill>
                <a:latin typeface="Times New Roman" panose="02020603050405020304" pitchFamily="18" charset="0"/>
                <a:cs typeface="Times New Roman" panose="02020603050405020304" pitchFamily="18" charset="0"/>
              </a:rPr>
              <a:t>.  Do not use chevrons «  »;  use straight </a:t>
            </a:r>
            <a:r>
              <a:rPr lang="fr-FR" sz="2000" b="1" dirty="0" err="1">
                <a:solidFill>
                  <a:srgbClr val="80276C"/>
                </a:solidFill>
                <a:latin typeface="Times New Roman" panose="02020603050405020304" pitchFamily="18" charset="0"/>
                <a:cs typeface="Times New Roman" panose="02020603050405020304" pitchFamily="18" charset="0"/>
              </a:rPr>
              <a:t>quotes</a:t>
            </a:r>
            <a:r>
              <a:rPr lang="fr-FR" sz="2000" b="1" dirty="0">
                <a:solidFill>
                  <a:srgbClr val="80276C"/>
                </a:solidFill>
                <a:latin typeface="Times New Roman" panose="02020603050405020304" pitchFamily="18" charset="0"/>
                <a:cs typeface="Times New Roman" panose="02020603050405020304" pitchFamily="18" charset="0"/>
              </a:rPr>
              <a:t> "  ". Never insert a </a:t>
            </a:r>
            <a:r>
              <a:rPr lang="fr-FR" sz="2000" b="1" dirty="0" err="1">
                <a:solidFill>
                  <a:srgbClr val="80276C"/>
                </a:solidFill>
                <a:latin typeface="Times New Roman" panose="02020603050405020304" pitchFamily="18" charset="0"/>
                <a:cs typeface="Times New Roman" panose="02020603050405020304" pitchFamily="18" charset="0"/>
              </a:rPr>
              <a:t>truncation</a:t>
            </a:r>
            <a:r>
              <a:rPr lang="fr-FR" sz="2000" b="1" dirty="0">
                <a:solidFill>
                  <a:srgbClr val="80276C"/>
                </a:solidFill>
                <a:latin typeface="Times New Roman" panose="02020603050405020304" pitchFamily="18" charset="0"/>
                <a:cs typeface="Times New Roman" panose="02020603050405020304" pitchFamily="18" charset="0"/>
              </a:rPr>
              <a:t> in a phrase in </a:t>
            </a:r>
            <a:r>
              <a:rPr lang="fr-FR" sz="2000" b="1" dirty="0" err="1">
                <a:solidFill>
                  <a:srgbClr val="80276C"/>
                </a:solidFill>
                <a:latin typeface="Times New Roman" panose="02020603050405020304" pitchFamily="18" charset="0"/>
                <a:cs typeface="Times New Roman" panose="02020603050405020304" pitchFamily="18" charset="0"/>
              </a:rPr>
              <a:t>quotation</a:t>
            </a:r>
            <a:r>
              <a:rPr lang="fr-FR" sz="2000" b="1" dirty="0">
                <a:solidFill>
                  <a:srgbClr val="80276C"/>
                </a:solidFill>
                <a:latin typeface="Times New Roman" panose="02020603050405020304" pitchFamily="18" charset="0"/>
                <a:cs typeface="Times New Roman" panose="02020603050405020304" pitchFamily="18" charset="0"/>
              </a:rPr>
              <a:t> marks. Never put a single </a:t>
            </a:r>
            <a:r>
              <a:rPr lang="fr-FR" sz="2000" b="1" dirty="0" err="1">
                <a:solidFill>
                  <a:srgbClr val="80276C"/>
                </a:solidFill>
                <a:latin typeface="Times New Roman" panose="02020603050405020304" pitchFamily="18" charset="0"/>
                <a:cs typeface="Times New Roman" panose="02020603050405020304" pitchFamily="18" charset="0"/>
              </a:rPr>
              <a:t>word</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between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quotation</a:t>
            </a:r>
            <a:r>
              <a:rPr lang="fr-FR" sz="2000" b="1" dirty="0">
                <a:solidFill>
                  <a:srgbClr val="80276C"/>
                </a:solidFill>
                <a:latin typeface="Times New Roman" panose="02020603050405020304" pitchFamily="18" charset="0"/>
                <a:cs typeface="Times New Roman" panose="02020603050405020304" pitchFamily="18" charset="0"/>
              </a:rPr>
              <a:t> marks.</a:t>
            </a:r>
          </a:p>
          <a:p>
            <a:pPr marL="285750" indent="-28575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sz="2000" b="1" dirty="0">
                <a:solidFill>
                  <a:srgbClr val="80276C"/>
                </a:solidFill>
                <a:latin typeface="Times New Roman" panose="02020603050405020304" pitchFamily="18" charset="0"/>
                <a:cs typeface="Times New Roman" panose="02020603050405020304" pitchFamily="18" charset="0"/>
              </a:rPr>
              <a:t>Distributive </a:t>
            </a:r>
            <a:r>
              <a:rPr lang="fr-FR" sz="2000" b="1" dirty="0" err="1">
                <a:solidFill>
                  <a:srgbClr val="80276C"/>
                </a:solidFill>
                <a:latin typeface="Times New Roman" panose="02020603050405020304" pitchFamily="18" charset="0"/>
                <a:cs typeface="Times New Roman" panose="02020603050405020304" pitchFamily="18" charset="0"/>
              </a:rPr>
              <a:t>parentheses</a:t>
            </a:r>
            <a:r>
              <a:rPr lang="fr-FR" sz="2000" b="1" dirty="0">
                <a:solidFill>
                  <a:srgbClr val="80276C"/>
                </a:solidFill>
                <a:latin typeface="Times New Roman" panose="02020603050405020304" pitchFamily="18" charset="0"/>
                <a:cs typeface="Times New Roman" panose="02020603050405020304" pitchFamily="18" charset="0"/>
              </a:rPr>
              <a:t> (As in </a:t>
            </a:r>
            <a:r>
              <a:rPr lang="fr-FR" sz="2000" b="1" dirty="0" err="1">
                <a:solidFill>
                  <a:srgbClr val="80276C"/>
                </a:solidFill>
                <a:latin typeface="Times New Roman" panose="02020603050405020304" pitchFamily="18" charset="0"/>
                <a:cs typeface="Times New Roman" panose="02020603050405020304" pitchFamily="18" charset="0"/>
              </a:rPr>
              <a:t>mathematics</a:t>
            </a:r>
            <a:r>
              <a:rPr lang="fr-FR" sz="2000" b="1" dirty="0">
                <a:solidFill>
                  <a:srgbClr val="80276C"/>
                </a:solidFill>
                <a:latin typeface="Times New Roman" panose="02020603050405020304" pitchFamily="18" charset="0"/>
                <a:cs typeface="Times New Roman" panose="02020603050405020304" pitchFamily="18" charset="0"/>
              </a:rPr>
              <a:t> in </a:t>
            </a:r>
            <a:r>
              <a:rPr lang="fr-FR" sz="2000" b="1" dirty="0" err="1">
                <a:solidFill>
                  <a:srgbClr val="80276C"/>
                </a:solidFill>
                <a:latin typeface="Times New Roman" panose="02020603050405020304" pitchFamily="18" charset="0"/>
                <a:cs typeface="Times New Roman" panose="02020603050405020304" pitchFamily="18" charset="0"/>
              </a:rPr>
              <a:t>order</a:t>
            </a:r>
            <a:r>
              <a:rPr lang="fr-FR" sz="2000" b="1" dirty="0">
                <a:solidFill>
                  <a:srgbClr val="80276C"/>
                </a:solidFill>
                <a:latin typeface="Times New Roman" panose="02020603050405020304" pitchFamily="18" charset="0"/>
                <a:cs typeface="Times New Roman" panose="02020603050405020304" pitchFamily="18" charset="0"/>
              </a:rPr>
              <a:t> to combine Boolean </a:t>
            </a:r>
            <a:r>
              <a:rPr lang="fr-FR" sz="2000" b="1" dirty="0" err="1">
                <a:solidFill>
                  <a:srgbClr val="80276C"/>
                </a:solidFill>
                <a:latin typeface="Times New Roman" panose="02020603050405020304" pitchFamily="18" charset="0"/>
                <a:cs typeface="Times New Roman" panose="02020603050405020304" pitchFamily="18" charset="0"/>
              </a:rPr>
              <a:t>operators</a:t>
            </a:r>
            <a:r>
              <a:rPr lang="fr-FR" sz="2000" b="1" dirty="0">
                <a:solidFill>
                  <a:srgbClr val="80276C"/>
                </a:solidFill>
                <a:latin typeface="Times New Roman" panose="02020603050405020304" pitchFamily="18" charset="0"/>
                <a:cs typeface="Times New Roman" panose="02020603050405020304" pitchFamily="18" charset="0"/>
              </a:rPr>
              <a:t>) . AND </a:t>
            </a:r>
            <a:r>
              <a:rPr lang="fr-FR" sz="2000" b="1" dirty="0" err="1">
                <a:solidFill>
                  <a:srgbClr val="80276C"/>
                </a:solidFill>
                <a:latin typeface="Times New Roman" panose="02020603050405020304" pitchFamily="18" charset="0"/>
                <a:cs typeface="Times New Roman" panose="02020603050405020304" pitchFamily="18" charset="0"/>
              </a:rPr>
              <a:t>always</a:t>
            </a:r>
            <a:r>
              <a:rPr lang="fr-FR" sz="2000" b="1" dirty="0">
                <a:solidFill>
                  <a:srgbClr val="80276C"/>
                </a:solidFill>
                <a:latin typeface="Times New Roman" panose="02020603050405020304" pitchFamily="18" charset="0"/>
                <a:cs typeface="Times New Roman" panose="02020603050405020304" pitchFamily="18" charset="0"/>
              </a:rPr>
              <a:t> has </a:t>
            </a:r>
            <a:r>
              <a:rPr lang="fr-FR" sz="2000" b="1" dirty="0" err="1">
                <a:solidFill>
                  <a:srgbClr val="80276C"/>
                </a:solidFill>
                <a:latin typeface="Times New Roman" panose="02020603050405020304" pitchFamily="18" charset="0"/>
                <a:cs typeface="Times New Roman" panose="02020603050405020304" pitchFamily="18" charset="0"/>
              </a:rPr>
              <a:t>priority</a:t>
            </a:r>
            <a:r>
              <a:rPr lang="fr-FR" sz="2000" b="1" dirty="0">
                <a:solidFill>
                  <a:srgbClr val="80276C"/>
                </a:solidFill>
                <a:latin typeface="Times New Roman" panose="02020603050405020304" pitchFamily="18" charset="0"/>
                <a:cs typeface="Times New Roman" panose="02020603050405020304" pitchFamily="18" charset="0"/>
              </a:rPr>
              <a:t> over OR </a:t>
            </a:r>
            <a:r>
              <a:rPr lang="fr-FR" sz="2000" b="1" dirty="0" err="1">
                <a:solidFill>
                  <a:srgbClr val="80276C"/>
                </a:solidFill>
                <a:latin typeface="Times New Roman" panose="02020603050405020304" pitchFamily="18" charset="0"/>
                <a:cs typeface="Times New Roman" panose="02020603050405020304" pitchFamily="18" charset="0"/>
              </a:rPr>
              <a:t>or</a:t>
            </a:r>
            <a:r>
              <a:rPr lang="fr-FR" sz="2000" b="1" dirty="0">
                <a:solidFill>
                  <a:srgbClr val="80276C"/>
                </a:solidFill>
                <a:latin typeface="Times New Roman" panose="02020603050405020304" pitchFamily="18" charset="0"/>
                <a:cs typeface="Times New Roman" panose="02020603050405020304" pitchFamily="18" charset="0"/>
              </a:rPr>
              <a:t> NOT. </a:t>
            </a:r>
          </a:p>
          <a:p>
            <a:pPr marL="285750" indent="-285750" algn="just">
              <a:buFont typeface="Wingdings" panose="05000000000000000000" pitchFamily="2" charset="2"/>
              <a:buChar char="ü"/>
            </a:pPr>
            <a:endParaRPr lang="fr-FR" sz="2000" b="1" dirty="0">
              <a:solidFill>
                <a:srgbClr val="80276C"/>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sz="2000" b="1" dirty="0" err="1">
                <a:solidFill>
                  <a:srgbClr val="80276C"/>
                </a:solidFill>
                <a:latin typeface="Times New Roman" panose="02020603050405020304" pitchFamily="18" charset="0"/>
                <a:cs typeface="Times New Roman" panose="02020603050405020304" pitchFamily="18" charset="0"/>
              </a:rPr>
              <a:t>Spaces</a:t>
            </a:r>
            <a:r>
              <a:rPr lang="fr-FR" sz="2000" b="1" dirty="0">
                <a:solidFill>
                  <a:srgbClr val="80276C"/>
                </a:solidFill>
                <a:latin typeface="Times New Roman" panose="02020603050405020304" pitchFamily="18" charset="0"/>
                <a:cs typeface="Times New Roman" panose="02020603050405020304" pitchFamily="18" charset="0"/>
              </a:rPr>
              <a:t> : insert </a:t>
            </a:r>
            <a:r>
              <a:rPr lang="fr-FR" sz="2000" b="1" dirty="0" err="1">
                <a:solidFill>
                  <a:srgbClr val="80276C"/>
                </a:solidFill>
                <a:latin typeface="Times New Roman" panose="02020603050405020304" pitchFamily="18" charset="0"/>
                <a:cs typeface="Times New Roman" panose="02020603050405020304" pitchFamily="18" charset="0"/>
              </a:rPr>
              <a:t>spaces</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between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parentheses</a:t>
            </a:r>
            <a:r>
              <a:rPr lang="fr-FR" sz="2000" b="1" dirty="0">
                <a:solidFill>
                  <a:srgbClr val="80276C"/>
                </a:solidFill>
                <a:latin typeface="Times New Roman" panose="02020603050405020304" pitchFamily="18" charset="0"/>
                <a:cs typeface="Times New Roman" panose="02020603050405020304" pitchFamily="18" charset="0"/>
              </a:rPr>
              <a:t> and keywords, </a:t>
            </a:r>
            <a:r>
              <a:rPr lang="fr-FR" sz="2000" b="1" dirty="0" err="1">
                <a:solidFill>
                  <a:srgbClr val="80276C"/>
                </a:solidFill>
                <a:latin typeface="Times New Roman" panose="02020603050405020304" pitchFamily="18" charset="0"/>
                <a:cs typeface="Times New Roman" panose="02020603050405020304" pitchFamily="18" charset="0"/>
              </a:rPr>
              <a:t>between</a:t>
            </a:r>
            <a:r>
              <a:rPr lang="fr-FR" sz="2000" b="1" dirty="0">
                <a:solidFill>
                  <a:srgbClr val="80276C"/>
                </a:solidFill>
                <a:latin typeface="Times New Roman" panose="02020603050405020304" pitchFamily="18" charset="0"/>
                <a:cs typeface="Times New Roman" panose="02020603050405020304" pitchFamily="18" charset="0"/>
              </a:rPr>
              <a:t> keywords and </a:t>
            </a:r>
            <a:r>
              <a:rPr lang="fr-FR" sz="2000" b="1" dirty="0" err="1">
                <a:solidFill>
                  <a:srgbClr val="80276C"/>
                </a:solidFill>
                <a:latin typeface="Times New Roman" panose="02020603050405020304" pitchFamily="18" charset="0"/>
                <a:cs typeface="Times New Roman" panose="02020603050405020304" pitchFamily="18" charset="0"/>
              </a:rPr>
              <a:t>boolean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operators</a:t>
            </a:r>
            <a:endParaRPr lang="fr-FR" sz="2000" b="1" dirty="0">
              <a:solidFill>
                <a:srgbClr val="80276C"/>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D96BCBB-9C70-8FD1-D334-40D1B1088A9E}"/>
              </a:ext>
            </a:extLst>
          </p:cNvPr>
          <p:cNvSpPr/>
          <p:nvPr/>
        </p:nvSpPr>
        <p:spPr>
          <a:xfrm>
            <a:off x="3242786" y="4834592"/>
            <a:ext cx="6096000" cy="646331"/>
          </a:xfrm>
          <a:prstGeom prst="rect">
            <a:avLst/>
          </a:prstGeom>
        </p:spPr>
        <p:txBody>
          <a:bodyPr>
            <a:spAutoFit/>
          </a:bodyPr>
          <a:lstStyle/>
          <a:p>
            <a:pPr algn="just"/>
            <a:endParaRPr lang="fr-FR" b="1" dirty="0">
              <a:solidFill>
                <a:srgbClr val="80276C"/>
              </a:solidFill>
              <a:latin typeface="Times New Roman" panose="02020603050405020304" pitchFamily="18" charset="0"/>
              <a:cs typeface="Times New Roman" panose="02020603050405020304" pitchFamily="18" charset="0"/>
            </a:endParaRPr>
          </a:p>
          <a:p>
            <a:pPr algn="just"/>
            <a:r>
              <a:rPr lang="fr-FR" b="1" dirty="0">
                <a:solidFill>
                  <a:srgbClr val="80276C"/>
                </a:solidFill>
                <a:latin typeface="Times New Roman" panose="02020603050405020304" pitchFamily="18" charset="0"/>
                <a:cs typeface="Times New Roman" panose="02020603050405020304" pitchFamily="18" charset="0"/>
                <a:hlinkClick r:id="rId2"/>
              </a:rPr>
              <a:t> </a:t>
            </a:r>
            <a:r>
              <a:rPr lang="en-US" b="1" dirty="0">
                <a:solidFill>
                  <a:srgbClr val="80276C"/>
                </a:solidFill>
                <a:latin typeface="Times New Roman" panose="02020603050405020304" pitchFamily="18" charset="0"/>
                <a:cs typeface="Times New Roman" panose="02020603050405020304" pitchFamily="18" charset="0"/>
                <a:hlinkClick r:id="rId2"/>
              </a:rPr>
              <a:t>“innovation" AND ( engineer OR review )</a:t>
            </a:r>
            <a:r>
              <a:rPr lang="en-US" b="1" dirty="0">
                <a:solidFill>
                  <a:srgbClr val="80276C"/>
                </a:solidFill>
                <a:latin typeface="Times New Roman" panose="02020603050405020304" pitchFamily="18" charset="0"/>
                <a:cs typeface="Times New Roman" panose="02020603050405020304" pitchFamily="18" charset="0"/>
              </a:rPr>
              <a:t> (Scopus)</a:t>
            </a:r>
          </a:p>
        </p:txBody>
      </p:sp>
    </p:spTree>
    <p:extLst>
      <p:ext uri="{BB962C8B-B14F-4D97-AF65-F5344CB8AC3E}">
        <p14:creationId xmlns:p14="http://schemas.microsoft.com/office/powerpoint/2010/main" val="2685477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006C0C4-9076-4E95-AC44-5E586D170A69}"/>
              </a:ext>
            </a:extLst>
          </p:cNvPr>
          <p:cNvSpPr>
            <a:spLocks noGrp="1"/>
          </p:cNvSpPr>
          <p:nvPr>
            <p:ph type="body" sz="quarter" idx="12"/>
          </p:nvPr>
        </p:nvSpPr>
        <p:spPr>
          <a:xfrm>
            <a:off x="455409" y="361950"/>
            <a:ext cx="8191240" cy="594446"/>
          </a:xfrm>
        </p:spPr>
        <p:txBody>
          <a:bodyPr/>
          <a:lstStyle/>
          <a:p>
            <a:r>
              <a:rPr lang="fr-FR" dirty="0"/>
              <a:t>Citations and </a:t>
            </a:r>
            <a:r>
              <a:rPr lang="fr-FR" dirty="0" err="1"/>
              <a:t>norms</a:t>
            </a:r>
            <a:endParaRPr lang="fr-FR" dirty="0"/>
          </a:p>
        </p:txBody>
      </p:sp>
      <p:sp>
        <p:nvSpPr>
          <p:cNvPr id="3" name="Espace réservé du texte 2">
            <a:extLst>
              <a:ext uri="{FF2B5EF4-FFF2-40B4-BE49-F238E27FC236}">
                <a16:creationId xmlns:a16="http://schemas.microsoft.com/office/drawing/2014/main" id="{17339AA4-AF8C-41CE-9DB5-76DE1C64B83F}"/>
              </a:ext>
            </a:extLst>
          </p:cNvPr>
          <p:cNvSpPr>
            <a:spLocks noGrp="1"/>
          </p:cNvSpPr>
          <p:nvPr>
            <p:ph type="body" sz="quarter" idx="13"/>
          </p:nvPr>
        </p:nvSpPr>
        <p:spPr>
          <a:xfrm>
            <a:off x="598284" y="956396"/>
            <a:ext cx="11336541" cy="5339801"/>
          </a:xfrm>
        </p:spPr>
        <p:txBody>
          <a:bodyPr>
            <a:normAutofit fontScale="32500" lnSpcReduction="20000"/>
          </a:bodyPr>
          <a:lstStyle/>
          <a:p>
            <a:r>
              <a:rPr lang="fr-FR" sz="5500" dirty="0" err="1">
                <a:cs typeface="Arial" panose="020B0604020202020204" pitchFamily="34" charset="0"/>
              </a:rPr>
              <a:t>Norms</a:t>
            </a:r>
            <a:r>
              <a:rPr lang="fr-FR" sz="5500" dirty="0">
                <a:cs typeface="Arial" panose="020B0604020202020204" pitchFamily="34" charset="0"/>
              </a:rPr>
              <a:t> of citations : follow the </a:t>
            </a:r>
            <a:r>
              <a:rPr lang="fr-FR" sz="5500" dirty="0" err="1">
                <a:cs typeface="Arial" panose="020B0604020202020204" pitchFamily="34" charset="0"/>
              </a:rPr>
              <a:t>advice</a:t>
            </a:r>
            <a:r>
              <a:rPr lang="fr-FR" sz="5500" dirty="0">
                <a:cs typeface="Arial" panose="020B0604020202020204" pitchFamily="34" charset="0"/>
              </a:rPr>
              <a:t> of </a:t>
            </a:r>
            <a:r>
              <a:rPr lang="fr-FR" sz="5500" dirty="0" err="1">
                <a:cs typeface="Arial" panose="020B0604020202020204" pitchFamily="34" charset="0"/>
              </a:rPr>
              <a:t>your</a:t>
            </a:r>
            <a:r>
              <a:rPr lang="fr-FR" sz="5500" dirty="0">
                <a:cs typeface="Arial" panose="020B0604020202020204" pitchFamily="34" charset="0"/>
              </a:rPr>
              <a:t> </a:t>
            </a:r>
            <a:r>
              <a:rPr lang="fr-FR" sz="5500" dirty="0" err="1">
                <a:cs typeface="Arial" panose="020B0604020202020204" pitchFamily="34" charset="0"/>
              </a:rPr>
              <a:t>teachers</a:t>
            </a:r>
            <a:r>
              <a:rPr lang="fr-FR" sz="5500" dirty="0">
                <a:cs typeface="Arial" panose="020B0604020202020204" pitchFamily="34" charset="0"/>
              </a:rPr>
              <a:t> to </a:t>
            </a:r>
            <a:r>
              <a:rPr lang="fr-FR" sz="5500" dirty="0" err="1">
                <a:cs typeface="Arial" panose="020B0604020202020204" pitchFamily="34" charset="0"/>
              </a:rPr>
              <a:t>choose</a:t>
            </a:r>
            <a:r>
              <a:rPr lang="fr-FR" sz="5500" dirty="0">
                <a:cs typeface="Arial" panose="020B0604020202020204" pitchFamily="34" charset="0"/>
              </a:rPr>
              <a:t> the </a:t>
            </a:r>
            <a:r>
              <a:rPr lang="fr-FR" sz="5500" dirty="0" err="1">
                <a:cs typeface="Arial" panose="020B0604020202020204" pitchFamily="34" charset="0"/>
              </a:rPr>
              <a:t>useful</a:t>
            </a:r>
            <a:r>
              <a:rPr lang="fr-FR" sz="5500" dirty="0">
                <a:cs typeface="Arial" panose="020B0604020202020204" pitchFamily="34" charset="0"/>
              </a:rPr>
              <a:t> one for </a:t>
            </a:r>
            <a:r>
              <a:rPr lang="fr-FR" sz="5500" dirty="0" err="1">
                <a:cs typeface="Arial" panose="020B0604020202020204" pitchFamily="34" charset="0"/>
              </a:rPr>
              <a:t>your</a:t>
            </a:r>
            <a:r>
              <a:rPr lang="fr-FR" sz="5500" dirty="0">
                <a:cs typeface="Arial" panose="020B0604020202020204" pitchFamily="34" charset="0"/>
              </a:rPr>
              <a:t> </a:t>
            </a:r>
            <a:r>
              <a:rPr lang="fr-FR" sz="5500" dirty="0" err="1">
                <a:cs typeface="Arial" panose="020B0604020202020204" pitchFamily="34" charset="0"/>
              </a:rPr>
              <a:t>work</a:t>
            </a:r>
            <a:r>
              <a:rPr lang="fr-FR" sz="5500" dirty="0">
                <a:cs typeface="Arial" panose="020B0604020202020204" pitchFamily="34" charset="0"/>
              </a:rPr>
              <a:t>. </a:t>
            </a:r>
          </a:p>
          <a:p>
            <a:endParaRPr lang="fr-FR" sz="5500" dirty="0">
              <a:cs typeface="Arial" panose="020B0604020202020204" pitchFamily="34" charset="0"/>
            </a:endParaRPr>
          </a:p>
          <a:p>
            <a:r>
              <a:rPr lang="fr-FR" sz="5500" dirty="0" err="1">
                <a:cs typeface="Arial" panose="020B0604020202020204" pitchFamily="34" charset="0"/>
              </a:rPr>
              <a:t>Some</a:t>
            </a:r>
            <a:r>
              <a:rPr lang="fr-FR" sz="5500" dirty="0">
                <a:cs typeface="Arial" panose="020B0604020202020204" pitchFamily="34" charset="0"/>
              </a:rPr>
              <a:t> </a:t>
            </a:r>
            <a:r>
              <a:rPr lang="fr-FR" sz="5500" dirty="0" err="1">
                <a:cs typeface="Arial" panose="020B0604020202020204" pitchFamily="34" charset="0"/>
              </a:rPr>
              <a:t>websites</a:t>
            </a:r>
            <a:r>
              <a:rPr lang="fr-FR" sz="5500" dirty="0">
                <a:cs typeface="Arial" panose="020B0604020202020204" pitchFamily="34" charset="0"/>
              </a:rPr>
              <a:t> </a:t>
            </a:r>
            <a:r>
              <a:rPr lang="fr-FR" sz="5500" dirty="0" err="1">
                <a:cs typeface="Arial" panose="020B0604020202020204" pitchFamily="34" charset="0"/>
              </a:rPr>
              <a:t>which</a:t>
            </a:r>
            <a:r>
              <a:rPr lang="fr-FR" sz="5500" dirty="0">
                <a:cs typeface="Arial" panose="020B0604020202020204" pitchFamily="34" charset="0"/>
              </a:rPr>
              <a:t> can help </a:t>
            </a:r>
            <a:r>
              <a:rPr lang="fr-FR" sz="5500" dirty="0" err="1">
                <a:cs typeface="Arial" panose="020B0604020202020204" pitchFamily="34" charset="0"/>
              </a:rPr>
              <a:t>you</a:t>
            </a:r>
            <a:r>
              <a:rPr lang="fr-FR" sz="5500" dirty="0">
                <a:cs typeface="Arial" panose="020B0604020202020204" pitchFamily="34" charset="0"/>
              </a:rPr>
              <a:t> : </a:t>
            </a:r>
          </a:p>
          <a:p>
            <a:r>
              <a:rPr lang="en-US" sz="5500" dirty="0">
                <a:hlinkClick r:id="rId2"/>
              </a:rPr>
              <a:t>Free Citation Generator - APA, MLA, Chicago | Grammarly</a:t>
            </a:r>
            <a:endParaRPr lang="en-US" sz="5500" dirty="0"/>
          </a:p>
          <a:p>
            <a:r>
              <a:rPr lang="en-US" sz="5500" dirty="0">
                <a:hlinkClick r:id="rId3"/>
              </a:rPr>
              <a:t>Overview - Citation Styles: APA, MLA, Chicago, Turabian, IEEE - Guides at University of Pittsburgh</a:t>
            </a:r>
            <a:endParaRPr lang="fr-FR" sz="5500" dirty="0">
              <a:cs typeface="Arial" panose="020B0604020202020204" pitchFamily="34" charset="0"/>
            </a:endParaRPr>
          </a:p>
          <a:p>
            <a:r>
              <a:rPr lang="en-US" sz="5500" dirty="0">
                <a:hlinkClick r:id="rId4"/>
              </a:rPr>
              <a:t>Bibliography.com - Free citation and bibliography generator.</a:t>
            </a:r>
            <a:endParaRPr lang="en-US" sz="5500" dirty="0"/>
          </a:p>
          <a:p>
            <a:endParaRPr lang="en-US" dirty="0"/>
          </a:p>
          <a:p>
            <a:pPr>
              <a:lnSpc>
                <a:spcPct val="120000"/>
              </a:lnSpc>
              <a:spcBef>
                <a:spcPts val="0"/>
              </a:spcBef>
            </a:pPr>
            <a:endParaRPr lang="en-US" dirty="0"/>
          </a:p>
          <a:p>
            <a:pPr>
              <a:lnSpc>
                <a:spcPct val="120000"/>
              </a:lnSpc>
              <a:spcBef>
                <a:spcPts val="0"/>
              </a:spcBef>
            </a:pPr>
            <a:endParaRPr lang="en-US" dirty="0"/>
          </a:p>
          <a:p>
            <a:pPr>
              <a:lnSpc>
                <a:spcPct val="120000"/>
              </a:lnSpc>
              <a:spcBef>
                <a:spcPts val="0"/>
              </a:spcBef>
            </a:pPr>
            <a:r>
              <a:rPr lang="en-US" sz="4900" dirty="0"/>
              <a:t>Sorting of references, your choice:</a:t>
            </a:r>
          </a:p>
          <a:p>
            <a:pPr marL="685800" indent="-685800">
              <a:lnSpc>
                <a:spcPct val="120000"/>
              </a:lnSpc>
              <a:spcBef>
                <a:spcPts val="0"/>
              </a:spcBef>
              <a:buFont typeface="Wingdings" panose="05000000000000000000" pitchFamily="2" charset="2"/>
              <a:buChar char="ü"/>
            </a:pPr>
            <a:r>
              <a:rPr lang="en-US" sz="4900" dirty="0"/>
              <a:t>alphabetical order by author</a:t>
            </a:r>
            <a:endParaRPr lang="en-US" sz="4900" b="0" dirty="0"/>
          </a:p>
          <a:p>
            <a:pPr>
              <a:lnSpc>
                <a:spcPct val="120000"/>
              </a:lnSpc>
              <a:spcBef>
                <a:spcPts val="0"/>
              </a:spcBef>
            </a:pPr>
            <a:r>
              <a:rPr lang="en-US" sz="4900" b="0" dirty="0"/>
              <a:t>e.g.: PEREC, Georges. La </a:t>
            </a:r>
            <a:r>
              <a:rPr lang="en-US" sz="4900" b="0" dirty="0" err="1"/>
              <a:t>Disparition</a:t>
            </a:r>
            <a:r>
              <a:rPr lang="en-US" sz="4900" b="0" dirty="0"/>
              <a:t>. Paris: Gallimard, 1989. 319 p.</a:t>
            </a:r>
          </a:p>
          <a:p>
            <a:pPr>
              <a:lnSpc>
                <a:spcPct val="120000"/>
              </a:lnSpc>
              <a:spcBef>
                <a:spcPts val="0"/>
              </a:spcBef>
            </a:pPr>
            <a:endParaRPr lang="en-US" sz="4900" b="0" dirty="0"/>
          </a:p>
          <a:p>
            <a:pPr marL="685800" indent="-685800">
              <a:lnSpc>
                <a:spcPct val="120000"/>
              </a:lnSpc>
              <a:spcBef>
                <a:spcPts val="0"/>
              </a:spcBef>
              <a:buFont typeface="Wingdings" panose="05000000000000000000" pitchFamily="2" charset="2"/>
              <a:buChar char="ü"/>
            </a:pPr>
            <a:r>
              <a:rPr lang="en-US" sz="4900" dirty="0"/>
              <a:t>by order of appearance in the text (Vancouver system) </a:t>
            </a:r>
            <a:endParaRPr lang="en-US" sz="4900" b="0" dirty="0"/>
          </a:p>
          <a:p>
            <a:pPr>
              <a:lnSpc>
                <a:spcPct val="120000"/>
              </a:lnSpc>
              <a:spcBef>
                <a:spcPts val="0"/>
              </a:spcBef>
            </a:pPr>
            <a:r>
              <a:rPr lang="en-US" sz="4900" b="0" dirty="0"/>
              <a:t>e.g.: [01] PEREC, Georges. La </a:t>
            </a:r>
            <a:r>
              <a:rPr lang="en-US" sz="4900" b="0" dirty="0" err="1"/>
              <a:t>Disparition</a:t>
            </a:r>
            <a:r>
              <a:rPr lang="en-US" sz="4900" b="0" dirty="0"/>
              <a:t>. Paris: Gallimard, 1989. 319 p.</a:t>
            </a:r>
          </a:p>
          <a:p>
            <a:pPr>
              <a:lnSpc>
                <a:spcPct val="120000"/>
              </a:lnSpc>
              <a:spcBef>
                <a:spcPts val="0"/>
              </a:spcBef>
            </a:pPr>
            <a:endParaRPr lang="en-US" sz="4900" b="0" dirty="0"/>
          </a:p>
          <a:p>
            <a:pPr marL="685800" indent="-685800">
              <a:lnSpc>
                <a:spcPct val="120000"/>
              </a:lnSpc>
              <a:spcBef>
                <a:spcPts val="0"/>
              </a:spcBef>
              <a:buFont typeface="Wingdings" panose="05000000000000000000" pitchFamily="2" charset="2"/>
              <a:buChar char="ü"/>
            </a:pPr>
            <a:r>
              <a:rPr lang="en-US" sz="4900" dirty="0"/>
              <a:t>by chronological</a:t>
            </a:r>
          </a:p>
          <a:p>
            <a:pPr marL="685800" indent="-685800">
              <a:lnSpc>
                <a:spcPct val="120000"/>
              </a:lnSpc>
              <a:spcBef>
                <a:spcPts val="0"/>
              </a:spcBef>
              <a:buFont typeface="Wingdings" panose="05000000000000000000" pitchFamily="2" charset="2"/>
              <a:buChar char="ü"/>
            </a:pPr>
            <a:r>
              <a:rPr lang="en-US" sz="4900" dirty="0"/>
              <a:t>by document type</a:t>
            </a:r>
            <a:r>
              <a:rPr lang="en-US" sz="4900" b="0" dirty="0"/>
              <a:t> (books, periodical articles, dissertations, theses, videos, etc.)</a:t>
            </a:r>
          </a:p>
          <a:p>
            <a:pPr marL="685800" indent="-685800">
              <a:lnSpc>
                <a:spcPct val="120000"/>
              </a:lnSpc>
              <a:spcBef>
                <a:spcPts val="0"/>
              </a:spcBef>
              <a:buFont typeface="Wingdings" panose="05000000000000000000" pitchFamily="2" charset="2"/>
              <a:buChar char="ü"/>
            </a:pPr>
            <a:r>
              <a:rPr lang="en-US" sz="4900" dirty="0"/>
              <a:t>by theme</a:t>
            </a:r>
          </a:p>
          <a:p>
            <a:endParaRPr lang="fr-FR" dirty="0"/>
          </a:p>
        </p:txBody>
      </p:sp>
    </p:spTree>
    <p:extLst>
      <p:ext uri="{BB962C8B-B14F-4D97-AF65-F5344CB8AC3E}">
        <p14:creationId xmlns:p14="http://schemas.microsoft.com/office/powerpoint/2010/main" val="4239449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348AE37-BDA0-4E58-B58A-182AFC6ACA13}"/>
              </a:ext>
            </a:extLst>
          </p:cNvPr>
          <p:cNvSpPr txBox="1">
            <a:spLocks noGrp="1"/>
          </p:cNvSpPr>
          <p:nvPr>
            <p:ph type="body" sz="quarter" idx="11"/>
          </p:nvPr>
        </p:nvSpPr>
        <p:spPr>
          <a:xfrm>
            <a:off x="5751576" y="1284288"/>
            <a:ext cx="6172200" cy="5392758"/>
          </a:xfrm>
          <a:prstGeom prst="rect">
            <a:avLst/>
          </a:prstGeom>
          <a:noFill/>
        </p:spPr>
        <p:txBody>
          <a:bodyPr wrap="square" rtlCol="0">
            <a:spAutoFit/>
          </a:bodyPr>
          <a:lstStyle/>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Selection</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scientifically</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well-known</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authors</a:t>
            </a:r>
            <a:endParaRPr lang="fr-FR" sz="2000" b="1" dirty="0">
              <a:solidFill>
                <a:srgbClr val="80276C"/>
              </a:solidFill>
              <a:latin typeface="Times New Roman" panose="02020603050405020304" pitchFamily="18" charset="0"/>
              <a:cs typeface="Times New Roman" panose="02020603050405020304" pitchFamily="18" charset="0"/>
            </a:endParaRP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Consistency</a:t>
            </a:r>
            <a:r>
              <a:rPr lang="fr-FR" sz="2000" b="1" dirty="0">
                <a:solidFill>
                  <a:srgbClr val="80276C"/>
                </a:solidFill>
                <a:latin typeface="Times New Roman" panose="02020603050405020304" pitchFamily="18" charset="0"/>
                <a:cs typeface="Times New Roman" panose="02020603050405020304" pitchFamily="18" charset="0"/>
              </a:rPr>
              <a:t> in the </a:t>
            </a:r>
            <a:r>
              <a:rPr lang="fr-FR" sz="2000" b="1" dirty="0" err="1">
                <a:solidFill>
                  <a:srgbClr val="80276C"/>
                </a:solidFill>
                <a:latin typeface="Times New Roman" panose="02020603050405020304" pitchFamily="18" charset="0"/>
                <a:cs typeface="Times New Roman" panose="02020603050405020304" pitchFamily="18" charset="0"/>
              </a:rPr>
              <a:t>presentation</a:t>
            </a:r>
            <a:r>
              <a:rPr lang="fr-FR" sz="2000" b="1" dirty="0">
                <a:solidFill>
                  <a:srgbClr val="80276C"/>
                </a:solidFill>
                <a:latin typeface="Times New Roman" panose="02020603050405020304" pitchFamily="18" charset="0"/>
                <a:cs typeface="Times New Roman" panose="02020603050405020304" pitchFamily="18" charset="0"/>
              </a:rPr>
              <a:t> of document types</a:t>
            </a: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Consistency</a:t>
            </a:r>
            <a:r>
              <a:rPr lang="fr-FR" sz="2000" b="1" dirty="0">
                <a:solidFill>
                  <a:srgbClr val="80276C"/>
                </a:solidFill>
                <a:latin typeface="Times New Roman" panose="02020603050405020304" pitchFamily="18" charset="0"/>
                <a:cs typeface="Times New Roman" panose="02020603050405020304" pitchFamily="18" charset="0"/>
              </a:rPr>
              <a:t> in the classification of </a:t>
            </a:r>
            <a:r>
              <a:rPr lang="fr-FR" sz="2000" b="1" dirty="0" err="1">
                <a:solidFill>
                  <a:srgbClr val="80276C"/>
                </a:solidFill>
                <a:latin typeface="Times New Roman" panose="02020603050405020304" pitchFamily="18" charset="0"/>
                <a:cs typeface="Times New Roman" panose="02020603050405020304" pitchFamily="18" charset="0"/>
              </a:rPr>
              <a:t>references</a:t>
            </a:r>
            <a:endParaRPr lang="fr-FR" sz="2000" b="1" dirty="0">
              <a:solidFill>
                <a:srgbClr val="80276C"/>
              </a:solidFill>
              <a:latin typeface="Times New Roman" panose="02020603050405020304" pitchFamily="18" charset="0"/>
              <a:cs typeface="Times New Roman" panose="02020603050405020304" pitchFamily="18" charset="0"/>
            </a:endParaRP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1257300" lvl="2" indent="-342900" algn="just">
              <a:buFont typeface="Courier New" panose="02070309020205020404" pitchFamily="49" charset="0"/>
              <a:buChar char="o"/>
            </a:pPr>
            <a:r>
              <a:rPr lang="fr-FR" sz="2000" b="1" dirty="0" err="1">
                <a:solidFill>
                  <a:srgbClr val="80276C"/>
                </a:solidFill>
                <a:latin typeface="Times New Roman" panose="02020603050405020304" pitchFamily="18" charset="0"/>
                <a:cs typeface="Times New Roman" panose="02020603050405020304" pitchFamily="18" charset="0"/>
              </a:rPr>
              <a:t>Alphabetical</a:t>
            </a:r>
            <a:r>
              <a:rPr lang="fr-FR" sz="2000" b="1" dirty="0">
                <a:solidFill>
                  <a:srgbClr val="80276C"/>
                </a:solidFill>
                <a:latin typeface="Times New Roman" panose="02020603050405020304" pitchFamily="18" charset="0"/>
                <a:cs typeface="Times New Roman" panose="02020603050405020304" pitchFamily="18" charset="0"/>
              </a:rPr>
              <a:t> classification by </a:t>
            </a:r>
            <a:r>
              <a:rPr lang="fr-FR" sz="2000" b="1" dirty="0" err="1">
                <a:solidFill>
                  <a:srgbClr val="80276C"/>
                </a:solidFill>
                <a:latin typeface="Times New Roman" panose="02020603050405020304" pitchFamily="18" charset="0"/>
                <a:cs typeface="Times New Roman" panose="02020603050405020304" pitchFamily="18" charset="0"/>
              </a:rPr>
              <a:t>author</a:t>
            </a:r>
            <a:r>
              <a:rPr lang="fr-FR" sz="2000" b="1" dirty="0">
                <a:solidFill>
                  <a:srgbClr val="80276C"/>
                </a:solidFill>
                <a:latin typeface="Times New Roman" panose="02020603050405020304" pitchFamily="18" charset="0"/>
                <a:cs typeface="Times New Roman" panose="02020603050405020304" pitchFamily="18" charset="0"/>
              </a:rPr>
              <a:t>	(Harvard)</a:t>
            </a:r>
          </a:p>
          <a:p>
            <a:pPr marL="1257300" lvl="2" indent="-342900" algn="just">
              <a:buFont typeface="Courier New" panose="02070309020205020404" pitchFamily="49" charset="0"/>
              <a:buChar char="o"/>
            </a:pPr>
            <a:r>
              <a:rPr lang="fr-FR" sz="2000" b="1" dirty="0">
                <a:solidFill>
                  <a:srgbClr val="80276C"/>
                </a:solidFill>
                <a:latin typeface="Times New Roman" panose="02020603050405020304" pitchFamily="18" charset="0"/>
                <a:cs typeface="Times New Roman" panose="02020603050405020304" pitchFamily="18" charset="0"/>
              </a:rPr>
              <a:t>Classification by </a:t>
            </a:r>
            <a:r>
              <a:rPr lang="fr-FR" sz="2000" b="1" dirty="0" err="1">
                <a:solidFill>
                  <a:srgbClr val="80276C"/>
                </a:solidFill>
                <a:latin typeface="Times New Roman" panose="02020603050405020304" pitchFamily="18" charset="0"/>
                <a:cs typeface="Times New Roman" panose="02020603050405020304" pitchFamily="18" charset="0"/>
              </a:rPr>
              <a:t>order</a:t>
            </a:r>
            <a:r>
              <a:rPr lang="fr-FR" sz="2000" b="1" dirty="0">
                <a:solidFill>
                  <a:srgbClr val="80276C"/>
                </a:solidFill>
                <a:latin typeface="Times New Roman" panose="02020603050405020304" pitchFamily="18" charset="0"/>
                <a:cs typeface="Times New Roman" panose="02020603050405020304" pitchFamily="18" charset="0"/>
              </a:rPr>
              <a:t> of appearance in the document (digital system) </a:t>
            </a:r>
          </a:p>
          <a:p>
            <a:pPr lvl="2"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Possibility</a:t>
            </a:r>
            <a:r>
              <a:rPr lang="fr-FR" sz="2000" b="1" dirty="0">
                <a:solidFill>
                  <a:srgbClr val="80276C"/>
                </a:solidFill>
                <a:latin typeface="Times New Roman" panose="02020603050405020304" pitchFamily="18" charset="0"/>
                <a:cs typeface="Times New Roman" panose="02020603050405020304" pitchFamily="18" charset="0"/>
              </a:rPr>
              <a:t> of </a:t>
            </a:r>
            <a:r>
              <a:rPr lang="fr-FR" sz="2000" b="1" dirty="0" err="1">
                <a:solidFill>
                  <a:srgbClr val="80276C"/>
                </a:solidFill>
                <a:latin typeface="Times New Roman" panose="02020603050405020304" pitchFamily="18" charset="0"/>
                <a:cs typeface="Times New Roman" panose="02020603050405020304" pitchFamily="18" charset="0"/>
              </a:rPr>
              <a:t>using</a:t>
            </a:r>
            <a:r>
              <a:rPr lang="fr-FR" sz="2000" b="1" dirty="0">
                <a:solidFill>
                  <a:srgbClr val="80276C"/>
                </a:solidFill>
                <a:latin typeface="Times New Roman" panose="02020603050405020304" pitchFamily="18" charset="0"/>
                <a:cs typeface="Times New Roman" panose="02020603050405020304" pitchFamily="18" charset="0"/>
              </a:rPr>
              <a:t> Zotero, free Open Source software to export, to </a:t>
            </a:r>
            <a:r>
              <a:rPr lang="fr-FR" sz="2000" b="1" dirty="0" err="1">
                <a:solidFill>
                  <a:srgbClr val="80276C"/>
                </a:solidFill>
                <a:latin typeface="Times New Roman" panose="02020603050405020304" pitchFamily="18" charset="0"/>
                <a:cs typeface="Times New Roman" panose="02020603050405020304" pitchFamily="18" charset="0"/>
              </a:rPr>
              <a:t>transfer</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references</a:t>
            </a:r>
            <a:r>
              <a:rPr lang="fr-FR" sz="2000" b="1" dirty="0">
                <a:solidFill>
                  <a:srgbClr val="80276C"/>
                </a:solidFill>
                <a:latin typeface="Times New Roman" panose="02020603050405020304" pitchFamily="18" charset="0"/>
                <a:cs typeface="Times New Roman" panose="02020603050405020304" pitchFamily="18" charset="0"/>
              </a:rPr>
              <a:t> and to carry out a </a:t>
            </a:r>
            <a:r>
              <a:rPr lang="fr-FR" sz="2000" b="1" dirty="0" err="1">
                <a:solidFill>
                  <a:srgbClr val="80276C"/>
                </a:solidFill>
                <a:latin typeface="Times New Roman" panose="02020603050405020304" pitchFamily="18" charset="0"/>
                <a:cs typeface="Times New Roman" panose="02020603050405020304" pitchFamily="18" charset="0"/>
              </a:rPr>
              <a:t>bibliography</a:t>
            </a:r>
            <a:endParaRPr lang="fr-FR" sz="2000" b="1" dirty="0">
              <a:solidFill>
                <a:srgbClr val="80276C"/>
              </a:solidFill>
              <a:latin typeface="Times New Roman" panose="02020603050405020304" pitchFamily="18" charset="0"/>
              <a:cs typeface="Times New Roman" panose="02020603050405020304" pitchFamily="18" charset="0"/>
            </a:endParaRPr>
          </a:p>
          <a:p>
            <a:endParaRPr lang="fr-FR" sz="2400" dirty="0"/>
          </a:p>
        </p:txBody>
      </p:sp>
      <p:sp>
        <p:nvSpPr>
          <p:cNvPr id="4" name="ZoneTexte 3">
            <a:extLst>
              <a:ext uri="{FF2B5EF4-FFF2-40B4-BE49-F238E27FC236}">
                <a16:creationId xmlns:a16="http://schemas.microsoft.com/office/drawing/2014/main" id="{C51E62CF-6D84-4247-BA2F-5A38FA95914A}"/>
              </a:ext>
            </a:extLst>
          </p:cNvPr>
          <p:cNvSpPr txBox="1"/>
          <p:nvPr/>
        </p:nvSpPr>
        <p:spPr>
          <a:xfrm>
            <a:off x="6182584" y="391162"/>
            <a:ext cx="5470902" cy="584775"/>
          </a:xfrm>
          <a:prstGeom prst="rect">
            <a:avLst/>
          </a:prstGeom>
          <a:noFill/>
        </p:spPr>
        <p:txBody>
          <a:bodyPr wrap="square" rtlCol="0">
            <a:spAutoFit/>
          </a:bodyPr>
          <a:lstStyle/>
          <a:p>
            <a:r>
              <a:rPr lang="fr-FR" sz="3200" b="1" dirty="0" err="1">
                <a:solidFill>
                  <a:srgbClr val="80276C"/>
                </a:solidFill>
                <a:latin typeface="Times New Roman" panose="02020603050405020304" pitchFamily="18" charset="0"/>
                <a:cs typeface="Times New Roman" panose="02020603050405020304" pitchFamily="18" charset="0"/>
              </a:rPr>
              <a:t>Some</a:t>
            </a:r>
            <a:r>
              <a:rPr lang="fr-FR" sz="3200" b="1" dirty="0">
                <a:solidFill>
                  <a:srgbClr val="80276C"/>
                </a:solidFill>
                <a:latin typeface="Times New Roman" panose="02020603050405020304" pitchFamily="18" charset="0"/>
                <a:cs typeface="Times New Roman" panose="02020603050405020304" pitchFamily="18" charset="0"/>
              </a:rPr>
              <a:t> </a:t>
            </a:r>
            <a:r>
              <a:rPr lang="fr-FR" sz="3200" b="1" dirty="0" err="1">
                <a:solidFill>
                  <a:srgbClr val="80276C"/>
                </a:solidFill>
                <a:latin typeface="Times New Roman" panose="02020603050405020304" pitchFamily="18" charset="0"/>
                <a:cs typeface="Times New Roman" panose="02020603050405020304" pitchFamily="18" charset="0"/>
              </a:rPr>
              <a:t>pieces</a:t>
            </a:r>
            <a:r>
              <a:rPr lang="fr-FR" sz="3200" b="1" dirty="0">
                <a:solidFill>
                  <a:srgbClr val="80276C"/>
                </a:solidFill>
                <a:latin typeface="Times New Roman" panose="02020603050405020304" pitchFamily="18" charset="0"/>
                <a:cs typeface="Times New Roman" panose="02020603050405020304" pitchFamily="18" charset="0"/>
              </a:rPr>
              <a:t> of </a:t>
            </a:r>
            <a:r>
              <a:rPr lang="fr-FR" sz="3200" b="1" dirty="0" err="1">
                <a:solidFill>
                  <a:srgbClr val="80276C"/>
                </a:solidFill>
                <a:latin typeface="Times New Roman" panose="02020603050405020304" pitchFamily="18" charset="0"/>
                <a:cs typeface="Times New Roman" panose="02020603050405020304" pitchFamily="18" charset="0"/>
              </a:rPr>
              <a:t>advice</a:t>
            </a:r>
            <a:endParaRPr lang="fr-FR" sz="3200" b="1" dirty="0">
              <a:solidFill>
                <a:srgbClr val="80276C"/>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9FFE468E-8219-434A-8C88-4F62A036B6CA}"/>
              </a:ext>
            </a:extLst>
          </p:cNvPr>
          <p:cNvSpPr txBox="1"/>
          <p:nvPr/>
        </p:nvSpPr>
        <p:spPr>
          <a:xfrm>
            <a:off x="161261" y="0"/>
            <a:ext cx="5221223" cy="1938992"/>
          </a:xfrm>
          <a:prstGeom prst="rect">
            <a:avLst/>
          </a:prstGeom>
          <a:noFill/>
        </p:spPr>
        <p:txBody>
          <a:bodyPr wrap="square" rtlCol="0">
            <a:spAutoFit/>
          </a:bodyPr>
          <a:lstStyle/>
          <a:p>
            <a:pPr algn="ctr"/>
            <a:r>
              <a:rPr lang="fr-FR" sz="4000" b="1" dirty="0">
                <a:solidFill>
                  <a:srgbClr val="80276C"/>
                </a:solidFill>
                <a:latin typeface="Times New Roman" panose="02020603050405020304" pitchFamily="18" charset="0"/>
                <a:cs typeface="Times New Roman" panose="02020603050405020304" pitchFamily="18" charset="0"/>
              </a:rPr>
              <a:t>Putting </a:t>
            </a:r>
            <a:r>
              <a:rPr lang="fr-FR" sz="4000" b="1" dirty="0" err="1">
                <a:solidFill>
                  <a:srgbClr val="80276C"/>
                </a:solidFill>
                <a:latin typeface="Times New Roman" panose="02020603050405020304" pitchFamily="18" charset="0"/>
                <a:cs typeface="Times New Roman" panose="02020603050405020304" pitchFamily="18" charset="0"/>
              </a:rPr>
              <a:t>together</a:t>
            </a:r>
            <a:r>
              <a:rPr lang="fr-FR" sz="4000" b="1" dirty="0">
                <a:solidFill>
                  <a:srgbClr val="80276C"/>
                </a:solidFill>
                <a:latin typeface="Times New Roman" panose="02020603050405020304" pitchFamily="18" charset="0"/>
                <a:cs typeface="Times New Roman" panose="02020603050405020304" pitchFamily="18" charset="0"/>
              </a:rPr>
              <a:t> a </a:t>
            </a:r>
            <a:r>
              <a:rPr lang="fr-FR" sz="4000" b="1" dirty="0" err="1">
                <a:solidFill>
                  <a:srgbClr val="80276C"/>
                </a:solidFill>
                <a:latin typeface="Times New Roman" panose="02020603050405020304" pitchFamily="18" charset="0"/>
                <a:cs typeface="Times New Roman" panose="02020603050405020304" pitchFamily="18" charset="0"/>
              </a:rPr>
              <a:t>bibliography</a:t>
            </a:r>
            <a:r>
              <a:rPr lang="fr-FR" sz="4000" b="1" dirty="0">
                <a:solidFill>
                  <a:srgbClr val="80276C"/>
                </a:solidFill>
                <a:latin typeface="Times New Roman" panose="02020603050405020304" pitchFamily="18" charset="0"/>
                <a:cs typeface="Times New Roman" panose="02020603050405020304" pitchFamily="18" charset="0"/>
              </a:rPr>
              <a:t>: </a:t>
            </a:r>
          </a:p>
          <a:p>
            <a:pPr algn="ctr"/>
            <a:r>
              <a:rPr lang="fr-FR" sz="4000" b="1" dirty="0" err="1">
                <a:solidFill>
                  <a:srgbClr val="80276C"/>
                </a:solidFill>
                <a:latin typeface="Times New Roman" panose="02020603050405020304" pitchFamily="18" charset="0"/>
                <a:cs typeface="Times New Roman" panose="02020603050405020304" pitchFamily="18" charset="0"/>
              </a:rPr>
              <a:t>methodology</a:t>
            </a:r>
            <a:endParaRPr lang="fr-FR" sz="4000" b="1" dirty="0">
              <a:solidFill>
                <a:srgbClr val="80276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196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a:extLst>
              <a:ext uri="{FF2B5EF4-FFF2-40B4-BE49-F238E27FC236}">
                <a16:creationId xmlns:a16="http://schemas.microsoft.com/office/drawing/2014/main" id="{30A68C21-2C70-4CF3-A70F-5882A0827105}"/>
              </a:ext>
            </a:extLst>
          </p:cNvPr>
          <p:cNvSpPr>
            <a:spLocks noChangeArrowheads="1"/>
          </p:cNvSpPr>
          <p:nvPr/>
        </p:nvSpPr>
        <p:spPr bwMode="auto">
          <a:xfrm>
            <a:off x="5611319" y="1060138"/>
            <a:ext cx="6266737" cy="391419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pPr marL="342900" indent="-342900" eaLnBrk="0" hangingPunct="0"/>
            <a:r>
              <a:rPr lang="fr-FR" sz="2000" dirty="0"/>
              <a:t>     </a:t>
            </a:r>
            <a:r>
              <a:rPr lang="en-US" dirty="0"/>
              <a:t>The results of the first study </a:t>
            </a:r>
            <a:r>
              <a:rPr lang="en-US" dirty="0">
                <a:solidFill>
                  <a:srgbClr val="80276C"/>
                </a:solidFill>
              </a:rPr>
              <a:t>(Woodhouse, 2018a) </a:t>
            </a:r>
            <a:r>
              <a:rPr lang="en-US" dirty="0"/>
              <a:t>were inconclusive, but a follow up study </a:t>
            </a:r>
            <a:r>
              <a:rPr lang="en-US" dirty="0">
                <a:solidFill>
                  <a:srgbClr val="80276C"/>
                </a:solidFill>
              </a:rPr>
              <a:t>(Woodhouse, 2018b)</a:t>
            </a:r>
            <a:r>
              <a:rPr lang="en-US" dirty="0"/>
              <a:t> achieved a clearer outcome.</a:t>
            </a:r>
          </a:p>
          <a:p>
            <a:pPr marL="342900" indent="-342900" eaLnBrk="0" hangingPunct="0"/>
            <a:endParaRPr lang="fr-FR" sz="2400" dirty="0"/>
          </a:p>
          <a:p>
            <a:pPr marL="342900" indent="-342900" algn="just" eaLnBrk="0" hangingPunct="0"/>
            <a:r>
              <a:rPr lang="fr-FR" dirty="0"/>
              <a:t>	</a:t>
            </a:r>
            <a:r>
              <a:rPr lang="fr-FR" sz="2400" dirty="0"/>
              <a:t>You </a:t>
            </a:r>
            <a:r>
              <a:rPr lang="fr-FR" sz="2400" dirty="0" err="1"/>
              <a:t>quote</a:t>
            </a:r>
            <a:r>
              <a:rPr lang="fr-FR" sz="2400" dirty="0"/>
              <a:t> and put in square </a:t>
            </a:r>
            <a:r>
              <a:rPr lang="fr-FR" sz="2400" dirty="0" err="1"/>
              <a:t>brackets</a:t>
            </a:r>
            <a:r>
              <a:rPr lang="fr-FR" sz="2400" dirty="0"/>
              <a:t> the </a:t>
            </a:r>
            <a:r>
              <a:rPr lang="fr-FR" sz="2400" dirty="0" err="1"/>
              <a:t>author’s</a:t>
            </a:r>
            <a:r>
              <a:rPr lang="fr-FR" sz="2400" dirty="0"/>
              <a:t> </a:t>
            </a:r>
            <a:r>
              <a:rPr lang="fr-FR" sz="2400" dirty="0" err="1"/>
              <a:t>name</a:t>
            </a:r>
            <a:r>
              <a:rPr lang="fr-FR" sz="2400" dirty="0"/>
              <a:t> </a:t>
            </a:r>
            <a:r>
              <a:rPr lang="fr-FR" sz="2400" dirty="0" err="1"/>
              <a:t>followed</a:t>
            </a:r>
            <a:r>
              <a:rPr lang="fr-FR" sz="2400" dirty="0"/>
              <a:t> by the </a:t>
            </a:r>
            <a:r>
              <a:rPr lang="fr-FR" sz="2400" dirty="0" err="1"/>
              <a:t>article’s</a:t>
            </a:r>
            <a:r>
              <a:rPr lang="fr-FR" sz="2400" dirty="0"/>
              <a:t> publication </a:t>
            </a:r>
            <a:r>
              <a:rPr lang="fr-FR" sz="2400" dirty="0" err="1"/>
              <a:t>year</a:t>
            </a:r>
            <a:r>
              <a:rPr lang="fr-FR" sz="2400" dirty="0"/>
              <a:t>. If </a:t>
            </a:r>
            <a:r>
              <a:rPr lang="fr-FR" sz="2400" dirty="0" err="1"/>
              <a:t>you</a:t>
            </a:r>
            <a:r>
              <a:rPr lang="fr-FR" sz="2400" dirty="0"/>
              <a:t> </a:t>
            </a:r>
            <a:r>
              <a:rPr lang="fr-FR" sz="2400" dirty="0" err="1"/>
              <a:t>quote</a:t>
            </a:r>
            <a:r>
              <a:rPr lang="fr-FR" sz="2400" dirty="0"/>
              <a:t> </a:t>
            </a:r>
            <a:r>
              <a:rPr lang="fr-FR" sz="2400" dirty="0" err="1"/>
              <a:t>several</a:t>
            </a:r>
            <a:r>
              <a:rPr lang="fr-FR" sz="2400" dirty="0"/>
              <a:t> publications </a:t>
            </a:r>
            <a:r>
              <a:rPr lang="fr-FR" sz="2400" dirty="0" err="1"/>
              <a:t>from</a:t>
            </a:r>
            <a:r>
              <a:rPr lang="fr-FR" sz="2400" dirty="0"/>
              <a:t> the </a:t>
            </a:r>
            <a:r>
              <a:rPr lang="fr-FR" sz="2400" dirty="0" err="1"/>
              <a:t>same</a:t>
            </a:r>
            <a:r>
              <a:rPr lang="fr-FR" sz="2400" dirty="0"/>
              <a:t> </a:t>
            </a:r>
            <a:r>
              <a:rPr lang="fr-FR" sz="2400" dirty="0" err="1"/>
              <a:t>author</a:t>
            </a:r>
            <a:r>
              <a:rPr lang="fr-FR" sz="2400" dirty="0"/>
              <a:t>,  for the </a:t>
            </a:r>
            <a:r>
              <a:rPr lang="fr-FR" sz="2400" dirty="0" err="1"/>
              <a:t>same</a:t>
            </a:r>
            <a:r>
              <a:rPr lang="fr-FR" sz="2400" dirty="0"/>
              <a:t> </a:t>
            </a:r>
            <a:r>
              <a:rPr lang="fr-FR" sz="2400" dirty="0" err="1"/>
              <a:t>year</a:t>
            </a:r>
            <a:r>
              <a:rPr lang="fr-FR" sz="2400" dirty="0"/>
              <a:t>, </a:t>
            </a:r>
            <a:r>
              <a:rPr lang="fr-FR" sz="2400" dirty="0" err="1"/>
              <a:t>you</a:t>
            </a:r>
            <a:r>
              <a:rPr lang="fr-FR" sz="2400" dirty="0"/>
              <a:t> have to </a:t>
            </a:r>
            <a:r>
              <a:rPr lang="fr-FR" sz="2400" dirty="0" err="1"/>
              <a:t>add</a:t>
            </a:r>
            <a:r>
              <a:rPr lang="fr-FR" sz="2400" dirty="0"/>
              <a:t> a, b, c, d </a:t>
            </a:r>
            <a:r>
              <a:rPr lang="fr-FR" sz="2400" dirty="0" err="1"/>
              <a:t>after</a:t>
            </a:r>
            <a:r>
              <a:rPr lang="fr-FR" sz="2400" dirty="0"/>
              <a:t> the publication </a:t>
            </a:r>
            <a:r>
              <a:rPr lang="fr-FR" sz="2400" dirty="0" err="1"/>
              <a:t>year</a:t>
            </a:r>
            <a:r>
              <a:rPr lang="fr-FR" sz="2400" dirty="0"/>
              <a:t>.</a:t>
            </a:r>
          </a:p>
        </p:txBody>
      </p:sp>
      <p:sp>
        <p:nvSpPr>
          <p:cNvPr id="4" name="Rectangle 2">
            <a:extLst>
              <a:ext uri="{FF2B5EF4-FFF2-40B4-BE49-F238E27FC236}">
                <a16:creationId xmlns:a16="http://schemas.microsoft.com/office/drawing/2014/main" id="{05A23844-BCD1-48E9-9991-AD6691ED1BC8}"/>
              </a:ext>
            </a:extLst>
          </p:cNvPr>
          <p:cNvSpPr txBox="1">
            <a:spLocks noChangeArrowheads="1"/>
          </p:cNvSpPr>
          <p:nvPr/>
        </p:nvSpPr>
        <p:spPr>
          <a:xfrm>
            <a:off x="1758696" y="0"/>
            <a:ext cx="2907792" cy="243125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fr-FR" dirty="0" err="1">
                <a:solidFill>
                  <a:srgbClr val="FFC000"/>
                </a:solidFill>
              </a:rPr>
              <a:t>Quotations</a:t>
            </a:r>
            <a:r>
              <a:rPr lang="fr-FR" dirty="0">
                <a:solidFill>
                  <a:srgbClr val="FFC000"/>
                </a:solidFill>
              </a:rPr>
              <a:t> in the </a:t>
            </a:r>
            <a:r>
              <a:rPr lang="fr-FR" dirty="0" err="1">
                <a:solidFill>
                  <a:srgbClr val="FFC000"/>
                </a:solidFill>
              </a:rPr>
              <a:t>text</a:t>
            </a:r>
            <a:endParaRPr lang="fr-FR" dirty="0">
              <a:solidFill>
                <a:srgbClr val="FFC000"/>
              </a:solidFill>
            </a:endParaRPr>
          </a:p>
        </p:txBody>
      </p:sp>
      <p:sp>
        <p:nvSpPr>
          <p:cNvPr id="5" name="ZoneTexte 4">
            <a:extLst>
              <a:ext uri="{FF2B5EF4-FFF2-40B4-BE49-F238E27FC236}">
                <a16:creationId xmlns:a16="http://schemas.microsoft.com/office/drawing/2014/main" id="{199C48F0-6C59-4B20-B730-9EF0C1A46BC9}"/>
              </a:ext>
            </a:extLst>
          </p:cNvPr>
          <p:cNvSpPr txBox="1"/>
          <p:nvPr/>
        </p:nvSpPr>
        <p:spPr>
          <a:xfrm>
            <a:off x="5833872" y="487692"/>
            <a:ext cx="4599432" cy="379591"/>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The Harvard system</a:t>
            </a:r>
            <a:endParaRPr lang="fr-FR" baseline="3000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6011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2109EB1-542F-4D4C-AD20-25B38AC6D998}"/>
              </a:ext>
            </a:extLst>
          </p:cNvPr>
          <p:cNvSpPr>
            <a:spLocks noGrp="1"/>
          </p:cNvSpPr>
          <p:nvPr>
            <p:ph type="body" sz="quarter" idx="11"/>
          </p:nvPr>
        </p:nvSpPr>
        <p:spPr>
          <a:xfrm>
            <a:off x="1106106" y="544799"/>
            <a:ext cx="8195732" cy="4444557"/>
          </a:xfrm>
        </p:spPr>
        <p:txBody>
          <a:bodyPr>
            <a:normAutofit fontScale="25000" lnSpcReduction="20000"/>
          </a:bodyPr>
          <a:lstStyle/>
          <a:p>
            <a:r>
              <a:rPr lang="fr-FR" sz="11200" dirty="0"/>
              <a:t>Harvard </a:t>
            </a:r>
            <a:r>
              <a:rPr lang="fr-FR" sz="11200" dirty="0" err="1"/>
              <a:t>referencing</a:t>
            </a:r>
            <a:r>
              <a:rPr lang="fr-FR" sz="11200" dirty="0"/>
              <a:t> </a:t>
            </a:r>
            <a:r>
              <a:rPr lang="fr-FR" sz="11200" dirty="0" err="1"/>
              <a:t>examples</a:t>
            </a:r>
            <a:endParaRPr lang="fr-FR" sz="11200" dirty="0"/>
          </a:p>
          <a:p>
            <a:endParaRPr lang="fr-FR" sz="3400" dirty="0"/>
          </a:p>
          <a:p>
            <a:r>
              <a:rPr lang="en-US" sz="6400" b="0" dirty="0"/>
              <a:t>Book : </a:t>
            </a:r>
          </a:p>
          <a:p>
            <a:r>
              <a:rPr lang="en-US" sz="6400" b="0" dirty="0"/>
              <a:t>Author surname, initial. (Year)</a:t>
            </a:r>
            <a:r>
              <a:rPr lang="en-US" sz="6400" b="0" i="1" dirty="0"/>
              <a:t> Book title</a:t>
            </a:r>
            <a:r>
              <a:rPr lang="en-US" sz="6400" b="0" dirty="0"/>
              <a:t>. City: Publisher.</a:t>
            </a:r>
          </a:p>
          <a:p>
            <a:r>
              <a:rPr lang="en-US" sz="6400" b="0" dirty="0"/>
              <a:t>Smith, Z. (2017) </a:t>
            </a:r>
            <a:r>
              <a:rPr lang="en-US" sz="6400" b="0" i="1" dirty="0"/>
              <a:t>Swing time</a:t>
            </a:r>
            <a:r>
              <a:rPr lang="en-US" sz="6400" b="0" dirty="0"/>
              <a:t>. London: Penguin.</a:t>
            </a:r>
          </a:p>
          <a:p>
            <a:endParaRPr lang="en-US" sz="6400" b="0" dirty="0"/>
          </a:p>
          <a:p>
            <a:r>
              <a:rPr lang="en-US" sz="6400" b="0" dirty="0"/>
              <a:t>Journal articles : </a:t>
            </a:r>
          </a:p>
          <a:p>
            <a:r>
              <a:rPr lang="en-US" sz="6400" b="0" dirty="0"/>
              <a:t>Author surname, initial. (Year) ‘Article title’,</a:t>
            </a:r>
            <a:r>
              <a:rPr lang="en-US" sz="6400" b="0" i="1" dirty="0"/>
              <a:t> Journal Name</a:t>
            </a:r>
            <a:r>
              <a:rPr lang="en-US" sz="6400" b="0" dirty="0"/>
              <a:t>, Volume(Issue), pp. page range.</a:t>
            </a:r>
          </a:p>
          <a:p>
            <a:r>
              <a:rPr lang="en-US" sz="6400" b="0" dirty="0" err="1"/>
              <a:t>Thagard</a:t>
            </a:r>
            <a:r>
              <a:rPr lang="en-US" sz="6400" b="0" dirty="0"/>
              <a:t>, P. (1990) ‘Philosophy and machine learning’, </a:t>
            </a:r>
            <a:r>
              <a:rPr lang="en-US" sz="6400" b="0" i="1" dirty="0"/>
              <a:t>Canadian Journal of Philosophy</a:t>
            </a:r>
            <a:r>
              <a:rPr lang="en-US" sz="6400" b="0" dirty="0"/>
              <a:t>, 20(2), pp. 261–276.</a:t>
            </a:r>
          </a:p>
          <a:p>
            <a:endParaRPr lang="en-US" sz="6400" b="0" dirty="0"/>
          </a:p>
          <a:p>
            <a:r>
              <a:rPr lang="en-US" sz="6400" b="0" dirty="0"/>
              <a:t>Websites : </a:t>
            </a:r>
          </a:p>
          <a:p>
            <a:r>
              <a:rPr lang="en-US" sz="6400" b="0" dirty="0"/>
              <a:t>Author surname, initial. (Year) </a:t>
            </a:r>
            <a:r>
              <a:rPr lang="en-US" sz="6400" b="0" i="1" dirty="0"/>
              <a:t>Page title</a:t>
            </a:r>
            <a:r>
              <a:rPr lang="en-US" sz="6400" b="0" dirty="0"/>
              <a:t>. Available at: URL (Accessed: Day Month Year).</a:t>
            </a:r>
          </a:p>
          <a:p>
            <a:r>
              <a:rPr lang="en-US" sz="6400" b="0" dirty="0"/>
              <a:t>Google (2019) </a:t>
            </a:r>
            <a:r>
              <a:rPr lang="en-US" sz="6400" b="0" i="1" dirty="0"/>
              <a:t>Google terms of service</a:t>
            </a:r>
            <a:r>
              <a:rPr lang="en-US" sz="6400" b="0" dirty="0"/>
              <a:t>. Available at: https://policies.google.com/terms?hl=en-US (Accessed: 27 January 2020).</a:t>
            </a:r>
          </a:p>
          <a:p>
            <a:endParaRPr lang="en-US" sz="6400" b="0" dirty="0"/>
          </a:p>
          <a:p>
            <a:r>
              <a:rPr lang="en-US" sz="6400" dirty="0">
                <a:hlinkClick r:id="rId2"/>
              </a:rPr>
              <a:t>A Quick Guide to Harvard Referencing | Citation Examples</a:t>
            </a:r>
            <a:endParaRPr lang="fr-FR" sz="6400" dirty="0"/>
          </a:p>
        </p:txBody>
      </p:sp>
    </p:spTree>
    <p:extLst>
      <p:ext uri="{BB962C8B-B14F-4D97-AF65-F5344CB8AC3E}">
        <p14:creationId xmlns:p14="http://schemas.microsoft.com/office/powerpoint/2010/main" val="2603277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Where to find your vocabulary</a:t>
            </a:r>
            <a:endParaRPr lang="en-US" sz="3000" dirty="0"/>
          </a:p>
        </p:txBody>
      </p:sp>
      <p:sp>
        <p:nvSpPr>
          <p:cNvPr id="3" name="Text 1"/>
          <p:cNvSpPr/>
          <p:nvPr/>
        </p:nvSpPr>
        <p:spPr>
          <a:xfrm>
            <a:off x="9613087" y="502920"/>
            <a:ext cx="2011680" cy="365760"/>
          </a:xfrm>
          <a:prstGeom prst="rect">
            <a:avLst/>
          </a:prstGeom>
          <a:noFill/>
          <a:ln/>
        </p:spPr>
        <p:txBody>
          <a:bodyPr wrap="square" lIns="0" tIns="0" rIns="0" bIns="0" rtlCol="0" anchor="ctr"/>
          <a:lstStyle/>
          <a:p>
            <a:pPr marL="0" indent="0" algn="r">
              <a:buNone/>
            </a:pPr>
            <a:r>
              <a:rPr lang="en-US" sz="1100" kern="0" spc="80" dirty="0">
                <a:solidFill>
                  <a:srgbClr val="5C6B73"/>
                </a:solidFill>
                <a:latin typeface="Calibri" pitchFamily="34" charset="0"/>
                <a:ea typeface="Calibri" pitchFamily="34" charset="-122"/>
                <a:cs typeface="Calibri" pitchFamily="34" charset="-120"/>
              </a:rPr>
              <a:t>BLOCK A · STRATEGY</a:t>
            </a:r>
            <a:endParaRPr lang="en-US" sz="1100" dirty="0"/>
          </a:p>
        </p:txBody>
      </p:sp>
      <p:sp>
        <p:nvSpPr>
          <p:cNvPr id="4" name="Text 2"/>
          <p:cNvSpPr/>
          <p:nvPr/>
        </p:nvSpPr>
        <p:spPr>
          <a:xfrm>
            <a:off x="566928" y="1261872"/>
            <a:ext cx="11057839" cy="365760"/>
          </a:xfrm>
          <a:prstGeom prst="rect">
            <a:avLst/>
          </a:prstGeom>
          <a:noFill/>
          <a:ln/>
        </p:spPr>
        <p:txBody>
          <a:bodyPr wrap="square" lIns="0" tIns="0" rIns="0" bIns="0" rtlCol="0" anchor="t"/>
          <a:lstStyle/>
          <a:p>
            <a:pPr marL="0" indent="0">
              <a:buNone/>
            </a:pPr>
            <a:r>
              <a:rPr lang="en-US" sz="1400" i="1" dirty="0">
                <a:solidFill>
                  <a:srgbClr val="5C6B73"/>
                </a:solidFill>
                <a:latin typeface="Calibri" pitchFamily="34" charset="0"/>
                <a:ea typeface="Calibri" pitchFamily="34" charset="-122"/>
                <a:cs typeface="Calibri" pitchFamily="34" charset="-120"/>
              </a:rPr>
              <a:t>Never invent it alone: it is already written down somewhere.</a:t>
            </a:r>
            <a:endParaRPr lang="en-US" sz="1400" dirty="0"/>
          </a:p>
        </p:txBody>
      </p:sp>
      <p:sp>
        <p:nvSpPr>
          <p:cNvPr id="5" name="Shape 3"/>
          <p:cNvSpPr/>
          <p:nvPr/>
        </p:nvSpPr>
        <p:spPr>
          <a:xfrm>
            <a:off x="566928" y="1842516"/>
            <a:ext cx="539176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6" name="Shape 4"/>
          <p:cNvSpPr/>
          <p:nvPr/>
        </p:nvSpPr>
        <p:spPr>
          <a:xfrm>
            <a:off x="786384" y="2043684"/>
            <a:ext cx="384048" cy="384048"/>
          </a:xfrm>
          <a:prstGeom prst="ellipse">
            <a:avLst/>
          </a:prstGeom>
          <a:solidFill>
            <a:srgbClr val="80276C"/>
          </a:solidFill>
          <a:ln w="12700">
            <a:solidFill>
              <a:srgbClr val="1F8A70"/>
            </a:solidFill>
            <a:prstDash val="solid"/>
          </a:ln>
        </p:spPr>
        <p:txBody>
          <a:bodyPr/>
          <a:lstStyle/>
          <a:p>
            <a:endParaRPr lang="fr-FR" dirty="0">
              <a:highlight>
                <a:srgbClr val="80276C"/>
              </a:highlight>
            </a:endParaRPr>
          </a:p>
        </p:txBody>
      </p:sp>
      <p:sp>
        <p:nvSpPr>
          <p:cNvPr id="7" name="Text 5"/>
          <p:cNvSpPr/>
          <p:nvPr/>
        </p:nvSpPr>
        <p:spPr>
          <a:xfrm>
            <a:off x="786384" y="20436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0160" y="2025396"/>
            <a:ext cx="445907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The database thesaurus</a:t>
            </a:r>
            <a:endParaRPr lang="en-US" sz="1450" dirty="0"/>
          </a:p>
        </p:txBody>
      </p:sp>
      <p:sp>
        <p:nvSpPr>
          <p:cNvPr id="9" name="Text 7"/>
          <p:cNvSpPr/>
          <p:nvPr/>
        </p:nvSpPr>
        <p:spPr>
          <a:xfrm>
            <a:off x="804672" y="2555748"/>
            <a:ext cx="491627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Where one exists — Inspec, Compendex — it is the highest-yield source and the most ignored.</a:t>
            </a:r>
            <a:endParaRPr lang="en-US" sz="1200" dirty="0"/>
          </a:p>
        </p:txBody>
      </p:sp>
      <p:sp>
        <p:nvSpPr>
          <p:cNvPr id="10" name="Shape 8"/>
          <p:cNvSpPr/>
          <p:nvPr/>
        </p:nvSpPr>
        <p:spPr>
          <a:xfrm>
            <a:off x="6233008" y="1842516"/>
            <a:ext cx="539176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1" name="Shape 9"/>
          <p:cNvSpPr/>
          <p:nvPr/>
        </p:nvSpPr>
        <p:spPr>
          <a:xfrm>
            <a:off x="6452464" y="2043684"/>
            <a:ext cx="384048" cy="384048"/>
          </a:xfrm>
          <a:prstGeom prst="ellipse">
            <a:avLst/>
          </a:prstGeom>
          <a:solidFill>
            <a:srgbClr val="80276C"/>
          </a:solidFill>
          <a:ln w="12700">
            <a:solidFill>
              <a:srgbClr val="1F8A70"/>
            </a:solidFill>
            <a:prstDash val="solid"/>
          </a:ln>
        </p:spPr>
        <p:txBody>
          <a:bodyPr/>
          <a:lstStyle/>
          <a:p>
            <a:endParaRPr lang="fr-FR"/>
          </a:p>
        </p:txBody>
      </p:sp>
      <p:sp>
        <p:nvSpPr>
          <p:cNvPr id="12" name="Text 10"/>
          <p:cNvSpPr/>
          <p:nvPr/>
        </p:nvSpPr>
        <p:spPr>
          <a:xfrm>
            <a:off x="6452464" y="20436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946240" y="2025396"/>
            <a:ext cx="445907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Titles and abstracts</a:t>
            </a:r>
            <a:endParaRPr lang="en-US" sz="1450" dirty="0"/>
          </a:p>
        </p:txBody>
      </p:sp>
      <p:sp>
        <p:nvSpPr>
          <p:cNvPr id="14" name="Text 12"/>
          <p:cNvSpPr/>
          <p:nvPr/>
        </p:nvSpPr>
        <p:spPr>
          <a:xfrm>
            <a:off x="6470752" y="2555748"/>
            <a:ext cx="491627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Of three or four key articles already identified: the community's vocabulary can be read straight off them.</a:t>
            </a:r>
            <a:endParaRPr lang="en-US" sz="1200" dirty="0"/>
          </a:p>
        </p:txBody>
      </p:sp>
      <p:sp>
        <p:nvSpPr>
          <p:cNvPr id="15" name="Shape 13"/>
          <p:cNvSpPr/>
          <p:nvPr/>
        </p:nvSpPr>
        <p:spPr>
          <a:xfrm>
            <a:off x="566928" y="3991356"/>
            <a:ext cx="539176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6" name="Shape 14"/>
          <p:cNvSpPr/>
          <p:nvPr/>
        </p:nvSpPr>
        <p:spPr>
          <a:xfrm>
            <a:off x="786384" y="4192524"/>
            <a:ext cx="384048" cy="384048"/>
          </a:xfrm>
          <a:prstGeom prst="ellipse">
            <a:avLst/>
          </a:prstGeom>
          <a:solidFill>
            <a:srgbClr val="80276C"/>
          </a:solidFill>
          <a:ln w="12700">
            <a:solidFill>
              <a:srgbClr val="1F8A70"/>
            </a:solidFill>
            <a:prstDash val="solid"/>
          </a:ln>
        </p:spPr>
        <p:txBody>
          <a:bodyPr/>
          <a:lstStyle/>
          <a:p>
            <a:endParaRPr lang="fr-FR"/>
          </a:p>
        </p:txBody>
      </p:sp>
      <p:sp>
        <p:nvSpPr>
          <p:cNvPr id="17" name="Text 15"/>
          <p:cNvSpPr/>
          <p:nvPr/>
        </p:nvSpPr>
        <p:spPr>
          <a:xfrm>
            <a:off x="786384" y="41925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280160" y="4174236"/>
            <a:ext cx="445907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Author keywords</a:t>
            </a:r>
            <a:endParaRPr lang="en-US" sz="1450" dirty="0"/>
          </a:p>
        </p:txBody>
      </p:sp>
      <p:sp>
        <p:nvSpPr>
          <p:cNvPr id="19" name="Text 17"/>
          <p:cNvSpPr/>
          <p:nvPr/>
        </p:nvSpPr>
        <p:spPr>
          <a:xfrm>
            <a:off x="804672" y="4704588"/>
            <a:ext cx="491627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They give the living variants of the field, the ones that have not yet reached the thesaurus.</a:t>
            </a:r>
            <a:endParaRPr lang="en-US" sz="1200" dirty="0"/>
          </a:p>
        </p:txBody>
      </p:sp>
      <p:sp>
        <p:nvSpPr>
          <p:cNvPr id="20" name="Shape 18"/>
          <p:cNvSpPr/>
          <p:nvPr/>
        </p:nvSpPr>
        <p:spPr>
          <a:xfrm>
            <a:off x="6233008" y="3991356"/>
            <a:ext cx="539176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23" name="Text 21"/>
          <p:cNvSpPr/>
          <p:nvPr/>
        </p:nvSpPr>
        <p:spPr>
          <a:xfrm>
            <a:off x="6946240" y="4174236"/>
            <a:ext cx="445907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Patent terms</a:t>
            </a:r>
            <a:endParaRPr lang="en-US" sz="1450" dirty="0"/>
          </a:p>
        </p:txBody>
      </p:sp>
      <p:sp>
        <p:nvSpPr>
          <p:cNvPr id="24" name="Text 22"/>
          <p:cNvSpPr/>
          <p:nvPr/>
        </p:nvSpPr>
        <p:spPr>
          <a:xfrm>
            <a:off x="6470752" y="4704588"/>
            <a:ext cx="4916272" cy="978408"/>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Often different from academic vocabulary for exactly the same thing. The most neglected source.</a:t>
            </a:r>
            <a:endParaRPr lang="en-US" sz="1200" dirty="0"/>
          </a:p>
        </p:txBody>
      </p:sp>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37</a:t>
            </a:fld>
            <a:endParaRPr lang="en-US"/>
          </a:p>
        </p:txBody>
      </p:sp>
      <p:sp>
        <p:nvSpPr>
          <p:cNvPr id="33" name="Shape 14">
            <a:extLst>
              <a:ext uri="{FF2B5EF4-FFF2-40B4-BE49-F238E27FC236}">
                <a16:creationId xmlns:a16="http://schemas.microsoft.com/office/drawing/2014/main" id="{367025CB-7CE9-3D1E-74D7-DA4488010971}"/>
              </a:ext>
            </a:extLst>
          </p:cNvPr>
          <p:cNvSpPr/>
          <p:nvPr/>
        </p:nvSpPr>
        <p:spPr>
          <a:xfrm>
            <a:off x="6452464" y="4216072"/>
            <a:ext cx="384048" cy="384048"/>
          </a:xfrm>
          <a:prstGeom prst="ellipse">
            <a:avLst/>
          </a:prstGeom>
          <a:solidFill>
            <a:srgbClr val="80276C"/>
          </a:solidFill>
          <a:ln w="12700">
            <a:solidFill>
              <a:srgbClr val="1F8A70"/>
            </a:solidFill>
            <a:prstDash val="solid"/>
          </a:ln>
        </p:spPr>
        <p:txBody>
          <a:bodyPr/>
          <a:lstStyle/>
          <a:p>
            <a:r>
              <a:rPr lang="fr-FR" sz="1200" b="1" dirty="0">
                <a:solidFill>
                  <a:schemeClr val="bg1"/>
                </a:solidFill>
              </a:rPr>
              <a:t>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Precision, recall, and the log</a:t>
            </a:r>
            <a:endParaRPr lang="en-US" sz="3000" dirty="0"/>
          </a:p>
        </p:txBody>
      </p:sp>
      <p:sp>
        <p:nvSpPr>
          <p:cNvPr id="3" name="Text 1"/>
          <p:cNvSpPr/>
          <p:nvPr/>
        </p:nvSpPr>
        <p:spPr>
          <a:xfrm>
            <a:off x="9613087" y="502920"/>
            <a:ext cx="2011680" cy="365760"/>
          </a:xfrm>
          <a:prstGeom prst="rect">
            <a:avLst/>
          </a:prstGeom>
          <a:noFill/>
          <a:ln/>
        </p:spPr>
        <p:txBody>
          <a:bodyPr wrap="square" lIns="0" tIns="0" rIns="0" bIns="0" rtlCol="0" anchor="ctr"/>
          <a:lstStyle/>
          <a:p>
            <a:pPr marL="0" indent="0" algn="r">
              <a:buNone/>
            </a:pPr>
            <a:r>
              <a:rPr lang="en-US" sz="1100" kern="0" spc="80" dirty="0">
                <a:solidFill>
                  <a:srgbClr val="5C6B73"/>
                </a:solidFill>
                <a:latin typeface="Calibri" pitchFamily="34" charset="0"/>
                <a:ea typeface="Calibri" pitchFamily="34" charset="-122"/>
                <a:cs typeface="Calibri" pitchFamily="34" charset="-120"/>
              </a:rPr>
              <a:t>BLOCK A · STRATEGY</a:t>
            </a:r>
            <a:endParaRPr lang="en-US" sz="1100" dirty="0"/>
          </a:p>
        </p:txBody>
      </p:sp>
      <p:sp>
        <p:nvSpPr>
          <p:cNvPr id="4" name="Shape 2"/>
          <p:cNvSpPr/>
          <p:nvPr/>
        </p:nvSpPr>
        <p:spPr>
          <a:xfrm>
            <a:off x="566928" y="1298448"/>
            <a:ext cx="5346040" cy="4434840"/>
          </a:xfrm>
          <a:prstGeom prst="roundRect">
            <a:avLst>
              <a:gd name="adj" fmla="val 1237"/>
            </a:avLst>
          </a:prstGeom>
          <a:solidFill>
            <a:srgbClr val="E4F1ED"/>
          </a:solidFill>
          <a:ln w="12700">
            <a:solidFill>
              <a:srgbClr val="E4F1ED"/>
            </a:solidFill>
            <a:prstDash val="solid"/>
          </a:ln>
        </p:spPr>
        <p:txBody>
          <a:bodyPr/>
          <a:lstStyle/>
          <a:p>
            <a:endParaRPr lang="fr-FR"/>
          </a:p>
        </p:txBody>
      </p:sp>
      <p:sp>
        <p:nvSpPr>
          <p:cNvPr id="5" name="Text 3"/>
          <p:cNvSpPr/>
          <p:nvPr/>
        </p:nvSpPr>
        <p:spPr>
          <a:xfrm>
            <a:off x="822960" y="1481328"/>
            <a:ext cx="4833976" cy="384048"/>
          </a:xfrm>
          <a:prstGeom prst="rect">
            <a:avLst/>
          </a:prstGeom>
          <a:noFill/>
          <a:ln/>
        </p:spPr>
        <p:txBody>
          <a:bodyPr wrap="square" lIns="0" tIns="0" rIns="0" bIns="0" rtlCol="0" anchor="ctr"/>
          <a:lstStyle/>
          <a:p>
            <a:pPr marL="0" indent="0">
              <a:buNone/>
            </a:pPr>
            <a:r>
              <a:rPr lang="en-US" sz="1600" b="1" dirty="0">
                <a:solidFill>
                  <a:srgbClr val="1F8A70"/>
                </a:solidFill>
                <a:latin typeface="Cambria" pitchFamily="34" charset="0"/>
                <a:ea typeface="Cambria" pitchFamily="34" charset="-122"/>
                <a:cs typeface="Cambria" pitchFamily="34" charset="-120"/>
              </a:rPr>
              <a:t>The trade-off</a:t>
            </a:r>
            <a:endParaRPr lang="en-US" sz="1600" dirty="0"/>
          </a:p>
        </p:txBody>
      </p:sp>
      <p:sp>
        <p:nvSpPr>
          <p:cNvPr id="6" name="Text 4"/>
          <p:cNvSpPr/>
          <p:nvPr/>
        </p:nvSpPr>
        <p:spPr>
          <a:xfrm>
            <a:off x="8229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Precision</a:t>
            </a:r>
            <a:r>
              <a:rPr lang="en-US" sz="1350" dirty="0">
                <a:solidFill>
                  <a:srgbClr val="1A1A1A"/>
                </a:solidFill>
                <a:latin typeface="Calibri" pitchFamily="34" charset="0"/>
                <a:ea typeface="Calibri" pitchFamily="34" charset="-122"/>
                <a:cs typeface="Calibri" pitchFamily="34" charset="-120"/>
              </a:rPr>
              <a:t>: share of relevant results among those obtained.</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Recall</a:t>
            </a:r>
            <a:r>
              <a:rPr lang="en-US" sz="1350" dirty="0">
                <a:solidFill>
                  <a:srgbClr val="1A1A1A"/>
                </a:solidFill>
                <a:latin typeface="Calibri" pitchFamily="34" charset="0"/>
                <a:ea typeface="Calibri" pitchFamily="34" charset="-122"/>
                <a:cs typeface="Calibri" pitchFamily="34" charset="-120"/>
              </a:rPr>
              <a:t>: share of the relevant literature actually retrieved.</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two cannot be maximised together: broadening raises recall and degrades precision.</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The engineer's rule:</a:t>
            </a:r>
            <a:r>
              <a:rPr lang="en-US" sz="1350" dirty="0">
                <a:solidFill>
                  <a:srgbClr val="1A1A1A"/>
                </a:solidFill>
                <a:latin typeface="Calibri" pitchFamily="34" charset="0"/>
                <a:ea typeface="Calibri" pitchFamily="34" charset="-122"/>
                <a:cs typeface="Calibri" pitchFamily="34" charset="-120"/>
              </a:rPr>
              <a:t> favour recall on the “technical solution” facet, accept the noise, then screen. Missing a competing process costs more than reading thirty useless abstracts.</a:t>
            </a:r>
            <a:endParaRPr lang="en-US" sz="1350" dirty="0"/>
          </a:p>
        </p:txBody>
      </p:sp>
      <p:sp>
        <p:nvSpPr>
          <p:cNvPr id="7" name="Shape 5"/>
          <p:cNvSpPr/>
          <p:nvPr/>
        </p:nvSpPr>
        <p:spPr>
          <a:xfrm>
            <a:off x="6278728" y="1298448"/>
            <a:ext cx="5346040" cy="4434840"/>
          </a:xfrm>
          <a:prstGeom prst="roundRect">
            <a:avLst>
              <a:gd name="adj" fmla="val 1237"/>
            </a:avLst>
          </a:prstGeom>
          <a:solidFill>
            <a:srgbClr val="FBEEE2"/>
          </a:solidFill>
          <a:ln w="12700">
            <a:solidFill>
              <a:srgbClr val="FBEEE2"/>
            </a:solidFill>
            <a:prstDash val="solid"/>
          </a:ln>
        </p:spPr>
        <p:txBody>
          <a:bodyPr/>
          <a:lstStyle/>
          <a:p>
            <a:endParaRPr lang="fr-FR"/>
          </a:p>
        </p:txBody>
      </p:sp>
      <p:sp>
        <p:nvSpPr>
          <p:cNvPr id="8" name="Text 6"/>
          <p:cNvSpPr/>
          <p:nvPr/>
        </p:nvSpPr>
        <p:spPr>
          <a:xfrm>
            <a:off x="6534760" y="1481328"/>
            <a:ext cx="4833976" cy="384048"/>
          </a:xfrm>
          <a:prstGeom prst="rect">
            <a:avLst/>
          </a:prstGeom>
          <a:noFill/>
          <a:ln/>
        </p:spPr>
        <p:txBody>
          <a:bodyPr wrap="square" lIns="0" tIns="0" rIns="0" bIns="0" rtlCol="0" anchor="ctr"/>
          <a:lstStyle/>
          <a:p>
            <a:pPr marL="0" indent="0">
              <a:buNone/>
            </a:pPr>
            <a:r>
              <a:rPr lang="en-US" sz="1600" b="1" dirty="0">
                <a:solidFill>
                  <a:srgbClr val="E07A29"/>
                </a:solidFill>
                <a:latin typeface="Cambria" pitchFamily="34" charset="0"/>
                <a:ea typeface="Cambria" pitchFamily="34" charset="-122"/>
                <a:cs typeface="Cambria" pitchFamily="34" charset="-120"/>
              </a:rPr>
              <a:t>The five fields of the log</a:t>
            </a:r>
            <a:endParaRPr lang="en-US" sz="1600" dirty="0"/>
          </a:p>
        </p:txBody>
      </p:sp>
      <p:sp>
        <p:nvSpPr>
          <p:cNvPr id="9" name="Text 7"/>
          <p:cNvSpPr/>
          <p:nvPr/>
        </p:nvSpPr>
        <p:spPr>
          <a:xfrm>
            <a:off x="65347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a:t>
            </a:r>
            <a:r>
              <a:rPr lang="en-US" sz="1350" b="1" dirty="0">
                <a:solidFill>
                  <a:srgbClr val="1A1A1A"/>
                </a:solidFill>
                <a:latin typeface="Calibri" pitchFamily="34" charset="0"/>
                <a:ea typeface="Calibri" pitchFamily="34" charset="-122"/>
                <a:cs typeface="Calibri" pitchFamily="34" charset="-120"/>
              </a:rPr>
              <a:t>database</a:t>
            </a:r>
            <a:r>
              <a:rPr lang="en-US" sz="1350" dirty="0">
                <a:solidFill>
                  <a:srgbClr val="1A1A1A"/>
                </a:solidFill>
                <a:latin typeface="Calibri" pitchFamily="34" charset="0"/>
                <a:ea typeface="Calibri" pitchFamily="34" charset="-122"/>
                <a:cs typeface="Calibri" pitchFamily="34" charset="-120"/>
              </a:rPr>
              <a:t> and its interface.</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a:t>
            </a:r>
            <a:r>
              <a:rPr lang="en-US" sz="1350" b="1" dirty="0">
                <a:solidFill>
                  <a:srgbClr val="1A1A1A"/>
                </a:solidFill>
                <a:latin typeface="Calibri" pitchFamily="34" charset="0"/>
                <a:ea typeface="Calibri" pitchFamily="34" charset="-122"/>
                <a:cs typeface="Calibri" pitchFamily="34" charset="-120"/>
              </a:rPr>
              <a:t>date</a:t>
            </a:r>
            <a:r>
              <a:rPr lang="en-US" sz="1350" dirty="0">
                <a:solidFill>
                  <a:srgbClr val="1A1A1A"/>
                </a:solidFill>
                <a:latin typeface="Calibri" pitchFamily="34" charset="0"/>
                <a:ea typeface="Calibri" pitchFamily="34" charset="-122"/>
                <a:cs typeface="Calibri" pitchFamily="34" charset="-120"/>
              </a:rPr>
              <a:t>.</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a:t>
            </a:r>
            <a:r>
              <a:rPr lang="en-US" sz="1350" b="1" dirty="0">
                <a:solidFill>
                  <a:srgbClr val="1A1A1A"/>
                </a:solidFill>
                <a:latin typeface="Calibri" pitchFamily="34" charset="0"/>
                <a:ea typeface="Calibri" pitchFamily="34" charset="-122"/>
                <a:cs typeface="Calibri" pitchFamily="34" charset="-120"/>
              </a:rPr>
              <a:t>exact query</a:t>
            </a:r>
            <a:r>
              <a:rPr lang="en-US" sz="1350" dirty="0">
                <a:solidFill>
                  <a:srgbClr val="1A1A1A"/>
                </a:solidFill>
                <a:latin typeface="Calibri" pitchFamily="34" charset="0"/>
                <a:ea typeface="Calibri" pitchFamily="34" charset="-122"/>
                <a:cs typeface="Calibri" pitchFamily="34" charset="-120"/>
              </a:rPr>
              <a:t>, as executed.</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a:t>
            </a:r>
            <a:r>
              <a:rPr lang="en-US" sz="1350" b="1" dirty="0">
                <a:solidFill>
                  <a:srgbClr val="1A1A1A"/>
                </a:solidFill>
                <a:latin typeface="Calibri" pitchFamily="34" charset="0"/>
                <a:ea typeface="Calibri" pitchFamily="34" charset="-122"/>
                <a:cs typeface="Calibri" pitchFamily="34" charset="-120"/>
              </a:rPr>
              <a:t>filters</a:t>
            </a:r>
            <a:r>
              <a:rPr lang="en-US" sz="1350" dirty="0">
                <a:solidFill>
                  <a:srgbClr val="1A1A1A"/>
                </a:solidFill>
                <a:latin typeface="Calibri" pitchFamily="34" charset="0"/>
                <a:ea typeface="Calibri" pitchFamily="34" charset="-122"/>
                <a:cs typeface="Calibri" pitchFamily="34" charset="-120"/>
              </a:rPr>
              <a:t> applied.</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a:t>
            </a:r>
            <a:r>
              <a:rPr lang="en-US" sz="1350" b="1" dirty="0">
                <a:solidFill>
                  <a:srgbClr val="1A1A1A"/>
                </a:solidFill>
                <a:latin typeface="Calibri" pitchFamily="34" charset="0"/>
                <a:ea typeface="Calibri" pitchFamily="34" charset="-122"/>
                <a:cs typeface="Calibri" pitchFamily="34" charset="-120"/>
              </a:rPr>
              <a:t>number of results</a:t>
            </a:r>
            <a:r>
              <a:rPr lang="en-US" sz="1350" dirty="0">
                <a:solidFill>
                  <a:srgbClr val="1A1A1A"/>
                </a:solidFill>
                <a:latin typeface="Calibri" pitchFamily="34" charset="0"/>
                <a:ea typeface="Calibri" pitchFamily="34" charset="-122"/>
                <a:cs typeface="Calibri" pitchFamily="34" charset="-120"/>
              </a:rPr>
              <a:t> obtained.</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Without these five fields nobody can replay the search — including you, three months from now.</a:t>
            </a:r>
            <a:endParaRPr lang="en-US" sz="1350" dirty="0"/>
          </a:p>
        </p:txBody>
      </p:sp>
      <p:sp>
        <p:nvSpPr>
          <p:cNvPr id="10" name="Text 8"/>
          <p:cNvSpPr/>
          <p:nvPr/>
        </p:nvSpPr>
        <p:spPr>
          <a:xfrm>
            <a:off x="566928" y="6080760"/>
            <a:ext cx="10143439" cy="365760"/>
          </a:xfrm>
          <a:prstGeom prst="rect">
            <a:avLst/>
          </a:prstGeom>
          <a:noFill/>
          <a:ln/>
        </p:spPr>
        <p:txBody>
          <a:bodyPr wrap="square" lIns="0" tIns="0" rIns="0" bIns="0" rtlCol="0" anchor="ctr"/>
          <a:lstStyle/>
          <a:p>
            <a:pPr marL="0" indent="0">
              <a:buNone/>
            </a:pPr>
            <a:r>
              <a:rPr lang="en-US" sz="1200" i="1" dirty="0">
                <a:solidFill>
                  <a:srgbClr val="5C6B73"/>
                </a:solidFill>
                <a:latin typeface="Calibri" pitchFamily="34" charset="0"/>
                <a:ea typeface="Calibri" pitchFamily="34" charset="-122"/>
                <a:cs typeface="Calibri" pitchFamily="34" charset="-120"/>
              </a:rPr>
              <a:t>The log is filled in during the work, never afterwards: a reconstructed log is a reconstruction.</a:t>
            </a:r>
            <a:endParaRPr lang="en-US" sz="1200" dirty="0"/>
          </a:p>
        </p:txBody>
      </p:sp>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The grid — six criteria</a:t>
            </a:r>
            <a:endParaRPr lang="en-US" sz="3000" dirty="0"/>
          </a:p>
        </p:txBody>
      </p:sp>
      <p:sp>
        <p:nvSpPr>
          <p:cNvPr id="4" name="Text 2"/>
          <p:cNvSpPr/>
          <p:nvPr/>
        </p:nvSpPr>
        <p:spPr>
          <a:xfrm>
            <a:off x="566928" y="1234440"/>
            <a:ext cx="11057839" cy="365760"/>
          </a:xfrm>
          <a:prstGeom prst="rect">
            <a:avLst/>
          </a:prstGeom>
          <a:noFill/>
          <a:ln/>
        </p:spPr>
        <p:txBody>
          <a:bodyPr wrap="square" lIns="0" tIns="0" rIns="0" bIns="0" rtlCol="0" anchor="t"/>
          <a:lstStyle/>
          <a:p>
            <a:pPr marL="0" indent="0">
              <a:buNone/>
            </a:pPr>
            <a:r>
              <a:rPr lang="en-US" sz="1400" i="1" dirty="0">
                <a:solidFill>
                  <a:srgbClr val="5C6B73"/>
                </a:solidFill>
                <a:latin typeface="Calibri" pitchFamily="34" charset="0"/>
                <a:ea typeface="Calibri" pitchFamily="34" charset="-122"/>
                <a:cs typeface="Calibri" pitchFamily="34" charset="-120"/>
              </a:rPr>
              <a:t>A score not backed by the measurement described does not count.</a:t>
            </a:r>
            <a:endParaRPr lang="en-US" sz="1400" dirty="0"/>
          </a:p>
        </p:txBody>
      </p:sp>
      <p:graphicFrame>
        <p:nvGraphicFramePr>
          <p:cNvPr id="27" name="Table 0"/>
          <p:cNvGraphicFramePr>
            <a:graphicFrameLocks noGrp="1"/>
          </p:cNvGraphicFramePr>
          <p:nvPr/>
        </p:nvGraphicFramePr>
        <p:xfrm>
          <a:off x="566928" y="1764792"/>
          <a:ext cx="11057840" cy="3563620"/>
        </p:xfrm>
        <a:graphic>
          <a:graphicData uri="http://schemas.openxmlformats.org/drawingml/2006/table">
            <a:tbl>
              <a:tblPr/>
              <a:tblGrid>
                <a:gridCol w="511937">
                  <a:extLst>
                    <a:ext uri="{9D8B030D-6E8A-4147-A177-3AD203B41FA5}">
                      <a16:colId xmlns:a16="http://schemas.microsoft.com/office/drawing/2014/main" val="20000"/>
                    </a:ext>
                  </a:extLst>
                </a:gridCol>
                <a:gridCol w="2457298">
                  <a:extLst>
                    <a:ext uri="{9D8B030D-6E8A-4147-A177-3AD203B41FA5}">
                      <a16:colId xmlns:a16="http://schemas.microsoft.com/office/drawing/2014/main" val="20001"/>
                    </a:ext>
                  </a:extLst>
                </a:gridCol>
                <a:gridCol w="5119370">
                  <a:extLst>
                    <a:ext uri="{9D8B030D-6E8A-4147-A177-3AD203B41FA5}">
                      <a16:colId xmlns:a16="http://schemas.microsoft.com/office/drawing/2014/main" val="20002"/>
                    </a:ext>
                  </a:extLst>
                </a:gridCol>
                <a:gridCol w="2969235">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Measurement protocol</a:t>
                      </a:r>
                      <a:endParaRPr lang="en-US" sz="11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Scale</a:t>
                      </a:r>
                      <a:endParaRPr lang="en-US" sz="11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Recall against the gold-standard corpus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How many of the 25 gold-standard DOIs appear in the tool's first 50 results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&lt; 20% — 1: 20-39% — 2: 40-59% — 3: ≥ 60%</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Validity of the references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Share of cited DOIs that resolve, measured with </a:t>
                      </a:r>
                      <a:r>
                        <a:rPr lang="en-US" sz="1050" dirty="0">
                          <a:solidFill>
                            <a:srgbClr val="E07A29"/>
                          </a:solidFill>
                          <a:latin typeface="Courier New" pitchFamily="34" charset="0"/>
                          <a:ea typeface="Courier New" pitchFamily="34" charset="-122"/>
                          <a:cs typeface="Courier New" pitchFamily="34" charset="-120"/>
                        </a:rPr>
                        <a:t>verif_doi.py</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&lt; 70% — 1: 70-89% — 2: 90-98% — 3: 99-100%</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3</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Faithfulness of claim ↔ source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Five claims drawn at random: does the cited source support the point?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0-1 of 5 — 1: 2 — 2: 3-4 — 3: 5 of 5</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4</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Transparency of the query</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Is the query actually executed displayed? correctable? re-runnable?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nothing — 1: vague summary — 2: displayed — 3: displayed and editable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4"/>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5</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Interoperability with Zotero</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RIS or BibTeX export then import: check five records, count the fields lost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no export — 1: degraded — 2: correct — 3: faithful</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6</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Confidentiality</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Where do the data go? Can I put an internship subject under an NDA into it?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0: incompatible — 1: unclear — 2: clear terms — 3: 100% local</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6"/>
                  </a:ext>
                </a:extLst>
              </a:tr>
            </a:tbl>
          </a:graphicData>
        </a:graphic>
      </p:graphicFrame>
      <p:sp>
        <p:nvSpPr>
          <p:cNvPr id="6" name="Text 3"/>
          <p:cNvSpPr/>
          <p:nvPr/>
        </p:nvSpPr>
        <p:spPr>
          <a:xfrm>
            <a:off x="566928" y="6108192"/>
            <a:ext cx="10143439" cy="365760"/>
          </a:xfrm>
          <a:prstGeom prst="rect">
            <a:avLst/>
          </a:prstGeom>
          <a:noFill/>
          <a:ln/>
        </p:spPr>
        <p:txBody>
          <a:bodyPr wrap="square" lIns="0" tIns="0" rIns="0" bIns="0" rtlCol="0" anchor="ctr"/>
          <a:lstStyle/>
          <a:p>
            <a:pPr marL="0" indent="0">
              <a:buNone/>
            </a:pPr>
            <a:r>
              <a:rPr lang="en-US" sz="1150" i="1" dirty="0">
                <a:solidFill>
                  <a:srgbClr val="5C6B73"/>
                </a:solidFill>
                <a:latin typeface="Calibri" pitchFamily="34" charset="0"/>
                <a:ea typeface="Calibri" pitchFamily="34" charset="-122"/>
                <a:cs typeface="Calibri" pitchFamily="34" charset="-120"/>
              </a:rPr>
              <a:t>The full ten-criterion grid is in Appendix B of the syllabus. The other four cover precision, coverage, reproducibility and cost.</a:t>
            </a:r>
            <a:endParaRPr lang="en-US" sz="1150" dirty="0"/>
          </a:p>
        </p:txBody>
      </p:sp>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4518-69CC-6670-04D2-EAE45AD9314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1C83CD5-9623-459A-BC48-EE0B2472F515}"/>
              </a:ext>
            </a:extLst>
          </p:cNvPr>
          <p:cNvSpPr txBox="1"/>
          <p:nvPr/>
        </p:nvSpPr>
        <p:spPr>
          <a:xfrm>
            <a:off x="1233115" y="2459504"/>
            <a:ext cx="5025223" cy="1938992"/>
          </a:xfrm>
          <a:prstGeom prst="rect">
            <a:avLst/>
          </a:prstGeom>
          <a:noFill/>
        </p:spPr>
        <p:txBody>
          <a:bodyPr wrap="none" rtlCol="0">
            <a:spAutoFit/>
          </a:bodyPr>
          <a:lstStyle/>
          <a:p>
            <a:pPr algn="ctr"/>
            <a:r>
              <a:rPr lang="fr-FR" sz="6000" dirty="0">
                <a:solidFill>
                  <a:srgbClr val="80276C"/>
                </a:solidFill>
              </a:rPr>
              <a:t>Do </a:t>
            </a:r>
            <a:r>
              <a:rPr lang="fr-FR" sz="6000" dirty="0" err="1">
                <a:solidFill>
                  <a:srgbClr val="80276C"/>
                </a:solidFill>
              </a:rPr>
              <a:t>you</a:t>
            </a:r>
            <a:r>
              <a:rPr lang="fr-FR" sz="6000" dirty="0">
                <a:solidFill>
                  <a:srgbClr val="80276C"/>
                </a:solidFill>
              </a:rPr>
              <a:t> have </a:t>
            </a:r>
          </a:p>
          <a:p>
            <a:pPr algn="ctr"/>
            <a:r>
              <a:rPr lang="fr-FR" sz="6000" dirty="0" err="1">
                <a:solidFill>
                  <a:srgbClr val="80276C"/>
                </a:solidFill>
              </a:rPr>
              <a:t>any</a:t>
            </a:r>
            <a:r>
              <a:rPr lang="fr-FR" sz="6000" dirty="0">
                <a:solidFill>
                  <a:srgbClr val="80276C"/>
                </a:solidFill>
              </a:rPr>
              <a:t> questions ?</a:t>
            </a:r>
          </a:p>
        </p:txBody>
      </p:sp>
    </p:spTree>
    <p:extLst>
      <p:ext uri="{BB962C8B-B14F-4D97-AF65-F5344CB8AC3E}">
        <p14:creationId xmlns:p14="http://schemas.microsoft.com/office/powerpoint/2010/main" val="2737359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3966820-FCF4-46BD-B834-521BA1217C7E}"/>
              </a:ext>
            </a:extLst>
          </p:cNvPr>
          <p:cNvSpPr txBox="1"/>
          <p:nvPr/>
        </p:nvSpPr>
        <p:spPr>
          <a:xfrm>
            <a:off x="158399" y="862152"/>
            <a:ext cx="2162263" cy="954107"/>
          </a:xfrm>
          <a:prstGeom prst="rect">
            <a:avLst/>
          </a:prstGeom>
          <a:solidFill>
            <a:schemeClr val="accent1"/>
          </a:solidFill>
        </p:spPr>
        <p:txBody>
          <a:bodyPr wrap="square" rtlCol="0">
            <a:spAutoFit/>
          </a:bodyPr>
          <a:lstStyle/>
          <a:p>
            <a:pPr algn="ctr"/>
            <a:r>
              <a:rPr lang="fr-FR" sz="2800" b="1" dirty="0" err="1">
                <a:solidFill>
                  <a:srgbClr val="FFC000"/>
                </a:solidFill>
                <a:latin typeface="Times New Roman" panose="02020603050405020304" pitchFamily="18" charset="0"/>
                <a:cs typeface="Times New Roman" panose="02020603050405020304" pitchFamily="18" charset="0"/>
              </a:rPr>
              <a:t>Databases</a:t>
            </a:r>
            <a:r>
              <a:rPr lang="fr-FR" sz="2800" b="1" dirty="0">
                <a:solidFill>
                  <a:srgbClr val="FFC000"/>
                </a:solidFill>
                <a:latin typeface="Times New Roman" panose="02020603050405020304" pitchFamily="18" charset="0"/>
                <a:cs typeface="Times New Roman" panose="02020603050405020304" pitchFamily="18" charset="0"/>
              </a:rPr>
              <a:t>, </a:t>
            </a:r>
          </a:p>
          <a:p>
            <a:pPr algn="ctr"/>
            <a:endParaRPr lang="fr-FR" sz="2800" b="1" dirty="0">
              <a:solidFill>
                <a:srgbClr val="FFC000"/>
              </a:solidFill>
              <a:latin typeface="Times New Roman" panose="02020603050405020304" pitchFamily="18" charset="0"/>
              <a:cs typeface="Times New Roman" panose="02020603050405020304" pitchFamily="18" charset="0"/>
            </a:endParaRPr>
          </a:p>
        </p:txBody>
      </p:sp>
      <p:graphicFrame>
        <p:nvGraphicFramePr>
          <p:cNvPr id="4" name="Tableau 3">
            <a:extLst>
              <a:ext uri="{FF2B5EF4-FFF2-40B4-BE49-F238E27FC236}">
                <a16:creationId xmlns:a16="http://schemas.microsoft.com/office/drawing/2014/main" id="{7A77E38F-9F09-4EEA-887F-79331A60EC31}"/>
              </a:ext>
            </a:extLst>
          </p:cNvPr>
          <p:cNvGraphicFramePr>
            <a:graphicFrameLocks noGrp="1"/>
          </p:cNvGraphicFramePr>
          <p:nvPr>
            <p:extLst>
              <p:ext uri="{D42A27DB-BD31-4B8C-83A1-F6EECF244321}">
                <p14:modId xmlns:p14="http://schemas.microsoft.com/office/powerpoint/2010/main" val="3595410281"/>
              </p:ext>
            </p:extLst>
          </p:nvPr>
        </p:nvGraphicFramePr>
        <p:xfrm>
          <a:off x="2487168" y="862152"/>
          <a:ext cx="9326454" cy="4236720"/>
        </p:xfrm>
        <a:graphic>
          <a:graphicData uri="http://schemas.openxmlformats.org/drawingml/2006/table">
            <a:tbl>
              <a:tblPr firstRow="1" bandRow="1">
                <a:tableStyleId>{00A15C55-8517-42AA-B614-E9B94910E393}</a:tableStyleId>
              </a:tblPr>
              <a:tblGrid>
                <a:gridCol w="9326454">
                  <a:extLst>
                    <a:ext uri="{9D8B030D-6E8A-4147-A177-3AD203B41FA5}">
                      <a16:colId xmlns:a16="http://schemas.microsoft.com/office/drawing/2014/main" val="953288486"/>
                    </a:ext>
                  </a:extLst>
                </a:gridCol>
              </a:tblGrid>
              <a:tr h="3867912">
                <a:tc>
                  <a:txBody>
                    <a:bodyPr/>
                    <a:lstStyle/>
                    <a:p>
                      <a:pPr marL="0" algn="just" defTabSz="914400" rtl="0" eaLnBrk="1" latinLnBrk="0" hangingPunct="1"/>
                      <a:r>
                        <a:rPr lang="fr-FR" sz="1600" b="1" u="sng" kern="1200" dirty="0" err="1">
                          <a:solidFill>
                            <a:srgbClr val="80276C"/>
                          </a:solidFill>
                          <a:latin typeface="Times New Roman" panose="02020603050405020304" pitchFamily="18" charset="0"/>
                          <a:ea typeface="+mn-ea"/>
                          <a:cs typeface="Times New Roman" panose="02020603050405020304" pitchFamily="18" charset="0"/>
                        </a:rPr>
                        <a:t>Scopus</a:t>
                      </a:r>
                      <a:r>
                        <a:rPr lang="fr-FR" sz="1600" b="1" u="sng" kern="1200" dirty="0">
                          <a:solidFill>
                            <a:srgbClr val="80276C"/>
                          </a:solidFill>
                          <a:latin typeface="Times New Roman" panose="02020603050405020304" pitchFamily="18" charset="0"/>
                          <a:ea typeface="+mn-ea"/>
                          <a:cs typeface="Times New Roman" panose="02020603050405020304" pitchFamily="18" charset="0"/>
                        </a:rPr>
                        <a:t> </a:t>
                      </a:r>
                    </a:p>
                    <a:p>
                      <a:pPr marL="0" algn="just" defTabSz="914400" rtl="0" eaLnBrk="1" latinLnBrk="0" hangingPunct="1"/>
                      <a:r>
                        <a:rPr lang="fr-FR" sz="1600" b="0" kern="1200" dirty="0">
                          <a:solidFill>
                            <a:srgbClr val="80276C"/>
                          </a:solidFill>
                          <a:latin typeface="Times New Roman" panose="02020603050405020304" pitchFamily="18" charset="0"/>
                          <a:ea typeface="+mn-ea"/>
                          <a:cs typeface="Times New Roman" panose="02020603050405020304" pitchFamily="18" charset="0"/>
                        </a:rPr>
                        <a:t> </a:t>
                      </a:r>
                    </a:p>
                    <a:p>
                      <a:pPr marL="0" algn="just" defTabSz="914400" rtl="0" eaLnBrk="1" latinLnBrk="0" hangingPunct="1"/>
                      <a:r>
                        <a:rPr lang="fr-FR" sz="1600" b="0" kern="1200" dirty="0" err="1">
                          <a:solidFill>
                            <a:srgbClr val="80276C"/>
                          </a:solidFill>
                          <a:latin typeface="Times New Roman" panose="02020603050405020304" pitchFamily="18" charset="0"/>
                          <a:ea typeface="+mn-ea"/>
                          <a:cs typeface="Times New Roman" panose="02020603050405020304" pitchFamily="18" charset="0"/>
                        </a:rPr>
                        <a:t>paid</a:t>
                      </a:r>
                      <a:r>
                        <a:rPr lang="fr-FR" sz="1600" b="0" kern="1200" dirty="0">
                          <a:solidFill>
                            <a:srgbClr val="80276C"/>
                          </a:solidFill>
                          <a:latin typeface="Times New Roman" panose="02020603050405020304" pitchFamily="18" charset="0"/>
                          <a:ea typeface="+mn-ea"/>
                          <a:cs typeface="Times New Roman" panose="02020603050405020304" pitchFamily="18" charset="0"/>
                        </a:rPr>
                        <a:t> international </a:t>
                      </a:r>
                      <a:r>
                        <a:rPr lang="fr-FR" sz="1600" b="0" kern="1200" dirty="0" err="1">
                          <a:solidFill>
                            <a:srgbClr val="80276C"/>
                          </a:solidFill>
                          <a:latin typeface="Times New Roman" panose="02020603050405020304" pitchFamily="18" charset="0"/>
                          <a:ea typeface="+mn-ea"/>
                          <a:cs typeface="Times New Roman" panose="02020603050405020304" pitchFamily="18" charset="0"/>
                        </a:rPr>
                        <a:t>database</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produced</a:t>
                      </a:r>
                      <a:r>
                        <a:rPr lang="fr-FR" sz="1600" b="0" kern="1200" dirty="0">
                          <a:solidFill>
                            <a:srgbClr val="80276C"/>
                          </a:solidFill>
                          <a:latin typeface="Times New Roman" panose="02020603050405020304" pitchFamily="18" charset="0"/>
                          <a:ea typeface="+mn-ea"/>
                          <a:cs typeface="Times New Roman" panose="02020603050405020304" pitchFamily="18" charset="0"/>
                        </a:rPr>
                        <a:t> by Elsevier as Science Direct, to </a:t>
                      </a:r>
                      <a:r>
                        <a:rPr lang="fr-FR" sz="1600" b="0" kern="1200" dirty="0" err="1">
                          <a:solidFill>
                            <a:srgbClr val="80276C"/>
                          </a:solidFill>
                          <a:latin typeface="Times New Roman" panose="02020603050405020304" pitchFamily="18" charset="0"/>
                          <a:ea typeface="+mn-ea"/>
                          <a:cs typeface="Times New Roman" panose="02020603050405020304" pitchFamily="18" charset="0"/>
                        </a:rPr>
                        <a:t>be</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queried</a:t>
                      </a:r>
                      <a:r>
                        <a:rPr lang="fr-FR" sz="1600" b="0" kern="1200" dirty="0">
                          <a:solidFill>
                            <a:srgbClr val="80276C"/>
                          </a:solidFill>
                          <a:latin typeface="Times New Roman" panose="02020603050405020304" pitchFamily="18" charset="0"/>
                          <a:ea typeface="+mn-ea"/>
                          <a:cs typeface="Times New Roman" panose="02020603050405020304" pitchFamily="18" charset="0"/>
                        </a:rPr>
                        <a:t> in English</a:t>
                      </a: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p>
                      <a:pPr marL="0" algn="just" defTabSz="914400" rtl="0" eaLnBrk="1" latinLnBrk="0" hangingPunct="1"/>
                      <a:r>
                        <a:rPr lang="fr-FR" sz="1600" b="0" kern="1200" dirty="0" err="1">
                          <a:solidFill>
                            <a:srgbClr val="80276C"/>
                          </a:solidFill>
                          <a:latin typeface="Times New Roman" panose="02020603050405020304" pitchFamily="18" charset="0"/>
                          <a:ea typeface="+mn-ea"/>
                          <a:cs typeface="Times New Roman" panose="02020603050405020304" pitchFamily="18" charset="0"/>
                        </a:rPr>
                        <a:t>Scopus</a:t>
                      </a:r>
                      <a:r>
                        <a:rPr lang="fr-FR" sz="1600" b="0" kern="1200" dirty="0">
                          <a:solidFill>
                            <a:srgbClr val="80276C"/>
                          </a:solidFill>
                          <a:latin typeface="Times New Roman" panose="02020603050405020304" pitchFamily="18" charset="0"/>
                          <a:ea typeface="+mn-ea"/>
                          <a:cs typeface="Times New Roman" panose="02020603050405020304" pitchFamily="18" charset="0"/>
                        </a:rPr>
                        <a:t> AI : </a:t>
                      </a:r>
                      <a:r>
                        <a:rPr lang="fr-FR" sz="1600" b="0" kern="1200" dirty="0" err="1">
                          <a:solidFill>
                            <a:srgbClr val="80276C"/>
                          </a:solidFill>
                          <a:latin typeface="Times New Roman" panose="02020603050405020304" pitchFamily="18" charset="0"/>
                          <a:ea typeface="+mn-ea"/>
                          <a:cs typeface="Times New Roman" panose="02020603050405020304" pitchFamily="18" charset="0"/>
                        </a:rPr>
                        <a:t>only</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Scopus</a:t>
                      </a:r>
                      <a:r>
                        <a:rPr lang="fr-FR" sz="1600" b="0" kern="1200" dirty="0">
                          <a:solidFill>
                            <a:srgbClr val="80276C"/>
                          </a:solidFill>
                          <a:latin typeface="Times New Roman" panose="02020603050405020304" pitchFamily="18" charset="0"/>
                          <a:ea typeface="+mn-ea"/>
                          <a:cs typeface="Times New Roman" panose="02020603050405020304" pitchFamily="18" charset="0"/>
                        </a:rPr>
                        <a:t> body</a:t>
                      </a:r>
                    </a:p>
                    <a:p>
                      <a:pPr marL="342900" indent="-342900">
                        <a:buFont typeface="Arial" panose="020B0604020202020204" pitchFamily="34" charset="0"/>
                        <a:buChar char="•"/>
                        <a:defRPr/>
                      </a:pPr>
                      <a:r>
                        <a:rPr lang="en-US" sz="1800" b="0" i="0" kern="1200" dirty="0">
                          <a:solidFill>
                            <a:schemeClr val="tx1"/>
                          </a:solidFill>
                          <a:effectLst/>
                          <a:latin typeface="+mn-lt"/>
                          <a:ea typeface="+mn-ea"/>
                          <a:cs typeface="+mn-cs"/>
                        </a:rPr>
                        <a:t>Multidisciplinary database created in 2004 by Elsevier</a:t>
                      </a:r>
                    </a:p>
                    <a:p>
                      <a:pPr marL="342900" indent="-342900">
                        <a:buFont typeface="Arial" panose="020B0604020202020204" pitchFamily="34" charset="0"/>
                        <a:buChar char="•"/>
                        <a:defRPr/>
                      </a:pPr>
                      <a:r>
                        <a:rPr lang="en-US" sz="1800" b="0" i="0" kern="1200" dirty="0">
                          <a:solidFill>
                            <a:schemeClr val="tx1"/>
                          </a:solidFill>
                          <a:effectLst/>
                          <a:latin typeface="+mn-lt"/>
                          <a:ea typeface="+mn-ea"/>
                          <a:cs typeface="+mn-cs"/>
                        </a:rPr>
                        <a:t>Research by subject: state of the art, full text if subscription</a:t>
                      </a:r>
                    </a:p>
                    <a:p>
                      <a:pPr marL="342900" indent="-342900">
                        <a:buFont typeface="Arial" panose="020B0604020202020204" pitchFamily="34" charset="0"/>
                        <a:buChar char="•"/>
                        <a:defRPr/>
                      </a:pPr>
                      <a:r>
                        <a:rPr lang="en-US" sz="1800" b="0" i="0" kern="1200" dirty="0">
                          <a:solidFill>
                            <a:schemeClr val="tx1"/>
                          </a:solidFill>
                          <a:effectLst/>
                          <a:latin typeface="+mn-lt"/>
                          <a:ea typeface="+mn-ea"/>
                          <a:cs typeface="+mn-cs"/>
                        </a:rPr>
                        <a:t>Evaluation: author, institution, journal</a:t>
                      </a:r>
                    </a:p>
                    <a:p>
                      <a:pPr marL="342900" indent="-342900">
                        <a:buFont typeface="Arial" panose="020B0604020202020204" pitchFamily="34" charset="0"/>
                        <a:buChar char="•"/>
                        <a:defRPr/>
                      </a:pPr>
                      <a:r>
                        <a:rPr lang="en-US" sz="1800" b="0" i="0" kern="1200" dirty="0">
                          <a:solidFill>
                            <a:schemeClr val="tx1"/>
                          </a:solidFill>
                          <a:effectLst/>
                          <a:latin typeface="+mn-lt"/>
                          <a:ea typeface="+mn-ea"/>
                          <a:cs typeface="+mn-cs"/>
                        </a:rPr>
                        <a:t>Citation analysis tools (since 1996)</a:t>
                      </a:r>
                    </a:p>
                    <a:p>
                      <a:pPr marL="342900" indent="-342900">
                        <a:buFont typeface="Arial" panose="020B0604020202020204" pitchFamily="34" charset="0"/>
                        <a:buChar char="•"/>
                        <a:defRPr/>
                      </a:pPr>
                      <a:endParaRPr lang="en-US" sz="1800" b="0" i="0" kern="1200" dirty="0">
                        <a:solidFill>
                          <a:schemeClr val="tx1"/>
                        </a:solidFill>
                        <a:effectLst/>
                        <a:latin typeface="+mn-lt"/>
                        <a:ea typeface="+mn-ea"/>
                        <a:cs typeface="+mn-cs"/>
                      </a:endParaRPr>
                    </a:p>
                    <a:p>
                      <a:pPr marL="342900" indent="-342900">
                        <a:buFont typeface="Arial" panose="020B0604020202020204" pitchFamily="34" charset="0"/>
                        <a:buChar char="•"/>
                        <a:defRPr/>
                      </a:pPr>
                      <a:r>
                        <a:rPr lang="en-US" sz="1800" b="0" i="0" kern="1200" dirty="0">
                          <a:solidFill>
                            <a:schemeClr val="tx1"/>
                          </a:solidFill>
                          <a:effectLst/>
                          <a:latin typeface="+mn-lt"/>
                          <a:ea typeface="+mn-ea"/>
                          <a:cs typeface="+mn-cs"/>
                        </a:rPr>
                        <a:t>Over 60 million references, from 21,500 journals + book series, conferences</a:t>
                      </a:r>
                      <a:br>
                        <a:rPr lang="en-US" sz="1800" b="0" i="0" kern="1200" dirty="0">
                          <a:solidFill>
                            <a:schemeClr val="tx1"/>
                          </a:solidFill>
                          <a:effectLst/>
                          <a:latin typeface="+mn-lt"/>
                          <a:ea typeface="+mn-ea"/>
                          <a:cs typeface="+mn-cs"/>
                        </a:rPr>
                      </a:br>
                      <a:r>
                        <a:rPr lang="en-US" sz="1800" b="0" i="0" kern="1200" dirty="0">
                          <a:solidFill>
                            <a:schemeClr val="tx1"/>
                          </a:solidFill>
                          <a:effectLst/>
                          <a:latin typeface="+mn-lt"/>
                          <a:ea typeface="+mn-ea"/>
                          <a:cs typeface="+mn-cs"/>
                        </a:rPr>
                        <a:t>375 million scientific web pages (</a:t>
                      </a:r>
                      <a:r>
                        <a:rPr lang="en-US" sz="1800" b="0" i="0" kern="1200" dirty="0" err="1">
                          <a:solidFill>
                            <a:schemeClr val="tx1"/>
                          </a:solidFill>
                          <a:effectLst/>
                          <a:latin typeface="+mn-lt"/>
                          <a:ea typeface="+mn-ea"/>
                          <a:cs typeface="+mn-cs"/>
                        </a:rPr>
                        <a:t>Scirus</a:t>
                      </a:r>
                      <a:r>
                        <a:rPr lang="en-US" sz="1800" b="0" i="0" kern="1200" dirty="0">
                          <a:solidFill>
                            <a:schemeClr val="tx1"/>
                          </a:solidFill>
                          <a:effectLst/>
                          <a:latin typeface="+mn-lt"/>
                          <a:ea typeface="+mn-ea"/>
                          <a:cs typeface="+mn-cs"/>
                        </a:rPr>
                        <a:t>)</a:t>
                      </a:r>
                      <a:br>
                        <a:rPr lang="en-US" sz="1800" b="0" i="0" kern="1200" dirty="0">
                          <a:solidFill>
                            <a:schemeClr val="tx1"/>
                          </a:solidFill>
                          <a:effectLst/>
                          <a:latin typeface="+mn-lt"/>
                          <a:ea typeface="+mn-ea"/>
                          <a:cs typeface="+mn-cs"/>
                        </a:rPr>
                      </a:br>
                      <a:r>
                        <a:rPr lang="en-US" sz="1800" b="0" i="0" kern="1200" dirty="0">
                          <a:solidFill>
                            <a:schemeClr val="tx1"/>
                          </a:solidFill>
                          <a:effectLst/>
                          <a:latin typeface="+mn-lt"/>
                          <a:ea typeface="+mn-ea"/>
                          <a:cs typeface="+mn-cs"/>
                        </a:rPr>
                        <a:t>24.8 million patents</a:t>
                      </a:r>
                      <a:endParaRPr lang="fr-FR" sz="1600" dirty="0">
                        <a:solidFill>
                          <a:schemeClr val="tx1"/>
                        </a:solidFill>
                        <a:latin typeface="Arial"/>
                      </a:endParaRPr>
                    </a:p>
                    <a:p>
                      <a:pPr marL="342900" indent="-342900">
                        <a:buFont typeface="Arial" panose="020B0604020202020204" pitchFamily="34" charset="0"/>
                        <a:buChar char="•"/>
                        <a:defRPr/>
                      </a:pPr>
                      <a:endParaRPr lang="fr-FR" sz="1600" dirty="0">
                        <a:solidFill>
                          <a:sysClr val="window" lastClr="FFFFFF"/>
                        </a:solidFill>
                        <a:highlight>
                          <a:srgbClr val="FFFF00"/>
                        </a:highlight>
                        <a:latin typeface="Arial"/>
                      </a:endParaRP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solidFill>
                      <a:srgbClr val="FFE8CB"/>
                    </a:solidFill>
                  </a:tcPr>
                </a:tc>
                <a:extLst>
                  <a:ext uri="{0D108BD9-81ED-4DB2-BD59-A6C34878D82A}">
                    <a16:rowId xmlns:a16="http://schemas.microsoft.com/office/drawing/2014/main" val="3980541042"/>
                  </a:ext>
                </a:extLst>
              </a:tr>
            </a:tbl>
          </a:graphicData>
        </a:graphic>
      </p:graphicFrame>
      <p:sp>
        <p:nvSpPr>
          <p:cNvPr id="5" name="ZoneTexte 4">
            <a:extLst>
              <a:ext uri="{FF2B5EF4-FFF2-40B4-BE49-F238E27FC236}">
                <a16:creationId xmlns:a16="http://schemas.microsoft.com/office/drawing/2014/main" id="{4DE5D873-567D-4B9B-AF0B-81EC0907ABFE}"/>
              </a:ext>
            </a:extLst>
          </p:cNvPr>
          <p:cNvSpPr txBox="1"/>
          <p:nvPr/>
        </p:nvSpPr>
        <p:spPr>
          <a:xfrm>
            <a:off x="2587752" y="5514931"/>
            <a:ext cx="8604504" cy="954107"/>
          </a:xfrm>
          <a:prstGeom prst="rect">
            <a:avLst/>
          </a:prstGeom>
          <a:noFill/>
        </p:spPr>
        <p:txBody>
          <a:bodyPr wrap="square" rtlCol="0">
            <a:spAutoFit/>
          </a:bodyPr>
          <a:lstStyle/>
          <a:p>
            <a:pPr algn="just"/>
            <a:r>
              <a:rPr lang="fr-FR" sz="2800" dirty="0">
                <a:hlinkClick r:id="rId2"/>
              </a:rPr>
              <a:t>Doc CAFE _12 - </a:t>
            </a:r>
            <a:r>
              <a:rPr lang="fr-FR" sz="2800" dirty="0" err="1">
                <a:hlinkClick r:id="rId2"/>
              </a:rPr>
              <a:t>Scopus</a:t>
            </a:r>
            <a:r>
              <a:rPr lang="fr-FR" sz="2800" dirty="0">
                <a:hlinkClick r:id="rId2"/>
              </a:rPr>
              <a:t> _ outils de recherche et analyse de vos publications.mp4</a:t>
            </a:r>
            <a:endParaRPr lang="fr-FR" sz="2800" b="1" baseline="3000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52127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B3217-0D12-2B51-4EEC-1E3A1CBB3992}"/>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ABD15B4D-425E-1C3A-C519-FC4C4DEEA0FE}"/>
              </a:ext>
            </a:extLst>
          </p:cNvPr>
          <p:cNvSpPr txBox="1"/>
          <p:nvPr/>
        </p:nvSpPr>
        <p:spPr>
          <a:xfrm>
            <a:off x="158399" y="862152"/>
            <a:ext cx="2162263" cy="954107"/>
          </a:xfrm>
          <a:prstGeom prst="rect">
            <a:avLst/>
          </a:prstGeom>
          <a:solidFill>
            <a:schemeClr val="accent1"/>
          </a:solidFill>
        </p:spPr>
        <p:txBody>
          <a:bodyPr wrap="square" rtlCol="0">
            <a:spAutoFit/>
          </a:bodyPr>
          <a:lstStyle/>
          <a:p>
            <a:pPr algn="ctr"/>
            <a:r>
              <a:rPr lang="fr-FR" sz="2800" b="1" dirty="0" err="1">
                <a:solidFill>
                  <a:srgbClr val="FFC000"/>
                </a:solidFill>
                <a:latin typeface="Times New Roman" panose="02020603050405020304" pitchFamily="18" charset="0"/>
                <a:cs typeface="Times New Roman" panose="02020603050405020304" pitchFamily="18" charset="0"/>
              </a:rPr>
              <a:t>Databases</a:t>
            </a:r>
            <a:endParaRPr lang="fr-FR" sz="2800" b="1" dirty="0">
              <a:solidFill>
                <a:srgbClr val="FFC000"/>
              </a:solidFill>
              <a:latin typeface="Times New Roman" panose="02020603050405020304" pitchFamily="18" charset="0"/>
              <a:cs typeface="Times New Roman" panose="02020603050405020304" pitchFamily="18" charset="0"/>
            </a:endParaRPr>
          </a:p>
          <a:p>
            <a:pPr algn="ctr"/>
            <a:endParaRPr lang="fr-FR" sz="2800" b="1" dirty="0">
              <a:solidFill>
                <a:srgbClr val="FFC000"/>
              </a:solidFill>
              <a:latin typeface="Times New Roman" panose="02020603050405020304" pitchFamily="18" charset="0"/>
              <a:cs typeface="Times New Roman" panose="02020603050405020304" pitchFamily="18" charset="0"/>
            </a:endParaRPr>
          </a:p>
        </p:txBody>
      </p:sp>
      <p:graphicFrame>
        <p:nvGraphicFramePr>
          <p:cNvPr id="4" name="Tableau 3">
            <a:extLst>
              <a:ext uri="{FF2B5EF4-FFF2-40B4-BE49-F238E27FC236}">
                <a16:creationId xmlns:a16="http://schemas.microsoft.com/office/drawing/2014/main" id="{13AD4685-8367-353B-96CA-B49C6BAB6282}"/>
              </a:ext>
            </a:extLst>
          </p:cNvPr>
          <p:cNvGraphicFramePr>
            <a:graphicFrameLocks noGrp="1"/>
          </p:cNvGraphicFramePr>
          <p:nvPr>
            <p:extLst>
              <p:ext uri="{D42A27DB-BD31-4B8C-83A1-F6EECF244321}">
                <p14:modId xmlns:p14="http://schemas.microsoft.com/office/powerpoint/2010/main" val="2441952243"/>
              </p:ext>
            </p:extLst>
          </p:nvPr>
        </p:nvGraphicFramePr>
        <p:xfrm>
          <a:off x="2472300" y="928827"/>
          <a:ext cx="9137097" cy="3867912"/>
        </p:xfrm>
        <a:graphic>
          <a:graphicData uri="http://schemas.openxmlformats.org/drawingml/2006/table">
            <a:tbl>
              <a:tblPr firstRow="1" bandRow="1">
                <a:tableStyleId>{00A15C55-8517-42AA-B614-E9B94910E393}</a:tableStyleId>
              </a:tblPr>
              <a:tblGrid>
                <a:gridCol w="9137097">
                  <a:extLst>
                    <a:ext uri="{9D8B030D-6E8A-4147-A177-3AD203B41FA5}">
                      <a16:colId xmlns:a16="http://schemas.microsoft.com/office/drawing/2014/main" val="953288486"/>
                    </a:ext>
                  </a:extLst>
                </a:gridCol>
              </a:tblGrid>
              <a:tr h="3867912">
                <a:tc>
                  <a:txBody>
                    <a:bodyPr/>
                    <a:lstStyle/>
                    <a:p>
                      <a:pPr marL="0" algn="just" defTabSz="914400" rtl="0" eaLnBrk="1" latinLnBrk="0" hangingPunct="1"/>
                      <a:r>
                        <a:rPr lang="fr-FR" sz="1600" b="1" u="sng" kern="1200" dirty="0">
                          <a:solidFill>
                            <a:srgbClr val="80276C"/>
                          </a:solidFill>
                          <a:latin typeface="Times New Roman" panose="02020603050405020304" pitchFamily="18" charset="0"/>
                          <a:ea typeface="+mn-ea"/>
                          <a:cs typeface="Times New Roman" panose="02020603050405020304" pitchFamily="18" charset="0"/>
                        </a:rPr>
                        <a:t>Sciences Direct </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kern="1200" dirty="0">
                          <a:solidFill>
                            <a:srgbClr val="80276C"/>
                          </a:solidFill>
                          <a:latin typeface="Times New Roman" panose="02020603050405020304" pitchFamily="18" charset="0"/>
                          <a:ea typeface="+mn-ea"/>
                          <a:cs typeface="Times New Roman" panose="02020603050405020304" pitchFamily="18" charset="0"/>
                        </a:rPr>
                        <a:t> </a:t>
                      </a:r>
                    </a:p>
                  </a:txBody>
                  <a:tcPr>
                    <a:solidFill>
                      <a:srgbClr val="FFE8CB"/>
                    </a:solidFill>
                  </a:tcPr>
                </a:tc>
                <a:extLst>
                  <a:ext uri="{0D108BD9-81ED-4DB2-BD59-A6C34878D82A}">
                    <a16:rowId xmlns:a16="http://schemas.microsoft.com/office/drawing/2014/main" val="3980541042"/>
                  </a:ext>
                </a:extLst>
              </a:tr>
            </a:tbl>
          </a:graphicData>
        </a:graphic>
      </p:graphicFrame>
      <p:sp>
        <p:nvSpPr>
          <p:cNvPr id="5" name="ZoneTexte 4">
            <a:extLst>
              <a:ext uri="{FF2B5EF4-FFF2-40B4-BE49-F238E27FC236}">
                <a16:creationId xmlns:a16="http://schemas.microsoft.com/office/drawing/2014/main" id="{EFE44E87-A68B-14E4-F155-E91027006199}"/>
              </a:ext>
            </a:extLst>
          </p:cNvPr>
          <p:cNvSpPr txBox="1"/>
          <p:nvPr/>
        </p:nvSpPr>
        <p:spPr>
          <a:xfrm>
            <a:off x="2725102" y="1662454"/>
            <a:ext cx="7913135" cy="1754326"/>
          </a:xfrm>
          <a:prstGeom prst="rect">
            <a:avLst/>
          </a:prstGeom>
          <a:noFill/>
        </p:spPr>
        <p:txBody>
          <a:bodyPr wrap="square">
            <a:spAutoFit/>
          </a:bodyPr>
          <a:lstStyle/>
          <a:p>
            <a:r>
              <a:rPr lang="fr-FR" sz="1800" b="0" i="0" dirty="0">
                <a:solidFill>
                  <a:schemeClr val="tx1"/>
                </a:solidFill>
                <a:effectLst/>
                <a:latin typeface="+mn-lt"/>
              </a:rPr>
              <a:t>« From </a:t>
            </a:r>
            <a:r>
              <a:rPr lang="fr-FR" sz="1800" b="0" i="0" dirty="0" err="1">
                <a:solidFill>
                  <a:schemeClr val="tx1"/>
                </a:solidFill>
                <a:effectLst/>
                <a:latin typeface="+mn-lt"/>
              </a:rPr>
              <a:t>foundational</a:t>
            </a:r>
            <a:r>
              <a:rPr lang="fr-FR" sz="1800" b="0" i="0" dirty="0">
                <a:solidFill>
                  <a:schemeClr val="tx1"/>
                </a:solidFill>
                <a:effectLst/>
                <a:latin typeface="+mn-lt"/>
              </a:rPr>
              <a:t> science to new and </a:t>
            </a:r>
            <a:r>
              <a:rPr lang="fr-FR" sz="1800" b="0" i="0" dirty="0" err="1">
                <a:solidFill>
                  <a:schemeClr val="tx1"/>
                </a:solidFill>
                <a:effectLst/>
                <a:latin typeface="+mn-lt"/>
              </a:rPr>
              <a:t>novel</a:t>
            </a:r>
            <a:r>
              <a:rPr lang="fr-FR" sz="1800" b="0" i="0" dirty="0">
                <a:solidFill>
                  <a:schemeClr val="tx1"/>
                </a:solidFill>
                <a:effectLst/>
                <a:latin typeface="+mn-lt"/>
              </a:rPr>
              <a:t> </a:t>
            </a:r>
            <a:r>
              <a:rPr lang="fr-FR" sz="1800" b="0" i="0" dirty="0" err="1">
                <a:solidFill>
                  <a:schemeClr val="tx1"/>
                </a:solidFill>
                <a:effectLst/>
                <a:latin typeface="+mn-lt"/>
              </a:rPr>
              <a:t>research</a:t>
            </a:r>
            <a:r>
              <a:rPr lang="fr-FR" sz="1800" b="0" i="0" dirty="0">
                <a:solidFill>
                  <a:schemeClr val="tx1"/>
                </a:solidFill>
                <a:effectLst/>
                <a:latin typeface="+mn-lt"/>
              </a:rPr>
              <a:t>, </a:t>
            </a:r>
            <a:r>
              <a:rPr lang="fr-FR" sz="1800" b="0" i="0" dirty="0" err="1">
                <a:solidFill>
                  <a:schemeClr val="tx1"/>
                </a:solidFill>
                <a:effectLst/>
                <a:latin typeface="+mn-lt"/>
              </a:rPr>
              <a:t>discover</a:t>
            </a:r>
            <a:r>
              <a:rPr lang="fr-FR" sz="1800" b="0" i="0" dirty="0">
                <a:solidFill>
                  <a:schemeClr val="tx1"/>
                </a:solidFill>
                <a:effectLst/>
                <a:latin typeface="+mn-lt"/>
              </a:rPr>
              <a:t> </a:t>
            </a:r>
            <a:r>
              <a:rPr lang="fr-FR" sz="1800" b="0" i="0" dirty="0" err="1">
                <a:solidFill>
                  <a:schemeClr val="tx1"/>
                </a:solidFill>
                <a:effectLst/>
                <a:latin typeface="+mn-lt"/>
              </a:rPr>
              <a:t>our</a:t>
            </a:r>
            <a:r>
              <a:rPr lang="fr-FR" sz="1800" b="0" i="0" dirty="0">
                <a:solidFill>
                  <a:schemeClr val="tx1"/>
                </a:solidFill>
                <a:effectLst/>
                <a:latin typeface="+mn-lt"/>
              </a:rPr>
              <a:t> large collection of Physical Sciences and Engineering publications, </a:t>
            </a:r>
            <a:r>
              <a:rPr lang="fr-FR" sz="1800" b="0" i="0" dirty="0" err="1">
                <a:solidFill>
                  <a:schemeClr val="tx1"/>
                </a:solidFill>
                <a:effectLst/>
                <a:latin typeface="+mn-lt"/>
              </a:rPr>
              <a:t>covering</a:t>
            </a:r>
            <a:r>
              <a:rPr lang="fr-FR" sz="1800" b="0" i="0" dirty="0">
                <a:solidFill>
                  <a:schemeClr val="tx1"/>
                </a:solidFill>
                <a:effectLst/>
                <a:latin typeface="+mn-lt"/>
              </a:rPr>
              <a:t> a range of disciplines, </a:t>
            </a:r>
            <a:r>
              <a:rPr lang="fr-FR" sz="1800" b="0" i="0" dirty="0" err="1">
                <a:solidFill>
                  <a:schemeClr val="tx1"/>
                </a:solidFill>
                <a:effectLst/>
                <a:latin typeface="+mn-lt"/>
              </a:rPr>
              <a:t>from</a:t>
            </a:r>
            <a:r>
              <a:rPr lang="fr-FR" sz="1800" b="0" i="0" dirty="0">
                <a:solidFill>
                  <a:schemeClr val="tx1"/>
                </a:solidFill>
                <a:effectLst/>
                <a:latin typeface="+mn-lt"/>
              </a:rPr>
              <a:t> the </a:t>
            </a:r>
            <a:r>
              <a:rPr lang="fr-FR" sz="1800" b="0" i="0" dirty="0" err="1">
                <a:solidFill>
                  <a:schemeClr val="tx1"/>
                </a:solidFill>
                <a:effectLst/>
                <a:latin typeface="+mn-lt"/>
              </a:rPr>
              <a:t>theoretical</a:t>
            </a:r>
            <a:r>
              <a:rPr lang="fr-FR" sz="1800" b="0" i="0" dirty="0">
                <a:solidFill>
                  <a:schemeClr val="tx1"/>
                </a:solidFill>
                <a:effectLst/>
                <a:latin typeface="+mn-lt"/>
              </a:rPr>
              <a:t> to the </a:t>
            </a:r>
            <a:r>
              <a:rPr lang="fr-FR" sz="1800" b="0" i="0" dirty="0" err="1">
                <a:solidFill>
                  <a:schemeClr val="tx1"/>
                </a:solidFill>
                <a:effectLst/>
                <a:latin typeface="+mn-lt"/>
              </a:rPr>
              <a:t>applied</a:t>
            </a:r>
            <a:r>
              <a:rPr lang="fr-FR" sz="1800" b="0" i="0" dirty="0">
                <a:solidFill>
                  <a:schemeClr val="tx1"/>
                </a:solidFill>
                <a:effectLst/>
                <a:latin typeface="+mn-lt"/>
              </a:rPr>
              <a:t>. » </a:t>
            </a:r>
            <a:br>
              <a:rPr lang="fr-FR" sz="1800" b="0" i="0" dirty="0">
                <a:solidFill>
                  <a:schemeClr val="tx1"/>
                </a:solidFill>
                <a:effectLst/>
                <a:latin typeface="+mn-lt"/>
              </a:rPr>
            </a:br>
            <a:br>
              <a:rPr lang="fr-FR" sz="1800" b="0" i="0" dirty="0">
                <a:solidFill>
                  <a:schemeClr val="tx1"/>
                </a:solidFill>
                <a:effectLst/>
                <a:latin typeface="+mn-lt"/>
              </a:rPr>
            </a:br>
            <a:r>
              <a:rPr lang="fr-FR" dirty="0"/>
              <a:t>ScienceDirect.com </a:t>
            </a:r>
            <a:br>
              <a:rPr lang="fr-FR" dirty="0"/>
            </a:br>
            <a:r>
              <a:rPr lang="fr-FR" dirty="0">
                <a:solidFill>
                  <a:srgbClr val="80276C"/>
                </a:solidFill>
                <a:latin typeface="Times New Roman" panose="02020603050405020304" pitchFamily="18" charset="0"/>
                <a:cs typeface="Times New Roman" panose="02020603050405020304" pitchFamily="18" charset="0"/>
              </a:rPr>
              <a:t>https://www-sciencedirect-com.rp1.ensam.eu/</a:t>
            </a:r>
            <a:endParaRPr lang="fr-FR" dirty="0"/>
          </a:p>
        </p:txBody>
      </p:sp>
    </p:spTree>
    <p:extLst>
      <p:ext uri="{BB962C8B-B14F-4D97-AF65-F5344CB8AC3E}">
        <p14:creationId xmlns:p14="http://schemas.microsoft.com/office/powerpoint/2010/main" val="3021997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3966820-FCF4-46BD-B834-521BA1217C7E}"/>
              </a:ext>
            </a:extLst>
          </p:cNvPr>
          <p:cNvSpPr txBox="1"/>
          <p:nvPr/>
        </p:nvSpPr>
        <p:spPr>
          <a:xfrm>
            <a:off x="740735" y="1740196"/>
            <a:ext cx="2162263" cy="3108543"/>
          </a:xfrm>
          <a:prstGeom prst="rect">
            <a:avLst/>
          </a:prstGeom>
          <a:solidFill>
            <a:schemeClr val="accent1"/>
          </a:solidFill>
        </p:spPr>
        <p:txBody>
          <a:bodyPr wrap="square" rtlCol="0">
            <a:spAutoFit/>
          </a:bodyPr>
          <a:lstStyle/>
          <a:p>
            <a:pPr algn="ctr"/>
            <a:r>
              <a:rPr lang="fr-FR" sz="2800" b="1" dirty="0" err="1">
                <a:solidFill>
                  <a:srgbClr val="FFC000"/>
                </a:solidFill>
                <a:latin typeface="Times New Roman" panose="02020603050405020304" pitchFamily="18" charset="0"/>
                <a:cs typeface="Times New Roman" panose="02020603050405020304" pitchFamily="18" charset="0"/>
              </a:rPr>
              <a:t>Databases</a:t>
            </a:r>
            <a:r>
              <a:rPr lang="fr-FR" sz="2800" b="1" dirty="0">
                <a:solidFill>
                  <a:srgbClr val="FFC000"/>
                </a:solidFill>
                <a:latin typeface="Times New Roman" panose="02020603050405020304" pitchFamily="18" charset="0"/>
                <a:cs typeface="Times New Roman" panose="02020603050405020304" pitchFamily="18" charset="0"/>
              </a:rPr>
              <a:t>, </a:t>
            </a:r>
          </a:p>
          <a:p>
            <a:pPr algn="ctr"/>
            <a:endParaRPr lang="fr-FR" sz="2800" b="1" dirty="0">
              <a:solidFill>
                <a:srgbClr val="FFC000"/>
              </a:solidFill>
              <a:latin typeface="Times New Roman" panose="02020603050405020304" pitchFamily="18" charset="0"/>
              <a:cs typeface="Times New Roman" panose="02020603050405020304" pitchFamily="18" charset="0"/>
            </a:endParaRPr>
          </a:p>
          <a:p>
            <a:pPr algn="ctr"/>
            <a:r>
              <a:rPr lang="fr-FR" sz="2800" b="1" dirty="0" err="1">
                <a:solidFill>
                  <a:srgbClr val="FFC000"/>
                </a:solidFill>
                <a:latin typeface="Times New Roman" panose="02020603050405020304" pitchFamily="18" charset="0"/>
                <a:cs typeface="Times New Roman" panose="02020603050405020304" pitchFamily="18" charset="0"/>
              </a:rPr>
              <a:t>Search</a:t>
            </a:r>
            <a:r>
              <a:rPr lang="fr-FR" sz="2800" b="1" dirty="0">
                <a:solidFill>
                  <a:srgbClr val="FFC000"/>
                </a:solidFill>
                <a:latin typeface="Times New Roman" panose="02020603050405020304" pitchFamily="18" charset="0"/>
                <a:cs typeface="Times New Roman" panose="02020603050405020304" pitchFamily="18" charset="0"/>
              </a:rPr>
              <a:t> engines</a:t>
            </a:r>
          </a:p>
          <a:p>
            <a:pPr algn="ctr"/>
            <a:endParaRPr lang="fr-FR" sz="2800" b="1" dirty="0">
              <a:solidFill>
                <a:srgbClr val="FFC000"/>
              </a:solidFill>
              <a:latin typeface="Times New Roman" panose="02020603050405020304" pitchFamily="18" charset="0"/>
              <a:cs typeface="Times New Roman" panose="02020603050405020304" pitchFamily="18" charset="0"/>
            </a:endParaRPr>
          </a:p>
          <a:p>
            <a:pPr algn="ctr"/>
            <a:r>
              <a:rPr lang="fr-FR" sz="2800" b="1" dirty="0">
                <a:solidFill>
                  <a:srgbClr val="FFC000"/>
                </a:solidFill>
                <a:latin typeface="Times New Roman" panose="02020603050405020304" pitchFamily="18" charset="0"/>
                <a:cs typeface="Times New Roman" panose="02020603050405020304" pitchFamily="18" charset="0"/>
              </a:rPr>
              <a:t>And </a:t>
            </a:r>
            <a:r>
              <a:rPr lang="fr-FR" sz="2800" b="1" dirty="0" err="1">
                <a:solidFill>
                  <a:srgbClr val="FFC000"/>
                </a:solidFill>
                <a:latin typeface="Times New Roman" panose="02020603050405020304" pitchFamily="18" charset="0"/>
                <a:cs typeface="Times New Roman" panose="02020603050405020304" pitchFamily="18" charset="0"/>
              </a:rPr>
              <a:t>other</a:t>
            </a:r>
            <a:r>
              <a:rPr lang="fr-FR" sz="2800" b="1" dirty="0">
                <a:solidFill>
                  <a:srgbClr val="FFC000"/>
                </a:solidFill>
                <a:latin typeface="Times New Roman" panose="02020603050405020304" pitchFamily="18" charset="0"/>
                <a:cs typeface="Times New Roman" panose="02020603050405020304" pitchFamily="18" charset="0"/>
              </a:rPr>
              <a:t> </a:t>
            </a:r>
            <a:r>
              <a:rPr lang="fr-FR" sz="2800" b="1" dirty="0" err="1">
                <a:solidFill>
                  <a:srgbClr val="FFC000"/>
                </a:solidFill>
                <a:latin typeface="Times New Roman" panose="02020603050405020304" pitchFamily="18" charset="0"/>
                <a:cs typeface="Times New Roman" panose="02020603050405020304" pitchFamily="18" charset="0"/>
              </a:rPr>
              <a:t>tools</a:t>
            </a:r>
            <a:endParaRPr lang="fr-FR" sz="2800" b="1" dirty="0">
              <a:solidFill>
                <a:srgbClr val="FFC000"/>
              </a:solidFill>
              <a:latin typeface="Times New Roman" panose="02020603050405020304" pitchFamily="18" charset="0"/>
              <a:cs typeface="Times New Roman" panose="02020603050405020304" pitchFamily="18" charset="0"/>
            </a:endParaRPr>
          </a:p>
        </p:txBody>
      </p:sp>
      <p:graphicFrame>
        <p:nvGraphicFramePr>
          <p:cNvPr id="4" name="Tableau 3">
            <a:extLst>
              <a:ext uri="{FF2B5EF4-FFF2-40B4-BE49-F238E27FC236}">
                <a16:creationId xmlns:a16="http://schemas.microsoft.com/office/drawing/2014/main" id="{7A77E38F-9F09-4EEA-887F-79331A60EC31}"/>
              </a:ext>
            </a:extLst>
          </p:cNvPr>
          <p:cNvGraphicFramePr>
            <a:graphicFrameLocks noGrp="1"/>
          </p:cNvGraphicFramePr>
          <p:nvPr>
            <p:extLst>
              <p:ext uri="{D42A27DB-BD31-4B8C-83A1-F6EECF244321}">
                <p14:modId xmlns:p14="http://schemas.microsoft.com/office/powerpoint/2010/main" val="2901459989"/>
              </p:ext>
            </p:extLst>
          </p:nvPr>
        </p:nvGraphicFramePr>
        <p:xfrm>
          <a:off x="3563821" y="427353"/>
          <a:ext cx="7887444" cy="5803608"/>
        </p:xfrm>
        <a:graphic>
          <a:graphicData uri="http://schemas.openxmlformats.org/drawingml/2006/table">
            <a:tbl>
              <a:tblPr firstRow="1" bandRow="1">
                <a:tableStyleId>{00A15C55-8517-42AA-B614-E9B94910E393}</a:tableStyleId>
              </a:tblPr>
              <a:tblGrid>
                <a:gridCol w="4872082">
                  <a:extLst>
                    <a:ext uri="{9D8B030D-6E8A-4147-A177-3AD203B41FA5}">
                      <a16:colId xmlns:a16="http://schemas.microsoft.com/office/drawing/2014/main" val="953288486"/>
                    </a:ext>
                  </a:extLst>
                </a:gridCol>
                <a:gridCol w="3015362">
                  <a:extLst>
                    <a:ext uri="{9D8B030D-6E8A-4147-A177-3AD203B41FA5}">
                      <a16:colId xmlns:a16="http://schemas.microsoft.com/office/drawing/2014/main" val="3831267225"/>
                    </a:ext>
                  </a:extLst>
                </a:gridCol>
              </a:tblGrid>
              <a:tr h="1736499">
                <a:tc gridSpan="2">
                  <a:txBody>
                    <a:bodyPr/>
                    <a:lstStyle/>
                    <a:p>
                      <a:pPr marL="0" algn="just" defTabSz="914400" rtl="0" eaLnBrk="1" latinLnBrk="0" hangingPunct="1"/>
                      <a:br>
                        <a:rPr lang="fr-FR" sz="1600" b="0" kern="1200" dirty="0">
                          <a:solidFill>
                            <a:srgbClr val="80276C"/>
                          </a:solidFill>
                          <a:latin typeface="Times New Roman" panose="02020603050405020304" pitchFamily="18" charset="0"/>
                          <a:ea typeface="+mn-ea"/>
                          <a:cs typeface="Times New Roman" panose="02020603050405020304" pitchFamily="18" charset="0"/>
                        </a:rPr>
                      </a:br>
                      <a:r>
                        <a:rPr lang="fr-FR" sz="1600" b="1" u="sng" kern="1200" dirty="0">
                          <a:solidFill>
                            <a:srgbClr val="80276C"/>
                          </a:solidFill>
                          <a:latin typeface="Times New Roman" panose="02020603050405020304" pitchFamily="18" charset="0"/>
                          <a:cs typeface="Times New Roman" panose="02020603050405020304" pitchFamily="18" charset="0"/>
                        </a:rPr>
                        <a:t>Google Scholar </a:t>
                      </a:r>
                    </a:p>
                    <a:p>
                      <a:pPr marL="0" algn="just" defTabSz="914400" rtl="0" eaLnBrk="1" latinLnBrk="0" hangingPunct="1"/>
                      <a:endParaRPr lang="fr-FR" sz="1600" b="0" kern="1200" dirty="0">
                        <a:solidFill>
                          <a:srgbClr val="80276C"/>
                        </a:solidFill>
                        <a:latin typeface="Times New Roman" panose="02020603050405020304" pitchFamily="18" charset="0"/>
                        <a:cs typeface="Times New Roman" panose="02020603050405020304" pitchFamily="18" charset="0"/>
                      </a:endParaRPr>
                    </a:p>
                    <a:p>
                      <a:pPr marL="0" algn="just" defTabSz="914400" rtl="0" eaLnBrk="1" latinLnBrk="0" hangingPunct="1"/>
                      <a:r>
                        <a:rPr lang="fr-FR" sz="1600" b="0" kern="1200" dirty="0">
                          <a:solidFill>
                            <a:srgbClr val="80276C"/>
                          </a:solidFill>
                          <a:latin typeface="Times New Roman" panose="02020603050405020304" pitchFamily="18" charset="0"/>
                          <a:cs typeface="Times New Roman" panose="02020603050405020304" pitchFamily="18" charset="0"/>
                        </a:rPr>
                        <a:t>International </a:t>
                      </a:r>
                      <a:r>
                        <a:rPr lang="fr-FR" sz="1600" b="0" kern="1200" dirty="0" err="1">
                          <a:solidFill>
                            <a:srgbClr val="80276C"/>
                          </a:solidFill>
                          <a:latin typeface="Times New Roman" panose="02020603050405020304" pitchFamily="18" charset="0"/>
                          <a:cs typeface="Times New Roman" panose="02020603050405020304" pitchFamily="18" charset="0"/>
                        </a:rPr>
                        <a:t>database</a:t>
                      </a:r>
                      <a:r>
                        <a:rPr lang="fr-FR" sz="1600" b="0" kern="1200" dirty="0">
                          <a:solidFill>
                            <a:srgbClr val="80276C"/>
                          </a:solidFill>
                          <a:latin typeface="Times New Roman" panose="02020603050405020304" pitchFamily="18" charset="0"/>
                          <a:cs typeface="Times New Roman" panose="02020603050405020304" pitchFamily="18" charset="0"/>
                        </a:rPr>
                        <a:t> (freemium) to </a:t>
                      </a:r>
                      <a:r>
                        <a:rPr lang="fr-FR" sz="1600" b="0" kern="1200" dirty="0" err="1">
                          <a:solidFill>
                            <a:srgbClr val="80276C"/>
                          </a:solidFill>
                          <a:latin typeface="Times New Roman" panose="02020603050405020304" pitchFamily="18" charset="0"/>
                          <a:cs typeface="Times New Roman" panose="02020603050405020304" pitchFamily="18" charset="0"/>
                        </a:rPr>
                        <a:t>be</a:t>
                      </a:r>
                      <a:r>
                        <a:rPr lang="fr-FR" sz="1600" b="0" kern="1200" dirty="0">
                          <a:solidFill>
                            <a:srgbClr val="80276C"/>
                          </a:solidFill>
                          <a:latin typeface="Times New Roman" panose="02020603050405020304" pitchFamily="18" charset="0"/>
                          <a:cs typeface="Times New Roman" panose="02020603050405020304" pitchFamily="18" charset="0"/>
                        </a:rPr>
                        <a:t> </a:t>
                      </a:r>
                      <a:r>
                        <a:rPr lang="fr-FR" sz="1600" b="0" kern="1200" dirty="0" err="1">
                          <a:solidFill>
                            <a:srgbClr val="80276C"/>
                          </a:solidFill>
                          <a:latin typeface="Times New Roman" panose="02020603050405020304" pitchFamily="18" charset="0"/>
                          <a:cs typeface="Times New Roman" panose="02020603050405020304" pitchFamily="18" charset="0"/>
                        </a:rPr>
                        <a:t>queried</a:t>
                      </a:r>
                      <a:r>
                        <a:rPr lang="fr-FR" sz="1600" b="0" kern="1200" dirty="0">
                          <a:solidFill>
                            <a:srgbClr val="80276C"/>
                          </a:solidFill>
                          <a:latin typeface="Times New Roman" panose="02020603050405020304" pitchFamily="18" charset="0"/>
                          <a:cs typeface="Times New Roman" panose="02020603050405020304" pitchFamily="18" charset="0"/>
                        </a:rPr>
                        <a:t> </a:t>
                      </a:r>
                      <a:r>
                        <a:rPr lang="fr-FR" sz="1600" b="0" kern="1200" dirty="0" err="1">
                          <a:solidFill>
                            <a:srgbClr val="80276C"/>
                          </a:solidFill>
                          <a:latin typeface="Times New Roman" panose="02020603050405020304" pitchFamily="18" charset="0"/>
                          <a:cs typeface="Times New Roman" panose="02020603050405020304" pitchFamily="18" charset="0"/>
                        </a:rPr>
                        <a:t>preferably</a:t>
                      </a:r>
                      <a:r>
                        <a:rPr lang="fr-FR" sz="1600" b="0" kern="1200" dirty="0">
                          <a:solidFill>
                            <a:srgbClr val="80276C"/>
                          </a:solidFill>
                          <a:latin typeface="Times New Roman" panose="02020603050405020304" pitchFamily="18" charset="0"/>
                          <a:cs typeface="Times New Roman" panose="02020603050405020304" pitchFamily="18" charset="0"/>
                        </a:rPr>
                        <a:t> in English</a:t>
                      </a:r>
                    </a:p>
                    <a:p>
                      <a:pPr marL="0" algn="just" defTabSz="914400" rtl="0" eaLnBrk="1" latinLnBrk="0" hangingPunct="1"/>
                      <a:endParaRPr lang="fr-FR" sz="1600" b="0" kern="1200" dirty="0">
                        <a:solidFill>
                          <a:srgbClr val="80276C"/>
                        </a:solidFill>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kern="1200" dirty="0">
                          <a:solidFill>
                            <a:srgbClr val="80276C"/>
                          </a:solidFill>
                          <a:latin typeface="Times New Roman" panose="02020603050405020304" pitchFamily="18" charset="0"/>
                          <a:cs typeface="Times New Roman" panose="02020603050405020304" pitchFamily="18" charset="0"/>
                        </a:rPr>
                        <a:t>Google Gemini AI : </a:t>
                      </a:r>
                      <a:r>
                        <a:rPr lang="fr-FR" sz="1600" b="0" kern="1200" dirty="0" err="1">
                          <a:solidFill>
                            <a:srgbClr val="80276C"/>
                          </a:solidFill>
                          <a:latin typeface="Times New Roman" panose="02020603050405020304" pitchFamily="18" charset="0"/>
                          <a:cs typeface="Times New Roman" panose="02020603050405020304" pitchFamily="18" charset="0"/>
                        </a:rPr>
                        <a:t>create</a:t>
                      </a:r>
                      <a:r>
                        <a:rPr lang="fr-FR" sz="1600" b="0" kern="1200" dirty="0">
                          <a:solidFill>
                            <a:srgbClr val="80276C"/>
                          </a:solidFill>
                          <a:latin typeface="Times New Roman" panose="02020603050405020304" pitchFamily="18" charset="0"/>
                          <a:cs typeface="Times New Roman" panose="02020603050405020304" pitchFamily="18" charset="0"/>
                        </a:rPr>
                        <a:t> an </a:t>
                      </a:r>
                      <a:r>
                        <a:rPr lang="fr-FR" sz="1600" b="0" kern="1200" dirty="0" err="1">
                          <a:solidFill>
                            <a:srgbClr val="80276C"/>
                          </a:solidFill>
                          <a:latin typeface="Times New Roman" panose="02020603050405020304" pitchFamily="18" charset="0"/>
                          <a:cs typeface="Times New Roman" panose="02020603050405020304" pitchFamily="18" charset="0"/>
                        </a:rPr>
                        <a:t>account</a:t>
                      </a:r>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solidFill>
                      <a:srgbClr val="FFE8CB"/>
                    </a:solidFill>
                  </a:tcPr>
                </a:tc>
                <a:tc hMerge="1">
                  <a:txBody>
                    <a:bodyPr/>
                    <a:lstStyle/>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solidFill>
                      <a:srgbClr val="FFE8CB"/>
                    </a:solidFill>
                  </a:tcPr>
                </a:tc>
                <a:extLst>
                  <a:ext uri="{0D108BD9-81ED-4DB2-BD59-A6C34878D82A}">
                    <a16:rowId xmlns:a16="http://schemas.microsoft.com/office/drawing/2014/main" val="3980541042"/>
                  </a:ext>
                </a:extLst>
              </a:tr>
              <a:tr h="2002644">
                <a:tc gridSpan="2">
                  <a:txBody>
                    <a:bodyPr/>
                    <a:lstStyle/>
                    <a:p>
                      <a:pPr marL="0" algn="just" defTabSz="914400" rtl="0" eaLnBrk="1" latinLnBrk="0" hangingPunct="1"/>
                      <a:r>
                        <a:rPr lang="fr-FR" sz="1600" b="1" u="sng" kern="1200" dirty="0" err="1">
                          <a:solidFill>
                            <a:srgbClr val="80276C"/>
                          </a:solidFill>
                          <a:latin typeface="Times New Roman" panose="02020603050405020304" pitchFamily="18" charset="0"/>
                          <a:cs typeface="Times New Roman" panose="02020603050405020304" pitchFamily="18" charset="0"/>
                        </a:rPr>
                        <a:t>ChatGPT</a:t>
                      </a:r>
                      <a:r>
                        <a:rPr lang="fr-FR" sz="1600" b="1" u="sng" kern="1200" dirty="0">
                          <a:solidFill>
                            <a:srgbClr val="80276C"/>
                          </a:solidFill>
                          <a:latin typeface="Times New Roman" panose="02020603050405020304" pitchFamily="18" charset="0"/>
                          <a:cs typeface="Times New Roman" panose="02020603050405020304" pitchFamily="18" charset="0"/>
                        </a:rPr>
                        <a:t> and </a:t>
                      </a:r>
                      <a:r>
                        <a:rPr lang="fr-FR" sz="1600" b="1" u="sng" kern="1200" dirty="0" err="1">
                          <a:solidFill>
                            <a:srgbClr val="80276C"/>
                          </a:solidFill>
                          <a:latin typeface="Times New Roman" panose="02020603050405020304" pitchFamily="18" charset="0"/>
                          <a:cs typeface="Times New Roman" panose="02020603050405020304" pitchFamily="18" charset="0"/>
                        </a:rPr>
                        <a:t>other</a:t>
                      </a:r>
                      <a:r>
                        <a:rPr lang="fr-FR" sz="1600" b="1" u="sng" kern="1200" dirty="0">
                          <a:solidFill>
                            <a:srgbClr val="80276C"/>
                          </a:solidFill>
                          <a:latin typeface="Times New Roman" panose="02020603050405020304" pitchFamily="18" charset="0"/>
                          <a:cs typeface="Times New Roman" panose="02020603050405020304" pitchFamily="18" charset="0"/>
                        </a:rPr>
                        <a:t> AI assistants</a:t>
                      </a:r>
                    </a:p>
                    <a:p>
                      <a:pPr marL="0" algn="just" defTabSz="914400" rtl="0" eaLnBrk="1" latinLnBrk="0" hangingPunct="1"/>
                      <a:endParaRPr lang="fr-FR" sz="1600" b="0" u="none" kern="1200" dirty="0">
                        <a:solidFill>
                          <a:srgbClr val="80276C"/>
                        </a:solidFill>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kern="1200" dirty="0" err="1">
                          <a:solidFill>
                            <a:srgbClr val="80276C"/>
                          </a:solidFill>
                          <a:latin typeface="Times New Roman" panose="02020603050405020304" pitchFamily="18" charset="0"/>
                          <a:cs typeface="Times New Roman" panose="02020603050405020304" pitchFamily="18" charset="0"/>
                        </a:rPr>
                        <a:t>Conversational</a:t>
                      </a:r>
                      <a:r>
                        <a:rPr lang="fr-FR" sz="1600" b="0" kern="1200" dirty="0">
                          <a:solidFill>
                            <a:srgbClr val="80276C"/>
                          </a:solidFill>
                          <a:latin typeface="Times New Roman" panose="02020603050405020304" pitchFamily="18" charset="0"/>
                          <a:cs typeface="Times New Roman" panose="02020603050405020304" pitchFamily="18" charset="0"/>
                        </a:rPr>
                        <a:t> agent </a:t>
                      </a:r>
                      <a:r>
                        <a:rPr lang="fr-FR" sz="1600" b="0" kern="1200" dirty="0" err="1">
                          <a:solidFill>
                            <a:srgbClr val="80276C"/>
                          </a:solidFill>
                          <a:latin typeface="Times New Roman" panose="02020603050405020304" pitchFamily="18" charset="0"/>
                          <a:cs typeface="Times New Roman" panose="02020603050405020304" pitchFamily="18" charset="0"/>
                        </a:rPr>
                        <a:t>which</a:t>
                      </a:r>
                      <a:r>
                        <a:rPr lang="fr-FR" sz="1600" b="0" kern="1200" dirty="0">
                          <a:solidFill>
                            <a:srgbClr val="80276C"/>
                          </a:solidFill>
                          <a:latin typeface="Times New Roman" panose="02020603050405020304" pitchFamily="18" charset="0"/>
                          <a:cs typeface="Times New Roman" panose="02020603050405020304" pitchFamily="18" charset="0"/>
                        </a:rPr>
                        <a:t> </a:t>
                      </a:r>
                      <a:r>
                        <a:rPr lang="fr-FR" sz="1600" b="0" kern="1200" dirty="0" err="1">
                          <a:solidFill>
                            <a:srgbClr val="80276C"/>
                          </a:solidFill>
                          <a:latin typeface="Times New Roman" panose="02020603050405020304" pitchFamily="18" charset="0"/>
                          <a:cs typeface="Times New Roman" panose="02020603050405020304" pitchFamily="18" charset="0"/>
                        </a:rPr>
                        <a:t>is</a:t>
                      </a:r>
                      <a:r>
                        <a:rPr lang="fr-FR" sz="1600" b="0" kern="1200" dirty="0">
                          <a:solidFill>
                            <a:srgbClr val="80276C"/>
                          </a:solidFill>
                          <a:latin typeface="Times New Roman" panose="02020603050405020304" pitchFamily="18" charset="0"/>
                          <a:cs typeface="Times New Roman" panose="02020603050405020304" pitchFamily="18" charset="0"/>
                        </a:rPr>
                        <a:t> not a </a:t>
                      </a:r>
                      <a:r>
                        <a:rPr lang="fr-FR" sz="1600" b="0" kern="1200" dirty="0" err="1">
                          <a:solidFill>
                            <a:srgbClr val="80276C"/>
                          </a:solidFill>
                          <a:latin typeface="Times New Roman" panose="02020603050405020304" pitchFamily="18" charset="0"/>
                          <a:cs typeface="Times New Roman" panose="02020603050405020304" pitchFamily="18" charset="0"/>
                        </a:rPr>
                        <a:t>search</a:t>
                      </a:r>
                      <a:r>
                        <a:rPr lang="fr-FR" sz="1600" b="0" kern="1200" dirty="0">
                          <a:solidFill>
                            <a:srgbClr val="80276C"/>
                          </a:solidFill>
                          <a:latin typeface="Times New Roman" panose="02020603050405020304" pitchFamily="18" charset="0"/>
                          <a:cs typeface="Times New Roman" panose="02020603050405020304" pitchFamily="18" charset="0"/>
                        </a:rPr>
                        <a:t> engine</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kern="1200" dirty="0" err="1">
                          <a:solidFill>
                            <a:srgbClr val="80276C"/>
                          </a:solidFill>
                          <a:latin typeface="Times New Roman" panose="02020603050405020304" pitchFamily="18" charset="0"/>
                          <a:ea typeface="+mn-ea"/>
                          <a:cs typeface="Times New Roman" panose="02020603050405020304" pitchFamily="18" charset="0"/>
                        </a:rPr>
                        <a:t>Comparison</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with</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Perplexity</a:t>
                      </a:r>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tc>
                <a:tc hMerge="1">
                  <a:txBody>
                    <a:bodyPr/>
                    <a:lstStyle/>
                    <a:p>
                      <a:pPr marL="0" algn="just" defTabSz="914400" rtl="0" eaLnBrk="1" latinLnBrk="0" hangingPunct="1"/>
                      <a:endParaRPr lang="fr-FR" sz="1600" b="0" u="none" kern="1200" dirty="0">
                        <a:solidFill>
                          <a:srgbClr val="80276C"/>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3044804"/>
                  </a:ext>
                </a:extLst>
              </a:tr>
              <a:tr h="2002644">
                <a:tc>
                  <a:txBody>
                    <a:bodyPr/>
                    <a:lstStyle/>
                    <a:p>
                      <a:pPr marL="0" algn="just" defTabSz="914400" rtl="0" eaLnBrk="1" latinLnBrk="0" hangingPunct="1"/>
                      <a:r>
                        <a:rPr lang="fr-FR" sz="1600" b="1" u="sng" kern="1200" dirty="0" err="1">
                          <a:solidFill>
                            <a:srgbClr val="80276C"/>
                          </a:solidFill>
                          <a:latin typeface="Times New Roman" panose="02020603050405020304" pitchFamily="18" charset="0"/>
                          <a:ea typeface="+mn-ea"/>
                          <a:cs typeface="Times New Roman" panose="02020603050405020304" pitchFamily="18" charset="0"/>
                        </a:rPr>
                        <a:t>Espacenet</a:t>
                      </a:r>
                      <a:r>
                        <a:rPr lang="fr-FR" sz="1600" b="1" u="sng" kern="1200" dirty="0">
                          <a:solidFill>
                            <a:srgbClr val="80276C"/>
                          </a:solidFill>
                          <a:latin typeface="Times New Roman" panose="02020603050405020304" pitchFamily="18" charset="0"/>
                          <a:ea typeface="+mn-ea"/>
                          <a:cs typeface="Times New Roman" panose="02020603050405020304" pitchFamily="18" charset="0"/>
                        </a:rPr>
                        <a:t> (Patents)</a:t>
                      </a: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p>
                      <a:pPr marL="0" algn="just" defTabSz="914400" rtl="0" eaLnBrk="1" latinLnBrk="0" hangingPunct="1"/>
                      <a:r>
                        <a:rPr lang="fr-FR" sz="1600" b="0" kern="1200" dirty="0">
                          <a:solidFill>
                            <a:srgbClr val="80276C"/>
                          </a:solidFill>
                          <a:latin typeface="Times New Roman" panose="02020603050405020304" pitchFamily="18" charset="0"/>
                          <a:ea typeface="+mn-ea"/>
                          <a:cs typeface="Times New Roman" panose="02020603050405020304" pitchFamily="18" charset="0"/>
                        </a:rPr>
                        <a:t>(world </a:t>
                      </a:r>
                      <a:r>
                        <a:rPr lang="fr-FR" sz="1600" b="0" kern="1200" dirty="0" err="1">
                          <a:solidFill>
                            <a:srgbClr val="80276C"/>
                          </a:solidFill>
                          <a:latin typeface="Times New Roman" panose="02020603050405020304" pitchFamily="18" charset="0"/>
                          <a:ea typeface="+mn-ea"/>
                          <a:cs typeface="Times New Roman" panose="02020603050405020304" pitchFamily="18" charset="0"/>
                        </a:rPr>
                        <a:t>database</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from</a:t>
                      </a:r>
                      <a:r>
                        <a:rPr lang="fr-FR" sz="1600" b="0" kern="1200" dirty="0">
                          <a:solidFill>
                            <a:srgbClr val="80276C"/>
                          </a:solidFill>
                          <a:latin typeface="Times New Roman" panose="02020603050405020304" pitchFamily="18" charset="0"/>
                          <a:ea typeface="+mn-ea"/>
                          <a:cs typeface="Times New Roman" panose="02020603050405020304" pitchFamily="18" charset="0"/>
                        </a:rPr>
                        <a:t> the European Patent Office (EPO) to </a:t>
                      </a:r>
                      <a:r>
                        <a:rPr lang="fr-FR" sz="1600" b="0" kern="1200" dirty="0" err="1">
                          <a:solidFill>
                            <a:srgbClr val="80276C"/>
                          </a:solidFill>
                          <a:latin typeface="Times New Roman" panose="02020603050405020304" pitchFamily="18" charset="0"/>
                          <a:ea typeface="+mn-ea"/>
                          <a:cs typeface="Times New Roman" panose="02020603050405020304" pitchFamily="18" charset="0"/>
                        </a:rPr>
                        <a:t>be</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queried</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preferably</a:t>
                      </a:r>
                      <a:r>
                        <a:rPr lang="fr-FR" sz="1600" b="0" kern="1200" dirty="0">
                          <a:solidFill>
                            <a:srgbClr val="80276C"/>
                          </a:solidFill>
                          <a:latin typeface="Times New Roman" panose="02020603050405020304" pitchFamily="18" charset="0"/>
                          <a:ea typeface="+mn-ea"/>
                          <a:cs typeface="Times New Roman" panose="02020603050405020304" pitchFamily="18" charset="0"/>
                        </a:rPr>
                        <a:t> in English.</a:t>
                      </a:r>
                    </a:p>
                    <a:p>
                      <a:pPr marL="0" algn="just" defTabSz="914400" rtl="0" eaLnBrk="1" latinLnBrk="0" hangingPunct="1"/>
                      <a:r>
                        <a:rPr lang="fr-FR" sz="1600" b="0" kern="1200" dirty="0">
                          <a:solidFill>
                            <a:srgbClr val="80276C"/>
                          </a:solidFill>
                          <a:latin typeface="Times New Roman" panose="02020603050405020304" pitchFamily="18" charset="0"/>
                          <a:ea typeface="+mn-ea"/>
                          <a:cs typeface="Times New Roman" panose="02020603050405020304" pitchFamily="18" charset="0"/>
                        </a:rPr>
                        <a:t>Will not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be</a:t>
                      </a:r>
                      <a:r>
                        <a:rPr lang="fr-FR" sz="1600" b="0" kern="1200" dirty="0">
                          <a:solidFill>
                            <a:srgbClr val="80276C"/>
                          </a:solidFill>
                          <a:latin typeface="Times New Roman" panose="02020603050405020304" pitchFamily="18" charset="0"/>
                          <a:ea typeface="+mn-ea"/>
                          <a:cs typeface="Times New Roman" panose="02020603050405020304" pitchFamily="18" charset="0"/>
                        </a:rPr>
                        <a:t> </a:t>
                      </a:r>
                      <a:r>
                        <a:rPr lang="fr-FR" sz="1600" b="0" kern="1200" dirty="0" err="1">
                          <a:solidFill>
                            <a:srgbClr val="80276C"/>
                          </a:solidFill>
                          <a:latin typeface="Times New Roman" panose="02020603050405020304" pitchFamily="18" charset="0"/>
                          <a:ea typeface="+mn-ea"/>
                          <a:cs typeface="Times New Roman" panose="02020603050405020304" pitchFamily="18" charset="0"/>
                        </a:rPr>
                        <a:t>tackled</a:t>
                      </a:r>
                      <a:r>
                        <a:rPr lang="fr-FR" sz="1600" b="0" kern="1200" dirty="0">
                          <a:solidFill>
                            <a:srgbClr val="80276C"/>
                          </a:solidFill>
                          <a:latin typeface="Times New Roman" panose="02020603050405020304" pitchFamily="18" charset="0"/>
                          <a:ea typeface="+mn-ea"/>
                          <a:cs typeface="Times New Roman" panose="02020603050405020304" pitchFamily="18" charset="0"/>
                        </a:rPr>
                        <a:t> in </a:t>
                      </a:r>
                      <a:r>
                        <a:rPr lang="fr-FR" sz="1600" b="0" kern="1200" dirty="0" err="1">
                          <a:solidFill>
                            <a:srgbClr val="80276C"/>
                          </a:solidFill>
                          <a:latin typeface="Times New Roman" panose="02020603050405020304" pitchFamily="18" charset="0"/>
                          <a:ea typeface="+mn-ea"/>
                          <a:cs typeface="Times New Roman" panose="02020603050405020304" pitchFamily="18" charset="0"/>
                        </a:rPr>
                        <a:t>this</a:t>
                      </a:r>
                      <a:r>
                        <a:rPr lang="fr-FR" sz="1600" b="0" kern="1200" dirty="0">
                          <a:solidFill>
                            <a:srgbClr val="80276C"/>
                          </a:solidFill>
                          <a:latin typeface="Times New Roman" panose="02020603050405020304" pitchFamily="18" charset="0"/>
                          <a:ea typeface="+mn-ea"/>
                          <a:cs typeface="Times New Roman" panose="02020603050405020304" pitchFamily="18" charset="0"/>
                        </a:rPr>
                        <a:t> training session</a:t>
                      </a:r>
                    </a:p>
                    <a:p>
                      <a:pPr marL="0" algn="just" defTabSz="914400" rtl="0" eaLnBrk="1" latinLnBrk="0" hangingPunct="1"/>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tc>
                <a:tc>
                  <a:txBody>
                    <a:bodyPr/>
                    <a:lstStyle/>
                    <a:p>
                      <a:pPr marL="0" algn="just" defTabSz="914400" rtl="0" eaLnBrk="1" latinLnBrk="0" hangingPunct="1"/>
                      <a:endParaRPr lang="fr-FR" sz="1600" b="0" u="none" kern="1200" dirty="0">
                        <a:solidFill>
                          <a:srgbClr val="80276C"/>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3695080"/>
                  </a:ext>
                </a:extLst>
              </a:tr>
            </a:tbl>
          </a:graphicData>
        </a:graphic>
      </p:graphicFrame>
    </p:spTree>
    <p:extLst>
      <p:ext uri="{BB962C8B-B14F-4D97-AF65-F5344CB8AC3E}">
        <p14:creationId xmlns:p14="http://schemas.microsoft.com/office/powerpoint/2010/main" val="2678898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bibliothèque, Rayonnage, étagère, livre&#10;&#10;Le contenu généré par l’IA peut être incorrect.">
            <a:extLst>
              <a:ext uri="{FF2B5EF4-FFF2-40B4-BE49-F238E27FC236}">
                <a16:creationId xmlns:a16="http://schemas.microsoft.com/office/drawing/2014/main" id="{0B982C1D-7FE4-067C-6B23-479A6E442791}"/>
              </a:ext>
            </a:extLst>
          </p:cNvPr>
          <p:cNvPicPr>
            <a:picLocks noChangeAspect="1"/>
          </p:cNvPicPr>
          <p:nvPr/>
        </p:nvPicPr>
        <p:blipFill rotWithShape="1">
          <a:blip r:embed="rId2"/>
          <a:srcRect/>
          <a:stretch>
            <a:fillRect/>
          </a:stretch>
        </p:blipFill>
        <p:spPr>
          <a:xfrm>
            <a:off x="19146" y="106324"/>
            <a:ext cx="5705062" cy="6858000"/>
          </a:xfrm>
          <a:prstGeom prst="rect">
            <a:avLst/>
          </a:prstGeom>
        </p:spPr>
      </p:pic>
      <p:graphicFrame>
        <p:nvGraphicFramePr>
          <p:cNvPr id="2" name="Tableau 1">
            <a:extLst>
              <a:ext uri="{FF2B5EF4-FFF2-40B4-BE49-F238E27FC236}">
                <a16:creationId xmlns:a16="http://schemas.microsoft.com/office/drawing/2014/main" id="{3ACDBF8A-6A3B-41F2-93F3-B03248F398BD}"/>
              </a:ext>
            </a:extLst>
          </p:cNvPr>
          <p:cNvGraphicFramePr>
            <a:graphicFrameLocks noGrp="1"/>
          </p:cNvGraphicFramePr>
          <p:nvPr>
            <p:extLst>
              <p:ext uri="{D42A27DB-BD31-4B8C-83A1-F6EECF244321}">
                <p14:modId xmlns:p14="http://schemas.microsoft.com/office/powerpoint/2010/main" val="309266494"/>
              </p:ext>
            </p:extLst>
          </p:nvPr>
        </p:nvGraphicFramePr>
        <p:xfrm>
          <a:off x="3340395" y="1840305"/>
          <a:ext cx="6542567" cy="3596640"/>
        </p:xfrm>
        <a:graphic>
          <a:graphicData uri="http://schemas.openxmlformats.org/drawingml/2006/table">
            <a:tbl>
              <a:tblPr firstRow="1" bandRow="1">
                <a:tableStyleId>{00A15C55-8517-42AA-B614-E9B94910E393}</a:tableStyleId>
              </a:tblPr>
              <a:tblGrid>
                <a:gridCol w="3090530">
                  <a:extLst>
                    <a:ext uri="{9D8B030D-6E8A-4147-A177-3AD203B41FA5}">
                      <a16:colId xmlns:a16="http://schemas.microsoft.com/office/drawing/2014/main" val="512849853"/>
                    </a:ext>
                  </a:extLst>
                </a:gridCol>
                <a:gridCol w="3452037">
                  <a:extLst>
                    <a:ext uri="{9D8B030D-6E8A-4147-A177-3AD203B41FA5}">
                      <a16:colId xmlns:a16="http://schemas.microsoft.com/office/drawing/2014/main" val="3180303737"/>
                    </a:ext>
                  </a:extLst>
                </a:gridCol>
              </a:tblGrid>
              <a:tr h="1835559">
                <a:tc>
                  <a:txBody>
                    <a:bodyPr/>
                    <a:lstStyle/>
                    <a:p>
                      <a:pPr algn="just"/>
                      <a:r>
                        <a:rPr lang="fr-FR" sz="1600" b="1" u="sng" dirty="0">
                          <a:solidFill>
                            <a:srgbClr val="80276C"/>
                          </a:solidFill>
                          <a:latin typeface="Times New Roman" panose="02020603050405020304" pitchFamily="18" charset="0"/>
                          <a:cs typeface="Times New Roman" panose="02020603050405020304" pitchFamily="18" charset="0"/>
                        </a:rPr>
                        <a:t>Techniques de l’Ingénieur</a:t>
                      </a:r>
                    </a:p>
                    <a:p>
                      <a:pPr algn="just"/>
                      <a:endParaRPr lang="fr-FR" sz="1600" b="0" dirty="0">
                        <a:solidFill>
                          <a:srgbClr val="80276C"/>
                        </a:solidFill>
                        <a:latin typeface="Times New Roman" panose="02020603050405020304" pitchFamily="18" charset="0"/>
                        <a:cs typeface="Times New Roman" panose="02020603050405020304" pitchFamily="18" charset="0"/>
                      </a:endParaRPr>
                    </a:p>
                    <a:p>
                      <a:pPr algn="just"/>
                      <a:r>
                        <a:rPr lang="fr-FR" sz="1600" b="0" dirty="0" err="1">
                          <a:solidFill>
                            <a:srgbClr val="80276C"/>
                          </a:solidFill>
                          <a:latin typeface="Times New Roman" panose="02020603050405020304" pitchFamily="18" charset="0"/>
                          <a:cs typeface="Times New Roman" panose="02020603050405020304" pitchFamily="18" charset="0"/>
                        </a:rPr>
                        <a:t>Encyclopaedic</a:t>
                      </a:r>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database</a:t>
                      </a:r>
                      <a:r>
                        <a:rPr lang="fr-FR" sz="1600" b="0" dirty="0">
                          <a:solidFill>
                            <a:srgbClr val="80276C"/>
                          </a:solidFill>
                          <a:latin typeface="Times New Roman" panose="02020603050405020304" pitchFamily="18" charset="0"/>
                          <a:cs typeface="Times New Roman" panose="02020603050405020304" pitchFamily="18" charset="0"/>
                        </a:rPr>
                        <a:t> in French to </a:t>
                      </a:r>
                      <a:r>
                        <a:rPr lang="fr-FR" sz="1600" b="0" dirty="0" err="1">
                          <a:solidFill>
                            <a:srgbClr val="80276C"/>
                          </a:solidFill>
                          <a:latin typeface="Times New Roman" panose="02020603050405020304" pitchFamily="18" charset="0"/>
                          <a:cs typeface="Times New Roman" panose="02020603050405020304" pitchFamily="18" charset="0"/>
                        </a:rPr>
                        <a:t>be</a:t>
                      </a:r>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queried</a:t>
                      </a:r>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only</a:t>
                      </a:r>
                      <a:r>
                        <a:rPr lang="fr-FR" sz="1600" b="0" dirty="0">
                          <a:solidFill>
                            <a:srgbClr val="80276C"/>
                          </a:solidFill>
                          <a:latin typeface="Times New Roman" panose="02020603050405020304" pitchFamily="18" charset="0"/>
                          <a:cs typeface="Times New Roman" panose="02020603050405020304" pitchFamily="18" charset="0"/>
                        </a:rPr>
                        <a:t> in French but </a:t>
                      </a:r>
                      <a:r>
                        <a:rPr lang="fr-FR" sz="1600" b="0" dirty="0" err="1">
                          <a:solidFill>
                            <a:srgbClr val="80276C"/>
                          </a:solidFill>
                          <a:latin typeface="Times New Roman" panose="02020603050405020304" pitchFamily="18" charset="0"/>
                          <a:cs typeface="Times New Roman" panose="02020603050405020304" pitchFamily="18" charset="0"/>
                        </a:rPr>
                        <a:t>since</a:t>
                      </a:r>
                      <a:r>
                        <a:rPr lang="fr-FR" sz="1600" b="0" dirty="0">
                          <a:solidFill>
                            <a:srgbClr val="80276C"/>
                          </a:solidFill>
                          <a:latin typeface="Times New Roman" panose="02020603050405020304" pitchFamily="18" charset="0"/>
                          <a:cs typeface="Times New Roman" panose="02020603050405020304" pitchFamily="18" charset="0"/>
                        </a:rPr>
                        <a:t> 2024 </a:t>
                      </a:r>
                      <a:r>
                        <a:rPr lang="fr-FR" sz="1600" b="0" dirty="0" err="1">
                          <a:solidFill>
                            <a:srgbClr val="80276C"/>
                          </a:solidFill>
                          <a:latin typeface="Times New Roman" panose="02020603050405020304" pitchFamily="18" charset="0"/>
                          <a:cs typeface="Times New Roman" panose="02020603050405020304" pitchFamily="18" charset="0"/>
                        </a:rPr>
                        <a:t>it</a:t>
                      </a:r>
                      <a:r>
                        <a:rPr lang="fr-FR" sz="1600" b="0" dirty="0">
                          <a:solidFill>
                            <a:srgbClr val="80276C"/>
                          </a:solidFill>
                          <a:latin typeface="Times New Roman" panose="02020603050405020304" pitchFamily="18" charset="0"/>
                          <a:cs typeface="Times New Roman" panose="02020603050405020304" pitchFamily="18" charset="0"/>
                        </a:rPr>
                        <a:t> has </a:t>
                      </a:r>
                      <a:r>
                        <a:rPr lang="fr-FR" sz="1600" b="0" dirty="0" err="1">
                          <a:solidFill>
                            <a:srgbClr val="80276C"/>
                          </a:solidFill>
                          <a:latin typeface="Times New Roman" panose="02020603050405020304" pitchFamily="18" charset="0"/>
                          <a:cs typeface="Times New Roman" panose="02020603050405020304" pitchFamily="18" charset="0"/>
                        </a:rPr>
                        <a:t>enclosed</a:t>
                      </a:r>
                      <a:r>
                        <a:rPr lang="fr-FR" sz="1600" b="0" dirty="0">
                          <a:solidFill>
                            <a:srgbClr val="80276C"/>
                          </a:solidFill>
                          <a:latin typeface="Times New Roman" panose="02020603050405020304" pitchFamily="18" charset="0"/>
                          <a:cs typeface="Times New Roman" panose="02020603050405020304" pitchFamily="18" charset="0"/>
                        </a:rPr>
                        <a:t> translations of </a:t>
                      </a:r>
                      <a:r>
                        <a:rPr lang="fr-FR" sz="1600" b="0" dirty="0" err="1">
                          <a:solidFill>
                            <a:srgbClr val="80276C"/>
                          </a:solidFill>
                          <a:latin typeface="Times New Roman" panose="02020603050405020304" pitchFamily="18" charset="0"/>
                          <a:cs typeface="Times New Roman" panose="02020603050405020304" pitchFamily="18" charset="0"/>
                        </a:rPr>
                        <a:t>reference</a:t>
                      </a:r>
                      <a:r>
                        <a:rPr lang="fr-FR" sz="1600" b="0" dirty="0">
                          <a:solidFill>
                            <a:srgbClr val="80276C"/>
                          </a:solidFill>
                          <a:latin typeface="Times New Roman" panose="02020603050405020304" pitchFamily="18" charset="0"/>
                          <a:cs typeface="Times New Roman" panose="02020603050405020304" pitchFamily="18" charset="0"/>
                        </a:rPr>
                        <a:t> articles </a:t>
                      </a:r>
                      <a:r>
                        <a:rPr lang="fr-FR" sz="1600" b="0" dirty="0" err="1">
                          <a:solidFill>
                            <a:srgbClr val="80276C"/>
                          </a:solidFill>
                          <a:latin typeface="Times New Roman" panose="02020603050405020304" pitchFamily="18" charset="0"/>
                          <a:cs typeface="Times New Roman" panose="02020603050405020304" pitchFamily="18" charset="0"/>
                        </a:rPr>
                        <a:t>into</a:t>
                      </a:r>
                      <a:r>
                        <a:rPr lang="fr-FR" sz="1600" b="0" dirty="0">
                          <a:solidFill>
                            <a:srgbClr val="80276C"/>
                          </a:solidFill>
                          <a:latin typeface="Times New Roman" panose="02020603050405020304" pitchFamily="18" charset="0"/>
                          <a:cs typeface="Times New Roman" panose="02020603050405020304" pitchFamily="18" charset="0"/>
                        </a:rPr>
                        <a:t> English  -</a:t>
                      </a:r>
                    </a:p>
                    <a:p>
                      <a:pPr algn="just"/>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Chatbot</a:t>
                      </a:r>
                      <a:r>
                        <a:rPr lang="fr-FR" sz="1600" b="0" dirty="0">
                          <a:solidFill>
                            <a:srgbClr val="80276C"/>
                          </a:solidFill>
                          <a:latin typeface="Times New Roman" panose="02020603050405020304" pitchFamily="18" charset="0"/>
                          <a:cs typeface="Times New Roman" panose="02020603050405020304" pitchFamily="18" charset="0"/>
                        </a:rPr>
                        <a:t> TI in beta version</a:t>
                      </a:r>
                    </a:p>
                  </a:txBody>
                  <a:tcPr/>
                </a:tc>
                <a:tc>
                  <a:txBody>
                    <a:bodyPr/>
                    <a:lstStyle/>
                    <a:p>
                      <a:pPr algn="just"/>
                      <a:r>
                        <a:rPr lang="fr-FR" sz="1600" b="1" u="sng" dirty="0">
                          <a:solidFill>
                            <a:srgbClr val="80276C"/>
                          </a:solidFill>
                          <a:latin typeface="Times New Roman" panose="02020603050405020304" pitchFamily="18" charset="0"/>
                          <a:cs typeface="Times New Roman" panose="02020603050405020304" pitchFamily="18" charset="0"/>
                        </a:rPr>
                        <a:t>Browser plug-ins or </a:t>
                      </a:r>
                      <a:r>
                        <a:rPr lang="fr-FR" sz="1600" b="1" u="sng" dirty="0" err="1">
                          <a:solidFill>
                            <a:srgbClr val="80276C"/>
                          </a:solidFill>
                          <a:latin typeface="Times New Roman" panose="02020603050405020304" pitchFamily="18" charset="0"/>
                          <a:cs typeface="Times New Roman" panose="02020603050405020304" pitchFamily="18" charset="0"/>
                        </a:rPr>
                        <a:t>add-ins</a:t>
                      </a:r>
                      <a:r>
                        <a:rPr lang="fr-FR" sz="1600" b="1" u="sng" dirty="0">
                          <a:solidFill>
                            <a:srgbClr val="80276C"/>
                          </a:solidFill>
                          <a:latin typeface="Times New Roman" panose="02020603050405020304" pitchFamily="18" charset="0"/>
                          <a:cs typeface="Times New Roman" panose="02020603050405020304" pitchFamily="18" charset="0"/>
                        </a:rPr>
                        <a:t> for </a:t>
                      </a:r>
                      <a:r>
                        <a:rPr lang="fr-FR" sz="1600" b="1" u="sng" dirty="0" err="1">
                          <a:solidFill>
                            <a:srgbClr val="80276C"/>
                          </a:solidFill>
                          <a:latin typeface="Times New Roman" panose="02020603050405020304" pitchFamily="18" charset="0"/>
                          <a:cs typeface="Times New Roman" panose="02020603050405020304" pitchFamily="18" charset="0"/>
                        </a:rPr>
                        <a:t>search</a:t>
                      </a:r>
                      <a:r>
                        <a:rPr lang="fr-FR" sz="1600" b="1" u="sng" dirty="0">
                          <a:solidFill>
                            <a:srgbClr val="80276C"/>
                          </a:solidFill>
                          <a:latin typeface="Times New Roman" panose="02020603050405020304" pitchFamily="18" charset="0"/>
                          <a:cs typeface="Times New Roman" panose="02020603050405020304" pitchFamily="18" charset="0"/>
                        </a:rPr>
                        <a:t> </a:t>
                      </a:r>
                    </a:p>
                    <a:p>
                      <a:pPr algn="just"/>
                      <a:endParaRPr lang="fr-FR" sz="1600" b="0" dirty="0">
                        <a:solidFill>
                          <a:srgbClr val="80276C"/>
                        </a:solidFill>
                        <a:latin typeface="Times New Roman" panose="02020603050405020304" pitchFamily="18" charset="0"/>
                        <a:cs typeface="Times New Roman" panose="02020603050405020304" pitchFamily="18" charset="0"/>
                      </a:endParaRPr>
                    </a:p>
                    <a:p>
                      <a:pPr algn="just"/>
                      <a:r>
                        <a:rPr lang="fr-FR" sz="1600" b="0" dirty="0">
                          <a:solidFill>
                            <a:srgbClr val="80276C"/>
                          </a:solidFill>
                          <a:latin typeface="Times New Roman" panose="02020603050405020304" pitchFamily="18" charset="0"/>
                          <a:cs typeface="Times New Roman" panose="02020603050405020304" pitchFamily="18" charset="0"/>
                        </a:rPr>
                        <a:t>(Lean </a:t>
                      </a:r>
                      <a:r>
                        <a:rPr lang="fr-FR" sz="1600" b="0" dirty="0" err="1">
                          <a:solidFill>
                            <a:srgbClr val="80276C"/>
                          </a:solidFill>
                          <a:latin typeface="Times New Roman" panose="02020603050405020304" pitchFamily="18" charset="0"/>
                          <a:cs typeface="Times New Roman" panose="02020603050405020304" pitchFamily="18" charset="0"/>
                        </a:rPr>
                        <a:t>library</a:t>
                      </a:r>
                      <a:r>
                        <a:rPr lang="fr-FR" sz="1600" b="0" dirty="0">
                          <a:solidFill>
                            <a:srgbClr val="80276C"/>
                          </a:solidFill>
                          <a:latin typeface="Times New Roman" panose="02020603050405020304" pitchFamily="18" charset="0"/>
                          <a:cs typeface="Times New Roman" panose="02020603050405020304" pitchFamily="18" charset="0"/>
                        </a:rPr>
                        <a:t>, Click &amp; Read,  </a:t>
                      </a:r>
                      <a:r>
                        <a:rPr lang="fr-FR" sz="1600" b="0" dirty="0" err="1">
                          <a:solidFill>
                            <a:srgbClr val="80276C"/>
                          </a:solidFill>
                          <a:latin typeface="Times New Roman" panose="02020603050405020304" pitchFamily="18" charset="0"/>
                          <a:cs typeface="Times New Roman" panose="02020603050405020304" pitchFamily="18" charset="0"/>
                        </a:rPr>
                        <a:t>Unpaywall</a:t>
                      </a:r>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Core</a:t>
                      </a:r>
                      <a:r>
                        <a:rPr lang="fr-FR" sz="1600" b="0" dirty="0">
                          <a:solidFill>
                            <a:srgbClr val="80276C"/>
                          </a:solidFill>
                          <a:latin typeface="Times New Roman" panose="02020603050405020304" pitchFamily="18" charset="0"/>
                          <a:cs typeface="Times New Roman" panose="02020603050405020304" pitchFamily="18" charset="0"/>
                        </a:rPr>
                        <a:t> Discovery,)</a:t>
                      </a:r>
                    </a:p>
                    <a:p>
                      <a:endParaRPr lang="fr-FR" sz="1600" b="1" dirty="0">
                        <a:solidFill>
                          <a:srgbClr val="80276C"/>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440474"/>
                  </a:ext>
                </a:extLst>
              </a:tr>
              <a:tr h="1545733">
                <a:tc>
                  <a:txBody>
                    <a:bodyPr/>
                    <a:lstStyle/>
                    <a:p>
                      <a:pPr algn="just"/>
                      <a:r>
                        <a:rPr lang="fr-FR" sz="1600" b="1" u="sng" kern="1200" dirty="0">
                          <a:solidFill>
                            <a:srgbClr val="80276C"/>
                          </a:solidFill>
                          <a:latin typeface="Times New Roman" panose="02020603050405020304" pitchFamily="18" charset="0"/>
                          <a:cs typeface="Times New Roman" panose="02020603050405020304" pitchFamily="18" charset="0"/>
                        </a:rPr>
                        <a:t>Open Access archives </a:t>
                      </a:r>
                    </a:p>
                    <a:p>
                      <a:pPr algn="just"/>
                      <a:endParaRPr lang="fr-FR" sz="1600" b="0" kern="1200" dirty="0">
                        <a:solidFill>
                          <a:srgbClr val="80276C"/>
                        </a:solidFill>
                        <a:latin typeface="Times New Roman" panose="02020603050405020304" pitchFamily="18" charset="0"/>
                        <a:cs typeface="Times New Roman" panose="02020603050405020304" pitchFamily="18" charset="0"/>
                      </a:endParaRPr>
                    </a:p>
                    <a:p>
                      <a:pPr algn="just"/>
                      <a:r>
                        <a:rPr lang="fr-FR" sz="1600" b="0" kern="1200" dirty="0">
                          <a:solidFill>
                            <a:srgbClr val="80276C"/>
                          </a:solidFill>
                          <a:latin typeface="Times New Roman" panose="02020603050405020304" pitchFamily="18" charset="0"/>
                          <a:cs typeface="Times New Roman" panose="02020603050405020304" pitchFamily="18" charset="0"/>
                        </a:rPr>
                        <a:t> Hal (national) and Base, Bielefeld Academic </a:t>
                      </a:r>
                      <a:r>
                        <a:rPr lang="fr-FR" sz="1600" b="0" kern="1200" dirty="0" err="1">
                          <a:solidFill>
                            <a:srgbClr val="80276C"/>
                          </a:solidFill>
                          <a:latin typeface="Times New Roman" panose="02020603050405020304" pitchFamily="18" charset="0"/>
                          <a:cs typeface="Times New Roman" panose="02020603050405020304" pitchFamily="18" charset="0"/>
                        </a:rPr>
                        <a:t>Search</a:t>
                      </a:r>
                      <a:r>
                        <a:rPr lang="fr-FR" sz="1600" b="0" kern="1200" dirty="0">
                          <a:solidFill>
                            <a:srgbClr val="80276C"/>
                          </a:solidFill>
                          <a:latin typeface="Times New Roman" panose="02020603050405020304" pitchFamily="18" charset="0"/>
                          <a:cs typeface="Times New Roman" panose="02020603050405020304" pitchFamily="18" charset="0"/>
                        </a:rPr>
                        <a:t> Engine (international) to </a:t>
                      </a:r>
                      <a:r>
                        <a:rPr lang="fr-FR" sz="1600" b="0" kern="1200" dirty="0" err="1">
                          <a:solidFill>
                            <a:srgbClr val="80276C"/>
                          </a:solidFill>
                          <a:latin typeface="Times New Roman" panose="02020603050405020304" pitchFamily="18" charset="0"/>
                          <a:cs typeface="Times New Roman" panose="02020603050405020304" pitchFamily="18" charset="0"/>
                        </a:rPr>
                        <a:t>be</a:t>
                      </a:r>
                      <a:r>
                        <a:rPr lang="fr-FR" sz="1600" b="0" kern="1200" dirty="0">
                          <a:solidFill>
                            <a:srgbClr val="80276C"/>
                          </a:solidFill>
                          <a:latin typeface="Times New Roman" panose="02020603050405020304" pitchFamily="18" charset="0"/>
                          <a:cs typeface="Times New Roman" panose="02020603050405020304" pitchFamily="18" charset="0"/>
                        </a:rPr>
                        <a:t> </a:t>
                      </a:r>
                      <a:r>
                        <a:rPr lang="fr-FR" sz="1600" b="0" kern="1200" dirty="0" err="1">
                          <a:solidFill>
                            <a:srgbClr val="80276C"/>
                          </a:solidFill>
                          <a:latin typeface="Times New Roman" panose="02020603050405020304" pitchFamily="18" charset="0"/>
                          <a:cs typeface="Times New Roman" panose="02020603050405020304" pitchFamily="18" charset="0"/>
                        </a:rPr>
                        <a:t>queried</a:t>
                      </a:r>
                      <a:r>
                        <a:rPr lang="fr-FR" sz="1600" b="0" kern="1200" dirty="0">
                          <a:solidFill>
                            <a:srgbClr val="80276C"/>
                          </a:solidFill>
                          <a:latin typeface="Times New Roman" panose="02020603050405020304" pitchFamily="18" charset="0"/>
                          <a:cs typeface="Times New Roman" panose="02020603050405020304" pitchFamily="18" charset="0"/>
                        </a:rPr>
                        <a:t> in English</a:t>
                      </a:r>
                      <a:endParaRPr lang="fr-FR" sz="1600" b="0" kern="1200" dirty="0">
                        <a:solidFill>
                          <a:srgbClr val="80276C"/>
                        </a:solidFill>
                        <a:latin typeface="Times New Roman" panose="02020603050405020304" pitchFamily="18" charset="0"/>
                        <a:ea typeface="+mn-ea"/>
                        <a:cs typeface="Times New Roman" panose="02020603050405020304" pitchFamily="18" charset="0"/>
                      </a:endParaRPr>
                    </a:p>
                  </a:txBody>
                  <a:tcPr/>
                </a:tc>
                <a:tc>
                  <a:txBody>
                    <a:bodyPr/>
                    <a:lstStyle/>
                    <a:p>
                      <a:pPr algn="just"/>
                      <a:r>
                        <a:rPr lang="fr-FR" sz="1600" b="1" u="sng" kern="1200" dirty="0" err="1">
                          <a:solidFill>
                            <a:srgbClr val="80276C"/>
                          </a:solidFill>
                          <a:latin typeface="Times New Roman" panose="02020603050405020304" pitchFamily="18" charset="0"/>
                          <a:cs typeface="Times New Roman" panose="02020603050405020304" pitchFamily="18" charset="0"/>
                        </a:rPr>
                        <a:t>Methodology</a:t>
                      </a:r>
                      <a:r>
                        <a:rPr lang="fr-FR" sz="1600" b="1" u="sng" kern="1200" dirty="0">
                          <a:solidFill>
                            <a:srgbClr val="80276C"/>
                          </a:solidFill>
                          <a:latin typeface="Times New Roman" panose="02020603050405020304" pitchFamily="18" charset="0"/>
                          <a:cs typeface="Times New Roman" panose="02020603050405020304" pitchFamily="18" charset="0"/>
                        </a:rPr>
                        <a:t> for a </a:t>
                      </a:r>
                      <a:r>
                        <a:rPr lang="fr-FR" sz="1600" b="1" u="sng" kern="1200" dirty="0" err="1">
                          <a:solidFill>
                            <a:srgbClr val="80276C"/>
                          </a:solidFill>
                          <a:latin typeface="Times New Roman" panose="02020603050405020304" pitchFamily="18" charset="0"/>
                          <a:cs typeface="Times New Roman" panose="02020603050405020304" pitchFamily="18" charset="0"/>
                        </a:rPr>
                        <a:t>bibliography</a:t>
                      </a:r>
                      <a:endParaRPr lang="fr-FR" sz="1600" b="1" u="sng" kern="1200" dirty="0">
                        <a:solidFill>
                          <a:srgbClr val="80276C"/>
                        </a:solidFill>
                        <a:latin typeface="Times New Roman" panose="02020603050405020304" pitchFamily="18" charset="0"/>
                        <a:cs typeface="Times New Roman" panose="02020603050405020304" pitchFamily="18" charset="0"/>
                      </a:endParaRPr>
                    </a:p>
                    <a:p>
                      <a:endParaRPr lang="fr-FR" b="1" dirty="0">
                        <a:solidFill>
                          <a:srgbClr val="80276C"/>
                        </a:solidFill>
                        <a:latin typeface="Times New Roman" panose="02020603050405020304" pitchFamily="18" charset="0"/>
                        <a:cs typeface="Times New Roman" panose="02020603050405020304" pitchFamily="18" charset="0"/>
                      </a:endParaRPr>
                    </a:p>
                    <a:p>
                      <a:r>
                        <a:rPr lang="fr-FR" sz="1600" b="0" dirty="0">
                          <a:solidFill>
                            <a:srgbClr val="80276C"/>
                          </a:solidFill>
                          <a:latin typeface="Times New Roman" panose="02020603050405020304" pitchFamily="18" charset="0"/>
                          <a:cs typeface="Times New Roman" panose="02020603050405020304" pitchFamily="18" charset="0"/>
                        </a:rPr>
                        <a:t>Possible use of Zotero software or </a:t>
                      </a:r>
                      <a:r>
                        <a:rPr lang="fr-FR" sz="1600" b="0" dirty="0" err="1">
                          <a:solidFill>
                            <a:srgbClr val="80276C"/>
                          </a:solidFill>
                          <a:latin typeface="Times New Roman" panose="02020603050405020304" pitchFamily="18" charset="0"/>
                          <a:cs typeface="Times New Roman" panose="02020603050405020304" pitchFamily="18" charset="0"/>
                        </a:rPr>
                        <a:t>other</a:t>
                      </a:r>
                      <a:r>
                        <a:rPr lang="fr-FR" sz="1600" b="0" dirty="0">
                          <a:solidFill>
                            <a:srgbClr val="80276C"/>
                          </a:solidFill>
                          <a:latin typeface="Times New Roman" panose="02020603050405020304" pitchFamily="18" charset="0"/>
                          <a:cs typeface="Times New Roman" panose="02020603050405020304" pitchFamily="18" charset="0"/>
                        </a:rPr>
                        <a:t> </a:t>
                      </a:r>
                      <a:r>
                        <a:rPr lang="fr-FR" sz="1600" b="0" dirty="0" err="1">
                          <a:solidFill>
                            <a:srgbClr val="80276C"/>
                          </a:solidFill>
                          <a:latin typeface="Times New Roman" panose="02020603050405020304" pitchFamily="18" charset="0"/>
                          <a:cs typeface="Times New Roman" panose="02020603050405020304" pitchFamily="18" charset="0"/>
                        </a:rPr>
                        <a:t>bibliographical</a:t>
                      </a:r>
                      <a:r>
                        <a:rPr lang="fr-FR" sz="1600" b="0" dirty="0">
                          <a:solidFill>
                            <a:srgbClr val="80276C"/>
                          </a:solidFill>
                          <a:latin typeface="Times New Roman" panose="02020603050405020304" pitchFamily="18" charset="0"/>
                          <a:cs typeface="Times New Roman" panose="02020603050405020304" pitchFamily="18" charset="0"/>
                        </a:rPr>
                        <a:t> management software https://www.zotero.org/support/</a:t>
                      </a:r>
                    </a:p>
                  </a:txBody>
                  <a:tcPr/>
                </a:tc>
                <a:extLst>
                  <a:ext uri="{0D108BD9-81ED-4DB2-BD59-A6C34878D82A}">
                    <a16:rowId xmlns:a16="http://schemas.microsoft.com/office/drawing/2014/main" val="2887470643"/>
                  </a:ext>
                </a:extLst>
              </a:tr>
            </a:tbl>
          </a:graphicData>
        </a:graphic>
      </p:graphicFrame>
      <p:sp>
        <p:nvSpPr>
          <p:cNvPr id="6" name="ZoneTexte 5">
            <a:extLst>
              <a:ext uri="{FF2B5EF4-FFF2-40B4-BE49-F238E27FC236}">
                <a16:creationId xmlns:a16="http://schemas.microsoft.com/office/drawing/2014/main" id="{A4183E02-618F-4075-ADFD-54341D7DCBF9}"/>
              </a:ext>
            </a:extLst>
          </p:cNvPr>
          <p:cNvSpPr txBox="1"/>
          <p:nvPr/>
        </p:nvSpPr>
        <p:spPr>
          <a:xfrm>
            <a:off x="534893" y="1840305"/>
            <a:ext cx="2162263" cy="3539430"/>
          </a:xfrm>
          <a:prstGeom prst="rect">
            <a:avLst/>
          </a:prstGeom>
          <a:solidFill>
            <a:schemeClr val="accent1"/>
          </a:solidFill>
        </p:spPr>
        <p:txBody>
          <a:bodyPr wrap="square" rtlCol="0">
            <a:spAutoFit/>
          </a:bodyPr>
          <a:lstStyle/>
          <a:p>
            <a:pPr algn="ctr"/>
            <a:r>
              <a:rPr lang="fr-FR" sz="2800" b="1" dirty="0" err="1">
                <a:solidFill>
                  <a:srgbClr val="FFC000"/>
                </a:solidFill>
                <a:latin typeface="Times New Roman" panose="02020603050405020304" pitchFamily="18" charset="0"/>
                <a:cs typeface="Times New Roman" panose="02020603050405020304" pitchFamily="18" charset="0"/>
              </a:rPr>
              <a:t>Databases</a:t>
            </a:r>
            <a:r>
              <a:rPr lang="fr-FR" sz="2800" b="1" dirty="0">
                <a:solidFill>
                  <a:srgbClr val="FFC000"/>
                </a:solidFill>
                <a:latin typeface="Times New Roman" panose="02020603050405020304" pitchFamily="18" charset="0"/>
                <a:cs typeface="Times New Roman" panose="02020603050405020304" pitchFamily="18" charset="0"/>
              </a:rPr>
              <a:t>, </a:t>
            </a:r>
          </a:p>
          <a:p>
            <a:pPr algn="ctr"/>
            <a:endParaRPr lang="fr-FR" sz="2800" b="1" dirty="0">
              <a:solidFill>
                <a:srgbClr val="FFC000"/>
              </a:solidFill>
              <a:latin typeface="Times New Roman" panose="02020603050405020304" pitchFamily="18" charset="0"/>
              <a:cs typeface="Times New Roman" panose="02020603050405020304" pitchFamily="18" charset="0"/>
            </a:endParaRPr>
          </a:p>
          <a:p>
            <a:pPr algn="ctr"/>
            <a:r>
              <a:rPr lang="fr-FR" sz="2800" b="1" dirty="0" err="1">
                <a:solidFill>
                  <a:srgbClr val="FFC000"/>
                </a:solidFill>
                <a:latin typeface="Times New Roman" panose="02020603050405020304" pitchFamily="18" charset="0"/>
                <a:cs typeface="Times New Roman" panose="02020603050405020304" pitchFamily="18" charset="0"/>
              </a:rPr>
              <a:t>Search</a:t>
            </a:r>
            <a:r>
              <a:rPr lang="fr-FR" sz="2800" b="1" dirty="0">
                <a:solidFill>
                  <a:srgbClr val="FFC000"/>
                </a:solidFill>
                <a:latin typeface="Times New Roman" panose="02020603050405020304" pitchFamily="18" charset="0"/>
                <a:cs typeface="Times New Roman" panose="02020603050405020304" pitchFamily="18" charset="0"/>
              </a:rPr>
              <a:t> engines</a:t>
            </a:r>
          </a:p>
          <a:p>
            <a:pPr algn="ctr"/>
            <a:endParaRPr lang="fr-FR" sz="2800" b="1" dirty="0">
              <a:solidFill>
                <a:srgbClr val="FFC000"/>
              </a:solidFill>
              <a:latin typeface="Times New Roman" panose="02020603050405020304" pitchFamily="18" charset="0"/>
              <a:cs typeface="Times New Roman" panose="02020603050405020304" pitchFamily="18" charset="0"/>
            </a:endParaRPr>
          </a:p>
          <a:p>
            <a:pPr algn="ctr"/>
            <a:r>
              <a:rPr lang="fr-FR" sz="2800" b="1" dirty="0">
                <a:solidFill>
                  <a:srgbClr val="FFC000"/>
                </a:solidFill>
                <a:latin typeface="Times New Roman" panose="02020603050405020304" pitchFamily="18" charset="0"/>
                <a:cs typeface="Times New Roman" panose="02020603050405020304" pitchFamily="18" charset="0"/>
              </a:rPr>
              <a:t>And </a:t>
            </a:r>
            <a:r>
              <a:rPr lang="fr-FR" sz="2800" b="1" dirty="0" err="1">
                <a:solidFill>
                  <a:srgbClr val="FFC000"/>
                </a:solidFill>
                <a:latin typeface="Times New Roman" panose="02020603050405020304" pitchFamily="18" charset="0"/>
                <a:cs typeface="Times New Roman" panose="02020603050405020304" pitchFamily="18" charset="0"/>
              </a:rPr>
              <a:t>other</a:t>
            </a:r>
            <a:r>
              <a:rPr lang="fr-FR" sz="2800" b="1" dirty="0">
                <a:solidFill>
                  <a:srgbClr val="FFC000"/>
                </a:solidFill>
                <a:latin typeface="Times New Roman" panose="02020603050405020304" pitchFamily="18" charset="0"/>
                <a:cs typeface="Times New Roman" panose="02020603050405020304" pitchFamily="18" charset="0"/>
              </a:rPr>
              <a:t> </a:t>
            </a:r>
            <a:r>
              <a:rPr lang="fr-FR" sz="2800" b="1" dirty="0" err="1">
                <a:solidFill>
                  <a:srgbClr val="FFC000"/>
                </a:solidFill>
                <a:latin typeface="Times New Roman" panose="02020603050405020304" pitchFamily="18" charset="0"/>
                <a:cs typeface="Times New Roman" panose="02020603050405020304" pitchFamily="18" charset="0"/>
              </a:rPr>
              <a:t>tools</a:t>
            </a:r>
            <a:r>
              <a:rPr lang="fr-FR" sz="2800" b="1" dirty="0">
                <a:solidFill>
                  <a:srgbClr val="FFC000"/>
                </a:solidFill>
                <a:latin typeface="Times New Roman" panose="02020603050405020304" pitchFamily="18" charset="0"/>
                <a:cs typeface="Times New Roman" panose="02020603050405020304" pitchFamily="18" charset="0"/>
              </a:rPr>
              <a:t> </a:t>
            </a:r>
            <a:r>
              <a:rPr lang="fr-FR" sz="2800" b="1" dirty="0" err="1">
                <a:solidFill>
                  <a:srgbClr val="FFC000"/>
                </a:solidFill>
                <a:latin typeface="Times New Roman" panose="02020603050405020304" pitchFamily="18" charset="0"/>
                <a:cs typeface="Times New Roman" panose="02020603050405020304" pitchFamily="18" charset="0"/>
              </a:rPr>
              <a:t>addressed</a:t>
            </a:r>
            <a:endParaRPr lang="fr-FR" sz="2800" b="1"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321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C663E8D-3CA7-46F5-A355-7ED2219D3498}"/>
              </a:ext>
            </a:extLst>
          </p:cNvPr>
          <p:cNvSpPr>
            <a:spLocks noGrp="1"/>
          </p:cNvSpPr>
          <p:nvPr>
            <p:ph type="body" sz="quarter" idx="11"/>
          </p:nvPr>
        </p:nvSpPr>
        <p:spPr/>
        <p:txBody>
          <a:bodyPr/>
          <a:lstStyle/>
          <a:p>
            <a:endParaRPr lang="fr-FR"/>
          </a:p>
        </p:txBody>
      </p:sp>
      <p:graphicFrame>
        <p:nvGraphicFramePr>
          <p:cNvPr id="3" name="Tableau 2">
            <a:extLst>
              <a:ext uri="{FF2B5EF4-FFF2-40B4-BE49-F238E27FC236}">
                <a16:creationId xmlns:a16="http://schemas.microsoft.com/office/drawing/2014/main" id="{A30D65A1-77C7-4A5F-AFBB-07DF6FAD75F2}"/>
              </a:ext>
            </a:extLst>
          </p:cNvPr>
          <p:cNvGraphicFramePr>
            <a:graphicFrameLocks noGrp="1"/>
          </p:cNvGraphicFramePr>
          <p:nvPr>
            <p:extLst>
              <p:ext uri="{D42A27DB-BD31-4B8C-83A1-F6EECF244321}">
                <p14:modId xmlns:p14="http://schemas.microsoft.com/office/powerpoint/2010/main" val="158626940"/>
              </p:ext>
            </p:extLst>
          </p:nvPr>
        </p:nvGraphicFramePr>
        <p:xfrm>
          <a:off x="3328416" y="42530"/>
          <a:ext cx="8485632" cy="6652217"/>
        </p:xfrm>
        <a:graphic>
          <a:graphicData uri="http://schemas.openxmlformats.org/drawingml/2006/table">
            <a:tbl>
              <a:tblPr firstRow="1" bandRow="1">
                <a:tableStyleId>{00A15C55-8517-42AA-B614-E9B94910E393}</a:tableStyleId>
              </a:tblPr>
              <a:tblGrid>
                <a:gridCol w="4238884">
                  <a:extLst>
                    <a:ext uri="{9D8B030D-6E8A-4147-A177-3AD203B41FA5}">
                      <a16:colId xmlns:a16="http://schemas.microsoft.com/office/drawing/2014/main" val="2331229314"/>
                    </a:ext>
                  </a:extLst>
                </a:gridCol>
                <a:gridCol w="4246748">
                  <a:extLst>
                    <a:ext uri="{9D8B030D-6E8A-4147-A177-3AD203B41FA5}">
                      <a16:colId xmlns:a16="http://schemas.microsoft.com/office/drawing/2014/main" val="3091930364"/>
                    </a:ext>
                  </a:extLst>
                </a:gridCol>
              </a:tblGrid>
              <a:tr h="401075">
                <a:tc>
                  <a:txBody>
                    <a:bodyPr/>
                    <a:lstStyle/>
                    <a:p>
                      <a:pPr algn="ctr"/>
                      <a:r>
                        <a:rPr lang="fr-FR" sz="2000" dirty="0">
                          <a:solidFill>
                            <a:srgbClr val="80276C"/>
                          </a:solidFill>
                          <a:latin typeface="Times New Roman" panose="02020603050405020304" pitchFamily="18" charset="0"/>
                          <a:cs typeface="Times New Roman" panose="02020603050405020304" pitchFamily="18" charset="0"/>
                        </a:rPr>
                        <a:t>PROS</a:t>
                      </a:r>
                    </a:p>
                  </a:txBody>
                  <a:tcPr/>
                </a:tc>
                <a:tc>
                  <a:txBody>
                    <a:bodyPr/>
                    <a:lstStyle/>
                    <a:p>
                      <a:pPr algn="ctr"/>
                      <a:r>
                        <a:rPr lang="fr-FR" sz="2000" b="0" dirty="0">
                          <a:solidFill>
                            <a:srgbClr val="80276C"/>
                          </a:solidFill>
                          <a:latin typeface="Times New Roman" panose="02020603050405020304" pitchFamily="18" charset="0"/>
                          <a:cs typeface="Times New Roman" panose="02020603050405020304" pitchFamily="18" charset="0"/>
                        </a:rPr>
                        <a:t> </a:t>
                      </a:r>
                      <a:r>
                        <a:rPr lang="fr-FR" sz="2000" b="1" dirty="0">
                          <a:solidFill>
                            <a:srgbClr val="80276C"/>
                          </a:solidFill>
                          <a:latin typeface="Times New Roman" panose="02020603050405020304" pitchFamily="18" charset="0"/>
                          <a:cs typeface="Times New Roman" panose="02020603050405020304" pitchFamily="18" charset="0"/>
                        </a:rPr>
                        <a:t>CONS</a:t>
                      </a:r>
                    </a:p>
                  </a:txBody>
                  <a:tcPr/>
                </a:tc>
                <a:extLst>
                  <a:ext uri="{0D108BD9-81ED-4DB2-BD59-A6C34878D82A}">
                    <a16:rowId xmlns:a16="http://schemas.microsoft.com/office/drawing/2014/main" val="1571165823"/>
                  </a:ext>
                </a:extLst>
              </a:tr>
              <a:tr h="1720894">
                <a:tc>
                  <a:txBody>
                    <a:bodyPr/>
                    <a:lstStyle/>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paid</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multidisciplinary</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database</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of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bibliographic</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references</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secondary</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sources) set up in 2004 by Elsevier, the world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biggest</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producer</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than</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97 million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references</a:t>
                      </a:r>
                      <a:endPar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engine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which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seems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to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be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less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multilingual</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than</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Google Scholar</a:t>
                      </a:r>
                    </a:p>
                  </a:txBody>
                  <a:tcPr/>
                </a:tc>
                <a:extLst>
                  <a:ext uri="{0D108BD9-81ED-4DB2-BD59-A6C34878D82A}">
                    <a16:rowId xmlns:a16="http://schemas.microsoft.com/office/drawing/2014/main" val="3847858408"/>
                  </a:ext>
                </a:extLst>
              </a:tr>
              <a:tr h="2008470">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Bibliometric</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tool</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since</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1996,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quotation</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analysis</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author</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institution and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periodical</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assessments</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  +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than</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948 000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affiliated</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profiles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Spectific</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Times New Roman" panose="02020603050405020304" pitchFamily="18" charset="0"/>
                          <a:cs typeface="Times New Roman" panose="02020603050405020304" pitchFamily="18" charset="0"/>
                        </a:rPr>
                        <a:t>filters</a:t>
                      </a:r>
                      <a:r>
                        <a:rPr kumimoji="0" lang="fr-FR" sz="1800" b="1" i="0" u="none" strike="noStrike" kern="1200" cap="none" spc="0" normalizeH="0" baseline="0" noProof="0" dirty="0">
                          <a:ln>
                            <a:noFill/>
                          </a:ln>
                          <a:solidFill>
                            <a:srgbClr val="80276C"/>
                          </a:solidFill>
                          <a:effectLst/>
                          <a:uLnTx/>
                          <a:uFillTx/>
                          <a:latin typeface="Times New Roman" panose="02020603050405020304" pitchFamily="18" charset="0"/>
                          <a:cs typeface="Times New Roman" panose="02020603050405020304" pitchFamily="18" charset="0"/>
                        </a:rPr>
                        <a:t> about sponsors and affiliation</a:t>
                      </a:r>
                    </a:p>
                  </a:txBody>
                  <a:tcPr/>
                </a:tc>
                <a:tc>
                  <a:txBody>
                    <a:bodyPr/>
                    <a:lstStyle/>
                    <a:p>
                      <a:pPr marL="285750" indent="-285750" algn="just">
                        <a:buFont typeface="Wingdings" panose="05000000000000000000" pitchFamily="2" charset="2"/>
                        <a:buChar char="v"/>
                      </a:pPr>
                      <a:r>
                        <a:rPr lang="fr-FR" dirty="0"/>
                        <a:t> </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Access to the full-</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text</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article or document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only</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if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school</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has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subscribed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to the journal or if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it</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is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an open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access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document and more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easily</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through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website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of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publisher</a:t>
                      </a: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953576439"/>
                  </a:ext>
                </a:extLst>
              </a:tr>
              <a:tr h="1232382">
                <a:tc>
                  <a:txBody>
                    <a:bodyPr/>
                    <a:lstStyle/>
                    <a:p>
                      <a:pPr marL="285750" indent="-285750" algn="just">
                        <a:buFont typeface="Wingdings" panose="05000000000000000000" pitchFamily="2" charset="2"/>
                        <a:buChar char="v"/>
                      </a:pP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Covers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among</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other</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things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engineering science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computing</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mathematics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physics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and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chemistry</a:t>
                      </a: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txBody>
                  <a:tcPr/>
                </a:tc>
                <a:tc>
                  <a:txBody>
                    <a:bodyPr/>
                    <a:lstStyle/>
                    <a:p>
                      <a:endParaRPr lang="fr-FR" dirty="0"/>
                    </a:p>
                  </a:txBody>
                  <a:tcPr/>
                </a:tc>
                <a:extLst>
                  <a:ext uri="{0D108BD9-81ED-4DB2-BD59-A6C34878D82A}">
                    <a16:rowId xmlns:a16="http://schemas.microsoft.com/office/drawing/2014/main" val="2452258929"/>
                  </a:ext>
                </a:extLst>
              </a:tr>
              <a:tr h="1289396">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Assessed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information and reliable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scientific</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documents,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validated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and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reviewed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by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peers</a:t>
                      </a: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txBody>
                  <a:tcPr/>
                </a:tc>
                <a:tc>
                  <a:txBody>
                    <a:bodyPr/>
                    <a:lstStyle/>
                    <a:p>
                      <a:endParaRPr lang="fr-FR" dirty="0"/>
                    </a:p>
                  </a:txBody>
                  <a:tcPr/>
                </a:tc>
                <a:extLst>
                  <a:ext uri="{0D108BD9-81ED-4DB2-BD59-A6C34878D82A}">
                    <a16:rowId xmlns:a16="http://schemas.microsoft.com/office/drawing/2014/main" val="2567804318"/>
                  </a:ext>
                </a:extLst>
              </a:tr>
            </a:tbl>
          </a:graphicData>
        </a:graphic>
      </p:graphicFrame>
      <p:sp>
        <p:nvSpPr>
          <p:cNvPr id="4" name="Titre 1">
            <a:extLst>
              <a:ext uri="{FF2B5EF4-FFF2-40B4-BE49-F238E27FC236}">
                <a16:creationId xmlns:a16="http://schemas.microsoft.com/office/drawing/2014/main" id="{231FC2BE-85F0-4EFC-B6E3-7AFF1F124252}"/>
              </a:ext>
            </a:extLst>
          </p:cNvPr>
          <p:cNvSpPr txBox="1">
            <a:spLocks/>
          </p:cNvSpPr>
          <p:nvPr/>
        </p:nvSpPr>
        <p:spPr>
          <a:xfrm>
            <a:off x="377952" y="1684281"/>
            <a:ext cx="2372139" cy="1845303"/>
          </a:xfrm>
          <a:prstGeom prst="rect">
            <a:avLst/>
          </a:prstGeom>
          <a:solidFill>
            <a:schemeClr val="accent5"/>
          </a:solidFill>
        </p:spPr>
        <p:txBody>
          <a:bodyPr>
            <a:normAutofit fontScale="90000" lnSpcReduction="20000"/>
          </a:bodyPr>
          <a:lstStyle>
            <a:lvl1pPr algn="l" defTabSz="914400" rtl="0" eaLnBrk="1" latinLnBrk="0" hangingPunct="1">
              <a:lnSpc>
                <a:spcPct val="90000"/>
              </a:lnSpc>
              <a:spcBef>
                <a:spcPct val="0"/>
              </a:spcBef>
              <a:buNone/>
              <a:defRPr sz="4000" b="1" kern="1200">
                <a:solidFill>
                  <a:schemeClr val="tx1"/>
                </a:solidFill>
                <a:latin typeface="Verdana" panose="020B0604030504040204" pitchFamily="34" charset="0"/>
                <a:ea typeface="Verdana" panose="020B0604030504040204" pitchFamily="34"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4100" b="1" i="0" u="none" strike="noStrike" kern="1200" cap="none" spc="0" normalizeH="0" baseline="0" noProof="0" dirty="0" err="1">
                <a:ln>
                  <a:noFill/>
                </a:ln>
                <a:solidFill>
                  <a:prstClr val="white"/>
                </a:solidFill>
                <a:effectLst/>
                <a:uLnTx/>
                <a:uFillTx/>
                <a:latin typeface="Times New Roman" panose="02020603050405020304" pitchFamily="18" charset="0"/>
                <a:cs typeface="Times New Roman" panose="02020603050405020304" pitchFamily="18" charset="0"/>
              </a:rPr>
              <a:t>Scopus</a:t>
            </a:r>
            <a:endParaRPr kumimoji="0" lang="fr-FR" sz="41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lang="fr-FR" sz="4100" dirty="0">
                <a:solidFill>
                  <a:prstClr val="white"/>
                </a:solidFill>
                <a:latin typeface="Times New Roman" panose="02020603050405020304" pitchFamily="18" charset="0"/>
                <a:cs typeface="Times New Roman" panose="02020603050405020304" pitchFamily="18" charset="0"/>
              </a:rPr>
              <a:t>(</a:t>
            </a:r>
            <a:r>
              <a:rPr lang="fr-FR" sz="3700" dirty="0">
                <a:solidFill>
                  <a:prstClr val="white"/>
                </a:solidFill>
                <a:latin typeface="Times New Roman" panose="02020603050405020304" pitchFamily="18" charset="0"/>
                <a:cs typeface="Times New Roman" panose="02020603050405020304" pitchFamily="18" charset="0"/>
              </a:rPr>
              <a:t>Elsevier</a:t>
            </a:r>
            <a:r>
              <a:rPr lang="fr-FR" sz="4100" dirty="0">
                <a:solidFill>
                  <a:prstClr val="white"/>
                </a:solidFill>
                <a:latin typeface="Times New Roman" panose="02020603050405020304" pitchFamily="18" charset="0"/>
                <a:cs typeface="Times New Roman" panose="02020603050405020304" pitchFamily="18" charset="0"/>
              </a:rPr>
              <a:t>)</a:t>
            </a:r>
            <a:r>
              <a:rPr kumimoji="0" lang="fr-FR" sz="3700" b="1"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br>
              <a:rPr kumimoji="0" lang="fr-FR" sz="40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br>
            <a:br>
              <a:rPr kumimoji="0" lang="fr-FR" sz="40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br>
            <a:endParaRPr kumimoji="0" lang="fr-FR" sz="40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2890184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56ECDF8-BDD5-97EC-EEB5-5A7E0C82AC5F}"/>
              </a:ext>
            </a:extLst>
          </p:cNvPr>
          <p:cNvSpPr>
            <a:spLocks noGrp="1"/>
          </p:cNvSpPr>
          <p:nvPr>
            <p:ph type="body" sz="quarter" idx="11"/>
          </p:nvPr>
        </p:nvSpPr>
        <p:spPr>
          <a:xfrm>
            <a:off x="6096000" y="788671"/>
            <a:ext cx="5472230" cy="4940156"/>
          </a:xfrm>
        </p:spPr>
        <p:txBody>
          <a:bodyPr>
            <a:normAutofit fontScale="92500" lnSpcReduction="10000"/>
          </a:bodyPr>
          <a:lstStyle/>
          <a:p>
            <a:r>
              <a:rPr lang="fr-FR" sz="1800" b="0" dirty="0" err="1"/>
              <a:t>What</a:t>
            </a:r>
            <a:r>
              <a:rPr lang="fr-FR" sz="1800" b="0" dirty="0"/>
              <a:t> </a:t>
            </a:r>
            <a:r>
              <a:rPr lang="fr-FR" sz="1800" b="0" dirty="0" err="1"/>
              <a:t>is</a:t>
            </a:r>
            <a:r>
              <a:rPr lang="fr-FR" sz="1800" b="0" dirty="0"/>
              <a:t> the </a:t>
            </a:r>
            <a:r>
              <a:rPr lang="fr-FR" sz="1800" b="0" dirty="0" err="1"/>
              <a:t>difference</a:t>
            </a:r>
            <a:r>
              <a:rPr lang="fr-FR" sz="1800" b="0" dirty="0"/>
              <a:t> </a:t>
            </a:r>
            <a:r>
              <a:rPr lang="fr-FR" sz="1800" b="0" dirty="0" err="1"/>
              <a:t>between</a:t>
            </a:r>
            <a:r>
              <a:rPr lang="fr-FR" sz="1800" b="0" dirty="0"/>
              <a:t> </a:t>
            </a:r>
            <a:r>
              <a:rPr lang="fr-FR" sz="1800" b="0" dirty="0" err="1"/>
              <a:t>ScienceDirect</a:t>
            </a:r>
            <a:r>
              <a:rPr lang="fr-FR" sz="1800" b="0" dirty="0"/>
              <a:t> and Scopus data?</a:t>
            </a:r>
          </a:p>
          <a:p>
            <a:r>
              <a:rPr lang="fr-FR" sz="1800" b="0" dirty="0" err="1">
                <a:hlinkClick r:id="rId2"/>
              </a:rPr>
              <a:t>ScienceDirect</a:t>
            </a:r>
            <a:r>
              <a:rPr lang="fr-FR" sz="1800" b="0" dirty="0"/>
              <a:t> and </a:t>
            </a:r>
            <a:r>
              <a:rPr lang="fr-FR" sz="1800" b="0" dirty="0">
                <a:hlinkClick r:id="rId3"/>
              </a:rPr>
              <a:t>Scopus</a:t>
            </a:r>
            <a:r>
              <a:rPr lang="fr-FR" sz="1800" b="0" dirty="0"/>
              <a:t> use </a:t>
            </a:r>
            <a:r>
              <a:rPr lang="fr-FR" sz="1800" b="0" dirty="0" err="1"/>
              <a:t>two</a:t>
            </a:r>
            <a:r>
              <a:rPr lang="fr-FR" sz="1800" b="0" dirty="0"/>
              <a:t> </a:t>
            </a:r>
            <a:r>
              <a:rPr lang="fr-FR" sz="1800" b="0" dirty="0" err="1"/>
              <a:t>different</a:t>
            </a:r>
            <a:r>
              <a:rPr lang="fr-FR" sz="1800" b="0" dirty="0"/>
              <a:t> </a:t>
            </a:r>
            <a:r>
              <a:rPr lang="fr-FR" sz="1800" b="0" dirty="0" err="1"/>
              <a:t>databases</a:t>
            </a:r>
            <a:r>
              <a:rPr lang="fr-FR" sz="1800" b="0" dirty="0"/>
              <a:t>.</a:t>
            </a:r>
          </a:p>
          <a:p>
            <a:r>
              <a:rPr lang="fr-FR" sz="1800" b="0" dirty="0" err="1"/>
              <a:t>ScienceDirect</a:t>
            </a:r>
            <a:r>
              <a:rPr lang="fr-FR" sz="1800" b="0" dirty="0"/>
              <a:t> </a:t>
            </a:r>
            <a:r>
              <a:rPr lang="fr-FR" sz="1800" b="0" dirty="0" err="1"/>
              <a:t>contains</a:t>
            </a:r>
            <a:r>
              <a:rPr lang="fr-FR" sz="1800" b="0" dirty="0"/>
              <a:t> </a:t>
            </a:r>
            <a:r>
              <a:rPr lang="fr-FR" sz="1800" dirty="0"/>
              <a:t>full </a:t>
            </a:r>
            <a:r>
              <a:rPr lang="fr-FR" sz="1800" dirty="0" err="1"/>
              <a:t>text</a:t>
            </a:r>
            <a:r>
              <a:rPr lang="fr-FR" sz="1800" dirty="0"/>
              <a:t> articles </a:t>
            </a:r>
            <a:r>
              <a:rPr lang="fr-FR" sz="1800" b="0" dirty="0" err="1"/>
              <a:t>from</a:t>
            </a:r>
            <a:r>
              <a:rPr lang="fr-FR" sz="1800" b="0" dirty="0"/>
              <a:t> </a:t>
            </a:r>
            <a:r>
              <a:rPr lang="fr-FR" sz="1800" b="0" dirty="0" err="1"/>
              <a:t>journals</a:t>
            </a:r>
            <a:r>
              <a:rPr lang="fr-FR" sz="1800" b="0" dirty="0"/>
              <a:t> and books, </a:t>
            </a:r>
            <a:r>
              <a:rPr lang="fr-FR" sz="1800" b="0" dirty="0" err="1"/>
              <a:t>primarily</a:t>
            </a:r>
            <a:r>
              <a:rPr lang="fr-FR" sz="1800" b="0" dirty="0"/>
              <a:t> </a:t>
            </a:r>
            <a:r>
              <a:rPr lang="fr-FR" sz="1800" b="0" dirty="0" err="1"/>
              <a:t>published</a:t>
            </a:r>
            <a:r>
              <a:rPr lang="fr-FR" sz="1800" b="0" dirty="0"/>
              <a:t> by Elsevier, but </a:t>
            </a:r>
            <a:r>
              <a:rPr lang="fr-FR" sz="1800" b="0" dirty="0" err="1"/>
              <a:t>including</a:t>
            </a:r>
            <a:r>
              <a:rPr lang="fr-FR" sz="1800" b="0" dirty="0"/>
              <a:t> </a:t>
            </a:r>
            <a:r>
              <a:rPr lang="fr-FR" sz="1800" b="0" dirty="0" err="1"/>
              <a:t>some</a:t>
            </a:r>
            <a:r>
              <a:rPr lang="fr-FR" sz="1800" b="0" dirty="0"/>
              <a:t> </a:t>
            </a:r>
            <a:r>
              <a:rPr lang="fr-FR" sz="1800" b="0" dirty="0" err="1"/>
              <a:t>hosted</a:t>
            </a:r>
            <a:r>
              <a:rPr lang="fr-FR" sz="1800" b="0" dirty="0"/>
              <a:t> </a:t>
            </a:r>
            <a:r>
              <a:rPr lang="fr-FR" sz="1800" b="0" dirty="0" err="1"/>
              <a:t>societies</a:t>
            </a:r>
            <a:r>
              <a:rPr lang="fr-FR" sz="1800" b="0" dirty="0"/>
              <a:t>.</a:t>
            </a:r>
          </a:p>
          <a:p>
            <a:r>
              <a:rPr lang="fr-FR" sz="1800" b="0" dirty="0"/>
              <a:t>Scopus </a:t>
            </a:r>
            <a:r>
              <a:rPr lang="fr-FR" sz="1800" dirty="0"/>
              <a:t>indexes </a:t>
            </a:r>
            <a:r>
              <a:rPr lang="fr-FR" sz="1800" dirty="0" err="1"/>
              <a:t>metadata</a:t>
            </a:r>
            <a:r>
              <a:rPr lang="fr-FR" sz="1800" dirty="0"/>
              <a:t> </a:t>
            </a:r>
            <a:r>
              <a:rPr lang="fr-FR" sz="1800" dirty="0" err="1"/>
              <a:t>from</a:t>
            </a:r>
            <a:r>
              <a:rPr lang="fr-FR" sz="1800" dirty="0"/>
              <a:t> abstracts and </a:t>
            </a:r>
            <a:r>
              <a:rPr lang="fr-FR" sz="1800" dirty="0" err="1"/>
              <a:t>references</a:t>
            </a:r>
            <a:r>
              <a:rPr lang="fr-FR" sz="1800" b="0" dirty="0"/>
              <a:t> of </a:t>
            </a:r>
            <a:r>
              <a:rPr lang="fr-FR" sz="1800" b="0" dirty="0" err="1"/>
              <a:t>thousands</a:t>
            </a:r>
            <a:r>
              <a:rPr lang="fr-FR" sz="1800" b="0" dirty="0"/>
              <a:t> of </a:t>
            </a:r>
            <a:r>
              <a:rPr lang="fr-FR" sz="1800" b="0" dirty="0" err="1"/>
              <a:t>publishers</a:t>
            </a:r>
            <a:r>
              <a:rPr lang="fr-FR" sz="1800" b="0" dirty="0"/>
              <a:t>, </a:t>
            </a:r>
            <a:r>
              <a:rPr lang="fr-FR" sz="1800" b="0" dirty="0" err="1"/>
              <a:t>including</a:t>
            </a:r>
            <a:r>
              <a:rPr lang="fr-FR" sz="1800" b="0" dirty="0"/>
              <a:t> Elsevier. Scopus </a:t>
            </a:r>
            <a:r>
              <a:rPr lang="fr-FR" sz="1800" b="0" dirty="0" err="1"/>
              <a:t>builds</a:t>
            </a:r>
            <a:r>
              <a:rPr lang="fr-FR" sz="1800" b="0" dirty="0"/>
              <a:t> </a:t>
            </a:r>
            <a:r>
              <a:rPr lang="fr-FR" sz="1800" b="0" dirty="0" err="1"/>
              <a:t>additional</a:t>
            </a:r>
            <a:r>
              <a:rPr lang="fr-FR" sz="1800" b="0" dirty="0"/>
              <a:t> </a:t>
            </a:r>
            <a:r>
              <a:rPr lang="fr-FR" sz="1800" b="0" dirty="0" err="1"/>
              <a:t>functionality</a:t>
            </a:r>
            <a:r>
              <a:rPr lang="fr-FR" sz="1800" b="0" dirty="0"/>
              <a:t> on top of </a:t>
            </a:r>
            <a:r>
              <a:rPr lang="fr-FR" sz="1800" b="0" dirty="0" err="1"/>
              <a:t>that</a:t>
            </a:r>
            <a:r>
              <a:rPr lang="fr-FR" sz="1800" b="0" dirty="0"/>
              <a:t> </a:t>
            </a:r>
            <a:r>
              <a:rPr lang="fr-FR" sz="1800" b="0" dirty="0" err="1"/>
              <a:t>metadata</a:t>
            </a:r>
            <a:r>
              <a:rPr lang="fr-FR" sz="1800" b="0" dirty="0"/>
              <a:t>, </a:t>
            </a:r>
            <a:r>
              <a:rPr lang="fr-FR" sz="1800" b="0" dirty="0" err="1"/>
              <a:t>such</a:t>
            </a:r>
            <a:r>
              <a:rPr lang="fr-FR" sz="1800" b="0" dirty="0"/>
              <a:t> as citation </a:t>
            </a:r>
            <a:r>
              <a:rPr lang="fr-FR" sz="1800" b="0" dirty="0" err="1"/>
              <a:t>matching</a:t>
            </a:r>
            <a:r>
              <a:rPr lang="fr-FR" sz="1800" b="0" dirty="0"/>
              <a:t>, </a:t>
            </a:r>
            <a:r>
              <a:rPr lang="fr-FR" sz="1800" b="0" dirty="0" err="1"/>
              <a:t>author</a:t>
            </a:r>
            <a:r>
              <a:rPr lang="fr-FR" sz="1800" b="0" dirty="0"/>
              <a:t> profiles, and affiliation profiles. </a:t>
            </a:r>
            <a:r>
              <a:rPr lang="fr-FR" sz="1800" b="0" dirty="0">
                <a:hlinkClick r:id="rId4"/>
              </a:rPr>
              <a:t>Learn more about the </a:t>
            </a:r>
            <a:r>
              <a:rPr lang="fr-FR" sz="1800" b="0" dirty="0" err="1">
                <a:hlinkClick r:id="rId4"/>
              </a:rPr>
              <a:t>relationship</a:t>
            </a:r>
            <a:r>
              <a:rPr lang="fr-FR" sz="1800" b="0" dirty="0">
                <a:hlinkClick r:id="rId4"/>
              </a:rPr>
              <a:t> </a:t>
            </a:r>
            <a:r>
              <a:rPr lang="fr-FR" sz="1800" b="0" dirty="0" err="1">
                <a:hlinkClick r:id="rId4"/>
              </a:rPr>
              <a:t>between</a:t>
            </a:r>
            <a:r>
              <a:rPr lang="fr-FR" sz="1800" b="0" dirty="0">
                <a:hlinkClick r:id="rId4"/>
              </a:rPr>
              <a:t> article, </a:t>
            </a:r>
            <a:r>
              <a:rPr lang="fr-FR" sz="1800" b="0" dirty="0" err="1">
                <a:hlinkClick r:id="rId4"/>
              </a:rPr>
              <a:t>author</a:t>
            </a:r>
            <a:r>
              <a:rPr lang="fr-FR" sz="1800" b="0" dirty="0">
                <a:hlinkClick r:id="rId4"/>
              </a:rPr>
              <a:t>, and affiliation</a:t>
            </a:r>
            <a:r>
              <a:rPr lang="fr-FR" sz="1800" b="0" dirty="0"/>
              <a:t>.</a:t>
            </a:r>
          </a:p>
          <a:p>
            <a:r>
              <a:rPr lang="fr-FR" sz="1800" b="0" dirty="0"/>
              <a:t>Scopus indexes </a:t>
            </a:r>
            <a:r>
              <a:rPr lang="fr-FR" sz="1800" b="0" dirty="0" err="1"/>
              <a:t>nearly</a:t>
            </a:r>
            <a:r>
              <a:rPr lang="fr-FR" sz="1800" b="0" dirty="0"/>
              <a:t> the </a:t>
            </a:r>
            <a:r>
              <a:rPr lang="fr-FR" sz="1800" b="0" dirty="0" err="1"/>
              <a:t>entire</a:t>
            </a:r>
            <a:r>
              <a:rPr lang="fr-FR" sz="1800" b="0" dirty="0"/>
              <a:t> </a:t>
            </a:r>
            <a:r>
              <a:rPr lang="fr-FR" sz="1800" b="0" dirty="0" err="1"/>
              <a:t>ScienceDirect</a:t>
            </a:r>
            <a:r>
              <a:rPr lang="fr-FR" sz="1800" b="0" dirty="0"/>
              <a:t> </a:t>
            </a:r>
            <a:r>
              <a:rPr lang="fr-FR" sz="1800" b="0" dirty="0" err="1"/>
              <a:t>database</a:t>
            </a:r>
            <a:r>
              <a:rPr lang="fr-FR" sz="1800" b="0" dirty="0"/>
              <a:t>, </a:t>
            </a:r>
            <a:r>
              <a:rPr lang="fr-FR" sz="1800" dirty="0"/>
              <a:t>but </a:t>
            </a:r>
            <a:r>
              <a:rPr lang="fr-FR" sz="1800" dirty="0" err="1"/>
              <a:t>without</a:t>
            </a:r>
            <a:r>
              <a:rPr lang="fr-FR" sz="1800" dirty="0"/>
              <a:t> the articles’ full </a:t>
            </a:r>
            <a:r>
              <a:rPr lang="fr-FR" sz="1800" dirty="0" err="1"/>
              <a:t>text</a:t>
            </a:r>
            <a:r>
              <a:rPr lang="fr-FR" sz="1800" b="0" dirty="0"/>
              <a:t>. Scopus </a:t>
            </a:r>
            <a:r>
              <a:rPr lang="fr-FR" sz="1800" b="0" dirty="0" err="1"/>
              <a:t>builds</a:t>
            </a:r>
            <a:r>
              <a:rPr lang="fr-FR" sz="1800" b="0" dirty="0"/>
              <a:t> the profiles and </a:t>
            </a:r>
            <a:r>
              <a:rPr lang="fr-FR" sz="1800" b="0" dirty="0" err="1"/>
              <a:t>metrics</a:t>
            </a:r>
            <a:r>
              <a:rPr lang="fr-FR" sz="1800" b="0" dirty="0"/>
              <a:t> </a:t>
            </a:r>
            <a:r>
              <a:rPr lang="fr-FR" sz="1800" b="0" dirty="0" err="1"/>
              <a:t>using</a:t>
            </a:r>
            <a:r>
              <a:rPr lang="fr-FR" sz="1800" b="0" dirty="0"/>
              <a:t> </a:t>
            </a:r>
            <a:r>
              <a:rPr lang="fr-FR" sz="1800" b="0" dirty="0" err="1"/>
              <a:t>that</a:t>
            </a:r>
            <a:r>
              <a:rPr lang="fr-FR" sz="1800" b="0" dirty="0"/>
              <a:t> data.</a:t>
            </a:r>
          </a:p>
          <a:p>
            <a:r>
              <a:rPr lang="en-US" sz="1800" dirty="0">
                <a:hlinkClick r:id="rId5"/>
              </a:rPr>
              <a:t>Data as a Service Support Center</a:t>
            </a:r>
            <a:endParaRPr lang="fr-FR" sz="1800" b="0" dirty="0"/>
          </a:p>
          <a:p>
            <a:endParaRPr lang="fr-FR" dirty="0"/>
          </a:p>
        </p:txBody>
      </p:sp>
    </p:spTree>
    <p:extLst>
      <p:ext uri="{BB962C8B-B14F-4D97-AF65-F5344CB8AC3E}">
        <p14:creationId xmlns:p14="http://schemas.microsoft.com/office/powerpoint/2010/main" val="3992479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BBD44B-D0F2-4B69-A286-22DB2E2FDD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869" t="17735" r="33719" b="49507"/>
          <a:stretch/>
        </p:blipFill>
        <p:spPr bwMode="auto">
          <a:xfrm>
            <a:off x="267845" y="2206172"/>
            <a:ext cx="4939469" cy="2683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ZoneTexte 3">
            <a:extLst>
              <a:ext uri="{FF2B5EF4-FFF2-40B4-BE49-F238E27FC236}">
                <a16:creationId xmlns:a16="http://schemas.microsoft.com/office/drawing/2014/main" id="{4B115B42-4404-4F29-B305-1FBE05023569}"/>
              </a:ext>
            </a:extLst>
          </p:cNvPr>
          <p:cNvSpPr txBox="1"/>
          <p:nvPr/>
        </p:nvSpPr>
        <p:spPr>
          <a:xfrm>
            <a:off x="6096000" y="681511"/>
            <a:ext cx="4680520" cy="1477328"/>
          </a:xfrm>
          <a:prstGeom prst="rect">
            <a:avLst/>
          </a:prstGeom>
          <a:noFill/>
        </p:spPr>
        <p:txBody>
          <a:bodyPr wrap="square" rtlCol="0">
            <a:spAutoFit/>
          </a:bodyPr>
          <a:lstStyle/>
          <a:p>
            <a:pPr marL="285750" indent="-285750">
              <a:buFontTx/>
              <a:buChar char="-"/>
            </a:pPr>
            <a:r>
              <a:rPr lang="fr-FR" dirty="0" err="1"/>
              <a:t>Easy</a:t>
            </a:r>
            <a:r>
              <a:rPr lang="fr-FR" dirty="0"/>
              <a:t> to use and fast</a:t>
            </a:r>
          </a:p>
          <a:p>
            <a:pPr marL="285750" indent="-285750">
              <a:buFontTx/>
              <a:buChar char="-"/>
            </a:pPr>
            <a:r>
              <a:rPr lang="en-US" dirty="0"/>
              <a:t>Large coverage: international, multilingual</a:t>
            </a:r>
          </a:p>
          <a:p>
            <a:pPr marL="285750" indent="-285750">
              <a:buFontTx/>
              <a:buChar char="-"/>
            </a:pPr>
            <a:r>
              <a:rPr lang="en-US" dirty="0"/>
              <a:t>Free</a:t>
            </a:r>
          </a:p>
          <a:p>
            <a:pPr marL="285750" indent="-285750">
              <a:buFontTx/>
              <a:buChar char="-"/>
            </a:pPr>
            <a:r>
              <a:rPr lang="en-US" dirty="0"/>
              <a:t>Facilitates access to the full text</a:t>
            </a:r>
          </a:p>
          <a:p>
            <a:pPr marL="285750" indent="-285750">
              <a:buFontTx/>
              <a:buChar char="-"/>
            </a:pPr>
            <a:r>
              <a:rPr lang="en-US" dirty="0"/>
              <a:t>Citation index</a:t>
            </a:r>
            <a:endParaRPr lang="fr-FR" dirty="0"/>
          </a:p>
        </p:txBody>
      </p:sp>
      <p:sp>
        <p:nvSpPr>
          <p:cNvPr id="5" name="ZoneTexte 4">
            <a:extLst>
              <a:ext uri="{FF2B5EF4-FFF2-40B4-BE49-F238E27FC236}">
                <a16:creationId xmlns:a16="http://schemas.microsoft.com/office/drawing/2014/main" id="{9930392B-1425-463E-BF6D-BDD39E321E7B}"/>
              </a:ext>
            </a:extLst>
          </p:cNvPr>
          <p:cNvSpPr txBox="1"/>
          <p:nvPr/>
        </p:nvSpPr>
        <p:spPr>
          <a:xfrm>
            <a:off x="6003085" y="2551837"/>
            <a:ext cx="5832648" cy="1477328"/>
          </a:xfrm>
          <a:prstGeom prst="rect">
            <a:avLst/>
          </a:prstGeom>
          <a:noFill/>
        </p:spPr>
        <p:txBody>
          <a:bodyPr wrap="square" rtlCol="0">
            <a:spAutoFit/>
          </a:bodyPr>
          <a:lstStyle/>
          <a:p>
            <a:r>
              <a:rPr lang="en-US" dirty="0"/>
              <a:t>- Opacity (Sources? Coverage?? Algorithm???) </a:t>
            </a:r>
          </a:p>
          <a:p>
            <a:r>
              <a:rPr lang="en-US" dirty="0"/>
              <a:t>- Affiliations? </a:t>
            </a:r>
          </a:p>
          <a:p>
            <a:r>
              <a:rPr lang="en-US" dirty="0"/>
              <a:t>- Citations of non-peer-reviewed documents </a:t>
            </a:r>
          </a:p>
          <a:p>
            <a:r>
              <a:rPr lang="en-US" dirty="0"/>
              <a:t>- Few advanced options</a:t>
            </a:r>
            <a:endParaRPr lang="fr-FR" dirty="0"/>
          </a:p>
          <a:p>
            <a:endParaRPr lang="fr-FR" dirty="0"/>
          </a:p>
        </p:txBody>
      </p:sp>
    </p:spTree>
    <p:extLst>
      <p:ext uri="{BB962C8B-B14F-4D97-AF65-F5344CB8AC3E}">
        <p14:creationId xmlns:p14="http://schemas.microsoft.com/office/powerpoint/2010/main" val="648411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14820666-5BC3-4B7F-AEE7-92A3BB9A46AE}"/>
              </a:ext>
            </a:extLst>
          </p:cNvPr>
          <p:cNvGraphicFramePr>
            <a:graphicFrameLocks noGrp="1"/>
          </p:cNvGraphicFramePr>
          <p:nvPr/>
        </p:nvGraphicFramePr>
        <p:xfrm>
          <a:off x="360426" y="205739"/>
          <a:ext cx="11109960" cy="6765080"/>
        </p:xfrm>
        <a:graphic>
          <a:graphicData uri="http://schemas.openxmlformats.org/drawingml/2006/table">
            <a:tbl>
              <a:tblPr firstRow="1" bandRow="1">
                <a:tableStyleId>{00A15C55-8517-42AA-B614-E9B94910E393}</a:tableStyleId>
              </a:tblPr>
              <a:tblGrid>
                <a:gridCol w="5646291">
                  <a:extLst>
                    <a:ext uri="{9D8B030D-6E8A-4147-A177-3AD203B41FA5}">
                      <a16:colId xmlns:a16="http://schemas.microsoft.com/office/drawing/2014/main" val="2331229314"/>
                    </a:ext>
                  </a:extLst>
                </a:gridCol>
                <a:gridCol w="5463669">
                  <a:extLst>
                    <a:ext uri="{9D8B030D-6E8A-4147-A177-3AD203B41FA5}">
                      <a16:colId xmlns:a16="http://schemas.microsoft.com/office/drawing/2014/main" val="3091930364"/>
                    </a:ext>
                  </a:extLst>
                </a:gridCol>
              </a:tblGrid>
              <a:tr h="506837">
                <a:tc>
                  <a:txBody>
                    <a:bodyPr/>
                    <a:lstStyle/>
                    <a:p>
                      <a:pPr algn="ctr"/>
                      <a:r>
                        <a:rPr lang="fr-FR" sz="2000" dirty="0">
                          <a:solidFill>
                            <a:srgbClr val="80276C"/>
                          </a:solidFill>
                          <a:latin typeface="Times New Roman" panose="02020603050405020304" pitchFamily="18" charset="0"/>
                          <a:cs typeface="Times New Roman" panose="02020603050405020304" pitchFamily="18" charset="0"/>
                        </a:rPr>
                        <a:t>PROS</a:t>
                      </a:r>
                    </a:p>
                  </a:txBody>
                  <a:tcPr/>
                </a:tc>
                <a:tc>
                  <a:txBody>
                    <a:bodyPr/>
                    <a:lstStyle/>
                    <a:p>
                      <a:pPr algn="ctr"/>
                      <a:r>
                        <a:rPr lang="fr-FR" sz="2000" b="0" dirty="0">
                          <a:solidFill>
                            <a:srgbClr val="80276C"/>
                          </a:solidFill>
                          <a:latin typeface="Times New Roman" panose="02020603050405020304" pitchFamily="18" charset="0"/>
                          <a:cs typeface="Times New Roman" panose="02020603050405020304" pitchFamily="18" charset="0"/>
                        </a:rPr>
                        <a:t> </a:t>
                      </a:r>
                      <a:r>
                        <a:rPr lang="fr-FR" sz="2000" b="1" dirty="0">
                          <a:solidFill>
                            <a:srgbClr val="80276C"/>
                          </a:solidFill>
                          <a:latin typeface="Times New Roman" panose="02020603050405020304" pitchFamily="18" charset="0"/>
                          <a:cs typeface="Times New Roman" panose="02020603050405020304" pitchFamily="18" charset="0"/>
                        </a:rPr>
                        <a:t>CONS</a:t>
                      </a:r>
                    </a:p>
                  </a:txBody>
                  <a:tcPr/>
                </a:tc>
                <a:extLst>
                  <a:ext uri="{0D108BD9-81ED-4DB2-BD59-A6C34878D82A}">
                    <a16:rowId xmlns:a16="http://schemas.microsoft.com/office/drawing/2014/main" val="1571165823"/>
                  </a:ext>
                </a:extLst>
              </a:tr>
              <a:tr h="2721480">
                <a:tc>
                  <a:txBody>
                    <a:bodyPr/>
                    <a:lstStyle/>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Specialized</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engine set up in 2004, made up of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bibliographic</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references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from</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publishers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database</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trade</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producers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from</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magazines’  or Open Access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portals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(Hal)</a:t>
                      </a:r>
                    </a:p>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Eases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access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the full-</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text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document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notably</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when</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in open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access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includes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around</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400 million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references</a:t>
                      </a:r>
                      <a:endParaRPr lang="fr-FR" sz="1800" dirty="0">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Limited basic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advanced</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which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do not enable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you</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carry out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complex</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Complex</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algorithms</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make</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this</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engine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operate</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in an opaque and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unclear</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way</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p>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marR="0" lvl="0" indent="-285750" algn="just" defTabSz="685983"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Impossible to set up a long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equation</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would</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be</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cut</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off and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badly</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interpreted</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t>
                      </a:r>
                    </a:p>
                  </a:txBody>
                  <a:tcPr/>
                </a:tc>
                <a:extLst>
                  <a:ext uri="{0D108BD9-81ED-4DB2-BD59-A6C34878D82A}">
                    <a16:rowId xmlns:a16="http://schemas.microsoft.com/office/drawing/2014/main" val="3847858408"/>
                  </a:ext>
                </a:extLst>
              </a:tr>
              <a:tr h="1404635">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Monitoring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alerts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bibliometric</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tool</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with</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 index of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quotations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incorporated</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into</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free software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Harzing’s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Publish</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Perish</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(POP)  </a:t>
                      </a:r>
                    </a:p>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fr-FR" sz="1800" dirty="0">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fr-FR" sz="1800" dirty="0">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Scientific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validity</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reliability</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 documents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often</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questionable</a:t>
                      </a:r>
                      <a:endPar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indent="-285750" algn="just">
                        <a:lnSpc>
                          <a:spcPct val="100000"/>
                        </a:lnSpc>
                        <a:buFont typeface="Wingdings" panose="05000000000000000000" pitchFamily="2" charset="2"/>
                        <a:buChar char="v"/>
                      </a:pPr>
                      <a:endPar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1953576439"/>
                  </a:ext>
                </a:extLst>
              </a:tr>
              <a:tr h="877897">
                <a:tc>
                  <a:txBody>
                    <a:bodyPr/>
                    <a:lstStyle/>
                    <a:p>
                      <a:pPr marL="285750" indent="-285750" algn="just">
                        <a:lnSpc>
                          <a:spcPct val="100000"/>
                        </a:lnSpc>
                        <a:buFont typeface="Wingdings" panose="05000000000000000000" pitchFamily="2" charset="2"/>
                        <a:buChar char="v"/>
                      </a:pP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Large international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covering</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engine, more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multilingual</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than</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Scopus</a:t>
                      </a:r>
                      <a:endPar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indent="0" algn="just">
                        <a:lnSpc>
                          <a:spcPct val="100000"/>
                        </a:lnSpc>
                        <a:buFont typeface="Wingdings" panose="05000000000000000000" pitchFamily="2" charset="2"/>
                        <a:buNone/>
                      </a:pPr>
                      <a:endPar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indent="-285750" algn="just">
                        <a:lnSpc>
                          <a:spcPct val="100000"/>
                        </a:lnSpc>
                        <a:buFont typeface="Wingdings" panose="05000000000000000000" pitchFamily="2" charset="2"/>
                        <a:buChar char="v"/>
                      </a:pPr>
                      <a:r>
                        <a:rPr lang="fr-FR" sz="18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Truncation</a:t>
                      </a:r>
                      <a:r>
                        <a:rPr lang="fr-FR" sz="18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8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does</a:t>
                      </a:r>
                      <a:r>
                        <a:rPr lang="fr-FR" sz="18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not </a:t>
                      </a:r>
                      <a:r>
                        <a:rPr lang="fr-FR" sz="18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exist</a:t>
                      </a:r>
                      <a:r>
                        <a:rPr lang="fr-FR" sz="18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on Google, </a:t>
                      </a:r>
                      <a:r>
                        <a:rPr lang="fr-FR" sz="18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which</a:t>
                      </a:r>
                      <a:r>
                        <a:rPr lang="fr-FR" sz="18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t>
                      </a:r>
                      <a:r>
                        <a:rPr lang="fr-FR" sz="1800" b="1" dirty="0" err="1">
                          <a:solidFill>
                            <a:srgbClr val="80276C"/>
                          </a:solidFill>
                          <a:latin typeface="Verdana" panose="020B0604030504040204" pitchFamily="34" charset="0"/>
                          <a:ea typeface="Verdana" panose="020B0604030504040204" pitchFamily="34" charset="0"/>
                          <a:cs typeface="Times New Roman" panose="02020603050405020304" pitchFamily="18" charset="0"/>
                        </a:rPr>
                        <a:t>is</a:t>
                      </a:r>
                      <a:r>
                        <a:rPr lang="fr-FR" sz="1800" b="1" dirty="0">
                          <a:solidFill>
                            <a:srgbClr val="80276C"/>
                          </a:solidFill>
                          <a:latin typeface="Verdana" panose="020B0604030504040204" pitchFamily="34" charset="0"/>
                          <a:ea typeface="Verdana" panose="020B0604030504040204" pitchFamily="34" charset="0"/>
                          <a:cs typeface="Times New Roman" panose="02020603050405020304" pitchFamily="18" charset="0"/>
                        </a:rPr>
                        <a:t> a major drawback.</a:t>
                      </a:r>
                    </a:p>
                  </a:txBody>
                  <a:tcPr/>
                </a:tc>
                <a:extLst>
                  <a:ext uri="{0D108BD9-81ED-4DB2-BD59-A6C34878D82A}">
                    <a16:rowId xmlns:a16="http://schemas.microsoft.com/office/drawing/2014/main" val="2452258929"/>
                  </a:ext>
                </a:extLst>
              </a:tr>
              <a:tr h="1046163">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 user-</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friendly</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freemium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which</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encloses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old</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reference</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documents </a:t>
                      </a:r>
                      <a:r>
                        <a:rPr kumimoji="0" lang="fr-FR" sz="1800" b="1"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helpful</a:t>
                      </a:r>
                      <a:r>
                        <a:rPr kumimoji="0" lang="fr-FR" sz="1800" b="1"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for a  state-of-the-art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access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the full-</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text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document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necessarily</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free of charge</a:t>
                      </a:r>
                    </a:p>
                    <a:p>
                      <a:pPr algn="just">
                        <a:lnSpc>
                          <a:spcPct val="100000"/>
                        </a:lnSpc>
                      </a:pPr>
                      <a:endParaRPr lang="fr-FR" sz="1800" dirty="0">
                        <a:latin typeface="Verdana" panose="020B0604030504040204" pitchFamily="34"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2567804318"/>
                  </a:ext>
                </a:extLst>
              </a:tr>
            </a:tbl>
          </a:graphicData>
        </a:graphic>
      </p:graphicFrame>
    </p:spTree>
    <p:extLst>
      <p:ext uri="{BB962C8B-B14F-4D97-AF65-F5344CB8AC3E}">
        <p14:creationId xmlns:p14="http://schemas.microsoft.com/office/powerpoint/2010/main" val="3739842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AE96B50-8B2F-49DC-B8E7-3E89A2BC678B}"/>
              </a:ext>
            </a:extLst>
          </p:cNvPr>
          <p:cNvSpPr/>
          <p:nvPr/>
        </p:nvSpPr>
        <p:spPr>
          <a:xfrm>
            <a:off x="624840" y="575394"/>
            <a:ext cx="8756904" cy="1200329"/>
          </a:xfrm>
          <a:prstGeom prst="rect">
            <a:avLst/>
          </a:prstGeom>
        </p:spPr>
        <p:txBody>
          <a:bodyPr wrap="square">
            <a:spAutoFit/>
          </a:bodyPr>
          <a:lstStyle/>
          <a:p>
            <a:r>
              <a:rPr lang="en-US" dirty="0">
                <a:solidFill>
                  <a:srgbClr val="80276C"/>
                </a:solidFill>
                <a:hlinkClick r:id="rId3">
                  <a:extLst>
                    <a:ext uri="{A12FA001-AC4F-418D-AE19-62706E023703}">
                      <ahyp:hlinkClr xmlns:ahyp="http://schemas.microsoft.com/office/drawing/2018/hyperlinkcolor" val="tx"/>
                    </a:ext>
                  </a:extLst>
                </a:hlinkClick>
              </a:rPr>
              <a:t>Look it up in the online Scopus database</a:t>
            </a:r>
            <a:br>
              <a:rPr lang="en-US" dirty="0">
                <a:solidFill>
                  <a:srgbClr val="80276C"/>
                </a:solidFill>
              </a:rPr>
            </a:br>
            <a:r>
              <a:rPr lang="en-US" dirty="0">
                <a:solidFill>
                  <a:srgbClr val="80276C"/>
                </a:solidFill>
              </a:rPr>
              <a:t>(</a:t>
            </a:r>
            <a:r>
              <a:rPr lang="fr-FR" sz="1600" dirty="0">
                <a:solidFill>
                  <a:srgbClr val="80276C"/>
                </a:solidFill>
                <a:latin typeface="Times New Roman" panose="02020603050405020304" pitchFamily="18" charset="0"/>
                <a:cs typeface="Times New Roman" panose="02020603050405020304" pitchFamily="18" charset="0"/>
              </a:rPr>
              <a:t>“</a:t>
            </a:r>
            <a:r>
              <a:rPr lang="en-US" sz="1600" dirty="0">
                <a:solidFill>
                  <a:srgbClr val="80276C"/>
                </a:solidFill>
                <a:cs typeface="Times New Roman" panose="02020603050405020304" pitchFamily="18" charset="0"/>
              </a:rPr>
              <a:t>Machine Learning</a:t>
            </a:r>
            <a:r>
              <a:rPr lang="fr-FR" sz="1600" dirty="0">
                <a:solidFill>
                  <a:srgbClr val="80276C"/>
                </a:solidFill>
                <a:latin typeface="Times New Roman" panose="02020603050405020304" pitchFamily="18" charset="0"/>
                <a:cs typeface="Times New Roman" panose="02020603050405020304" pitchFamily="18" charset="0"/>
              </a:rPr>
              <a:t>"</a:t>
            </a:r>
            <a:r>
              <a:rPr lang="en-US" sz="1600" dirty="0">
                <a:solidFill>
                  <a:srgbClr val="80276C"/>
                </a:solidFill>
                <a:cs typeface="Times New Roman" panose="02020603050405020304" pitchFamily="18" charset="0"/>
              </a:rPr>
              <a:t> AND state-of-the-art)</a:t>
            </a:r>
            <a:br>
              <a:rPr lang="en-US" dirty="0"/>
            </a:br>
            <a:r>
              <a:rPr lang="fr-FR" dirty="0">
                <a:solidFill>
                  <a:schemeClr val="accent1"/>
                </a:solidFill>
                <a:hlinkClick r:id="rId4"/>
              </a:rPr>
              <a:t>(</a:t>
            </a:r>
            <a:r>
              <a:rPr lang="fr-FR" dirty="0" err="1">
                <a:solidFill>
                  <a:schemeClr val="accent1"/>
                </a:solidFill>
                <a:hlinkClick r:id="rId4"/>
              </a:rPr>
              <a:t>microalloyed</a:t>
            </a:r>
            <a:r>
              <a:rPr lang="fr-FR" dirty="0">
                <a:solidFill>
                  <a:schemeClr val="accent1"/>
                </a:solidFill>
                <a:hlinkClick r:id="rId4"/>
              </a:rPr>
              <a:t> OR micro-</a:t>
            </a:r>
            <a:r>
              <a:rPr lang="fr-FR" dirty="0" err="1">
                <a:solidFill>
                  <a:schemeClr val="accent1"/>
                </a:solidFill>
                <a:hlinkClick r:id="rId4"/>
              </a:rPr>
              <a:t>alloyed</a:t>
            </a:r>
            <a:r>
              <a:rPr lang="fr-FR" dirty="0">
                <a:solidFill>
                  <a:schemeClr val="accent1"/>
                </a:solidFill>
                <a:hlinkClick r:id="rId4"/>
              </a:rPr>
              <a:t>) AND </a:t>
            </a:r>
            <a:r>
              <a:rPr lang="fr-FR" dirty="0" err="1">
                <a:solidFill>
                  <a:schemeClr val="accent1"/>
                </a:solidFill>
                <a:hlinkClick r:id="rId4"/>
              </a:rPr>
              <a:t>steel</a:t>
            </a:r>
            <a:br>
              <a:rPr lang="fr-FR" dirty="0">
                <a:solidFill>
                  <a:schemeClr val="accent1"/>
                </a:solidFill>
              </a:rPr>
            </a:br>
            <a:endParaRPr lang="fr-FR" dirty="0"/>
          </a:p>
        </p:txBody>
      </p:sp>
      <p:sp>
        <p:nvSpPr>
          <p:cNvPr id="4" name="ZoneTexte 3">
            <a:extLst>
              <a:ext uri="{FF2B5EF4-FFF2-40B4-BE49-F238E27FC236}">
                <a16:creationId xmlns:a16="http://schemas.microsoft.com/office/drawing/2014/main" id="{A67A3E8F-493C-4168-8975-9CE59929ED8D}"/>
              </a:ext>
            </a:extLst>
          </p:cNvPr>
          <p:cNvSpPr txBox="1"/>
          <p:nvPr/>
        </p:nvSpPr>
        <p:spPr>
          <a:xfrm>
            <a:off x="329184" y="1895399"/>
            <a:ext cx="10341863" cy="4524315"/>
          </a:xfrm>
          <a:prstGeom prst="rect">
            <a:avLst/>
          </a:prstGeom>
          <a:noFill/>
        </p:spPr>
        <p:txBody>
          <a:bodyPr wrap="square" rtlCol="0">
            <a:spAutoFit/>
          </a:bodyPr>
          <a:lstStyle/>
          <a:p>
            <a:pPr algn="just"/>
            <a:r>
              <a:rPr lang="fr-FR" b="1" dirty="0">
                <a:solidFill>
                  <a:srgbClr val="80276C"/>
                </a:solidFill>
                <a:latin typeface="Times New Roman" panose="02020603050405020304" pitchFamily="18" charset="0"/>
                <a:cs typeface="Times New Roman" panose="02020603050405020304" pitchFamily="18" charset="0"/>
              </a:rPr>
              <a:t>Basic </a:t>
            </a:r>
            <a:r>
              <a:rPr lang="fr-FR" b="1" dirty="0" err="1">
                <a:solidFill>
                  <a:srgbClr val="80276C"/>
                </a:solidFill>
                <a:latin typeface="Times New Roman" panose="02020603050405020304" pitchFamily="18" charset="0"/>
                <a:cs typeface="Times New Roman" panose="02020603050405020304" pitchFamily="18" charset="0"/>
              </a:rPr>
              <a:t>search</a:t>
            </a:r>
            <a:r>
              <a:rPr lang="fr-FR" b="1" dirty="0">
                <a:solidFill>
                  <a:srgbClr val="80276C"/>
                </a:solidFill>
                <a:latin typeface="Times New Roman" panose="02020603050405020304" pitchFamily="18" charset="0"/>
                <a:cs typeface="Times New Roman" panose="02020603050405020304" pitchFamily="18" charset="0"/>
              </a:rPr>
              <a:t> query </a:t>
            </a:r>
            <a:r>
              <a:rPr lang="fr-FR" b="1" dirty="0" err="1">
                <a:solidFill>
                  <a:srgbClr val="80276C"/>
                </a:solidFill>
                <a:latin typeface="Times New Roman" panose="02020603050405020304" pitchFamily="18" charset="0"/>
                <a:cs typeface="Times New Roman" panose="02020603050405020304" pitchFamily="18" charset="0"/>
              </a:rPr>
              <a:t>principles</a:t>
            </a:r>
            <a:r>
              <a:rPr lang="fr-FR" b="1" dirty="0">
                <a:solidFill>
                  <a:srgbClr val="80276C"/>
                </a:solidFill>
                <a:latin typeface="Times New Roman" panose="02020603050405020304" pitchFamily="18" charset="0"/>
                <a:cs typeface="Times New Roman" panose="02020603050405020304" pitchFamily="18" charset="0"/>
              </a:rPr>
              <a:t> : </a:t>
            </a:r>
          </a:p>
          <a:p>
            <a:pPr algn="just"/>
            <a:endParaRPr lang="fr-FR"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a:solidFill>
                  <a:srgbClr val="80276C"/>
                </a:solidFill>
                <a:latin typeface="Times New Roman" panose="02020603050405020304" pitchFamily="18" charset="0"/>
                <a:cs typeface="Times New Roman" panose="02020603050405020304" pitchFamily="18" charset="0"/>
              </a:rPr>
              <a:t>Boolean </a:t>
            </a:r>
            <a:r>
              <a:rPr lang="fr-FR" b="1" dirty="0" err="1">
                <a:solidFill>
                  <a:srgbClr val="80276C"/>
                </a:solidFill>
                <a:latin typeface="Times New Roman" panose="02020603050405020304" pitchFamily="18" charset="0"/>
                <a:cs typeface="Times New Roman" panose="02020603050405020304" pitchFamily="18" charset="0"/>
              </a:rPr>
              <a:t>operators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truncations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quotation</a:t>
            </a:r>
            <a:r>
              <a:rPr lang="fr-FR" b="1" dirty="0">
                <a:solidFill>
                  <a:srgbClr val="80276C"/>
                </a:solidFill>
                <a:latin typeface="Times New Roman" panose="02020603050405020304" pitchFamily="18" charset="0"/>
                <a:cs typeface="Times New Roman" panose="02020603050405020304" pitchFamily="18" charset="0"/>
              </a:rPr>
              <a:t> marks for the exact phrase, use of </a:t>
            </a:r>
            <a:r>
              <a:rPr lang="fr-FR" b="1" dirty="0" err="1">
                <a:solidFill>
                  <a:srgbClr val="80276C"/>
                </a:solidFill>
                <a:latin typeface="Times New Roman" panose="02020603050405020304" pitchFamily="18" charset="0"/>
                <a:cs typeface="Times New Roman" panose="02020603050405020304" pitchFamily="18" charset="0"/>
              </a:rPr>
              <a:t>parentheses</a:t>
            </a:r>
            <a:endParaRPr lang="fr-FR"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err="1">
                <a:solidFill>
                  <a:srgbClr val="80276C"/>
                </a:solidFill>
                <a:latin typeface="Times New Roman" panose="02020603050405020304" pitchFamily="18" charset="0"/>
                <a:cs typeface="Times New Roman" panose="02020603050405020304" pitchFamily="18" charset="0"/>
              </a:rPr>
              <a:t>Scopus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is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indifferent</a:t>
            </a:r>
            <a:r>
              <a:rPr lang="fr-FR" b="1" dirty="0">
                <a:solidFill>
                  <a:srgbClr val="80276C"/>
                </a:solidFill>
                <a:latin typeface="Times New Roman" panose="02020603050405020304" pitchFamily="18" charset="0"/>
                <a:cs typeface="Times New Roman" panose="02020603050405020304" pitchFamily="18" charset="0"/>
              </a:rPr>
              <a:t> to </a:t>
            </a:r>
            <a:r>
              <a:rPr lang="fr-FR" b="1" dirty="0" err="1">
                <a:solidFill>
                  <a:srgbClr val="80276C"/>
                </a:solidFill>
                <a:latin typeface="Times New Roman" panose="02020603050405020304" pitchFamily="18" charset="0"/>
                <a:cs typeface="Times New Roman" panose="02020603050405020304" pitchFamily="18" charset="0"/>
              </a:rPr>
              <a:t>upper</a:t>
            </a:r>
            <a:r>
              <a:rPr lang="fr-FR" b="1" dirty="0">
                <a:solidFill>
                  <a:srgbClr val="80276C"/>
                </a:solidFill>
                <a:latin typeface="Times New Roman" panose="02020603050405020304" pitchFamily="18" charset="0"/>
                <a:cs typeface="Times New Roman" panose="02020603050405020304" pitchFamily="18" charset="0"/>
              </a:rPr>
              <a:t> or </a:t>
            </a:r>
            <a:r>
              <a:rPr lang="fr-FR" b="1" dirty="0" err="1">
                <a:solidFill>
                  <a:srgbClr val="80276C"/>
                </a:solidFill>
                <a:latin typeface="Times New Roman" panose="02020603050405020304" pitchFamily="18" charset="0"/>
                <a:cs typeface="Times New Roman" panose="02020603050405020304" pitchFamily="18" charset="0"/>
              </a:rPr>
              <a:t>lower</a:t>
            </a:r>
            <a:r>
              <a:rPr lang="fr-FR" b="1" dirty="0">
                <a:solidFill>
                  <a:srgbClr val="80276C"/>
                </a:solidFill>
                <a:latin typeface="Times New Roman" panose="02020603050405020304" pitchFamily="18" charset="0"/>
                <a:cs typeface="Times New Roman" panose="02020603050405020304" pitchFamily="18" charset="0"/>
              </a:rPr>
              <a:t> case (capital or </a:t>
            </a:r>
            <a:r>
              <a:rPr lang="fr-FR" b="1" dirty="0" err="1">
                <a:solidFill>
                  <a:srgbClr val="80276C"/>
                </a:solidFill>
                <a:latin typeface="Times New Roman" panose="02020603050405020304" pitchFamily="18" charset="0"/>
                <a:cs typeface="Times New Roman" panose="02020603050405020304" pitchFamily="18" charset="0"/>
              </a:rPr>
              <a:t>small</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letters</a:t>
            </a:r>
            <a:r>
              <a:rPr lang="fr-FR" b="1" dirty="0">
                <a:solidFill>
                  <a:srgbClr val="80276C"/>
                </a:solidFill>
                <a:latin typeface="Times New Roman" panose="02020603050405020304" pitchFamily="18" charset="0"/>
                <a:cs typeface="Times New Roman" panose="02020603050405020304" pitchFamily="18" charset="0"/>
              </a:rPr>
              <a:t>), to </a:t>
            </a:r>
            <a:r>
              <a:rPr lang="fr-FR" b="1" dirty="0" err="1">
                <a:solidFill>
                  <a:srgbClr val="80276C"/>
                </a:solidFill>
                <a:latin typeface="Times New Roman" panose="02020603050405020304" pitchFamily="18" charset="0"/>
                <a:cs typeface="Times New Roman" panose="02020603050405020304" pitchFamily="18" charset="0"/>
              </a:rPr>
              <a:t>singular</a:t>
            </a:r>
            <a:r>
              <a:rPr lang="fr-FR" b="1" dirty="0">
                <a:solidFill>
                  <a:srgbClr val="80276C"/>
                </a:solidFill>
                <a:latin typeface="Times New Roman" panose="02020603050405020304" pitchFamily="18" charset="0"/>
                <a:cs typeface="Times New Roman" panose="02020603050405020304" pitchFamily="18" charset="0"/>
              </a:rPr>
              <a:t> or plural  and to accentuation or </a:t>
            </a:r>
            <a:r>
              <a:rPr lang="fr-FR" b="1" dirty="0" err="1">
                <a:solidFill>
                  <a:srgbClr val="80276C"/>
                </a:solidFill>
                <a:latin typeface="Times New Roman" panose="02020603050405020304" pitchFamily="18" charset="0"/>
                <a:cs typeface="Times New Roman" panose="02020603050405020304" pitchFamily="18" charset="0"/>
              </a:rPr>
              <a:t>stressing</a:t>
            </a:r>
            <a:endParaRPr lang="fr-FR" b="1" dirty="0">
              <a:solidFill>
                <a:srgbClr val="80276C"/>
              </a:solidFill>
              <a:latin typeface="Times New Roman" panose="02020603050405020304" pitchFamily="18" charset="0"/>
              <a:cs typeface="Times New Roman" panose="02020603050405020304" pitchFamily="18" charset="0"/>
            </a:endParaRPr>
          </a:p>
          <a:p>
            <a:pPr lvl="1" algn="just"/>
            <a:endParaRPr lang="fr-FR" b="1" dirty="0">
              <a:solidFill>
                <a:srgbClr val="80276C"/>
              </a:solidFill>
              <a:latin typeface="Times New Roman" panose="02020603050405020304" pitchFamily="18" charset="0"/>
              <a:cs typeface="Times New Roman" panose="02020603050405020304" pitchFamily="18" charset="0"/>
            </a:endParaRPr>
          </a:p>
          <a:p>
            <a:pPr algn="just"/>
            <a:r>
              <a:rPr lang="fr-FR" b="1" dirty="0">
                <a:solidFill>
                  <a:srgbClr val="80276C"/>
                </a:solidFill>
                <a:latin typeface="Times New Roman" panose="02020603050405020304" pitchFamily="18" charset="0"/>
                <a:cs typeface="Times New Roman" panose="02020603050405020304" pitchFamily="18" charset="0"/>
              </a:rPr>
              <a:t>The </a:t>
            </a:r>
            <a:r>
              <a:rPr lang="fr-FR" b="1" dirty="0" err="1">
                <a:solidFill>
                  <a:srgbClr val="80276C"/>
                </a:solidFill>
                <a:latin typeface="Times New Roman" panose="02020603050405020304" pitchFamily="18" charset="0"/>
                <a:cs typeface="Times New Roman" panose="02020603050405020304" pitchFamily="18" charset="0"/>
              </a:rPr>
              <a:t>other</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available</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functions</a:t>
            </a:r>
            <a:endParaRPr lang="fr-FR" b="1" dirty="0">
              <a:solidFill>
                <a:srgbClr val="80276C"/>
              </a:solidFill>
              <a:latin typeface="Times New Roman" panose="02020603050405020304" pitchFamily="18" charset="0"/>
              <a:cs typeface="Times New Roman" panose="02020603050405020304" pitchFamily="18" charset="0"/>
            </a:endParaRPr>
          </a:p>
          <a:p>
            <a:pPr algn="just"/>
            <a:endParaRPr lang="fr-FR" b="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err="1">
                <a:solidFill>
                  <a:srgbClr val="80276C"/>
                </a:solidFill>
                <a:latin typeface="Times New Roman" panose="02020603050405020304" pitchFamily="18" charset="0"/>
                <a:cs typeface="Times New Roman" panose="02020603050405020304" pitchFamily="18" charset="0"/>
              </a:rPr>
              <a:t>Filters</a:t>
            </a:r>
            <a:r>
              <a:rPr lang="fr-FR" b="1" dirty="0">
                <a:solidFill>
                  <a:srgbClr val="80276C"/>
                </a:solidFill>
                <a:latin typeface="Times New Roman" panose="02020603050405020304" pitchFamily="18" charset="0"/>
                <a:cs typeface="Times New Roman" panose="02020603050405020304" pitchFamily="18" charset="0"/>
              </a:rPr>
              <a:t> to screen, to </a:t>
            </a:r>
            <a:r>
              <a:rPr lang="fr-FR" b="1" dirty="0" err="1">
                <a:solidFill>
                  <a:srgbClr val="80276C"/>
                </a:solidFill>
                <a:latin typeface="Times New Roman" panose="02020603050405020304" pitchFamily="18" charset="0"/>
                <a:cs typeface="Times New Roman" panose="02020603050405020304" pitchFamily="18" charset="0"/>
              </a:rPr>
              <a:t>limit</a:t>
            </a:r>
            <a:r>
              <a:rPr lang="fr-FR" b="1" dirty="0">
                <a:solidFill>
                  <a:srgbClr val="80276C"/>
                </a:solidFill>
                <a:latin typeface="Times New Roman" panose="02020603050405020304" pitchFamily="18" charset="0"/>
                <a:cs typeface="Times New Roman" panose="02020603050405020304" pitchFamily="18" charset="0"/>
              </a:rPr>
              <a:t> by affiliation, by  </a:t>
            </a:r>
            <a:r>
              <a:rPr lang="fr-FR" b="1" dirty="0" err="1">
                <a:solidFill>
                  <a:srgbClr val="80276C"/>
                </a:solidFill>
                <a:latin typeface="Times New Roman" panose="02020603050405020304" pitchFamily="18" charset="0"/>
                <a:cs typeface="Times New Roman" panose="02020603050405020304" pitchFamily="18" charset="0"/>
              </a:rPr>
              <a:t>author</a:t>
            </a:r>
            <a:r>
              <a:rPr lang="fr-FR" b="1" dirty="0">
                <a:solidFill>
                  <a:srgbClr val="80276C"/>
                </a:solidFill>
                <a:latin typeface="Times New Roman" panose="02020603050405020304" pitchFamily="18" charset="0"/>
                <a:cs typeface="Times New Roman" panose="02020603050405020304" pitchFamily="18" charset="0"/>
              </a:rPr>
              <a:t>, by  topics, </a:t>
            </a:r>
            <a:r>
              <a:rPr lang="fr-FR" b="1" dirty="0" err="1">
                <a:solidFill>
                  <a:srgbClr val="80276C"/>
                </a:solidFill>
                <a:latin typeface="Times New Roman" panose="02020603050405020304" pitchFamily="18" charset="0"/>
                <a:cs typeface="Times New Roman" panose="02020603050405020304" pitchFamily="18" charset="0"/>
              </a:rPr>
              <a:t>themes</a:t>
            </a:r>
            <a:r>
              <a:rPr lang="fr-FR" b="1" dirty="0">
                <a:solidFill>
                  <a:srgbClr val="80276C"/>
                </a:solidFill>
                <a:latin typeface="Times New Roman" panose="02020603050405020304" pitchFamily="18" charset="0"/>
                <a:cs typeface="Times New Roman" panose="02020603050405020304" pitchFamily="18" charset="0"/>
              </a:rPr>
              <a:t> etc… (exclusion or limitation)</a:t>
            </a:r>
            <a:endParaRPr lang="fr-FR" b="1" i="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Exporting</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bibliographical</a:t>
            </a:r>
            <a:r>
              <a:rPr lang="fr-FR" b="1" dirty="0">
                <a:solidFill>
                  <a:srgbClr val="80276C"/>
                </a:solidFill>
                <a:latin typeface="Times New Roman" panose="02020603050405020304" pitchFamily="18" charset="0"/>
                <a:cs typeface="Times New Roman" panose="02020603050405020304" pitchFamily="18" charset="0"/>
              </a:rPr>
              <a:t> records </a:t>
            </a:r>
            <a:endParaRPr lang="fr-FR" b="1" i="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err="1">
                <a:solidFill>
                  <a:srgbClr val="80276C"/>
                </a:solidFill>
                <a:latin typeface="Times New Roman" panose="02020603050405020304" pitchFamily="18" charset="0"/>
                <a:cs typeface="Times New Roman" panose="02020603050405020304" pitchFamily="18" charset="0"/>
              </a:rPr>
              <a:t>Downloading</a:t>
            </a:r>
            <a:r>
              <a:rPr lang="fr-FR" b="1" dirty="0">
                <a:solidFill>
                  <a:srgbClr val="80276C"/>
                </a:solidFill>
                <a:latin typeface="Times New Roman" panose="02020603050405020304" pitchFamily="18" charset="0"/>
                <a:cs typeface="Times New Roman" panose="02020603050405020304" pitchFamily="18" charset="0"/>
              </a:rPr>
              <a:t> the full-</a:t>
            </a:r>
            <a:r>
              <a:rPr lang="fr-FR" b="1" dirty="0" err="1">
                <a:solidFill>
                  <a:srgbClr val="80276C"/>
                </a:solidFill>
                <a:latin typeface="Times New Roman" panose="02020603050405020304" pitchFamily="18" charset="0"/>
                <a:cs typeface="Times New Roman" panose="02020603050405020304" pitchFamily="18" charset="0"/>
              </a:rPr>
              <a:t>text</a:t>
            </a:r>
            <a:r>
              <a:rPr lang="fr-FR" b="1" dirty="0">
                <a:solidFill>
                  <a:srgbClr val="80276C"/>
                </a:solidFill>
                <a:latin typeface="Times New Roman" panose="02020603050405020304" pitchFamily="18" charset="0"/>
                <a:cs typeface="Times New Roman" panose="02020603050405020304" pitchFamily="18" charset="0"/>
              </a:rPr>
              <a:t> document  </a:t>
            </a:r>
            <a:r>
              <a:rPr lang="fr-FR" b="1" dirty="0" err="1">
                <a:solidFill>
                  <a:srgbClr val="80276C"/>
                </a:solidFill>
                <a:latin typeface="Times New Roman" panose="02020603050405020304" pitchFamily="18" charset="0"/>
                <a:cs typeface="Times New Roman" panose="02020603050405020304" pitchFamily="18" charset="0"/>
              </a:rPr>
              <a:t>from</a:t>
            </a:r>
            <a:r>
              <a:rPr lang="fr-FR" b="1" dirty="0">
                <a:solidFill>
                  <a:srgbClr val="80276C"/>
                </a:solidFill>
                <a:latin typeface="Times New Roman" panose="02020603050405020304" pitchFamily="18" charset="0"/>
                <a:cs typeface="Times New Roman" panose="02020603050405020304" pitchFamily="18" charset="0"/>
              </a:rPr>
              <a:t> the  </a:t>
            </a:r>
            <a:r>
              <a:rPr lang="fr-FR" b="1" dirty="0" err="1">
                <a:solidFill>
                  <a:srgbClr val="80276C"/>
                </a:solidFill>
                <a:latin typeface="Times New Roman" panose="02020603050405020304" pitchFamily="18" charset="0"/>
                <a:cs typeface="Times New Roman" panose="02020603050405020304" pitchFamily="18" charset="0"/>
              </a:rPr>
              <a:t>publisher’s</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website</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when</a:t>
            </a:r>
            <a:r>
              <a:rPr lang="fr-FR" b="1" dirty="0">
                <a:solidFill>
                  <a:srgbClr val="80276C"/>
                </a:solidFill>
                <a:latin typeface="Times New Roman" panose="02020603050405020304" pitchFamily="18" charset="0"/>
                <a:cs typeface="Times New Roman" panose="02020603050405020304" pitchFamily="18" charset="0"/>
              </a:rPr>
              <a:t> the </a:t>
            </a:r>
            <a:r>
              <a:rPr lang="fr-FR" b="1" dirty="0" err="1">
                <a:solidFill>
                  <a:srgbClr val="80276C"/>
                </a:solidFill>
                <a:latin typeface="Times New Roman" panose="02020603050405020304" pitchFamily="18" charset="0"/>
                <a:cs typeface="Times New Roman" panose="02020603050405020304" pitchFamily="18" charset="0"/>
              </a:rPr>
              <a:t>school</a:t>
            </a:r>
            <a:r>
              <a:rPr lang="fr-FR" b="1" dirty="0">
                <a:solidFill>
                  <a:srgbClr val="80276C"/>
                </a:solidFill>
                <a:latin typeface="Times New Roman" panose="02020603050405020304" pitchFamily="18" charset="0"/>
                <a:cs typeface="Times New Roman" panose="02020603050405020304" pitchFamily="18" charset="0"/>
              </a:rPr>
              <a:t> has </a:t>
            </a:r>
            <a:r>
              <a:rPr lang="fr-FR" b="1" dirty="0" err="1">
                <a:solidFill>
                  <a:srgbClr val="80276C"/>
                </a:solidFill>
                <a:latin typeface="Times New Roman" panose="02020603050405020304" pitchFamily="18" charset="0"/>
                <a:cs typeface="Times New Roman" panose="02020603050405020304" pitchFamily="18" charset="0"/>
              </a:rPr>
              <a:t>subscribed</a:t>
            </a:r>
            <a:r>
              <a:rPr lang="fr-FR" b="1" dirty="0">
                <a:solidFill>
                  <a:srgbClr val="80276C"/>
                </a:solidFill>
                <a:latin typeface="Times New Roman" panose="02020603050405020304" pitchFamily="18" charset="0"/>
                <a:cs typeface="Times New Roman" panose="02020603050405020304" pitchFamily="18" charset="0"/>
              </a:rPr>
              <a:t> to the journal</a:t>
            </a:r>
            <a:endParaRPr lang="fr-FR" b="1" i="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a:solidFill>
                  <a:srgbClr val="80276C"/>
                </a:solidFill>
                <a:latin typeface="Times New Roman" panose="02020603050405020304" pitchFamily="18" charset="0"/>
                <a:cs typeface="Times New Roman" panose="02020603050405020304" pitchFamily="18" charset="0"/>
              </a:rPr>
              <a:t>Setting up monitoring </a:t>
            </a:r>
            <a:r>
              <a:rPr lang="fr-FR" b="1" dirty="0" err="1">
                <a:solidFill>
                  <a:srgbClr val="80276C"/>
                </a:solidFill>
                <a:latin typeface="Times New Roman" panose="02020603050405020304" pitchFamily="18" charset="0"/>
                <a:cs typeface="Times New Roman" panose="02020603050405020304" pitchFamily="18" charset="0"/>
              </a:rPr>
              <a:t>alerts</a:t>
            </a:r>
            <a:r>
              <a:rPr lang="fr-FR" b="1" dirty="0">
                <a:solidFill>
                  <a:srgbClr val="80276C"/>
                </a:solidFill>
                <a:latin typeface="Times New Roman" panose="02020603050405020304" pitchFamily="18" charset="0"/>
                <a:cs typeface="Times New Roman" panose="02020603050405020304" pitchFamily="18" charset="0"/>
              </a:rPr>
              <a:t>, </a:t>
            </a:r>
            <a:endParaRPr lang="fr-FR" b="1" i="1" dirty="0">
              <a:solidFill>
                <a:srgbClr val="80276C"/>
              </a:solidFill>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fr-FR" b="1" dirty="0" err="1">
                <a:solidFill>
                  <a:srgbClr val="80276C"/>
                </a:solidFill>
                <a:latin typeface="Times New Roman" panose="02020603050405020304" pitchFamily="18" charset="0"/>
                <a:cs typeface="Times New Roman" panose="02020603050405020304" pitchFamily="18" charset="0"/>
              </a:rPr>
              <a:t>Saving</a:t>
            </a:r>
            <a:r>
              <a:rPr lang="fr-FR" b="1" dirty="0">
                <a:solidFill>
                  <a:srgbClr val="80276C"/>
                </a:solidFill>
                <a:latin typeface="Times New Roman" panose="02020603050405020304" pitchFamily="18" charset="0"/>
                <a:cs typeface="Times New Roman" panose="02020603050405020304" pitchFamily="18" charset="0"/>
              </a:rPr>
              <a:t> </a:t>
            </a:r>
            <a:r>
              <a:rPr lang="fr-FR" b="1" dirty="0" err="1">
                <a:solidFill>
                  <a:srgbClr val="80276C"/>
                </a:solidFill>
                <a:latin typeface="Times New Roman" panose="02020603050405020304" pitchFamily="18" charset="0"/>
                <a:cs typeface="Times New Roman" panose="02020603050405020304" pitchFamily="18" charset="0"/>
              </a:rPr>
              <a:t>searches</a:t>
            </a:r>
            <a:endParaRPr lang="fr-FR" b="1" i="1" dirty="0">
              <a:solidFill>
                <a:srgbClr val="80276C"/>
              </a:solidFill>
              <a:latin typeface="Times New Roman" panose="02020603050405020304" pitchFamily="18" charset="0"/>
              <a:cs typeface="Times New Roman" panose="02020603050405020304" pitchFamily="18" charset="0"/>
            </a:endParaRPr>
          </a:p>
          <a:p>
            <a:pPr lvl="1"/>
            <a:r>
              <a:rPr lang="fr-FR" dirty="0"/>
              <a:t> </a:t>
            </a:r>
          </a:p>
        </p:txBody>
      </p:sp>
    </p:spTree>
    <p:extLst>
      <p:ext uri="{BB962C8B-B14F-4D97-AF65-F5344CB8AC3E}">
        <p14:creationId xmlns:p14="http://schemas.microsoft.com/office/powerpoint/2010/main" val="3425497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26DCA2CD-4901-457E-9312-D1D92B93F9BF}"/>
              </a:ext>
            </a:extLst>
          </p:cNvPr>
          <p:cNvSpPr txBox="1"/>
          <p:nvPr/>
        </p:nvSpPr>
        <p:spPr>
          <a:xfrm>
            <a:off x="1166192" y="436818"/>
            <a:ext cx="9647582" cy="707886"/>
          </a:xfrm>
          <a:prstGeom prst="rect">
            <a:avLst/>
          </a:prstGeom>
          <a:noFill/>
        </p:spPr>
        <p:txBody>
          <a:bodyPr wrap="square" rtlCol="0">
            <a:spAutoFit/>
          </a:bodyPr>
          <a:lstStyle/>
          <a:p>
            <a:pPr algn="ctr"/>
            <a:r>
              <a:rPr lang="fr-FR" sz="4000" b="1" dirty="0" err="1">
                <a:solidFill>
                  <a:srgbClr val="80276C"/>
                </a:solidFill>
                <a:latin typeface="Times New Roman" panose="02020603050405020304" pitchFamily="18" charset="0"/>
                <a:cs typeface="Times New Roman" panose="02020603050405020304" pitchFamily="18" charset="0"/>
              </a:rPr>
              <a:t>Espacenet</a:t>
            </a:r>
            <a:r>
              <a:rPr lang="fr-FR" sz="4000" b="1" dirty="0">
                <a:solidFill>
                  <a:srgbClr val="80276C"/>
                </a:solidFill>
                <a:latin typeface="Times New Roman" panose="02020603050405020304" pitchFamily="18" charset="0"/>
                <a:cs typeface="Times New Roman" panose="02020603050405020304" pitchFamily="18" charset="0"/>
              </a:rPr>
              <a:t> (European Patent Office)</a:t>
            </a:r>
          </a:p>
        </p:txBody>
      </p:sp>
      <p:sp>
        <p:nvSpPr>
          <p:cNvPr id="9" name="Rectangle 8">
            <a:extLst>
              <a:ext uri="{FF2B5EF4-FFF2-40B4-BE49-F238E27FC236}">
                <a16:creationId xmlns:a16="http://schemas.microsoft.com/office/drawing/2014/main" id="{5607FB41-A90D-40B4-92F0-594E5D13EDD6}"/>
              </a:ext>
            </a:extLst>
          </p:cNvPr>
          <p:cNvSpPr/>
          <p:nvPr/>
        </p:nvSpPr>
        <p:spPr>
          <a:xfrm>
            <a:off x="546653" y="964096"/>
            <a:ext cx="9491869" cy="4708981"/>
          </a:xfrm>
          <a:prstGeom prst="rect">
            <a:avLst/>
          </a:prstGeom>
        </p:spPr>
        <p:txBody>
          <a:bodyPr wrap="square">
            <a:spAutoFit/>
          </a:bodyPr>
          <a:lstStyle/>
          <a:p>
            <a:pPr algn="ctr"/>
            <a:r>
              <a:rPr lang="fr-FR" sz="2400" b="1" dirty="0">
                <a:solidFill>
                  <a:srgbClr val="80276C"/>
                </a:solidFill>
                <a:latin typeface="Times New Roman" panose="02020603050405020304" pitchFamily="18" charset="0"/>
                <a:cs typeface="Times New Roman" panose="02020603050405020304" pitchFamily="18" charset="0"/>
                <a:hlinkClick r:id="rId2"/>
              </a:rPr>
              <a:t>https://www.epo.org/searching-for-patents/technical/espacenet.html</a:t>
            </a:r>
            <a:endParaRPr lang="fr-FR" sz="2400" b="1" dirty="0">
              <a:solidFill>
                <a:srgbClr val="80276C"/>
              </a:solidFill>
              <a:latin typeface="Times New Roman" panose="02020603050405020304" pitchFamily="18" charset="0"/>
              <a:cs typeface="Times New Roman" panose="02020603050405020304" pitchFamily="18" charset="0"/>
            </a:endParaRPr>
          </a:p>
          <a:p>
            <a:pPr algn="ctr"/>
            <a:r>
              <a:rPr lang="fr-FR" sz="2400" dirty="0">
                <a:hlinkClick r:id="rId3"/>
              </a:rPr>
              <a:t>Ressources Documentaires | Bibliothèques</a:t>
            </a:r>
            <a:endParaRPr lang="fr-FR" sz="2400" dirty="0"/>
          </a:p>
          <a:p>
            <a:pPr algn="ctr"/>
            <a:endParaRPr lang="fr-FR" sz="2400" b="1" dirty="0">
              <a:solidFill>
                <a:srgbClr val="80276C"/>
              </a:solidFill>
              <a:latin typeface="Times New Roman" panose="02020603050405020304" pitchFamily="18" charset="0"/>
              <a:cs typeface="Times New Roman" panose="02020603050405020304" pitchFamily="18" charset="0"/>
            </a:endParaRPr>
          </a:p>
          <a:p>
            <a:pPr algn="ctr"/>
            <a:r>
              <a:rPr lang="fr-FR" sz="2400" dirty="0" err="1">
                <a:hlinkClick r:id="rId4"/>
              </a:rPr>
              <a:t>Espacenet</a:t>
            </a:r>
            <a:r>
              <a:rPr lang="fr-FR" sz="2400" dirty="0">
                <a:hlinkClick r:id="rId4"/>
              </a:rPr>
              <a:t> - Accueil</a:t>
            </a:r>
            <a:endParaRPr lang="fr-FR" sz="2400" b="1" dirty="0">
              <a:solidFill>
                <a:srgbClr val="80276C"/>
              </a:solidFill>
              <a:latin typeface="Times New Roman" panose="02020603050405020304" pitchFamily="18" charset="0"/>
              <a:cs typeface="Times New Roman" panose="02020603050405020304" pitchFamily="18" charset="0"/>
            </a:endParaRPr>
          </a:p>
          <a:p>
            <a:pPr algn="ctr"/>
            <a:endParaRPr lang="fr-FR" sz="24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by keywords: </a:t>
            </a:r>
          </a:p>
          <a:p>
            <a:pPr marL="800100" lvl="1" indent="-342900" algn="just">
              <a:buFont typeface="Courier New" panose="02070309020205020404" pitchFamily="49" charset="0"/>
              <a:buChar char="o"/>
            </a:pP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Avoid</a:t>
            </a:r>
            <a:r>
              <a:rPr lang="fr-FR" sz="2000" b="1" dirty="0">
                <a:solidFill>
                  <a:srgbClr val="80276C"/>
                </a:solidFill>
                <a:latin typeface="Times New Roman" panose="02020603050405020304" pitchFamily="18" charset="0"/>
                <a:cs typeface="Times New Roman" panose="02020603050405020304" pitchFamily="18" charset="0"/>
              </a:rPr>
              <a:t> smart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too</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complex</a:t>
            </a:r>
            <a:r>
              <a:rPr lang="fr-FR" sz="2000" b="1" dirty="0">
                <a:solidFill>
                  <a:srgbClr val="80276C"/>
                </a:solidFill>
                <a:latin typeface="Times New Roman" panose="02020603050405020304" pitchFamily="18" charset="0"/>
                <a:cs typeface="Times New Roman" panose="02020603050405020304" pitchFamily="18" charset="0"/>
              </a:rPr>
              <a:t>, in the </a:t>
            </a:r>
            <a:r>
              <a:rPr lang="fr-FR" sz="2000" b="1" dirty="0" err="1">
                <a:solidFill>
                  <a:srgbClr val="80276C"/>
                </a:solidFill>
                <a:latin typeface="Times New Roman" panose="02020603050405020304" pitchFamily="18" charset="0"/>
                <a:cs typeface="Times New Roman" panose="02020603050405020304" pitchFamily="18" charset="0"/>
              </a:rPr>
              <a:t>field</a:t>
            </a:r>
            <a:r>
              <a:rPr lang="fr-FR" sz="2000" b="1" dirty="0">
                <a:solidFill>
                  <a:srgbClr val="80276C"/>
                </a:solidFill>
                <a:latin typeface="Times New Roman" panose="02020603050405020304" pitchFamily="18" charset="0"/>
                <a:cs typeface="Times New Roman" panose="02020603050405020304" pitchFamily="18" charset="0"/>
              </a:rPr>
              <a:t> at the top of the screen)</a:t>
            </a:r>
          </a:p>
          <a:p>
            <a:pPr marL="800100" lvl="1" indent="-342900" algn="just">
              <a:buFont typeface="Courier New" panose="02070309020205020404" pitchFamily="49" charset="0"/>
              <a:buChar char="o"/>
            </a:pP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Prefer</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advanced</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easier</a:t>
            </a:r>
            <a:r>
              <a:rPr lang="fr-FR" sz="2000" b="1" dirty="0">
                <a:solidFill>
                  <a:srgbClr val="80276C"/>
                </a:solidFill>
                <a:latin typeface="Times New Roman" panose="02020603050405020304" pitchFamily="18" charset="0"/>
                <a:cs typeface="Times New Roman" panose="02020603050405020304" pitchFamily="18" charset="0"/>
              </a:rPr>
              <a:t>, do not type </a:t>
            </a:r>
            <a:r>
              <a:rPr lang="fr-FR" sz="2000" b="1" dirty="0" err="1">
                <a:solidFill>
                  <a:srgbClr val="80276C"/>
                </a:solidFill>
                <a:latin typeface="Times New Roman" panose="02020603050405020304" pitchFamily="18" charset="0"/>
                <a:cs typeface="Times New Roman" panose="02020603050405020304" pitchFamily="18" charset="0"/>
              </a:rPr>
              <a:t>quotation</a:t>
            </a:r>
            <a:r>
              <a:rPr lang="fr-FR" sz="2000" b="1" dirty="0">
                <a:solidFill>
                  <a:srgbClr val="80276C"/>
                </a:solidFill>
                <a:latin typeface="Times New Roman" panose="02020603050405020304" pitchFamily="18" charset="0"/>
                <a:cs typeface="Times New Roman" panose="02020603050405020304" pitchFamily="18" charset="0"/>
              </a:rPr>
              <a:t> marks  for a phrase in the </a:t>
            </a:r>
            <a:r>
              <a:rPr lang="fr-FR" sz="2000" b="1" dirty="0" err="1">
                <a:solidFill>
                  <a:srgbClr val="80276C"/>
                </a:solidFill>
                <a:latin typeface="Times New Roman" panose="02020603050405020304" pitchFamily="18" charset="0"/>
                <a:cs typeface="Times New Roman" panose="02020603050405020304" pitchFamily="18" charset="0"/>
              </a:rPr>
              <a:t>field</a:t>
            </a:r>
            <a:r>
              <a:rPr lang="fr-FR" sz="2000" b="1" dirty="0">
                <a:solidFill>
                  <a:srgbClr val="80276C"/>
                </a:solidFill>
                <a:latin typeface="Times New Roman" panose="02020603050405020304" pitchFamily="18" charset="0"/>
                <a:cs typeface="Times New Roman" panose="02020603050405020304" pitchFamily="18" charset="0"/>
              </a:rPr>
              <a:t> and </a:t>
            </a:r>
            <a:r>
              <a:rPr lang="fr-FR" sz="2000" b="1" dirty="0" err="1">
                <a:solidFill>
                  <a:srgbClr val="80276C"/>
                </a:solidFill>
                <a:latin typeface="Times New Roman" panose="02020603050405020304" pitchFamily="18" charset="0"/>
                <a:cs typeface="Times New Roman" panose="02020603050405020304" pitchFamily="18" charset="0"/>
              </a:rPr>
              <a:t>choose</a:t>
            </a:r>
            <a:r>
              <a:rPr lang="fr-FR" sz="2000" b="1" dirty="0">
                <a:solidFill>
                  <a:srgbClr val="80276C"/>
                </a:solidFill>
                <a:latin typeface="Times New Roman" panose="02020603050405020304" pitchFamily="18" charset="0"/>
                <a:cs typeface="Times New Roman" panose="02020603050405020304" pitchFamily="18" charset="0"/>
              </a:rPr>
              <a:t> « all »)</a:t>
            </a:r>
          </a:p>
          <a:p>
            <a:pPr algn="just"/>
            <a:endParaRPr lang="fr-FR" sz="2000" b="1" dirty="0">
              <a:solidFill>
                <a:srgbClr val="80276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fr-FR" sz="2000" b="1" dirty="0" err="1">
                <a:solidFill>
                  <a:srgbClr val="80276C"/>
                </a:solidFill>
                <a:latin typeface="Times New Roman" panose="02020603050405020304" pitchFamily="18" charset="0"/>
                <a:cs typeface="Times New Roman" panose="02020603050405020304" pitchFamily="18" charset="0"/>
              </a:rPr>
              <a:t>Avoid</a:t>
            </a:r>
            <a:r>
              <a:rPr lang="fr-FR" sz="2000" b="1" dirty="0">
                <a:solidFill>
                  <a:srgbClr val="80276C"/>
                </a:solidFill>
                <a:latin typeface="Times New Roman" panose="02020603050405020304" pitchFamily="18" charset="0"/>
                <a:cs typeface="Times New Roman" panose="02020603050405020304" pitchFamily="18" charset="0"/>
              </a:rPr>
              <a:t> Classification </a:t>
            </a:r>
            <a:r>
              <a:rPr lang="fr-FR" sz="2000" b="1" dirty="0" err="1">
                <a:solidFill>
                  <a:srgbClr val="80276C"/>
                </a:solidFill>
                <a:latin typeface="Times New Roman" panose="02020603050405020304" pitchFamily="18" charset="0"/>
                <a:cs typeface="Times New Roman" panose="02020603050405020304" pitchFamily="18" charset="0"/>
              </a:rPr>
              <a:t>search</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based</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upon</a:t>
            </a:r>
            <a:r>
              <a:rPr lang="fr-FR" sz="2000" b="1" dirty="0">
                <a:solidFill>
                  <a:srgbClr val="80276C"/>
                </a:solidFill>
                <a:latin typeface="Times New Roman" panose="02020603050405020304" pitchFamily="18" charset="0"/>
                <a:cs typeface="Times New Roman" panose="02020603050405020304" pitchFamily="18" charset="0"/>
              </a:rPr>
              <a:t> the  </a:t>
            </a:r>
            <a:r>
              <a:rPr lang="fr-FR" sz="2000" b="1" dirty="0" err="1">
                <a:solidFill>
                  <a:srgbClr val="80276C"/>
                </a:solidFill>
                <a:latin typeface="Times New Roman" panose="02020603050405020304" pitchFamily="18" charset="0"/>
                <a:cs typeface="Times New Roman" panose="02020603050405020304" pitchFamily="18" charset="0"/>
              </a:rPr>
              <a:t>Cooperative</a:t>
            </a:r>
            <a:r>
              <a:rPr lang="fr-FR" sz="2000" b="1" dirty="0">
                <a:solidFill>
                  <a:srgbClr val="80276C"/>
                </a:solidFill>
                <a:latin typeface="Times New Roman" panose="02020603050405020304" pitchFamily="18" charset="0"/>
                <a:cs typeface="Times New Roman" panose="02020603050405020304" pitchFamily="18" charset="0"/>
              </a:rPr>
              <a:t> Patent Classification System (</a:t>
            </a:r>
            <a:r>
              <a:rPr lang="fr-FR" sz="2000" b="1" dirty="0" err="1">
                <a:solidFill>
                  <a:srgbClr val="80276C"/>
                </a:solidFill>
                <a:latin typeface="Times New Roman" panose="02020603050405020304" pitchFamily="18" charset="0"/>
                <a:cs typeface="Times New Roman" panose="02020603050405020304" pitchFamily="18" charset="0"/>
              </a:rPr>
              <a:t>too</a:t>
            </a:r>
            <a:r>
              <a:rPr lang="fr-FR" sz="2000" b="1" dirty="0">
                <a:solidFill>
                  <a:srgbClr val="80276C"/>
                </a:solidFill>
                <a:latin typeface="Times New Roman" panose="02020603050405020304" pitchFamily="18" charset="0"/>
                <a:cs typeface="Times New Roman" panose="02020603050405020304" pitchFamily="18" charset="0"/>
              </a:rPr>
              <a:t> </a:t>
            </a:r>
            <a:r>
              <a:rPr lang="fr-FR" sz="2000" b="1" dirty="0" err="1">
                <a:solidFill>
                  <a:srgbClr val="80276C"/>
                </a:solidFill>
                <a:latin typeface="Times New Roman" panose="02020603050405020304" pitchFamily="18" charset="0"/>
                <a:cs typeface="Times New Roman" panose="02020603050405020304" pitchFamily="18" charset="0"/>
              </a:rPr>
              <a:t>complex</a:t>
            </a:r>
            <a:r>
              <a:rPr lang="fr-FR" sz="2000" b="1" dirty="0">
                <a:solidFill>
                  <a:srgbClr val="80276C"/>
                </a:solidFill>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v"/>
            </a:pPr>
            <a:endParaRPr lang="fr-FR" sz="2000" b="1" dirty="0">
              <a:solidFill>
                <a:srgbClr val="80276C"/>
              </a:solidFill>
              <a:latin typeface="Times New Roman" panose="02020603050405020304" pitchFamily="18" charset="0"/>
              <a:cs typeface="Times New Roman" panose="02020603050405020304" pitchFamily="18" charset="0"/>
            </a:endParaRPr>
          </a:p>
          <a:p>
            <a:pPr algn="just"/>
            <a:r>
              <a:rPr lang="fr-FR" sz="2000" b="1" dirty="0">
                <a:solidFill>
                  <a:schemeClr val="accent1"/>
                </a:solidFill>
              </a:rPr>
              <a:t>Ex </a:t>
            </a:r>
            <a:r>
              <a:rPr lang="en-US" sz="2000" b="1" dirty="0">
                <a:solidFill>
                  <a:schemeClr val="accent1"/>
                </a:solidFill>
                <a:hlinkClick r:id="rId5"/>
              </a:rPr>
              <a:t>("washing machine" OR "washing machines") AND "machine learning“</a:t>
            </a:r>
            <a:endParaRPr lang="en-US" sz="2000" b="1" dirty="0">
              <a:solidFill>
                <a:schemeClr val="accent1"/>
              </a:solidFill>
            </a:endParaRPr>
          </a:p>
        </p:txBody>
      </p:sp>
    </p:spTree>
    <p:extLst>
      <p:ext uri="{BB962C8B-B14F-4D97-AF65-F5344CB8AC3E}">
        <p14:creationId xmlns:p14="http://schemas.microsoft.com/office/powerpoint/2010/main" val="3785607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r>
              <a:rPr lang="en-US" sz="3000" b="1" dirty="0">
                <a:solidFill>
                  <a:srgbClr val="80276C"/>
                </a:solidFill>
                <a:latin typeface="Cambria" pitchFamily="34" charset="0"/>
                <a:ea typeface="Cambria" pitchFamily="34" charset="-122"/>
                <a:cs typeface="Cambria" pitchFamily="34" charset="-120"/>
              </a:rPr>
              <a:t>Patents: the most profitable method of the session</a:t>
            </a:r>
            <a:endParaRPr lang="en-US" sz="3000" dirty="0">
              <a:solidFill>
                <a:srgbClr val="80276C"/>
              </a:solidFill>
              <a:highlight>
                <a:srgbClr val="FFFF00"/>
              </a:highlight>
            </a:endParaRPr>
          </a:p>
        </p:txBody>
      </p:sp>
      <p:sp>
        <p:nvSpPr>
          <p:cNvPr id="4" name="Text 2"/>
          <p:cNvSpPr/>
          <p:nvPr/>
        </p:nvSpPr>
        <p:spPr>
          <a:xfrm>
            <a:off x="566928" y="1280160"/>
            <a:ext cx="11057839" cy="365760"/>
          </a:xfrm>
          <a:prstGeom prst="rect">
            <a:avLst/>
          </a:prstGeom>
          <a:noFill/>
          <a:ln/>
        </p:spPr>
        <p:txBody>
          <a:bodyPr wrap="square" lIns="0" tIns="0" rIns="0" bIns="0" rtlCol="0" anchor="t"/>
          <a:lstStyle/>
          <a:p>
            <a:r>
              <a:rPr lang="en-US" sz="1400" i="1" dirty="0">
                <a:solidFill>
                  <a:srgbClr val="5C6B73"/>
                </a:solidFill>
                <a:latin typeface="Calibri" pitchFamily="34" charset="0"/>
                <a:ea typeface="Calibri" pitchFamily="34" charset="-122"/>
                <a:cs typeface="Calibri" pitchFamily="34" charset="-120"/>
              </a:rPr>
              <a:t>Don't try to guess the correct classification code. Do the opposite.</a:t>
            </a:r>
            <a:endParaRPr lang="en-US" sz="1400" dirty="0"/>
          </a:p>
        </p:txBody>
      </p:sp>
      <p:sp>
        <p:nvSpPr>
          <p:cNvPr id="5" name="Shape 3"/>
          <p:cNvSpPr/>
          <p:nvPr/>
        </p:nvSpPr>
        <p:spPr>
          <a:xfrm>
            <a:off x="566928" y="182880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6" name="Shape 4"/>
          <p:cNvSpPr/>
          <p:nvPr/>
        </p:nvSpPr>
        <p:spPr>
          <a:xfrm>
            <a:off x="768096" y="1961388"/>
            <a:ext cx="402336" cy="402336"/>
          </a:xfrm>
          <a:prstGeom prst="ellipse">
            <a:avLst/>
          </a:prstGeom>
          <a:solidFill>
            <a:srgbClr val="80276C"/>
          </a:solidFill>
          <a:ln w="12700">
            <a:solidFill>
              <a:srgbClr val="12303F"/>
            </a:solidFill>
            <a:prstDash val="solid"/>
          </a:ln>
        </p:spPr>
        <p:txBody>
          <a:bodyPr/>
          <a:lstStyle/>
          <a:p>
            <a:endParaRPr lang="fr-FR"/>
          </a:p>
        </p:txBody>
      </p:sp>
      <p:sp>
        <p:nvSpPr>
          <p:cNvPr id="7" name="Text 5"/>
          <p:cNvSpPr/>
          <p:nvPr/>
        </p:nvSpPr>
        <p:spPr>
          <a:xfrm>
            <a:off x="768096" y="19613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16736" y="1901952"/>
            <a:ext cx="3200400" cy="521208"/>
          </a:xfrm>
          <a:prstGeom prst="rect">
            <a:avLst/>
          </a:prstGeom>
          <a:noFill/>
          <a:ln/>
        </p:spPr>
        <p:txBody>
          <a:bodyPr wrap="square" lIns="0" tIns="0" rIns="0" bIns="0" rtlCol="0" anchor="ctr"/>
          <a:lstStyle/>
          <a:p>
            <a:pPr marL="0" indent="0">
              <a:buNone/>
            </a:pPr>
            <a:r>
              <a:rPr lang="en-US" sz="1400" b="1" dirty="0">
                <a:solidFill>
                  <a:srgbClr val="12303F"/>
                </a:solidFill>
                <a:latin typeface="Cambria" pitchFamily="34" charset="0"/>
                <a:ea typeface="Cambria" pitchFamily="34" charset="-122"/>
                <a:cs typeface="Cambria" pitchFamily="34" charset="-120"/>
              </a:rPr>
              <a:t>Find a patent</a:t>
            </a:r>
            <a:endParaRPr lang="en-US" sz="1400" dirty="0"/>
          </a:p>
        </p:txBody>
      </p:sp>
      <p:sp>
        <p:nvSpPr>
          <p:cNvPr id="9" name="Text 7"/>
          <p:cNvSpPr/>
          <p:nvPr/>
        </p:nvSpPr>
        <p:spPr>
          <a:xfrm>
            <a:off x="4636008" y="188366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Perform a keyword search in </a:t>
            </a:r>
            <a:r>
              <a:rPr lang="en-US" sz="1250" dirty="0" err="1">
                <a:solidFill>
                  <a:srgbClr val="1A1A1A"/>
                </a:solidFill>
                <a:latin typeface="Calibri" pitchFamily="34" charset="0"/>
                <a:ea typeface="Calibri" pitchFamily="34" charset="-122"/>
                <a:cs typeface="Calibri" pitchFamily="34" charset="-120"/>
              </a:rPr>
              <a:t>Espacenet</a:t>
            </a:r>
            <a:r>
              <a:rPr lang="en-US" sz="1250" dirty="0">
                <a:solidFill>
                  <a:srgbClr val="1A1A1A"/>
                </a:solidFill>
                <a:latin typeface="Calibri" pitchFamily="34" charset="0"/>
                <a:ea typeface="Calibri" pitchFamily="34" charset="-122"/>
                <a:cs typeface="Calibri" pitchFamily="34" charset="-120"/>
              </a:rPr>
              <a:t> and identify a single clearly relevant patent.</a:t>
            </a:r>
            <a:endParaRPr lang="en-US" sz="1250" dirty="0"/>
          </a:p>
        </p:txBody>
      </p:sp>
      <p:sp>
        <p:nvSpPr>
          <p:cNvPr id="10" name="Shape 8"/>
          <p:cNvSpPr/>
          <p:nvPr/>
        </p:nvSpPr>
        <p:spPr>
          <a:xfrm>
            <a:off x="566928" y="2606040"/>
            <a:ext cx="11057839" cy="667512"/>
          </a:xfrm>
          <a:prstGeom prst="roundRect">
            <a:avLst>
              <a:gd name="adj" fmla="val 6849"/>
            </a:avLst>
          </a:prstGeom>
          <a:solidFill>
            <a:srgbClr val="FFFFFF"/>
          </a:solidFill>
          <a:ln w="12700">
            <a:solidFill>
              <a:srgbClr val="E6EDEF"/>
            </a:solidFill>
            <a:prstDash val="solid"/>
          </a:ln>
        </p:spPr>
        <p:txBody>
          <a:bodyPr/>
          <a:lstStyle/>
          <a:p>
            <a:endParaRPr lang="fr-FR"/>
          </a:p>
        </p:txBody>
      </p:sp>
      <p:sp>
        <p:nvSpPr>
          <p:cNvPr id="11" name="Shape 9"/>
          <p:cNvSpPr/>
          <p:nvPr/>
        </p:nvSpPr>
        <p:spPr>
          <a:xfrm>
            <a:off x="768096" y="2738628"/>
            <a:ext cx="402336" cy="402336"/>
          </a:xfrm>
          <a:prstGeom prst="ellipse">
            <a:avLst/>
          </a:prstGeom>
          <a:solidFill>
            <a:srgbClr val="80276C"/>
          </a:solidFill>
          <a:ln w="12700">
            <a:solidFill>
              <a:srgbClr val="12303F"/>
            </a:solidFill>
            <a:prstDash val="solid"/>
          </a:ln>
        </p:spPr>
        <p:txBody>
          <a:bodyPr/>
          <a:lstStyle/>
          <a:p>
            <a:endParaRPr lang="fr-FR"/>
          </a:p>
        </p:txBody>
      </p:sp>
      <p:sp>
        <p:nvSpPr>
          <p:cNvPr id="12" name="Text 10"/>
          <p:cNvSpPr/>
          <p:nvPr/>
        </p:nvSpPr>
        <p:spPr>
          <a:xfrm>
            <a:off x="768096" y="27386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16736" y="267919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Read its CPC codes</a:t>
            </a:r>
            <a:endParaRPr lang="en-US" sz="1400" dirty="0"/>
          </a:p>
        </p:txBody>
      </p:sp>
      <p:sp>
        <p:nvSpPr>
          <p:cNvPr id="14" name="Text 12"/>
          <p:cNvSpPr/>
          <p:nvPr/>
        </p:nvSpPr>
        <p:spPr>
          <a:xfrm>
            <a:off x="4636008" y="2660904"/>
            <a:ext cx="6760159" cy="557784"/>
          </a:xfrm>
          <a:prstGeom prst="rect">
            <a:avLst/>
          </a:prstGeom>
          <a:noFill/>
          <a:ln/>
        </p:spPr>
        <p:txBody>
          <a:bodyPr wrap="square" lIns="0" tIns="0" rIns="0" bIns="0" rtlCol="0" anchor="ctr"/>
          <a:lstStyle/>
          <a:p>
            <a:pPr>
              <a:lnSpc>
                <a:spcPts val="1600"/>
              </a:lnSpc>
            </a:pPr>
            <a:r>
              <a:rPr lang="en-US" sz="1250" dirty="0"/>
              <a:t>Open its record and note the classification codes assigned to it, as well as the depositor and the family.</a:t>
            </a:r>
          </a:p>
        </p:txBody>
      </p:sp>
      <p:sp>
        <p:nvSpPr>
          <p:cNvPr id="15" name="Shape 13"/>
          <p:cNvSpPr/>
          <p:nvPr/>
        </p:nvSpPr>
        <p:spPr>
          <a:xfrm>
            <a:off x="566928" y="338328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16" name="Shape 14"/>
          <p:cNvSpPr/>
          <p:nvPr/>
        </p:nvSpPr>
        <p:spPr>
          <a:xfrm>
            <a:off x="768096" y="3515868"/>
            <a:ext cx="402336" cy="402336"/>
          </a:xfrm>
          <a:prstGeom prst="ellipse">
            <a:avLst/>
          </a:prstGeom>
          <a:solidFill>
            <a:srgbClr val="80276C"/>
          </a:solidFill>
          <a:ln w="12700">
            <a:solidFill>
              <a:srgbClr val="12303F"/>
            </a:solidFill>
            <a:prstDash val="solid"/>
          </a:ln>
        </p:spPr>
        <p:txBody>
          <a:bodyPr/>
          <a:lstStyle/>
          <a:p>
            <a:endParaRPr lang="fr-FR"/>
          </a:p>
        </p:txBody>
      </p:sp>
      <p:sp>
        <p:nvSpPr>
          <p:cNvPr id="17" name="Text 15"/>
          <p:cNvSpPr/>
          <p:nvPr/>
        </p:nvSpPr>
        <p:spPr>
          <a:xfrm>
            <a:off x="768096" y="35158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16736" y="345643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Restart using the code</a:t>
            </a:r>
            <a:endParaRPr lang="en-US" sz="1400" dirty="0"/>
          </a:p>
        </p:txBody>
      </p:sp>
      <p:sp>
        <p:nvSpPr>
          <p:cNvPr id="19" name="Text 17"/>
          <p:cNvSpPr/>
          <p:nvPr/>
        </p:nvSpPr>
        <p:spPr>
          <a:xfrm>
            <a:off x="4636008" y="3438144"/>
            <a:ext cx="6760159" cy="557784"/>
          </a:xfrm>
          <a:prstGeom prst="rect">
            <a:avLst/>
          </a:prstGeom>
          <a:noFill/>
          <a:ln/>
        </p:spPr>
        <p:txBody>
          <a:bodyPr wrap="square" lIns="0" tIns="0" rIns="0" bIns="0" rtlCol="0" anchor="ctr"/>
          <a:lstStyle/>
          <a:p>
            <a:pPr>
              <a:lnSpc>
                <a:spcPts val="1600"/>
              </a:lnSpc>
            </a:pPr>
            <a:r>
              <a:rPr lang="en-US" sz="1250" dirty="0"/>
              <a:t>Cross-reference CPC codes with keywords. The code captures patents written using vocabulary you would never have imagined, including in foreign languages.</a:t>
            </a:r>
          </a:p>
        </p:txBody>
      </p:sp>
      <p:sp>
        <p:nvSpPr>
          <p:cNvPr id="20" name="Shape 18"/>
          <p:cNvSpPr/>
          <p:nvPr/>
        </p:nvSpPr>
        <p:spPr>
          <a:xfrm>
            <a:off x="566928" y="4160520"/>
            <a:ext cx="11057839" cy="667512"/>
          </a:xfrm>
          <a:prstGeom prst="roundRect">
            <a:avLst>
              <a:gd name="adj" fmla="val 6849"/>
            </a:avLst>
          </a:prstGeom>
          <a:solidFill>
            <a:srgbClr val="FFFFFF"/>
          </a:solidFill>
          <a:ln w="12700">
            <a:solidFill>
              <a:srgbClr val="E6EDEF"/>
            </a:solidFill>
            <a:prstDash val="solid"/>
          </a:ln>
        </p:spPr>
        <p:txBody>
          <a:bodyPr/>
          <a:lstStyle/>
          <a:p>
            <a:endParaRPr lang="fr-FR"/>
          </a:p>
        </p:txBody>
      </p:sp>
      <p:sp>
        <p:nvSpPr>
          <p:cNvPr id="23" name="Text 21"/>
          <p:cNvSpPr/>
          <p:nvPr/>
        </p:nvSpPr>
        <p:spPr>
          <a:xfrm>
            <a:off x="1316736" y="423367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Mapping a competitor</a:t>
            </a:r>
            <a:endParaRPr lang="en-US" sz="1400" dirty="0"/>
          </a:p>
        </p:txBody>
      </p:sp>
      <p:sp>
        <p:nvSpPr>
          <p:cNvPr id="24" name="Text 22"/>
          <p:cNvSpPr/>
          <p:nvPr/>
        </p:nvSpPr>
        <p:spPr>
          <a:xfrm>
            <a:off x="4636008" y="421538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Run a follow-up search by depositor to see everything a specific company has filed regarding the domain.</a:t>
            </a:r>
            <a:endParaRPr lang="en-US" sz="1250" dirty="0"/>
          </a:p>
        </p:txBody>
      </p:sp>
      <p:sp>
        <p:nvSpPr>
          <p:cNvPr id="25" name="Shape 23"/>
          <p:cNvSpPr/>
          <p:nvPr/>
        </p:nvSpPr>
        <p:spPr>
          <a:xfrm>
            <a:off x="566928" y="493776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26" name="Shape 24"/>
          <p:cNvSpPr/>
          <p:nvPr/>
        </p:nvSpPr>
        <p:spPr>
          <a:xfrm>
            <a:off x="768096" y="5070348"/>
            <a:ext cx="402336" cy="402336"/>
          </a:xfrm>
          <a:prstGeom prst="ellipse">
            <a:avLst/>
          </a:prstGeom>
          <a:solidFill>
            <a:srgbClr val="80276C"/>
          </a:solidFill>
          <a:ln w="12700">
            <a:solidFill>
              <a:srgbClr val="12303F"/>
            </a:solidFill>
            <a:prstDash val="solid"/>
          </a:ln>
        </p:spPr>
        <p:txBody>
          <a:bodyPr/>
          <a:lstStyle/>
          <a:p>
            <a:endParaRPr lang="fr-FR"/>
          </a:p>
        </p:txBody>
      </p:sp>
      <p:sp>
        <p:nvSpPr>
          <p:cNvPr id="27" name="Text 25"/>
          <p:cNvSpPr/>
          <p:nvPr/>
        </p:nvSpPr>
        <p:spPr>
          <a:xfrm>
            <a:off x="768096" y="507034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316736" y="501091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Check the status</a:t>
            </a:r>
            <a:endParaRPr lang="en-US" sz="1400" dirty="0"/>
          </a:p>
        </p:txBody>
      </p:sp>
      <p:sp>
        <p:nvSpPr>
          <p:cNvPr id="29" name="Text 27"/>
          <p:cNvSpPr/>
          <p:nvPr/>
        </p:nvSpPr>
        <p:spPr>
          <a:xfrm>
            <a:off x="4636008" y="499262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A patent that has lapsed or was never extended to Europe does not impose the same constraints. Check the legal status and geographical scope.</a:t>
            </a:r>
            <a:endParaRPr lang="en-US" sz="1250" dirty="0"/>
          </a:p>
        </p:txBody>
      </p:sp>
      <p:sp>
        <p:nvSpPr>
          <p:cNvPr id="30" name="Text 28"/>
          <p:cNvSpPr/>
          <p:nvPr/>
        </p:nvSpPr>
        <p:spPr>
          <a:xfrm>
            <a:off x="566928" y="6108192"/>
            <a:ext cx="10143439" cy="365760"/>
          </a:xfrm>
          <a:prstGeom prst="rect">
            <a:avLst/>
          </a:prstGeom>
          <a:noFill/>
          <a:ln/>
        </p:spPr>
        <p:txBody>
          <a:bodyPr wrap="square" lIns="0" tIns="0" rIns="0" bIns="0" rtlCol="0" anchor="ctr"/>
          <a:lstStyle/>
          <a:p>
            <a:r>
              <a:rPr lang="en-US" sz="1200" dirty="0"/>
              <a:t>Point of law: it is the </a:t>
            </a:r>
            <a:r>
              <a:rPr lang="en-US" sz="1200" b="1" dirty="0">
                <a:solidFill>
                  <a:srgbClr val="80276C"/>
                </a:solidFill>
              </a:rPr>
              <a:t>publication of an application </a:t>
            </a:r>
            <a:r>
              <a:rPr lang="en-US" sz="1200" dirty="0"/>
              <a:t>that constitutes an opposable item of prior art, not the grant. An application abandoned ten years ago still destroys novelty.</a:t>
            </a:r>
          </a:p>
        </p:txBody>
      </p:sp>
      <p:sp>
        <p:nvSpPr>
          <p:cNvPr id="31"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51</a:t>
            </a:fld>
            <a:endParaRPr lang="en-US"/>
          </a:p>
        </p:txBody>
      </p:sp>
      <p:sp>
        <p:nvSpPr>
          <p:cNvPr id="32" name="Shape 14">
            <a:extLst>
              <a:ext uri="{FF2B5EF4-FFF2-40B4-BE49-F238E27FC236}">
                <a16:creationId xmlns:a16="http://schemas.microsoft.com/office/drawing/2014/main" id="{909C287C-856C-7AFA-C7F5-B9373B3108A0}"/>
              </a:ext>
            </a:extLst>
          </p:cNvPr>
          <p:cNvSpPr/>
          <p:nvPr/>
        </p:nvSpPr>
        <p:spPr>
          <a:xfrm>
            <a:off x="786384" y="4293108"/>
            <a:ext cx="384048" cy="384048"/>
          </a:xfrm>
          <a:prstGeom prst="ellipse">
            <a:avLst/>
          </a:prstGeom>
          <a:solidFill>
            <a:srgbClr val="80276C"/>
          </a:solidFill>
          <a:ln w="12700">
            <a:solidFill>
              <a:srgbClr val="1F8A70"/>
            </a:solidFill>
            <a:prstDash val="solid"/>
          </a:ln>
        </p:spPr>
        <p:txBody>
          <a:bodyPr/>
          <a:lstStyle/>
          <a:p>
            <a:r>
              <a:rPr lang="fr-FR" sz="1200" b="1" dirty="0">
                <a:solidFill>
                  <a:schemeClr val="bg1"/>
                </a:solidFill>
              </a:rPr>
              <a:t>4</a:t>
            </a:r>
          </a:p>
        </p:txBody>
      </p:sp>
    </p:spTree>
    <p:extLst>
      <p:ext uri="{BB962C8B-B14F-4D97-AF65-F5344CB8AC3E}">
        <p14:creationId xmlns:p14="http://schemas.microsoft.com/office/powerpoint/2010/main" val="4291468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FC0D-70DD-4A3E-AFC0-4BC1C44E0766}"/>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9885315A-6181-E849-6F4C-E9E5957801DE}"/>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7" name="ZoneTexte 6">
            <a:extLst>
              <a:ext uri="{FF2B5EF4-FFF2-40B4-BE49-F238E27FC236}">
                <a16:creationId xmlns:a16="http://schemas.microsoft.com/office/drawing/2014/main" id="{38C61763-97A5-0692-81C4-DC898323A2E8}"/>
              </a:ext>
            </a:extLst>
          </p:cNvPr>
          <p:cNvSpPr txBox="1"/>
          <p:nvPr/>
        </p:nvSpPr>
        <p:spPr>
          <a:xfrm>
            <a:off x="0" y="0"/>
            <a:ext cx="3299297" cy="6858000"/>
          </a:xfrm>
          <a:prstGeom prst="rect">
            <a:avLst/>
          </a:prstGeom>
          <a:solidFill>
            <a:srgbClr val="30AE99"/>
          </a:solidFill>
        </p:spPr>
        <p:txBody>
          <a:bodyPr wrap="square" rtlCol="0">
            <a:spAutoFit/>
          </a:bodyPr>
          <a:lstStyle/>
          <a:p>
            <a:endParaRPr lang="fr-FR" dirty="0"/>
          </a:p>
        </p:txBody>
      </p:sp>
      <p:sp>
        <p:nvSpPr>
          <p:cNvPr id="9" name="Espace réservé du texte 1">
            <a:extLst>
              <a:ext uri="{FF2B5EF4-FFF2-40B4-BE49-F238E27FC236}">
                <a16:creationId xmlns:a16="http://schemas.microsoft.com/office/drawing/2014/main" id="{69231368-1CE7-40C3-550E-6DA38A5DF90E}"/>
              </a:ext>
            </a:extLst>
          </p:cNvPr>
          <p:cNvSpPr txBox="1">
            <a:spLocks/>
          </p:cNvSpPr>
          <p:nvPr/>
        </p:nvSpPr>
        <p:spPr>
          <a:xfrm>
            <a:off x="100963" y="231442"/>
            <a:ext cx="3198334" cy="12498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300" dirty="0" err="1">
                <a:solidFill>
                  <a:schemeClr val="bg1"/>
                </a:solidFill>
                <a:latin typeface="Verdana"/>
                <a:cs typeface="Verdana"/>
              </a:rPr>
              <a:t>Quote</a:t>
            </a:r>
            <a:r>
              <a:rPr lang="fr-FR" sz="2300" dirty="0">
                <a:solidFill>
                  <a:schemeClr val="bg1"/>
                </a:solidFill>
                <a:latin typeface="Verdana"/>
                <a:cs typeface="Verdana"/>
              </a:rPr>
              <a:t> sources</a:t>
            </a:r>
          </a:p>
        </p:txBody>
      </p:sp>
      <p:sp>
        <p:nvSpPr>
          <p:cNvPr id="12" name="ZoneTexte 11">
            <a:extLst>
              <a:ext uri="{FF2B5EF4-FFF2-40B4-BE49-F238E27FC236}">
                <a16:creationId xmlns:a16="http://schemas.microsoft.com/office/drawing/2014/main" id="{DB7D3813-2A69-0964-7E5A-10B08EAD007F}"/>
              </a:ext>
            </a:extLst>
          </p:cNvPr>
          <p:cNvSpPr txBox="1"/>
          <p:nvPr/>
        </p:nvSpPr>
        <p:spPr>
          <a:xfrm>
            <a:off x="176174" y="1236457"/>
            <a:ext cx="2946947" cy="1107996"/>
          </a:xfrm>
          <a:prstGeom prst="rect">
            <a:avLst/>
          </a:prstGeom>
          <a:noFill/>
        </p:spPr>
        <p:txBody>
          <a:bodyPr wrap="square" rtlCol="0">
            <a:spAutoFit/>
          </a:bodyPr>
          <a:lstStyle/>
          <a:p>
            <a:pPr>
              <a:defRPr/>
            </a:pPr>
            <a:r>
              <a:rPr lang="en-US" altLang="fr-FR" sz="2200" b="1" kern="0" dirty="0">
                <a:solidFill>
                  <a:schemeClr val="bg2">
                    <a:lumMod val="10000"/>
                  </a:schemeClr>
                </a:solidFill>
                <a:sym typeface="Wingdings" panose="05000000000000000000" pitchFamily="2" charset="2"/>
              </a:rPr>
              <a:t>Creative Commons Licenses</a:t>
            </a:r>
          </a:p>
          <a:p>
            <a:pPr>
              <a:defRPr/>
            </a:pPr>
            <a:endParaRPr lang="en-US" altLang="fr-FR" sz="2200" b="1" kern="0" dirty="0">
              <a:solidFill>
                <a:schemeClr val="bg2">
                  <a:lumMod val="10000"/>
                </a:schemeClr>
              </a:solidFill>
            </a:endParaRPr>
          </a:p>
        </p:txBody>
      </p:sp>
      <p:sp>
        <p:nvSpPr>
          <p:cNvPr id="3" name="ZoneTexte 2">
            <a:extLst>
              <a:ext uri="{FF2B5EF4-FFF2-40B4-BE49-F238E27FC236}">
                <a16:creationId xmlns:a16="http://schemas.microsoft.com/office/drawing/2014/main" id="{3B57037D-DDA6-1DE1-7FD5-2016FD74C204}"/>
              </a:ext>
            </a:extLst>
          </p:cNvPr>
          <p:cNvSpPr txBox="1"/>
          <p:nvPr/>
        </p:nvSpPr>
        <p:spPr>
          <a:xfrm>
            <a:off x="3400260" y="1842097"/>
            <a:ext cx="6096000" cy="1200329"/>
          </a:xfrm>
          <a:prstGeom prst="rect">
            <a:avLst/>
          </a:prstGeom>
          <a:noFill/>
        </p:spPr>
        <p:txBody>
          <a:bodyPr wrap="square">
            <a:spAutoFit/>
          </a:bodyPr>
          <a:lstStyle/>
          <a:p>
            <a:pPr marL="342900" lvl="0" indent="-342900" fontAlgn="base">
              <a:buFont typeface="Arial" panose="020B0604020202020204" pitchFamily="34" charset="0"/>
              <a:buChar char="•"/>
            </a:pPr>
            <a:r>
              <a:rPr lang="fr-FR" b="1" spc="120" dirty="0">
                <a:solidFill>
                  <a:srgbClr val="80276C"/>
                </a:solidFill>
              </a:rPr>
              <a:t>BY: </a:t>
            </a:r>
            <a:r>
              <a:rPr lang="fr-FR" spc="120" dirty="0"/>
              <a:t>Attribution</a:t>
            </a:r>
          </a:p>
          <a:p>
            <a:pPr marL="342900" lvl="0" indent="-342900" fontAlgn="base">
              <a:buFont typeface="Arial" panose="020B0604020202020204" pitchFamily="34" charset="0"/>
              <a:buChar char="•"/>
            </a:pPr>
            <a:r>
              <a:rPr lang="fr-FR" b="1" spc="120" dirty="0">
                <a:solidFill>
                  <a:srgbClr val="80276C"/>
                </a:solidFill>
              </a:rPr>
              <a:t>NC: </a:t>
            </a:r>
            <a:r>
              <a:rPr lang="fr-FR" spc="120" dirty="0"/>
              <a:t>Non-commercia</a:t>
            </a:r>
            <a:r>
              <a:rPr lang="fr-FR" b="1" spc="120" dirty="0"/>
              <a:t>l</a:t>
            </a:r>
          </a:p>
          <a:p>
            <a:pPr marL="342900" lvl="0" indent="-342900" fontAlgn="base">
              <a:buFont typeface="Arial" panose="020B0604020202020204" pitchFamily="34" charset="0"/>
              <a:buChar char="•"/>
            </a:pPr>
            <a:r>
              <a:rPr lang="fr-FR" b="1" spc="120" dirty="0">
                <a:solidFill>
                  <a:srgbClr val="80276C"/>
                </a:solidFill>
              </a:rPr>
              <a:t>ND: </a:t>
            </a:r>
            <a:r>
              <a:rPr lang="fr-FR" spc="120" dirty="0"/>
              <a:t>No </a:t>
            </a:r>
            <a:r>
              <a:rPr lang="fr-FR" spc="120" dirty="0" err="1"/>
              <a:t>derivatives</a:t>
            </a:r>
            <a:endParaRPr lang="fr-FR" spc="120" dirty="0"/>
          </a:p>
          <a:p>
            <a:pPr marL="342900" lvl="0" indent="-342900" fontAlgn="base">
              <a:buFont typeface="Arial" panose="020B0604020202020204" pitchFamily="34" charset="0"/>
              <a:buChar char="•"/>
            </a:pPr>
            <a:r>
              <a:rPr lang="fr-FR" b="1" spc="120" dirty="0">
                <a:solidFill>
                  <a:srgbClr val="80276C"/>
                </a:solidFill>
              </a:rPr>
              <a:t>SA: </a:t>
            </a:r>
            <a:r>
              <a:rPr lang="fr-FR" spc="120" dirty="0"/>
              <a:t>Share-</a:t>
            </a:r>
            <a:r>
              <a:rPr lang="fr-FR" spc="120" dirty="0" err="1"/>
              <a:t>alike</a:t>
            </a:r>
            <a:endParaRPr lang="fr-FR" sz="1200" i="0" spc="120" dirty="0">
              <a:solidFill>
                <a:srgbClr val="353535"/>
              </a:solidFill>
              <a:effectLst/>
              <a:latin typeface="Montserrat" panose="00000500000000000000" pitchFamily="2" charset="0"/>
            </a:endParaRPr>
          </a:p>
        </p:txBody>
      </p:sp>
      <p:sp>
        <p:nvSpPr>
          <p:cNvPr id="5" name="ZoneTexte 4">
            <a:extLst>
              <a:ext uri="{FF2B5EF4-FFF2-40B4-BE49-F238E27FC236}">
                <a16:creationId xmlns:a16="http://schemas.microsoft.com/office/drawing/2014/main" id="{4ED5CDB5-74DB-378B-9F44-27301A17E871}"/>
              </a:ext>
            </a:extLst>
          </p:cNvPr>
          <p:cNvSpPr txBox="1"/>
          <p:nvPr/>
        </p:nvSpPr>
        <p:spPr>
          <a:xfrm>
            <a:off x="3475471" y="1236457"/>
            <a:ext cx="6096000" cy="400110"/>
          </a:xfrm>
          <a:prstGeom prst="rect">
            <a:avLst/>
          </a:prstGeom>
          <a:noFill/>
        </p:spPr>
        <p:txBody>
          <a:bodyPr wrap="square">
            <a:spAutoFit/>
          </a:bodyPr>
          <a:lstStyle/>
          <a:p>
            <a:r>
              <a:rPr lang="fr-FR" sz="2000" b="1" dirty="0">
                <a:solidFill>
                  <a:srgbClr val="80276C"/>
                </a:solidFill>
              </a:rPr>
              <a:t>4 </a:t>
            </a:r>
            <a:r>
              <a:rPr lang="fr-FR" sz="2000" b="1" dirty="0" err="1">
                <a:solidFill>
                  <a:srgbClr val="80276C"/>
                </a:solidFill>
              </a:rPr>
              <a:t>modular</a:t>
            </a:r>
            <a:r>
              <a:rPr lang="fr-FR" sz="2000" b="1" dirty="0">
                <a:solidFill>
                  <a:srgbClr val="80276C"/>
                </a:solidFill>
              </a:rPr>
              <a:t> components of </a:t>
            </a:r>
            <a:r>
              <a:rPr lang="fr-FR" sz="2000" b="1" dirty="0" err="1">
                <a:solidFill>
                  <a:srgbClr val="80276C"/>
                </a:solidFill>
              </a:rPr>
              <a:t>your</a:t>
            </a:r>
            <a:r>
              <a:rPr lang="fr-FR" sz="2000" b="1" dirty="0">
                <a:solidFill>
                  <a:srgbClr val="80276C"/>
                </a:solidFill>
              </a:rPr>
              <a:t> protection</a:t>
            </a:r>
          </a:p>
        </p:txBody>
      </p:sp>
      <p:sp>
        <p:nvSpPr>
          <p:cNvPr id="15" name="ZoneTexte 14">
            <a:extLst>
              <a:ext uri="{FF2B5EF4-FFF2-40B4-BE49-F238E27FC236}">
                <a16:creationId xmlns:a16="http://schemas.microsoft.com/office/drawing/2014/main" id="{0D22008B-3720-21CE-B845-6C62E424DE78}"/>
              </a:ext>
            </a:extLst>
          </p:cNvPr>
          <p:cNvSpPr txBox="1"/>
          <p:nvPr/>
        </p:nvSpPr>
        <p:spPr>
          <a:xfrm>
            <a:off x="3576359" y="3247956"/>
            <a:ext cx="6096000" cy="2616101"/>
          </a:xfrm>
          <a:prstGeom prst="rect">
            <a:avLst/>
          </a:prstGeom>
          <a:noFill/>
        </p:spPr>
        <p:txBody>
          <a:bodyPr wrap="square">
            <a:spAutoFit/>
          </a:bodyPr>
          <a:lstStyle/>
          <a:p>
            <a:r>
              <a:rPr lang="fr-FR" sz="2000" b="1" dirty="0">
                <a:solidFill>
                  <a:srgbClr val="80276C"/>
                </a:solidFill>
              </a:rPr>
              <a:t>3 </a:t>
            </a:r>
            <a:r>
              <a:rPr lang="fr-FR" sz="2000" b="1" dirty="0" err="1">
                <a:solidFill>
                  <a:srgbClr val="80276C"/>
                </a:solidFill>
              </a:rPr>
              <a:t>things</a:t>
            </a:r>
            <a:r>
              <a:rPr lang="fr-FR" sz="2000" b="1" dirty="0">
                <a:solidFill>
                  <a:srgbClr val="80276C"/>
                </a:solidFill>
              </a:rPr>
              <a:t> to </a:t>
            </a:r>
            <a:r>
              <a:rPr lang="fr-FR" sz="2000" b="1" dirty="0" err="1">
                <a:solidFill>
                  <a:srgbClr val="80276C"/>
                </a:solidFill>
              </a:rPr>
              <a:t>keep</a:t>
            </a:r>
            <a:r>
              <a:rPr lang="fr-FR" sz="2000" b="1" dirty="0">
                <a:solidFill>
                  <a:srgbClr val="80276C"/>
                </a:solidFill>
              </a:rPr>
              <a:t> in </a:t>
            </a:r>
            <a:r>
              <a:rPr lang="fr-FR" sz="2000" b="1" dirty="0" err="1">
                <a:solidFill>
                  <a:srgbClr val="80276C"/>
                </a:solidFill>
              </a:rPr>
              <a:t>mind</a:t>
            </a:r>
            <a:r>
              <a:rPr lang="fr-FR" sz="2000" b="1" dirty="0">
                <a:solidFill>
                  <a:srgbClr val="80276C"/>
                </a:solidFill>
              </a:rPr>
              <a:t> </a:t>
            </a:r>
          </a:p>
          <a:p>
            <a:r>
              <a:rPr lang="fr-FR" b="1" dirty="0">
                <a:solidFill>
                  <a:srgbClr val="80276C"/>
                </a:solidFill>
              </a:rPr>
              <a:t>- </a:t>
            </a:r>
            <a:r>
              <a:rPr lang="fr-FR" b="1" dirty="0" err="1">
                <a:solidFill>
                  <a:srgbClr val="80276C"/>
                </a:solidFill>
              </a:rPr>
              <a:t>owning</a:t>
            </a:r>
            <a:r>
              <a:rPr lang="fr-FR" b="1" dirty="0">
                <a:solidFill>
                  <a:srgbClr val="80276C"/>
                </a:solidFill>
              </a:rPr>
              <a:t> the copyright:</a:t>
            </a:r>
            <a:r>
              <a:rPr lang="fr-FR" dirty="0">
                <a:solidFill>
                  <a:srgbClr val="80276C"/>
                </a:solidFill>
              </a:rPr>
              <a:t> </a:t>
            </a:r>
            <a:r>
              <a:rPr lang="fr-FR" dirty="0" err="1"/>
              <a:t>you</a:t>
            </a:r>
            <a:r>
              <a:rPr lang="fr-FR" dirty="0"/>
              <a:t> must control the </a:t>
            </a:r>
            <a:r>
              <a:rPr lang="fr-FR" dirty="0" err="1"/>
              <a:t>rights</a:t>
            </a:r>
            <a:r>
              <a:rPr lang="fr-FR" dirty="0"/>
              <a:t> to the </a:t>
            </a:r>
            <a:r>
              <a:rPr lang="fr-FR" dirty="0" err="1"/>
              <a:t>work</a:t>
            </a:r>
            <a:r>
              <a:rPr lang="fr-FR" dirty="0"/>
              <a:t> </a:t>
            </a:r>
            <a:r>
              <a:rPr lang="fr-FR" dirty="0" err="1"/>
              <a:t>before</a:t>
            </a:r>
            <a:r>
              <a:rPr lang="fr-FR" dirty="0"/>
              <a:t> </a:t>
            </a:r>
            <a:r>
              <a:rPr lang="fr-FR" dirty="0" err="1"/>
              <a:t>licensing</a:t>
            </a:r>
            <a:r>
              <a:rPr lang="fr-FR" dirty="0"/>
              <a:t> </a:t>
            </a:r>
            <a:r>
              <a:rPr lang="fr-FR" dirty="0" err="1"/>
              <a:t>it</a:t>
            </a:r>
            <a:r>
              <a:rPr lang="fr-FR" dirty="0"/>
              <a:t>.</a:t>
            </a:r>
            <a:br>
              <a:rPr lang="fr-FR" dirty="0"/>
            </a:br>
            <a:r>
              <a:rPr lang="fr-FR" b="1" dirty="0">
                <a:solidFill>
                  <a:srgbClr val="80276C"/>
                </a:solidFill>
              </a:rPr>
              <a:t>- </a:t>
            </a:r>
            <a:r>
              <a:rPr lang="fr-FR" b="1" dirty="0" err="1">
                <a:solidFill>
                  <a:srgbClr val="80276C"/>
                </a:solidFill>
              </a:rPr>
              <a:t>understanding</a:t>
            </a:r>
            <a:r>
              <a:rPr lang="fr-FR" b="1" dirty="0">
                <a:solidFill>
                  <a:srgbClr val="80276C"/>
                </a:solidFill>
              </a:rPr>
              <a:t> </a:t>
            </a:r>
            <a:r>
              <a:rPr lang="fr-FR" b="1" dirty="0" err="1">
                <a:solidFill>
                  <a:srgbClr val="80276C"/>
                </a:solidFill>
              </a:rPr>
              <a:t>irrevocability</a:t>
            </a:r>
            <a:r>
              <a:rPr lang="fr-FR" b="1" dirty="0">
                <a:solidFill>
                  <a:srgbClr val="80276C"/>
                </a:solidFill>
              </a:rPr>
              <a:t>: </a:t>
            </a:r>
            <a:r>
              <a:rPr lang="fr-FR" dirty="0"/>
              <a:t>a Creative Commons </a:t>
            </a:r>
            <a:r>
              <a:rPr lang="fr-FR" dirty="0" err="1"/>
              <a:t>license</a:t>
            </a:r>
            <a:r>
              <a:rPr lang="fr-FR" dirty="0"/>
              <a:t> </a:t>
            </a:r>
            <a:r>
              <a:rPr lang="fr-FR" dirty="0" err="1"/>
              <a:t>cannot</a:t>
            </a:r>
            <a:r>
              <a:rPr lang="fr-FR" dirty="0"/>
              <a:t> </a:t>
            </a:r>
            <a:r>
              <a:rPr lang="fr-FR" dirty="0" err="1"/>
              <a:t>be</a:t>
            </a:r>
            <a:r>
              <a:rPr lang="fr-FR" dirty="0"/>
              <a:t> </a:t>
            </a:r>
            <a:r>
              <a:rPr lang="fr-FR" dirty="0" err="1"/>
              <a:t>revoked</a:t>
            </a:r>
            <a:r>
              <a:rPr lang="fr-FR" dirty="0"/>
              <a:t> once </a:t>
            </a:r>
            <a:r>
              <a:rPr lang="fr-FR" dirty="0" err="1"/>
              <a:t>published</a:t>
            </a:r>
            <a:r>
              <a:rPr lang="fr-FR" dirty="0"/>
              <a:t>, </a:t>
            </a:r>
            <a:r>
              <a:rPr lang="fr-FR" dirty="0" err="1"/>
              <a:t>even</a:t>
            </a:r>
            <a:r>
              <a:rPr lang="fr-FR" dirty="0"/>
              <a:t> if </a:t>
            </a:r>
            <a:r>
              <a:rPr lang="fr-FR" dirty="0" err="1"/>
              <a:t>you</a:t>
            </a:r>
            <a:r>
              <a:rPr lang="fr-FR" dirty="0"/>
              <a:t> change </a:t>
            </a:r>
            <a:r>
              <a:rPr lang="fr-FR" dirty="0" err="1"/>
              <a:t>your</a:t>
            </a:r>
            <a:r>
              <a:rPr lang="fr-FR" dirty="0"/>
              <a:t> </a:t>
            </a:r>
            <a:r>
              <a:rPr lang="fr-FR" dirty="0" err="1"/>
              <a:t>mind</a:t>
            </a:r>
            <a:r>
              <a:rPr lang="fr-FR" dirty="0"/>
              <a:t> </a:t>
            </a:r>
            <a:r>
              <a:rPr lang="fr-FR" dirty="0" err="1"/>
              <a:t>later</a:t>
            </a:r>
            <a:r>
              <a:rPr lang="fr-FR" dirty="0"/>
              <a:t>.</a:t>
            </a:r>
            <a:br>
              <a:rPr lang="fr-FR" dirty="0"/>
            </a:br>
            <a:r>
              <a:rPr lang="fr-FR" b="1" dirty="0">
                <a:solidFill>
                  <a:srgbClr val="80276C"/>
                </a:solidFill>
              </a:rPr>
              <a:t>- </a:t>
            </a:r>
            <a:r>
              <a:rPr lang="fr-FR" b="1" dirty="0" err="1">
                <a:solidFill>
                  <a:srgbClr val="80276C"/>
                </a:solidFill>
              </a:rPr>
              <a:t>considering</a:t>
            </a:r>
            <a:r>
              <a:rPr lang="fr-FR" b="1" dirty="0">
                <a:solidFill>
                  <a:srgbClr val="80276C"/>
                </a:solidFill>
              </a:rPr>
              <a:t> </a:t>
            </a:r>
            <a:r>
              <a:rPr lang="fr-FR" b="1" dirty="0" err="1">
                <a:solidFill>
                  <a:srgbClr val="80276C"/>
                </a:solidFill>
              </a:rPr>
              <a:t>your</a:t>
            </a:r>
            <a:r>
              <a:rPr lang="fr-FR" b="1" dirty="0">
                <a:solidFill>
                  <a:srgbClr val="80276C"/>
                </a:solidFill>
              </a:rPr>
              <a:t> goals: </a:t>
            </a:r>
            <a:r>
              <a:rPr lang="fr-FR" dirty="0"/>
              <a:t>do </a:t>
            </a:r>
            <a:r>
              <a:rPr lang="fr-FR" dirty="0" err="1"/>
              <a:t>you</a:t>
            </a:r>
            <a:r>
              <a:rPr lang="fr-FR" dirty="0"/>
              <a:t> </a:t>
            </a:r>
            <a:r>
              <a:rPr lang="fr-FR" dirty="0" err="1"/>
              <a:t>want</a:t>
            </a:r>
            <a:r>
              <a:rPr lang="fr-FR" dirty="0"/>
              <a:t> to </a:t>
            </a:r>
            <a:r>
              <a:rPr lang="fr-FR" dirty="0" err="1"/>
              <a:t>allow</a:t>
            </a:r>
            <a:r>
              <a:rPr lang="fr-FR" dirty="0"/>
              <a:t> modifications? Commercial use? A </a:t>
            </a:r>
            <a:r>
              <a:rPr lang="fr-FR" dirty="0" err="1"/>
              <a:t>share-alike</a:t>
            </a:r>
            <a:r>
              <a:rPr lang="fr-FR" dirty="0"/>
              <a:t> </a:t>
            </a:r>
            <a:r>
              <a:rPr lang="fr-FR" dirty="0" err="1"/>
              <a:t>requirement</a:t>
            </a:r>
            <a:r>
              <a:rPr lang="fr-FR" dirty="0"/>
              <a:t>?</a:t>
            </a:r>
          </a:p>
        </p:txBody>
      </p:sp>
      <p:sp>
        <p:nvSpPr>
          <p:cNvPr id="19" name="ZoneTexte 18">
            <a:extLst>
              <a:ext uri="{FF2B5EF4-FFF2-40B4-BE49-F238E27FC236}">
                <a16:creationId xmlns:a16="http://schemas.microsoft.com/office/drawing/2014/main" id="{1DDC9C09-CA25-25B9-74D3-20FF906916DA}"/>
              </a:ext>
            </a:extLst>
          </p:cNvPr>
          <p:cNvSpPr txBox="1"/>
          <p:nvPr/>
        </p:nvSpPr>
        <p:spPr>
          <a:xfrm>
            <a:off x="3400260" y="463025"/>
            <a:ext cx="8452089" cy="384721"/>
          </a:xfrm>
          <a:prstGeom prst="rect">
            <a:avLst/>
          </a:prstGeom>
          <a:noFill/>
        </p:spPr>
        <p:txBody>
          <a:bodyPr wrap="square" rtlCol="0">
            <a:spAutoFit/>
          </a:bodyPr>
          <a:lstStyle/>
          <a:p>
            <a:r>
              <a:rPr lang="en-US" sz="1900" b="1" kern="0" dirty="0">
                <a:solidFill>
                  <a:srgbClr val="80276C"/>
                </a:solidFill>
                <a:latin typeface="Verdana" panose="020B0604030504040204" pitchFamily="34" charset="0"/>
                <a:ea typeface="Verdana" panose="020B0604030504040204" pitchFamily="34" charset="0"/>
              </a:rPr>
              <a:t>They allow the free use of protected content.</a:t>
            </a:r>
            <a:endParaRPr lang="fr-FR" sz="2000" b="1" dirty="0">
              <a:solidFill>
                <a:schemeClr val="bg1"/>
              </a:solidFill>
            </a:endParaRPr>
          </a:p>
        </p:txBody>
      </p:sp>
    </p:spTree>
    <p:extLst>
      <p:ext uri="{BB962C8B-B14F-4D97-AF65-F5344CB8AC3E}">
        <p14:creationId xmlns:p14="http://schemas.microsoft.com/office/powerpoint/2010/main" val="17640284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AEE9-CC16-BDAF-1672-C3608D717834}"/>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8DBBEBE1-DE1E-66B0-84F9-DD3800548BEE}"/>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16" name="ZoneTexte 15">
            <a:extLst>
              <a:ext uri="{FF2B5EF4-FFF2-40B4-BE49-F238E27FC236}">
                <a16:creationId xmlns:a16="http://schemas.microsoft.com/office/drawing/2014/main" id="{EBB2D8D1-D06E-D591-E062-D24419BF2835}"/>
              </a:ext>
            </a:extLst>
          </p:cNvPr>
          <p:cNvSpPr txBox="1"/>
          <p:nvPr/>
        </p:nvSpPr>
        <p:spPr>
          <a:xfrm>
            <a:off x="3400260" y="463025"/>
            <a:ext cx="8452089" cy="384721"/>
          </a:xfrm>
          <a:prstGeom prst="rect">
            <a:avLst/>
          </a:prstGeom>
          <a:noFill/>
        </p:spPr>
        <p:txBody>
          <a:bodyPr wrap="square" rtlCol="0">
            <a:spAutoFit/>
          </a:bodyPr>
          <a:lstStyle/>
          <a:p>
            <a:r>
              <a:rPr lang="en-US" sz="1900" b="1" kern="0" dirty="0">
                <a:solidFill>
                  <a:srgbClr val="80276C"/>
                </a:solidFill>
                <a:latin typeface="Verdana" panose="020B0604030504040204" pitchFamily="34" charset="0"/>
                <a:ea typeface="Verdana" panose="020B0604030504040204" pitchFamily="34" charset="0"/>
              </a:rPr>
              <a:t>They allow the free use of protected content.</a:t>
            </a:r>
            <a:endParaRPr lang="fr-FR" sz="2000" b="1" dirty="0">
              <a:solidFill>
                <a:schemeClr val="bg1"/>
              </a:solidFill>
            </a:endParaRPr>
          </a:p>
        </p:txBody>
      </p:sp>
      <p:sp>
        <p:nvSpPr>
          <p:cNvPr id="5" name="ZoneTexte 4">
            <a:extLst>
              <a:ext uri="{FF2B5EF4-FFF2-40B4-BE49-F238E27FC236}">
                <a16:creationId xmlns:a16="http://schemas.microsoft.com/office/drawing/2014/main" id="{16989CC2-3E04-A3A3-2727-D026CE4517BA}"/>
              </a:ext>
            </a:extLst>
          </p:cNvPr>
          <p:cNvSpPr txBox="1"/>
          <p:nvPr/>
        </p:nvSpPr>
        <p:spPr>
          <a:xfrm>
            <a:off x="0" y="0"/>
            <a:ext cx="3299297" cy="6858000"/>
          </a:xfrm>
          <a:prstGeom prst="rect">
            <a:avLst/>
          </a:prstGeom>
          <a:solidFill>
            <a:srgbClr val="30AE99"/>
          </a:solidFill>
        </p:spPr>
        <p:txBody>
          <a:bodyPr wrap="square" rtlCol="0">
            <a:spAutoFit/>
          </a:bodyPr>
          <a:lstStyle/>
          <a:p>
            <a:endParaRPr lang="fr-FR" dirty="0"/>
          </a:p>
        </p:txBody>
      </p:sp>
      <p:sp>
        <p:nvSpPr>
          <p:cNvPr id="8" name="Espace réservé du texte 1">
            <a:extLst>
              <a:ext uri="{FF2B5EF4-FFF2-40B4-BE49-F238E27FC236}">
                <a16:creationId xmlns:a16="http://schemas.microsoft.com/office/drawing/2014/main" id="{FD62536B-CD3D-6F47-D383-90878BB04C7F}"/>
              </a:ext>
            </a:extLst>
          </p:cNvPr>
          <p:cNvSpPr txBox="1">
            <a:spLocks/>
          </p:cNvSpPr>
          <p:nvPr/>
        </p:nvSpPr>
        <p:spPr>
          <a:xfrm>
            <a:off x="23699" y="222803"/>
            <a:ext cx="3198334" cy="12498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300" dirty="0" err="1">
                <a:solidFill>
                  <a:schemeClr val="bg1"/>
                </a:solidFill>
                <a:latin typeface="Verdana"/>
                <a:cs typeface="Verdana"/>
              </a:rPr>
              <a:t>Quote</a:t>
            </a:r>
            <a:r>
              <a:rPr lang="fr-FR" sz="2300" dirty="0">
                <a:solidFill>
                  <a:schemeClr val="bg1"/>
                </a:solidFill>
                <a:latin typeface="Verdana"/>
                <a:cs typeface="Verdana"/>
              </a:rPr>
              <a:t> sources</a:t>
            </a:r>
          </a:p>
        </p:txBody>
      </p:sp>
      <p:sp>
        <p:nvSpPr>
          <p:cNvPr id="11" name="ZoneTexte 10">
            <a:extLst>
              <a:ext uri="{FF2B5EF4-FFF2-40B4-BE49-F238E27FC236}">
                <a16:creationId xmlns:a16="http://schemas.microsoft.com/office/drawing/2014/main" id="{15647347-5756-A3EE-FEEE-A72271D94642}"/>
              </a:ext>
            </a:extLst>
          </p:cNvPr>
          <p:cNvSpPr txBox="1"/>
          <p:nvPr/>
        </p:nvSpPr>
        <p:spPr>
          <a:xfrm>
            <a:off x="38632" y="1073535"/>
            <a:ext cx="3190343" cy="1107996"/>
          </a:xfrm>
          <a:prstGeom prst="rect">
            <a:avLst/>
          </a:prstGeom>
          <a:noFill/>
        </p:spPr>
        <p:txBody>
          <a:bodyPr wrap="square" rtlCol="0">
            <a:spAutoFit/>
          </a:bodyPr>
          <a:lstStyle/>
          <a:p>
            <a:pPr>
              <a:defRPr/>
            </a:pPr>
            <a:r>
              <a:rPr lang="en-US" altLang="fr-FR" sz="2200" b="1" kern="0" dirty="0">
                <a:solidFill>
                  <a:schemeClr val="bg2">
                    <a:lumMod val="10000"/>
                  </a:schemeClr>
                </a:solidFill>
                <a:sym typeface="Wingdings" panose="05000000000000000000" pitchFamily="2" charset="2"/>
              </a:rPr>
              <a:t>Creative Commons Licenses</a:t>
            </a:r>
          </a:p>
          <a:p>
            <a:pPr>
              <a:defRPr/>
            </a:pPr>
            <a:endParaRPr lang="en-US" altLang="fr-FR" sz="2200" b="1" kern="0" dirty="0">
              <a:solidFill>
                <a:schemeClr val="bg2">
                  <a:lumMod val="10000"/>
                </a:schemeClr>
              </a:solidFill>
            </a:endParaRPr>
          </a:p>
        </p:txBody>
      </p:sp>
      <p:sp>
        <p:nvSpPr>
          <p:cNvPr id="4" name="ZoneTexte 3">
            <a:extLst>
              <a:ext uri="{FF2B5EF4-FFF2-40B4-BE49-F238E27FC236}">
                <a16:creationId xmlns:a16="http://schemas.microsoft.com/office/drawing/2014/main" id="{D01877A1-8A57-37BA-DB9F-F5D52A1D1CC0}"/>
              </a:ext>
            </a:extLst>
          </p:cNvPr>
          <p:cNvSpPr txBox="1"/>
          <p:nvPr/>
        </p:nvSpPr>
        <p:spPr>
          <a:xfrm>
            <a:off x="3648075" y="903573"/>
            <a:ext cx="6096000" cy="923330"/>
          </a:xfrm>
          <a:prstGeom prst="rect">
            <a:avLst/>
          </a:prstGeom>
          <a:noFill/>
        </p:spPr>
        <p:txBody>
          <a:bodyPr wrap="square">
            <a:spAutoFit/>
          </a:bodyPr>
          <a:lstStyle/>
          <a:p>
            <a:pPr indent="0" algn="l">
              <a:buNone/>
            </a:pPr>
            <a:r>
              <a:rPr lang="fr-FR" b="1" i="0" dirty="0">
                <a:solidFill>
                  <a:schemeClr val="tx1"/>
                </a:solidFill>
                <a:effectLst/>
                <a:latin typeface="+mn-lt"/>
              </a:rPr>
              <a:t>The CC </a:t>
            </a:r>
            <a:r>
              <a:rPr lang="fr-FR" b="1" i="0" dirty="0" err="1">
                <a:solidFill>
                  <a:schemeClr val="tx1"/>
                </a:solidFill>
                <a:effectLst/>
                <a:latin typeface="+mn-lt"/>
              </a:rPr>
              <a:t>Licenses</a:t>
            </a:r>
            <a:endParaRPr lang="fr-FR" b="1" i="0" dirty="0">
              <a:solidFill>
                <a:schemeClr val="tx1"/>
              </a:solidFill>
              <a:effectLst/>
              <a:latin typeface="+mn-lt"/>
            </a:endParaRPr>
          </a:p>
          <a:p>
            <a:pPr indent="0" algn="l">
              <a:lnSpc>
                <a:spcPct val="100000"/>
              </a:lnSpc>
              <a:buNone/>
            </a:pPr>
            <a:r>
              <a:rPr lang="fr-FR" b="0" i="0" dirty="0">
                <a:solidFill>
                  <a:schemeClr val="tx1"/>
                </a:solidFill>
                <a:effectLst/>
                <a:latin typeface="+mn-lt"/>
              </a:rPr>
              <a:t>There are six </a:t>
            </a:r>
            <a:r>
              <a:rPr lang="fr-FR" b="0" i="0" dirty="0" err="1">
                <a:solidFill>
                  <a:schemeClr val="tx1"/>
                </a:solidFill>
                <a:effectLst/>
                <a:latin typeface="+mn-lt"/>
              </a:rPr>
              <a:t>different</a:t>
            </a:r>
            <a:r>
              <a:rPr lang="fr-FR" b="0" i="0" dirty="0">
                <a:solidFill>
                  <a:schemeClr val="tx1"/>
                </a:solidFill>
                <a:effectLst/>
                <a:latin typeface="+mn-lt"/>
              </a:rPr>
              <a:t> </a:t>
            </a:r>
            <a:r>
              <a:rPr lang="fr-FR" b="0" i="0" dirty="0" err="1">
                <a:solidFill>
                  <a:schemeClr val="tx1"/>
                </a:solidFill>
                <a:effectLst/>
                <a:latin typeface="+mn-lt"/>
              </a:rPr>
              <a:t>license</a:t>
            </a:r>
            <a:r>
              <a:rPr lang="fr-FR" b="0" i="0" dirty="0">
                <a:solidFill>
                  <a:schemeClr val="tx1"/>
                </a:solidFill>
                <a:effectLst/>
                <a:latin typeface="+mn-lt"/>
              </a:rPr>
              <a:t> types, </a:t>
            </a:r>
            <a:r>
              <a:rPr lang="fr-FR" b="0" i="0" dirty="0" err="1">
                <a:solidFill>
                  <a:schemeClr val="tx1"/>
                </a:solidFill>
                <a:effectLst/>
                <a:latin typeface="+mn-lt"/>
              </a:rPr>
              <a:t>listed</a:t>
            </a:r>
            <a:r>
              <a:rPr lang="fr-FR" b="0" i="0" dirty="0">
                <a:solidFill>
                  <a:schemeClr val="tx1"/>
                </a:solidFill>
                <a:effectLst/>
                <a:latin typeface="+mn-lt"/>
              </a:rPr>
              <a:t> </a:t>
            </a:r>
            <a:r>
              <a:rPr lang="fr-FR" b="0" i="0" dirty="0" err="1">
                <a:solidFill>
                  <a:schemeClr val="tx1"/>
                </a:solidFill>
                <a:effectLst/>
                <a:latin typeface="+mn-lt"/>
              </a:rPr>
              <a:t>from</a:t>
            </a:r>
            <a:r>
              <a:rPr lang="fr-FR" b="0" i="0" dirty="0">
                <a:solidFill>
                  <a:schemeClr val="tx1"/>
                </a:solidFill>
                <a:effectLst/>
                <a:latin typeface="+mn-lt"/>
              </a:rPr>
              <a:t> </a:t>
            </a:r>
            <a:r>
              <a:rPr lang="fr-FR" b="0" i="0" dirty="0" err="1">
                <a:solidFill>
                  <a:schemeClr val="tx1"/>
                </a:solidFill>
                <a:effectLst/>
                <a:latin typeface="+mn-lt"/>
              </a:rPr>
              <a:t>most</a:t>
            </a:r>
            <a:r>
              <a:rPr lang="fr-FR" b="0" i="0" dirty="0">
                <a:solidFill>
                  <a:schemeClr val="tx1"/>
                </a:solidFill>
                <a:effectLst/>
                <a:latin typeface="+mn-lt"/>
              </a:rPr>
              <a:t> to least permissive </a:t>
            </a:r>
            <a:r>
              <a:rPr lang="fr-FR" b="0" i="0" dirty="0" err="1">
                <a:solidFill>
                  <a:schemeClr val="tx1"/>
                </a:solidFill>
                <a:effectLst/>
                <a:latin typeface="+mn-lt"/>
              </a:rPr>
              <a:t>here</a:t>
            </a:r>
            <a:r>
              <a:rPr lang="fr-FR" b="0" i="0" dirty="0">
                <a:solidFill>
                  <a:schemeClr val="tx1"/>
                </a:solidFill>
                <a:effectLst/>
                <a:latin typeface="+mn-lt"/>
              </a:rPr>
              <a:t>:</a:t>
            </a:r>
          </a:p>
        </p:txBody>
      </p:sp>
      <p:pic>
        <p:nvPicPr>
          <p:cNvPr id="9" name="Image 8">
            <a:extLst>
              <a:ext uri="{FF2B5EF4-FFF2-40B4-BE49-F238E27FC236}">
                <a16:creationId xmlns:a16="http://schemas.microsoft.com/office/drawing/2014/main" id="{5DE46396-B667-73DB-EA6E-56C38E752824}"/>
              </a:ext>
            </a:extLst>
          </p:cNvPr>
          <p:cNvPicPr>
            <a:picLocks noChangeAspect="1"/>
          </p:cNvPicPr>
          <p:nvPr/>
        </p:nvPicPr>
        <p:blipFill>
          <a:blip r:embed="rId2"/>
          <a:srcRect l="59454" t="7507" r="9062" b="22046"/>
          <a:stretch>
            <a:fillRect/>
          </a:stretch>
        </p:blipFill>
        <p:spPr>
          <a:xfrm>
            <a:off x="3380699" y="1908725"/>
            <a:ext cx="4229307" cy="3612849"/>
          </a:xfrm>
          <a:prstGeom prst="rect">
            <a:avLst/>
          </a:prstGeom>
        </p:spPr>
      </p:pic>
      <p:sp>
        <p:nvSpPr>
          <p:cNvPr id="12" name="ZoneTexte 11">
            <a:extLst>
              <a:ext uri="{FF2B5EF4-FFF2-40B4-BE49-F238E27FC236}">
                <a16:creationId xmlns:a16="http://schemas.microsoft.com/office/drawing/2014/main" id="{8F282D5B-6226-18CF-A92C-42EAD736F1BB}"/>
              </a:ext>
            </a:extLst>
          </p:cNvPr>
          <p:cNvSpPr txBox="1"/>
          <p:nvPr/>
        </p:nvSpPr>
        <p:spPr>
          <a:xfrm>
            <a:off x="3648075" y="5769761"/>
            <a:ext cx="6781800" cy="369332"/>
          </a:xfrm>
          <a:prstGeom prst="rect">
            <a:avLst/>
          </a:prstGeom>
          <a:noFill/>
        </p:spPr>
        <p:txBody>
          <a:bodyPr wrap="square">
            <a:spAutoFit/>
          </a:bodyPr>
          <a:lstStyle/>
          <a:p>
            <a:r>
              <a:rPr lang="fr-FR" sz="1800" dirty="0"/>
              <a:t>Sources : </a:t>
            </a:r>
            <a:r>
              <a:rPr lang="fr-FR" sz="1800" dirty="0">
                <a:hlinkClick r:id="rId3"/>
              </a:rPr>
              <a:t>Sharing </a:t>
            </a:r>
            <a:r>
              <a:rPr lang="fr-FR" sz="1800" dirty="0" err="1">
                <a:hlinkClick r:id="rId3"/>
              </a:rPr>
              <a:t>Openly</a:t>
            </a:r>
            <a:r>
              <a:rPr lang="fr-FR" sz="1800" dirty="0">
                <a:hlinkClick r:id="rId3"/>
              </a:rPr>
              <a:t>, Sharing </a:t>
            </a:r>
            <a:r>
              <a:rPr lang="fr-FR" sz="1800" dirty="0" err="1">
                <a:hlinkClick r:id="rId3"/>
              </a:rPr>
              <a:t>Globally</a:t>
            </a:r>
            <a:r>
              <a:rPr lang="fr-FR" sz="1800" dirty="0">
                <a:hlinkClick r:id="rId3"/>
              </a:rPr>
              <a:t> - Creative Commons</a:t>
            </a:r>
            <a:endParaRPr lang="fr-FR" dirty="0"/>
          </a:p>
        </p:txBody>
      </p:sp>
      <p:pic>
        <p:nvPicPr>
          <p:cNvPr id="14" name="Image 13">
            <a:extLst>
              <a:ext uri="{FF2B5EF4-FFF2-40B4-BE49-F238E27FC236}">
                <a16:creationId xmlns:a16="http://schemas.microsoft.com/office/drawing/2014/main" id="{F8F3016C-C2DC-C015-CB04-B0F00AD73E66}"/>
              </a:ext>
            </a:extLst>
          </p:cNvPr>
          <p:cNvPicPr>
            <a:picLocks noChangeAspect="1"/>
          </p:cNvPicPr>
          <p:nvPr/>
        </p:nvPicPr>
        <p:blipFill>
          <a:blip r:embed="rId4"/>
          <a:srcRect l="59142" t="12300" r="9373" b="5549"/>
          <a:stretch>
            <a:fillRect/>
          </a:stretch>
        </p:blipFill>
        <p:spPr>
          <a:xfrm>
            <a:off x="7592585" y="1984910"/>
            <a:ext cx="4042796" cy="3536665"/>
          </a:xfrm>
          <a:prstGeom prst="rect">
            <a:avLst/>
          </a:prstGeom>
        </p:spPr>
      </p:pic>
      <p:sp>
        <p:nvSpPr>
          <p:cNvPr id="17" name="ZoneTexte 16">
            <a:extLst>
              <a:ext uri="{FF2B5EF4-FFF2-40B4-BE49-F238E27FC236}">
                <a16:creationId xmlns:a16="http://schemas.microsoft.com/office/drawing/2014/main" id="{932A7EBC-1172-7E56-32FC-D48CA3B98921}"/>
              </a:ext>
            </a:extLst>
          </p:cNvPr>
          <p:cNvSpPr txBox="1"/>
          <p:nvPr/>
        </p:nvSpPr>
        <p:spPr>
          <a:xfrm>
            <a:off x="62331" y="2274838"/>
            <a:ext cx="2480312" cy="2308324"/>
          </a:xfrm>
          <a:prstGeom prst="rect">
            <a:avLst/>
          </a:prstGeom>
          <a:noFill/>
        </p:spPr>
        <p:txBody>
          <a:bodyPr wrap="square">
            <a:spAutoFit/>
          </a:bodyPr>
          <a:lstStyle/>
          <a:p>
            <a:pPr algn="ctr"/>
            <a:r>
              <a:rPr lang="fr-FR" dirty="0"/>
              <a:t>Creative Commons </a:t>
            </a:r>
            <a:r>
              <a:rPr lang="fr-FR" dirty="0" err="1"/>
              <a:t>offers</a:t>
            </a:r>
            <a:r>
              <a:rPr lang="fr-FR" dirty="0"/>
              <a:t> a License </a:t>
            </a:r>
            <a:r>
              <a:rPr lang="fr-FR" dirty="0" err="1"/>
              <a:t>Chooser</a:t>
            </a:r>
            <a:r>
              <a:rPr lang="fr-FR" dirty="0"/>
              <a:t> </a:t>
            </a:r>
            <a:r>
              <a:rPr lang="fr-FR" dirty="0" err="1"/>
              <a:t>that</a:t>
            </a:r>
            <a:r>
              <a:rPr lang="fr-FR" dirty="0"/>
              <a:t> </a:t>
            </a:r>
            <a:r>
              <a:rPr lang="fr-FR" dirty="0" err="1"/>
              <a:t>allows</a:t>
            </a:r>
            <a:r>
              <a:rPr lang="fr-FR" dirty="0"/>
              <a:t> </a:t>
            </a:r>
            <a:r>
              <a:rPr lang="fr-FR" dirty="0" err="1"/>
              <a:t>you</a:t>
            </a:r>
            <a:r>
              <a:rPr lang="fr-FR" dirty="0"/>
              <a:t> to select the </a:t>
            </a:r>
            <a:r>
              <a:rPr lang="fr-FR" dirty="0" err="1"/>
              <a:t>license</a:t>
            </a:r>
            <a:r>
              <a:rPr lang="fr-FR" dirty="0"/>
              <a:t> best </a:t>
            </a:r>
            <a:r>
              <a:rPr lang="fr-FR" dirty="0" err="1"/>
              <a:t>suited</a:t>
            </a:r>
            <a:r>
              <a:rPr lang="fr-FR" dirty="0"/>
              <a:t> to </a:t>
            </a:r>
            <a:r>
              <a:rPr lang="fr-FR" dirty="0" err="1"/>
              <a:t>your</a:t>
            </a:r>
            <a:r>
              <a:rPr lang="fr-FR" dirty="0"/>
              <a:t> </a:t>
            </a:r>
            <a:r>
              <a:rPr lang="fr-FR" dirty="0" err="1"/>
              <a:t>needs</a:t>
            </a:r>
            <a:r>
              <a:rPr lang="fr-FR" dirty="0"/>
              <a:t>.</a:t>
            </a:r>
          </a:p>
          <a:p>
            <a:pPr algn="ctr"/>
            <a:r>
              <a:rPr lang="fr-FR" b="1" dirty="0" err="1">
                <a:solidFill>
                  <a:srgbClr val="80276C"/>
                </a:solidFill>
                <a:hlinkClick r:id="rId5">
                  <a:extLst>
                    <a:ext uri="{A12FA001-AC4F-418D-AE19-62706E023703}">
                      <ahyp:hlinkClr xmlns:ahyp="http://schemas.microsoft.com/office/drawing/2018/hyperlinkcolor" val="tx"/>
                    </a:ext>
                  </a:extLst>
                </a:hlinkClick>
              </a:rPr>
              <a:t>Chooser</a:t>
            </a:r>
            <a:r>
              <a:rPr lang="fr-FR" b="1" dirty="0">
                <a:solidFill>
                  <a:srgbClr val="80276C"/>
                </a:solidFill>
                <a:hlinkClick r:id="rId5">
                  <a:extLst>
                    <a:ext uri="{A12FA001-AC4F-418D-AE19-62706E023703}">
                      <ahyp:hlinkClr xmlns:ahyp="http://schemas.microsoft.com/office/drawing/2018/hyperlinkcolor" val="tx"/>
                    </a:ext>
                  </a:extLst>
                </a:hlinkClick>
              </a:rPr>
              <a:t> - Creative Commons</a:t>
            </a:r>
            <a:endParaRPr lang="fr-FR" b="1" dirty="0">
              <a:solidFill>
                <a:srgbClr val="80276C"/>
              </a:solidFill>
            </a:endParaRPr>
          </a:p>
        </p:txBody>
      </p:sp>
    </p:spTree>
    <p:extLst>
      <p:ext uri="{BB962C8B-B14F-4D97-AF65-F5344CB8AC3E}">
        <p14:creationId xmlns:p14="http://schemas.microsoft.com/office/powerpoint/2010/main" val="38968292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FFC48B4F-6E48-4A35-9ADE-3C5E459BCA42}"/>
              </a:ext>
            </a:extLst>
          </p:cNvPr>
          <p:cNvGrpSpPr/>
          <p:nvPr/>
        </p:nvGrpSpPr>
        <p:grpSpPr>
          <a:xfrm>
            <a:off x="431429" y="560663"/>
            <a:ext cx="10036686" cy="5535505"/>
            <a:chOff x="166253" y="1126170"/>
            <a:chExt cx="10036686" cy="5535505"/>
          </a:xfrm>
        </p:grpSpPr>
        <p:sp>
          <p:nvSpPr>
            <p:cNvPr id="3" name="Espace réservé du numéro de diapositive 1">
              <a:extLst>
                <a:ext uri="{FF2B5EF4-FFF2-40B4-BE49-F238E27FC236}">
                  <a16:creationId xmlns:a16="http://schemas.microsoft.com/office/drawing/2014/main" id="{5EBC9538-4C62-4036-89B4-E1F78DF165FD}"/>
                </a:ext>
              </a:extLst>
            </p:cNvPr>
            <p:cNvSpPr txBox="1">
              <a:spLocks/>
            </p:cNvSpPr>
            <p:nvPr/>
          </p:nvSpPr>
          <p:spPr>
            <a:xfrm>
              <a:off x="166253" y="6367320"/>
              <a:ext cx="646547" cy="29435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A4C5B2E-C222-42BA-A6AE-2E2D0C9DED18}" type="slidenum">
                <a:rPr lang="fr-FR" smtClean="0"/>
                <a:pPr/>
                <a:t>54</a:t>
              </a:fld>
              <a:endParaRPr lang="fr-FR" dirty="0"/>
            </a:p>
          </p:txBody>
        </p:sp>
        <p:sp>
          <p:nvSpPr>
            <p:cNvPr id="4" name="Espace réservé du texte 2">
              <a:extLst>
                <a:ext uri="{FF2B5EF4-FFF2-40B4-BE49-F238E27FC236}">
                  <a16:creationId xmlns:a16="http://schemas.microsoft.com/office/drawing/2014/main" id="{862224AF-40EB-4513-89A5-728EFED488D8}"/>
                </a:ext>
              </a:extLst>
            </p:cNvPr>
            <p:cNvSpPr txBox="1">
              <a:spLocks/>
            </p:cNvSpPr>
            <p:nvPr/>
          </p:nvSpPr>
          <p:spPr>
            <a:xfrm>
              <a:off x="2030060" y="1126170"/>
              <a:ext cx="6668465" cy="4458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dirty="0"/>
                <a:t>The </a:t>
              </a:r>
              <a:r>
                <a:rPr lang="fr-FR" dirty="0" err="1"/>
                <a:t>two</a:t>
              </a:r>
              <a:r>
                <a:rPr lang="fr-FR" dirty="0"/>
                <a:t> main orientations of open </a:t>
              </a:r>
              <a:r>
                <a:rPr lang="fr-FR" dirty="0" err="1"/>
                <a:t>access</a:t>
              </a:r>
              <a:endParaRPr lang="fr-FR" dirty="0"/>
            </a:p>
          </p:txBody>
        </p:sp>
        <p:pic>
          <p:nvPicPr>
            <p:cNvPr id="5" name="Image 4">
              <a:extLst>
                <a:ext uri="{FF2B5EF4-FFF2-40B4-BE49-F238E27FC236}">
                  <a16:creationId xmlns:a16="http://schemas.microsoft.com/office/drawing/2014/main" id="{785C506F-162A-4834-A731-742C485C1E1A}"/>
                </a:ext>
              </a:extLst>
            </p:cNvPr>
            <p:cNvPicPr>
              <a:picLocks noChangeAspect="1"/>
            </p:cNvPicPr>
            <p:nvPr/>
          </p:nvPicPr>
          <p:blipFill>
            <a:blip r:embed="rId2"/>
            <a:stretch>
              <a:fillRect/>
            </a:stretch>
          </p:blipFill>
          <p:spPr>
            <a:xfrm>
              <a:off x="3591746" y="1579173"/>
              <a:ext cx="1181117" cy="1477811"/>
            </a:xfrm>
            <a:prstGeom prst="rect">
              <a:avLst/>
            </a:prstGeom>
          </p:spPr>
        </p:pic>
        <p:sp>
          <p:nvSpPr>
            <p:cNvPr id="6" name="ZoneTexte 5">
              <a:extLst>
                <a:ext uri="{FF2B5EF4-FFF2-40B4-BE49-F238E27FC236}">
                  <a16:creationId xmlns:a16="http://schemas.microsoft.com/office/drawing/2014/main" id="{CE492CFD-65CF-4D4F-A098-38A2C287020E}"/>
                </a:ext>
              </a:extLst>
            </p:cNvPr>
            <p:cNvSpPr txBox="1"/>
            <p:nvPr/>
          </p:nvSpPr>
          <p:spPr>
            <a:xfrm>
              <a:off x="3780605" y="3044317"/>
              <a:ext cx="1611339" cy="507831"/>
            </a:xfrm>
            <a:prstGeom prst="rect">
              <a:avLst/>
            </a:prstGeom>
            <a:solidFill>
              <a:srgbClr val="80276C"/>
            </a:solidFill>
          </p:spPr>
          <p:txBody>
            <a:bodyPr wrap="none" rtlCol="0">
              <a:spAutoFit/>
            </a:bodyPr>
            <a:lstStyle/>
            <a:p>
              <a:r>
                <a:rPr lang="fr-FR" sz="1350" dirty="0">
                  <a:solidFill>
                    <a:schemeClr val="bg1"/>
                  </a:solidFill>
                </a:rPr>
                <a:t>Open </a:t>
              </a:r>
              <a:r>
                <a:rPr lang="fr-FR" sz="1350" dirty="0" err="1">
                  <a:solidFill>
                    <a:schemeClr val="bg1"/>
                  </a:solidFill>
                </a:rPr>
                <a:t>access</a:t>
              </a:r>
              <a:r>
                <a:rPr lang="fr-FR" sz="1350" dirty="0">
                  <a:solidFill>
                    <a:schemeClr val="bg1"/>
                  </a:solidFill>
                </a:rPr>
                <a:t> Journal</a:t>
              </a:r>
            </a:p>
            <a:p>
              <a:r>
                <a:rPr lang="fr-FR" sz="1350" dirty="0">
                  <a:solidFill>
                    <a:schemeClr val="bg1"/>
                  </a:solidFill>
                </a:rPr>
                <a:t>DOAJ.org </a:t>
              </a:r>
            </a:p>
          </p:txBody>
        </p:sp>
        <p:pic>
          <p:nvPicPr>
            <p:cNvPr id="7" name="Image 6">
              <a:extLst>
                <a:ext uri="{FF2B5EF4-FFF2-40B4-BE49-F238E27FC236}">
                  <a16:creationId xmlns:a16="http://schemas.microsoft.com/office/drawing/2014/main" id="{2D8858E4-7F4E-429F-A0F8-37DBEC01CC8C}"/>
                </a:ext>
              </a:extLst>
            </p:cNvPr>
            <p:cNvPicPr>
              <a:picLocks noChangeAspect="1"/>
            </p:cNvPicPr>
            <p:nvPr/>
          </p:nvPicPr>
          <p:blipFill>
            <a:blip r:embed="rId2"/>
            <a:stretch>
              <a:fillRect/>
            </a:stretch>
          </p:blipFill>
          <p:spPr>
            <a:xfrm>
              <a:off x="3591746" y="3806936"/>
              <a:ext cx="1181117" cy="1477811"/>
            </a:xfrm>
            <a:prstGeom prst="rect">
              <a:avLst/>
            </a:prstGeom>
          </p:spPr>
        </p:pic>
        <p:sp>
          <p:nvSpPr>
            <p:cNvPr id="8" name="ZoneTexte 7">
              <a:extLst>
                <a:ext uri="{FF2B5EF4-FFF2-40B4-BE49-F238E27FC236}">
                  <a16:creationId xmlns:a16="http://schemas.microsoft.com/office/drawing/2014/main" id="{DC220DA4-6156-414A-BAA8-0A3B69C38B48}"/>
                </a:ext>
              </a:extLst>
            </p:cNvPr>
            <p:cNvSpPr txBox="1"/>
            <p:nvPr/>
          </p:nvSpPr>
          <p:spPr>
            <a:xfrm>
              <a:off x="3793670" y="5265309"/>
              <a:ext cx="1144257" cy="507831"/>
            </a:xfrm>
            <a:prstGeom prst="rect">
              <a:avLst/>
            </a:prstGeom>
            <a:solidFill>
              <a:srgbClr val="80276C"/>
            </a:solidFill>
          </p:spPr>
          <p:txBody>
            <a:bodyPr wrap="square" rtlCol="0">
              <a:spAutoFit/>
            </a:bodyPr>
            <a:lstStyle/>
            <a:p>
              <a:r>
                <a:rPr lang="fr-FR" sz="1350" dirty="0" err="1">
                  <a:solidFill>
                    <a:schemeClr val="bg1"/>
                  </a:solidFill>
                </a:rPr>
                <a:t>Subscription</a:t>
              </a:r>
              <a:r>
                <a:rPr lang="fr-FR" sz="1350" dirty="0">
                  <a:solidFill>
                    <a:schemeClr val="bg1"/>
                  </a:solidFill>
                </a:rPr>
                <a:t> Journal</a:t>
              </a:r>
            </a:p>
          </p:txBody>
        </p:sp>
        <p:sp>
          <p:nvSpPr>
            <p:cNvPr id="9" name="ZoneTexte 8">
              <a:extLst>
                <a:ext uri="{FF2B5EF4-FFF2-40B4-BE49-F238E27FC236}">
                  <a16:creationId xmlns:a16="http://schemas.microsoft.com/office/drawing/2014/main" id="{0EDEBA8B-4ABF-4B1D-A301-1A278E34CFD4}"/>
                </a:ext>
              </a:extLst>
            </p:cNvPr>
            <p:cNvSpPr txBox="1"/>
            <p:nvPr/>
          </p:nvSpPr>
          <p:spPr>
            <a:xfrm>
              <a:off x="5907627" y="2446651"/>
              <a:ext cx="2268504" cy="923330"/>
            </a:xfrm>
            <a:prstGeom prst="rect">
              <a:avLst/>
            </a:prstGeom>
            <a:solidFill>
              <a:srgbClr val="FFA300"/>
            </a:solidFill>
          </p:spPr>
          <p:txBody>
            <a:bodyPr wrap="square" rtlCol="0">
              <a:spAutoFit/>
            </a:bodyPr>
            <a:lstStyle/>
            <a:p>
              <a:r>
                <a:rPr lang="fr-FR" sz="1350" dirty="0" err="1"/>
                <a:t>Payment</a:t>
              </a:r>
              <a:r>
                <a:rPr lang="fr-FR" sz="1350" dirty="0"/>
                <a:t> APC (Article </a:t>
              </a:r>
              <a:r>
                <a:rPr lang="fr-FR" sz="1350" dirty="0" err="1"/>
                <a:t>Processing</a:t>
              </a:r>
              <a:r>
                <a:rPr lang="fr-FR" sz="1350" dirty="0"/>
                <a:t> Charge)</a:t>
              </a:r>
            </a:p>
            <a:p>
              <a:r>
                <a:rPr lang="fr-FR" sz="1350" dirty="0"/>
                <a:t>(</a:t>
              </a:r>
              <a:r>
                <a:rPr lang="fr-FR" sz="1350" dirty="0" err="1"/>
                <a:t>laboratory</a:t>
              </a:r>
              <a:r>
                <a:rPr lang="fr-FR" sz="1350" dirty="0"/>
                <a:t>, établissement, </a:t>
              </a:r>
              <a:r>
                <a:rPr lang="fr-FR" sz="1350" dirty="0" err="1"/>
                <a:t>negociations</a:t>
              </a:r>
              <a:r>
                <a:rPr lang="fr-FR" sz="1350" dirty="0"/>
                <a:t>)</a:t>
              </a:r>
            </a:p>
          </p:txBody>
        </p:sp>
        <p:pic>
          <p:nvPicPr>
            <p:cNvPr id="10" name="Image 9">
              <a:extLst>
                <a:ext uri="{FF2B5EF4-FFF2-40B4-BE49-F238E27FC236}">
                  <a16:creationId xmlns:a16="http://schemas.microsoft.com/office/drawing/2014/main" id="{A358FB20-7954-45BC-8307-CB4F15E08B80}"/>
                </a:ext>
              </a:extLst>
            </p:cNvPr>
            <p:cNvPicPr>
              <a:picLocks noChangeAspect="1"/>
            </p:cNvPicPr>
            <p:nvPr/>
          </p:nvPicPr>
          <p:blipFill>
            <a:blip r:embed="rId3"/>
            <a:stretch>
              <a:fillRect/>
            </a:stretch>
          </p:blipFill>
          <p:spPr>
            <a:xfrm>
              <a:off x="9199368" y="2133956"/>
              <a:ext cx="1003570" cy="667830"/>
            </a:xfrm>
            <a:prstGeom prst="rect">
              <a:avLst/>
            </a:prstGeom>
          </p:spPr>
        </p:pic>
        <p:sp>
          <p:nvSpPr>
            <p:cNvPr id="11" name="ZoneTexte 10">
              <a:extLst>
                <a:ext uri="{FF2B5EF4-FFF2-40B4-BE49-F238E27FC236}">
                  <a16:creationId xmlns:a16="http://schemas.microsoft.com/office/drawing/2014/main" id="{2865CA08-CAB9-44F3-85B5-512405E2109F}"/>
                </a:ext>
              </a:extLst>
            </p:cNvPr>
            <p:cNvSpPr txBox="1"/>
            <p:nvPr/>
          </p:nvSpPr>
          <p:spPr>
            <a:xfrm>
              <a:off x="5964117" y="4061093"/>
              <a:ext cx="1825241" cy="923330"/>
            </a:xfrm>
            <a:prstGeom prst="rect">
              <a:avLst/>
            </a:prstGeom>
            <a:solidFill>
              <a:srgbClr val="00B050"/>
            </a:solidFill>
          </p:spPr>
          <p:txBody>
            <a:bodyPr wrap="square" rtlCol="0">
              <a:spAutoFit/>
            </a:bodyPr>
            <a:lstStyle/>
            <a:p>
              <a:r>
                <a:rPr lang="fr-FR" sz="1350" dirty="0" err="1"/>
                <a:t>Upload</a:t>
              </a:r>
              <a:r>
                <a:rPr lang="fr-FR" sz="1350" dirty="0"/>
                <a:t> on an open archive -</a:t>
              </a:r>
            </a:p>
            <a:p>
              <a:r>
                <a:rPr lang="fr-FR" sz="1350" dirty="0" err="1"/>
                <a:t>institutional</a:t>
              </a:r>
              <a:r>
                <a:rPr lang="fr-FR" sz="1350" dirty="0"/>
                <a:t>, national, </a:t>
              </a:r>
              <a:r>
                <a:rPr lang="fr-FR" sz="1350" dirty="0" err="1"/>
                <a:t>thematic</a:t>
              </a:r>
              <a:r>
                <a:rPr lang="fr-FR" sz="1350" dirty="0"/>
                <a:t> …</a:t>
              </a:r>
            </a:p>
          </p:txBody>
        </p:sp>
        <p:pic>
          <p:nvPicPr>
            <p:cNvPr id="12" name="Image 11">
              <a:extLst>
                <a:ext uri="{FF2B5EF4-FFF2-40B4-BE49-F238E27FC236}">
                  <a16:creationId xmlns:a16="http://schemas.microsoft.com/office/drawing/2014/main" id="{EFAD6BD9-2FF5-443E-A888-C074013F4598}"/>
                </a:ext>
              </a:extLst>
            </p:cNvPr>
            <p:cNvPicPr>
              <a:picLocks noChangeAspect="1"/>
            </p:cNvPicPr>
            <p:nvPr/>
          </p:nvPicPr>
          <p:blipFill>
            <a:blip r:embed="rId3"/>
            <a:stretch>
              <a:fillRect/>
            </a:stretch>
          </p:blipFill>
          <p:spPr>
            <a:xfrm>
              <a:off x="9199369" y="4184360"/>
              <a:ext cx="1003570" cy="667830"/>
            </a:xfrm>
            <a:prstGeom prst="rect">
              <a:avLst/>
            </a:prstGeom>
          </p:spPr>
        </p:pic>
        <p:sp>
          <p:nvSpPr>
            <p:cNvPr id="13" name="ZoneTexte 12">
              <a:extLst>
                <a:ext uri="{FF2B5EF4-FFF2-40B4-BE49-F238E27FC236}">
                  <a16:creationId xmlns:a16="http://schemas.microsoft.com/office/drawing/2014/main" id="{4EC8498D-1017-4F15-AA3E-4A5F847A505C}"/>
                </a:ext>
              </a:extLst>
            </p:cNvPr>
            <p:cNvSpPr txBox="1"/>
            <p:nvPr/>
          </p:nvSpPr>
          <p:spPr>
            <a:xfrm>
              <a:off x="1366273" y="3996763"/>
              <a:ext cx="1638007" cy="923330"/>
            </a:xfrm>
            <a:prstGeom prst="rect">
              <a:avLst/>
            </a:prstGeom>
            <a:noFill/>
          </p:spPr>
          <p:txBody>
            <a:bodyPr wrap="square" rtlCol="0">
              <a:spAutoFit/>
            </a:bodyPr>
            <a:lstStyle/>
            <a:p>
              <a:r>
                <a:rPr lang="fr-FR" sz="1350" dirty="0"/>
                <a:t>The </a:t>
              </a:r>
              <a:r>
                <a:rPr lang="fr-FR" sz="1350" dirty="0" err="1"/>
                <a:t>researcher</a:t>
              </a:r>
              <a:r>
                <a:rPr lang="fr-FR" sz="1350" dirty="0"/>
                <a:t> </a:t>
              </a:r>
              <a:r>
                <a:rPr lang="fr-FR" sz="1350" dirty="0" err="1"/>
                <a:t>decides</a:t>
              </a:r>
              <a:r>
                <a:rPr lang="fr-FR" sz="1350" dirty="0"/>
                <a:t> </a:t>
              </a:r>
              <a:r>
                <a:rPr lang="fr-FR" sz="1350" dirty="0" err="1"/>
                <a:t>where</a:t>
              </a:r>
              <a:r>
                <a:rPr lang="fr-FR" sz="1350" dirty="0"/>
                <a:t> </a:t>
              </a:r>
              <a:r>
                <a:rPr lang="fr-FR" sz="1350" dirty="0" err="1"/>
                <a:t>he</a:t>
              </a:r>
              <a:r>
                <a:rPr lang="fr-FR" sz="1350" dirty="0"/>
                <a:t>/</a:t>
              </a:r>
              <a:r>
                <a:rPr lang="fr-FR" sz="1350" dirty="0" err="1"/>
                <a:t>she</a:t>
              </a:r>
              <a:r>
                <a:rPr lang="fr-FR" sz="1350" dirty="0"/>
                <a:t> </a:t>
              </a:r>
              <a:r>
                <a:rPr lang="fr-FR" sz="1350" dirty="0" err="1"/>
                <a:t>wants</a:t>
              </a:r>
              <a:r>
                <a:rPr lang="fr-FR" sz="1350" dirty="0"/>
                <a:t> to </a:t>
              </a:r>
              <a:r>
                <a:rPr lang="fr-FR" sz="1350" dirty="0" err="1"/>
                <a:t>publish</a:t>
              </a:r>
              <a:endParaRPr lang="fr-FR" sz="1350" dirty="0"/>
            </a:p>
          </p:txBody>
        </p:sp>
        <p:sp>
          <p:nvSpPr>
            <p:cNvPr id="14" name="ZoneTexte 13">
              <a:extLst>
                <a:ext uri="{FF2B5EF4-FFF2-40B4-BE49-F238E27FC236}">
                  <a16:creationId xmlns:a16="http://schemas.microsoft.com/office/drawing/2014/main" id="{4AF8DD2E-1907-4404-A411-0A1B13ABB83C}"/>
                </a:ext>
              </a:extLst>
            </p:cNvPr>
            <p:cNvSpPr txBox="1"/>
            <p:nvPr/>
          </p:nvSpPr>
          <p:spPr>
            <a:xfrm>
              <a:off x="5964116" y="4961339"/>
              <a:ext cx="2245896" cy="507831"/>
            </a:xfrm>
            <a:prstGeom prst="rect">
              <a:avLst/>
            </a:prstGeom>
            <a:solidFill>
              <a:srgbClr val="00B050"/>
            </a:solidFill>
          </p:spPr>
          <p:txBody>
            <a:bodyPr wrap="square" rtlCol="0">
              <a:spAutoFit/>
            </a:bodyPr>
            <a:lstStyle/>
            <a:p>
              <a:r>
                <a:rPr lang="fr-FR" sz="1350" dirty="0"/>
                <a:t>6 </a:t>
              </a:r>
              <a:r>
                <a:rPr lang="fr-FR" sz="1350" dirty="0" err="1"/>
                <a:t>months</a:t>
              </a:r>
              <a:r>
                <a:rPr lang="fr-FR" sz="1350" dirty="0"/>
                <a:t> embargo STM/12 </a:t>
              </a:r>
              <a:r>
                <a:rPr lang="fr-FR" sz="1350" dirty="0" err="1"/>
                <a:t>months</a:t>
              </a:r>
              <a:r>
                <a:rPr lang="fr-FR" sz="1350" dirty="0"/>
                <a:t> SHS</a:t>
              </a:r>
            </a:p>
          </p:txBody>
        </p:sp>
        <p:cxnSp>
          <p:nvCxnSpPr>
            <p:cNvPr id="15" name="Connecteur droit avec flèche 14">
              <a:extLst>
                <a:ext uri="{FF2B5EF4-FFF2-40B4-BE49-F238E27FC236}">
                  <a16:creationId xmlns:a16="http://schemas.microsoft.com/office/drawing/2014/main" id="{4407B0FF-0AF4-4D15-8205-916689BC421C}"/>
                </a:ext>
              </a:extLst>
            </p:cNvPr>
            <p:cNvCxnSpPr/>
            <p:nvPr/>
          </p:nvCxnSpPr>
          <p:spPr>
            <a:xfrm flipV="1">
              <a:off x="2925746" y="2179580"/>
              <a:ext cx="666001" cy="599419"/>
            </a:xfrm>
            <a:prstGeom prst="straightConnector1">
              <a:avLst/>
            </a:prstGeom>
            <a:ln w="57150">
              <a:solidFill>
                <a:srgbClr val="80276C"/>
              </a:solidFill>
              <a:tailEnd type="triangle"/>
            </a:ln>
          </p:spPr>
          <p:style>
            <a:lnRef idx="1">
              <a:schemeClr val="accent2"/>
            </a:lnRef>
            <a:fillRef idx="0">
              <a:schemeClr val="accent2"/>
            </a:fillRef>
            <a:effectRef idx="0">
              <a:schemeClr val="accent2"/>
            </a:effectRef>
            <a:fontRef idx="minor">
              <a:schemeClr val="tx1"/>
            </a:fontRef>
          </p:style>
        </p:cxnSp>
        <p:cxnSp>
          <p:nvCxnSpPr>
            <p:cNvPr id="16" name="Connecteur droit avec flèche 15">
              <a:extLst>
                <a:ext uri="{FF2B5EF4-FFF2-40B4-BE49-F238E27FC236}">
                  <a16:creationId xmlns:a16="http://schemas.microsoft.com/office/drawing/2014/main" id="{4172595F-4FB1-4C58-9B0A-79225114D572}"/>
                </a:ext>
              </a:extLst>
            </p:cNvPr>
            <p:cNvCxnSpPr/>
            <p:nvPr/>
          </p:nvCxnSpPr>
          <p:spPr>
            <a:xfrm>
              <a:off x="3056425" y="3697357"/>
              <a:ext cx="633691" cy="487004"/>
            </a:xfrm>
            <a:prstGeom prst="straightConnector1">
              <a:avLst/>
            </a:prstGeom>
            <a:ln w="57150">
              <a:solidFill>
                <a:srgbClr val="80276C"/>
              </a:solidFill>
              <a:tailEnd type="triangle"/>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7AD759AC-C477-4B3B-AF7B-F9E30199540E}"/>
                </a:ext>
              </a:extLst>
            </p:cNvPr>
            <p:cNvSpPr txBox="1"/>
            <p:nvPr/>
          </p:nvSpPr>
          <p:spPr>
            <a:xfrm>
              <a:off x="5926437" y="1843214"/>
              <a:ext cx="496546" cy="300082"/>
            </a:xfrm>
            <a:prstGeom prst="rect">
              <a:avLst/>
            </a:prstGeom>
            <a:solidFill>
              <a:srgbClr val="FFA300"/>
            </a:solidFill>
          </p:spPr>
          <p:txBody>
            <a:bodyPr wrap="none" rtlCol="0">
              <a:spAutoFit/>
            </a:bodyPr>
            <a:lstStyle/>
            <a:p>
              <a:r>
                <a:rPr lang="fr-FR" sz="1350" dirty="0"/>
                <a:t>Free</a:t>
              </a:r>
            </a:p>
          </p:txBody>
        </p:sp>
        <p:cxnSp>
          <p:nvCxnSpPr>
            <p:cNvPr id="18" name="Connecteur droit avec flèche 17">
              <a:extLst>
                <a:ext uri="{FF2B5EF4-FFF2-40B4-BE49-F238E27FC236}">
                  <a16:creationId xmlns:a16="http://schemas.microsoft.com/office/drawing/2014/main" id="{D43EA7C6-CF07-4479-AF3E-91B911E8F7C1}"/>
                </a:ext>
              </a:extLst>
            </p:cNvPr>
            <p:cNvCxnSpPr/>
            <p:nvPr/>
          </p:nvCxnSpPr>
          <p:spPr>
            <a:xfrm flipV="1">
              <a:off x="4892711" y="1981714"/>
              <a:ext cx="979715" cy="30448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19" name="Connecteur droit avec flèche 18">
              <a:extLst>
                <a:ext uri="{FF2B5EF4-FFF2-40B4-BE49-F238E27FC236}">
                  <a16:creationId xmlns:a16="http://schemas.microsoft.com/office/drawing/2014/main" id="{81D3B465-3D7D-4B69-929C-7318691B720D}"/>
                </a:ext>
              </a:extLst>
            </p:cNvPr>
            <p:cNvCxnSpPr/>
            <p:nvPr/>
          </p:nvCxnSpPr>
          <p:spPr>
            <a:xfrm>
              <a:off x="4951927" y="2479289"/>
              <a:ext cx="920498" cy="257033"/>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20" name="Connecteur droit avec flèche 19">
              <a:extLst>
                <a:ext uri="{FF2B5EF4-FFF2-40B4-BE49-F238E27FC236}">
                  <a16:creationId xmlns:a16="http://schemas.microsoft.com/office/drawing/2014/main" id="{40C1B58C-E0CD-41AD-A216-6D26B10FEFD8}"/>
                </a:ext>
              </a:extLst>
            </p:cNvPr>
            <p:cNvCxnSpPr/>
            <p:nvPr/>
          </p:nvCxnSpPr>
          <p:spPr>
            <a:xfrm>
              <a:off x="4951926" y="4511215"/>
              <a:ext cx="973252"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Flèche droite 31">
              <a:extLst>
                <a:ext uri="{FF2B5EF4-FFF2-40B4-BE49-F238E27FC236}">
                  <a16:creationId xmlns:a16="http://schemas.microsoft.com/office/drawing/2014/main" id="{BC99F424-6F9B-428D-A625-12ADB4F54A25}"/>
                </a:ext>
              </a:extLst>
            </p:cNvPr>
            <p:cNvSpPr/>
            <p:nvPr/>
          </p:nvSpPr>
          <p:spPr>
            <a:xfrm>
              <a:off x="8512623" y="2295876"/>
              <a:ext cx="594022" cy="391886"/>
            </a:xfrm>
            <a:prstGeom prst="rightArrow">
              <a:avLst/>
            </a:prstGeom>
            <a:solidFill>
              <a:srgbClr val="80276C"/>
            </a:solidFill>
            <a:ln>
              <a:solidFill>
                <a:srgbClr val="8027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2" name="Flèche droite 32">
              <a:extLst>
                <a:ext uri="{FF2B5EF4-FFF2-40B4-BE49-F238E27FC236}">
                  <a16:creationId xmlns:a16="http://schemas.microsoft.com/office/drawing/2014/main" id="{B3160E13-EF68-43BE-92A0-134EF73F86CE}"/>
                </a:ext>
              </a:extLst>
            </p:cNvPr>
            <p:cNvSpPr/>
            <p:nvPr/>
          </p:nvSpPr>
          <p:spPr>
            <a:xfrm>
              <a:off x="8605347" y="4329457"/>
              <a:ext cx="594022" cy="391886"/>
            </a:xfrm>
            <a:prstGeom prst="rightArrow">
              <a:avLst/>
            </a:prstGeom>
            <a:solidFill>
              <a:srgbClr val="80276C"/>
            </a:solidFill>
            <a:ln>
              <a:solidFill>
                <a:srgbClr val="8027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cxnSp>
          <p:nvCxnSpPr>
            <p:cNvPr id="23" name="Connecteur droit 22">
              <a:extLst>
                <a:ext uri="{FF2B5EF4-FFF2-40B4-BE49-F238E27FC236}">
                  <a16:creationId xmlns:a16="http://schemas.microsoft.com/office/drawing/2014/main" id="{CA578E69-F249-4693-B342-86C9E5769DB2}"/>
                </a:ext>
              </a:extLst>
            </p:cNvPr>
            <p:cNvCxnSpPr/>
            <p:nvPr/>
          </p:nvCxnSpPr>
          <p:spPr>
            <a:xfrm>
              <a:off x="8356109" y="1748476"/>
              <a:ext cx="0" cy="1468604"/>
            </a:xfrm>
            <a:prstGeom prst="line">
              <a:avLst/>
            </a:prstGeom>
            <a:ln w="38100">
              <a:solidFill>
                <a:srgbClr val="80276C"/>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81A6D1F6-4C74-43D2-844E-17B653A0A56E}"/>
                </a:ext>
              </a:extLst>
            </p:cNvPr>
            <p:cNvCxnSpPr/>
            <p:nvPr/>
          </p:nvCxnSpPr>
          <p:spPr>
            <a:xfrm>
              <a:off x="8339011" y="3940858"/>
              <a:ext cx="0" cy="1468604"/>
            </a:xfrm>
            <a:prstGeom prst="line">
              <a:avLst/>
            </a:prstGeom>
            <a:ln w="38100">
              <a:solidFill>
                <a:srgbClr val="80276C"/>
              </a:solidFill>
            </a:ln>
          </p:spPr>
          <p:style>
            <a:lnRef idx="1">
              <a:schemeClr val="accent1"/>
            </a:lnRef>
            <a:fillRef idx="0">
              <a:schemeClr val="accent1"/>
            </a:fillRef>
            <a:effectRef idx="0">
              <a:schemeClr val="accent1"/>
            </a:effectRef>
            <a:fontRef idx="minor">
              <a:schemeClr val="tx1"/>
            </a:fontRef>
          </p:style>
        </p:cxnSp>
        <p:grpSp>
          <p:nvGrpSpPr>
            <p:cNvPr id="25" name="Groupe 24">
              <a:extLst>
                <a:ext uri="{FF2B5EF4-FFF2-40B4-BE49-F238E27FC236}">
                  <a16:creationId xmlns:a16="http://schemas.microsoft.com/office/drawing/2014/main" id="{B4C1BD2D-D80C-4D8C-BC70-DCF9984A8AA0}"/>
                </a:ext>
              </a:extLst>
            </p:cNvPr>
            <p:cNvGrpSpPr/>
            <p:nvPr/>
          </p:nvGrpSpPr>
          <p:grpSpPr>
            <a:xfrm>
              <a:off x="7309341" y="3073728"/>
              <a:ext cx="833678" cy="273170"/>
              <a:chOff x="6173006" y="5975293"/>
              <a:chExt cx="1009650" cy="215569"/>
            </a:xfrm>
          </p:grpSpPr>
          <p:sp>
            <p:nvSpPr>
              <p:cNvPr id="26" name="Oval 23">
                <a:extLst>
                  <a:ext uri="{FF2B5EF4-FFF2-40B4-BE49-F238E27FC236}">
                    <a16:creationId xmlns:a16="http://schemas.microsoft.com/office/drawing/2014/main" id="{6BD9E7F3-05FD-4DDA-BA69-D11538E77471}"/>
                  </a:ext>
                </a:extLst>
              </p:cNvPr>
              <p:cNvSpPr>
                <a:spLocks noChangeArrowheads="1"/>
              </p:cNvSpPr>
              <p:nvPr/>
            </p:nvSpPr>
            <p:spPr bwMode="auto">
              <a:xfrm>
                <a:off x="6173006" y="5975293"/>
                <a:ext cx="288925" cy="215569"/>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SzPct val="85000"/>
                  <a:buFont typeface="Arial" pitchFamily="34" charset="0"/>
                  <a:buChar char="•"/>
                  <a:defRPr sz="2400">
                    <a:solidFill>
                      <a:schemeClr val="tx1"/>
                    </a:solidFill>
                    <a:latin typeface="Arial" pitchFamily="34" charset="0"/>
                  </a:defRPr>
                </a:lvl1pPr>
                <a:lvl2pPr marL="742950" indent="-285750" eaLnBrk="0" hangingPunct="0">
                  <a:spcBef>
                    <a:spcPct val="20000"/>
                  </a:spcBef>
                  <a:buClr>
                    <a:schemeClr val="accent1"/>
                  </a:buClr>
                  <a:buSzPct val="85000"/>
                  <a:buFont typeface="Arial" pitchFamily="34" charset="0"/>
                  <a:buChar char="•"/>
                  <a:defRPr sz="2000">
                    <a:solidFill>
                      <a:schemeClr val="tx1"/>
                    </a:solidFill>
                    <a:latin typeface="Arial" pitchFamily="34" charset="0"/>
                  </a:defRPr>
                </a:lvl2pPr>
                <a:lvl3pPr marL="1143000" indent="-228600" eaLnBrk="0" hangingPunct="0">
                  <a:spcBef>
                    <a:spcPct val="20000"/>
                  </a:spcBef>
                  <a:buClr>
                    <a:schemeClr val="accent1"/>
                  </a:buClr>
                  <a:buSzPct val="90000"/>
                  <a:buFont typeface="Arial" pitchFamily="34" charset="0"/>
                  <a:buChar char="•"/>
                  <a:defRPr>
                    <a:solidFill>
                      <a:schemeClr val="tx1"/>
                    </a:solidFill>
                    <a:latin typeface="Arial" pitchFamily="34" charset="0"/>
                  </a:defRPr>
                </a:lvl3pPr>
                <a:lvl4pPr marL="1600200" indent="-228600" eaLnBrk="0" hangingPunct="0">
                  <a:spcBef>
                    <a:spcPct val="20000"/>
                  </a:spcBef>
                  <a:buClr>
                    <a:schemeClr val="accent1"/>
                  </a:buClr>
                  <a:buFont typeface="Arial" pitchFamily="34" charset="0"/>
                  <a:buChar char="•"/>
                  <a:defRPr sz="1600">
                    <a:solidFill>
                      <a:schemeClr val="tx1"/>
                    </a:solidFill>
                    <a:latin typeface="Arial" pitchFamily="34" charset="0"/>
                  </a:defRPr>
                </a:lvl4pPr>
                <a:lvl5pPr marL="2057400" indent="-228600" eaLnBrk="0" hangingPunct="0">
                  <a:spcBef>
                    <a:spcPct val="20000"/>
                  </a:spcBef>
                  <a:buClr>
                    <a:schemeClr val="accent1"/>
                  </a:buClr>
                  <a:buSzPct val="100000"/>
                  <a:buFont typeface="Arial" pitchFamily="34" charset="0"/>
                  <a:buChar char="•"/>
                  <a:defRPr sz="1400">
                    <a:solidFill>
                      <a:schemeClr val="tx1"/>
                    </a:solidFill>
                    <a:latin typeface="Arial" pitchFamily="34" charset="0"/>
                  </a:defRPr>
                </a:lvl5pPr>
                <a:lvl6pPr marL="25146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6pPr>
                <a:lvl7pPr marL="29718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7pPr>
                <a:lvl8pPr marL="34290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8pPr>
                <a:lvl9pPr marL="38862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9pPr>
              </a:lstStyle>
              <a:p>
                <a:pPr algn="ctr" eaLnBrk="1" hangingPunct="1">
                  <a:spcBef>
                    <a:spcPct val="0"/>
                  </a:spcBef>
                  <a:buClrTx/>
                  <a:buSzTx/>
                  <a:buFontTx/>
                  <a:buNone/>
                </a:pPr>
                <a:r>
                  <a:rPr lang="fr-FR" altLang="fr-FR" sz="1013" dirty="0">
                    <a:solidFill>
                      <a:srgbClr val="FFFFFF"/>
                    </a:solidFill>
                  </a:rPr>
                  <a:t>€</a:t>
                </a:r>
              </a:p>
            </p:txBody>
          </p:sp>
          <p:sp>
            <p:nvSpPr>
              <p:cNvPr id="27" name="Oval 24">
                <a:extLst>
                  <a:ext uri="{FF2B5EF4-FFF2-40B4-BE49-F238E27FC236}">
                    <a16:creationId xmlns:a16="http://schemas.microsoft.com/office/drawing/2014/main" id="{4395408A-5763-457E-BBDE-32EB61DAE76D}"/>
                  </a:ext>
                </a:extLst>
              </p:cNvPr>
              <p:cNvSpPr>
                <a:spLocks noChangeArrowheads="1"/>
              </p:cNvSpPr>
              <p:nvPr/>
            </p:nvSpPr>
            <p:spPr bwMode="auto">
              <a:xfrm>
                <a:off x="6533368" y="5975293"/>
                <a:ext cx="288925" cy="215569"/>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SzPct val="85000"/>
                  <a:buFont typeface="Arial" pitchFamily="34" charset="0"/>
                  <a:buChar char="•"/>
                  <a:defRPr sz="2400">
                    <a:solidFill>
                      <a:schemeClr val="tx1"/>
                    </a:solidFill>
                    <a:latin typeface="Arial" pitchFamily="34" charset="0"/>
                  </a:defRPr>
                </a:lvl1pPr>
                <a:lvl2pPr marL="742950" indent="-285750" eaLnBrk="0" hangingPunct="0">
                  <a:spcBef>
                    <a:spcPct val="20000"/>
                  </a:spcBef>
                  <a:buClr>
                    <a:schemeClr val="accent1"/>
                  </a:buClr>
                  <a:buSzPct val="85000"/>
                  <a:buFont typeface="Arial" pitchFamily="34" charset="0"/>
                  <a:buChar char="•"/>
                  <a:defRPr sz="2000">
                    <a:solidFill>
                      <a:schemeClr val="tx1"/>
                    </a:solidFill>
                    <a:latin typeface="Arial" pitchFamily="34" charset="0"/>
                  </a:defRPr>
                </a:lvl2pPr>
                <a:lvl3pPr marL="1143000" indent="-228600" eaLnBrk="0" hangingPunct="0">
                  <a:spcBef>
                    <a:spcPct val="20000"/>
                  </a:spcBef>
                  <a:buClr>
                    <a:schemeClr val="accent1"/>
                  </a:buClr>
                  <a:buSzPct val="90000"/>
                  <a:buFont typeface="Arial" pitchFamily="34" charset="0"/>
                  <a:buChar char="•"/>
                  <a:defRPr>
                    <a:solidFill>
                      <a:schemeClr val="tx1"/>
                    </a:solidFill>
                    <a:latin typeface="Arial" pitchFamily="34" charset="0"/>
                  </a:defRPr>
                </a:lvl3pPr>
                <a:lvl4pPr marL="1600200" indent="-228600" eaLnBrk="0" hangingPunct="0">
                  <a:spcBef>
                    <a:spcPct val="20000"/>
                  </a:spcBef>
                  <a:buClr>
                    <a:schemeClr val="accent1"/>
                  </a:buClr>
                  <a:buFont typeface="Arial" pitchFamily="34" charset="0"/>
                  <a:buChar char="•"/>
                  <a:defRPr sz="1600">
                    <a:solidFill>
                      <a:schemeClr val="tx1"/>
                    </a:solidFill>
                    <a:latin typeface="Arial" pitchFamily="34" charset="0"/>
                  </a:defRPr>
                </a:lvl4pPr>
                <a:lvl5pPr marL="2057400" indent="-228600" eaLnBrk="0" hangingPunct="0">
                  <a:spcBef>
                    <a:spcPct val="20000"/>
                  </a:spcBef>
                  <a:buClr>
                    <a:schemeClr val="accent1"/>
                  </a:buClr>
                  <a:buSzPct val="100000"/>
                  <a:buFont typeface="Arial" pitchFamily="34" charset="0"/>
                  <a:buChar char="•"/>
                  <a:defRPr sz="1400">
                    <a:solidFill>
                      <a:schemeClr val="tx1"/>
                    </a:solidFill>
                    <a:latin typeface="Arial" pitchFamily="34" charset="0"/>
                  </a:defRPr>
                </a:lvl5pPr>
                <a:lvl6pPr marL="25146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6pPr>
                <a:lvl7pPr marL="29718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7pPr>
                <a:lvl8pPr marL="34290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8pPr>
                <a:lvl9pPr marL="38862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9pPr>
              </a:lstStyle>
              <a:p>
                <a:pPr algn="ctr" eaLnBrk="1" hangingPunct="1">
                  <a:spcBef>
                    <a:spcPct val="0"/>
                  </a:spcBef>
                  <a:buClrTx/>
                  <a:buSzTx/>
                  <a:buFontTx/>
                  <a:buNone/>
                </a:pPr>
                <a:r>
                  <a:rPr lang="fr-FR" altLang="fr-FR" sz="1013" dirty="0">
                    <a:solidFill>
                      <a:srgbClr val="FFFFFF"/>
                    </a:solidFill>
                  </a:rPr>
                  <a:t>€</a:t>
                </a:r>
              </a:p>
            </p:txBody>
          </p:sp>
          <p:sp>
            <p:nvSpPr>
              <p:cNvPr id="28" name="Oval 25">
                <a:extLst>
                  <a:ext uri="{FF2B5EF4-FFF2-40B4-BE49-F238E27FC236}">
                    <a16:creationId xmlns:a16="http://schemas.microsoft.com/office/drawing/2014/main" id="{7DDEC118-1C2F-4944-8D87-A5CB527E3E06}"/>
                  </a:ext>
                </a:extLst>
              </p:cNvPr>
              <p:cNvSpPr>
                <a:spLocks noChangeArrowheads="1"/>
              </p:cNvSpPr>
              <p:nvPr/>
            </p:nvSpPr>
            <p:spPr bwMode="auto">
              <a:xfrm>
                <a:off x="6893731" y="5975293"/>
                <a:ext cx="288925" cy="215569"/>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Clr>
                    <a:schemeClr val="accent1"/>
                  </a:buClr>
                  <a:buSzPct val="85000"/>
                  <a:buFont typeface="Arial" pitchFamily="34" charset="0"/>
                  <a:buChar char="•"/>
                  <a:defRPr sz="2400">
                    <a:solidFill>
                      <a:schemeClr val="tx1"/>
                    </a:solidFill>
                    <a:latin typeface="Arial" pitchFamily="34" charset="0"/>
                  </a:defRPr>
                </a:lvl1pPr>
                <a:lvl2pPr marL="742950" indent="-285750" eaLnBrk="0" hangingPunct="0">
                  <a:spcBef>
                    <a:spcPct val="20000"/>
                  </a:spcBef>
                  <a:buClr>
                    <a:schemeClr val="accent1"/>
                  </a:buClr>
                  <a:buSzPct val="85000"/>
                  <a:buFont typeface="Arial" pitchFamily="34" charset="0"/>
                  <a:buChar char="•"/>
                  <a:defRPr sz="2000">
                    <a:solidFill>
                      <a:schemeClr val="tx1"/>
                    </a:solidFill>
                    <a:latin typeface="Arial" pitchFamily="34" charset="0"/>
                  </a:defRPr>
                </a:lvl2pPr>
                <a:lvl3pPr marL="1143000" indent="-228600" eaLnBrk="0" hangingPunct="0">
                  <a:spcBef>
                    <a:spcPct val="20000"/>
                  </a:spcBef>
                  <a:buClr>
                    <a:schemeClr val="accent1"/>
                  </a:buClr>
                  <a:buSzPct val="90000"/>
                  <a:buFont typeface="Arial" pitchFamily="34" charset="0"/>
                  <a:buChar char="•"/>
                  <a:defRPr>
                    <a:solidFill>
                      <a:schemeClr val="tx1"/>
                    </a:solidFill>
                    <a:latin typeface="Arial" pitchFamily="34" charset="0"/>
                  </a:defRPr>
                </a:lvl3pPr>
                <a:lvl4pPr marL="1600200" indent="-228600" eaLnBrk="0" hangingPunct="0">
                  <a:spcBef>
                    <a:spcPct val="20000"/>
                  </a:spcBef>
                  <a:buClr>
                    <a:schemeClr val="accent1"/>
                  </a:buClr>
                  <a:buFont typeface="Arial" pitchFamily="34" charset="0"/>
                  <a:buChar char="•"/>
                  <a:defRPr sz="1600">
                    <a:solidFill>
                      <a:schemeClr val="tx1"/>
                    </a:solidFill>
                    <a:latin typeface="Arial" pitchFamily="34" charset="0"/>
                  </a:defRPr>
                </a:lvl4pPr>
                <a:lvl5pPr marL="2057400" indent="-228600" eaLnBrk="0" hangingPunct="0">
                  <a:spcBef>
                    <a:spcPct val="20000"/>
                  </a:spcBef>
                  <a:buClr>
                    <a:schemeClr val="accent1"/>
                  </a:buClr>
                  <a:buSzPct val="100000"/>
                  <a:buFont typeface="Arial" pitchFamily="34" charset="0"/>
                  <a:buChar char="•"/>
                  <a:defRPr sz="1400">
                    <a:solidFill>
                      <a:schemeClr val="tx1"/>
                    </a:solidFill>
                    <a:latin typeface="Arial" pitchFamily="34" charset="0"/>
                  </a:defRPr>
                </a:lvl5pPr>
                <a:lvl6pPr marL="25146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6pPr>
                <a:lvl7pPr marL="29718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7pPr>
                <a:lvl8pPr marL="34290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8pPr>
                <a:lvl9pPr marL="3886200" indent="-228600" eaLnBrk="0" fontAlgn="base" hangingPunct="0">
                  <a:spcBef>
                    <a:spcPct val="20000"/>
                  </a:spcBef>
                  <a:spcAft>
                    <a:spcPct val="0"/>
                  </a:spcAft>
                  <a:buClr>
                    <a:schemeClr val="accent1"/>
                  </a:buClr>
                  <a:buSzPct val="100000"/>
                  <a:buFont typeface="Arial" pitchFamily="34" charset="0"/>
                  <a:buChar char="•"/>
                  <a:defRPr sz="1400">
                    <a:solidFill>
                      <a:schemeClr val="tx1"/>
                    </a:solidFill>
                    <a:latin typeface="Arial" pitchFamily="34" charset="0"/>
                  </a:defRPr>
                </a:lvl9pPr>
              </a:lstStyle>
              <a:p>
                <a:pPr algn="ctr" eaLnBrk="1" hangingPunct="1">
                  <a:spcBef>
                    <a:spcPct val="0"/>
                  </a:spcBef>
                  <a:buClrTx/>
                  <a:buSzTx/>
                  <a:buFontTx/>
                  <a:buNone/>
                </a:pPr>
                <a:r>
                  <a:rPr lang="fr-FR" altLang="fr-FR" sz="1013">
                    <a:solidFill>
                      <a:srgbClr val="FFFFFF"/>
                    </a:solidFill>
                  </a:rPr>
                  <a:t>€</a:t>
                </a:r>
              </a:p>
            </p:txBody>
          </p:sp>
        </p:grpSp>
        <p:pic>
          <p:nvPicPr>
            <p:cNvPr id="29" name="Image 28">
              <a:extLst>
                <a:ext uri="{FF2B5EF4-FFF2-40B4-BE49-F238E27FC236}">
                  <a16:creationId xmlns:a16="http://schemas.microsoft.com/office/drawing/2014/main" id="{DE85FCE5-BD22-4F29-9DD4-C30D70125C1E}"/>
                </a:ext>
              </a:extLst>
            </p:cNvPr>
            <p:cNvPicPr>
              <a:picLocks noChangeAspect="1"/>
            </p:cNvPicPr>
            <p:nvPr/>
          </p:nvPicPr>
          <p:blipFill>
            <a:blip r:embed="rId4"/>
            <a:stretch>
              <a:fillRect/>
            </a:stretch>
          </p:blipFill>
          <p:spPr>
            <a:xfrm>
              <a:off x="7073597" y="5265309"/>
              <a:ext cx="471488" cy="564356"/>
            </a:xfrm>
            <a:prstGeom prst="rect">
              <a:avLst/>
            </a:prstGeom>
          </p:spPr>
        </p:pic>
        <p:pic>
          <p:nvPicPr>
            <p:cNvPr id="30" name="Image 29">
              <a:extLst>
                <a:ext uri="{FF2B5EF4-FFF2-40B4-BE49-F238E27FC236}">
                  <a16:creationId xmlns:a16="http://schemas.microsoft.com/office/drawing/2014/main" id="{A86FFC94-3947-4A3E-83EF-F308C818022C}"/>
                </a:ext>
              </a:extLst>
            </p:cNvPr>
            <p:cNvPicPr>
              <a:picLocks noChangeAspect="1"/>
            </p:cNvPicPr>
            <p:nvPr/>
          </p:nvPicPr>
          <p:blipFill>
            <a:blip r:embed="rId5"/>
            <a:stretch>
              <a:fillRect/>
            </a:stretch>
          </p:blipFill>
          <p:spPr>
            <a:xfrm>
              <a:off x="1519719" y="2747687"/>
              <a:ext cx="1286179" cy="1037969"/>
            </a:xfrm>
            <a:prstGeom prst="rect">
              <a:avLst/>
            </a:prstGeom>
          </p:spPr>
        </p:pic>
        <p:sp>
          <p:nvSpPr>
            <p:cNvPr id="2" name="Rectangle 1">
              <a:extLst>
                <a:ext uri="{FF2B5EF4-FFF2-40B4-BE49-F238E27FC236}">
                  <a16:creationId xmlns:a16="http://schemas.microsoft.com/office/drawing/2014/main" id="{8D52B6F8-4BF6-4129-8840-1E801C65425F}"/>
                </a:ext>
              </a:extLst>
            </p:cNvPr>
            <p:cNvSpPr/>
            <p:nvPr/>
          </p:nvSpPr>
          <p:spPr>
            <a:xfrm>
              <a:off x="2913722" y="6148740"/>
              <a:ext cx="184731" cy="369332"/>
            </a:xfrm>
            <a:prstGeom prst="rect">
              <a:avLst/>
            </a:prstGeom>
          </p:spPr>
          <p:txBody>
            <a:bodyPr wrap="none">
              <a:spAutoFit/>
            </a:bodyPr>
            <a:lstStyle/>
            <a:p>
              <a:endParaRPr lang="fr-FR" b="1" dirty="0">
                <a:solidFill>
                  <a:schemeClr val="accent2">
                    <a:lumMod val="75000"/>
                  </a:schemeClr>
                </a:solidFill>
              </a:endParaRPr>
            </a:p>
          </p:txBody>
        </p:sp>
      </p:grpSp>
      <p:sp>
        <p:nvSpPr>
          <p:cNvPr id="34" name="Rectangle 33">
            <a:extLst>
              <a:ext uri="{FF2B5EF4-FFF2-40B4-BE49-F238E27FC236}">
                <a16:creationId xmlns:a16="http://schemas.microsoft.com/office/drawing/2014/main" id="{40A95991-0367-4841-8F41-90BA63D727A7}"/>
              </a:ext>
            </a:extLst>
          </p:cNvPr>
          <p:cNvSpPr/>
          <p:nvPr/>
        </p:nvSpPr>
        <p:spPr>
          <a:xfrm>
            <a:off x="3178898" y="5583233"/>
            <a:ext cx="5223418" cy="369332"/>
          </a:xfrm>
          <a:prstGeom prst="rect">
            <a:avLst/>
          </a:prstGeom>
        </p:spPr>
        <p:txBody>
          <a:bodyPr wrap="none">
            <a:spAutoFit/>
          </a:bodyPr>
          <a:lstStyle/>
          <a:p>
            <a:r>
              <a:rPr lang="fr-FR" b="1" dirty="0">
                <a:solidFill>
                  <a:schemeClr val="accent2">
                    <a:lumMod val="75000"/>
                  </a:schemeClr>
                </a:solidFill>
              </a:rPr>
              <a:t>https://www.fun-mooc.fr/en/courses/open-science/</a:t>
            </a:r>
          </a:p>
        </p:txBody>
      </p:sp>
    </p:spTree>
    <p:extLst>
      <p:ext uri="{BB962C8B-B14F-4D97-AF65-F5344CB8AC3E}">
        <p14:creationId xmlns:p14="http://schemas.microsoft.com/office/powerpoint/2010/main" val="32764805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35F55D1-3342-4F0F-BCFE-E19E2712AACC}"/>
              </a:ext>
            </a:extLst>
          </p:cNvPr>
          <p:cNvSpPr txBox="1"/>
          <p:nvPr/>
        </p:nvSpPr>
        <p:spPr>
          <a:xfrm>
            <a:off x="687376" y="669530"/>
            <a:ext cx="9903731" cy="72840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4400" b="1" i="1" u="none" strike="noStrike" kern="1200" cap="none" spc="0" normalizeH="0" baseline="30000" noProof="0" dirty="0">
                <a:ln>
                  <a:noFill/>
                </a:ln>
                <a:solidFill>
                  <a:srgbClr val="80276C"/>
                </a:solidFill>
                <a:effectLst/>
                <a:uLnTx/>
                <a:uFillTx/>
                <a:latin typeface="Times New Roman" panose="02020603050405020304" pitchFamily="18" charset="0"/>
                <a:ea typeface="Verdana" panose="020B0604030504040204" pitchFamily="34" charset="0"/>
                <a:cs typeface="Times New Roman" panose="02020603050405020304" pitchFamily="18" charset="0"/>
              </a:rPr>
              <a:t>1. Open </a:t>
            </a:r>
            <a:r>
              <a:rPr kumimoji="0" lang="fr-FR" sz="4400" b="1" i="1" u="none" strike="noStrike" kern="1200" cap="none" spc="0" normalizeH="0" baseline="30000" noProof="0" dirty="0" err="1">
                <a:ln>
                  <a:noFill/>
                </a:ln>
                <a:solidFill>
                  <a:srgbClr val="80276C"/>
                </a:solidFill>
                <a:effectLst/>
                <a:uLnTx/>
                <a:uFillTx/>
                <a:latin typeface="Times New Roman" panose="02020603050405020304" pitchFamily="18" charset="0"/>
                <a:ea typeface="Verdana" panose="020B0604030504040204" pitchFamily="34" charset="0"/>
                <a:cs typeface="Times New Roman" panose="02020603050405020304" pitchFamily="18" charset="0"/>
              </a:rPr>
              <a:t>access</a:t>
            </a:r>
            <a:r>
              <a:rPr kumimoji="0" lang="fr-FR" sz="4400" b="1" i="1" u="none" strike="noStrike" kern="1200" cap="none" spc="0" normalizeH="0" baseline="30000" noProof="0" dirty="0">
                <a:ln>
                  <a:noFill/>
                </a:ln>
                <a:solidFill>
                  <a:srgbClr val="80276C"/>
                </a:solidFill>
                <a:effectLst/>
                <a:uLnTx/>
                <a:uFillTx/>
                <a:latin typeface="Times New Roman" panose="02020603050405020304" pitchFamily="18" charset="0"/>
                <a:ea typeface="Verdana" panose="020B0604030504040204" pitchFamily="34" charset="0"/>
                <a:cs typeface="Times New Roman" panose="02020603050405020304" pitchFamily="18" charset="0"/>
              </a:rPr>
              <a:t> archives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30000" noProof="0" dirty="0">
              <a:ln>
                <a:noFill/>
              </a:ln>
              <a:solidFill>
                <a:srgbClr val="80276C"/>
              </a:solidFill>
              <a:effectLst/>
              <a:uLnTx/>
              <a:uFillTx/>
              <a:latin typeface="Verdana" panose="020B0604030504040204" pitchFamily="34" charset="0"/>
              <a:ea typeface="Verdana" panose="020B0604030504040204" pitchFamily="34" charset="0"/>
              <a:cs typeface="+mn-cs"/>
            </a:endParaRPr>
          </a:p>
        </p:txBody>
      </p:sp>
      <p:pic>
        <p:nvPicPr>
          <p:cNvPr id="5" name="Picture 2">
            <a:extLst>
              <a:ext uri="{FF2B5EF4-FFF2-40B4-BE49-F238E27FC236}">
                <a16:creationId xmlns:a16="http://schemas.microsoft.com/office/drawing/2014/main" id="{EBE48886-124C-4C1B-B02A-F8B6DFA18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1315" y="274546"/>
            <a:ext cx="3822108"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3">
            <a:extLst>
              <a:ext uri="{FF2B5EF4-FFF2-40B4-BE49-F238E27FC236}">
                <a16:creationId xmlns:a16="http://schemas.microsoft.com/office/drawing/2014/main" id="{C1A8C888-00FA-4574-8BEE-E1CA80FC2AEA}"/>
              </a:ext>
            </a:extLst>
          </p:cNvPr>
          <p:cNvSpPr txBox="1">
            <a:spLocks noChangeArrowheads="1"/>
          </p:cNvSpPr>
          <p:nvPr/>
        </p:nvSpPr>
        <p:spPr>
          <a:xfrm>
            <a:off x="771558" y="1994444"/>
            <a:ext cx="4928667" cy="1247851"/>
          </a:xfrm>
          <a:prstGeom prst="rect">
            <a:avLst/>
          </a:prstGeom>
          <a:extLst>
            <a:ext uri="{909E8E84-426E-40DD-AFC4-6F175D3DCCD1}">
              <a14:hiddenFill xmlns:a14="http://schemas.microsoft.com/office/drawing/2010/main">
                <a:solidFill>
                  <a:schemeClr val="bg1"/>
                </a:solidFill>
              </a14:hiddenFill>
            </a:ext>
          </a:ex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lang="fr-FR" altLang="fr-FR" sz="1400" dirty="0">
                <a:solidFill>
                  <a:srgbClr val="006666"/>
                </a:solidFill>
              </a:rPr>
              <a:t>Online </a:t>
            </a:r>
            <a:r>
              <a:rPr kumimoji="0" lang="fr-FR" altLang="fr-FR" sz="1400" b="0" i="0" u="none" strike="noStrike" kern="1200" cap="none" spc="0" normalizeH="0" baseline="0" noProof="0" dirty="0">
                <a:ln>
                  <a:noFill/>
                </a:ln>
                <a:solidFill>
                  <a:srgbClr val="006666"/>
                </a:solidFill>
                <a:effectLst/>
                <a:uLnTx/>
                <a:uFillTx/>
                <a:latin typeface="Verdana" panose="020B0604030504040204" pitchFamily="34" charset="0"/>
                <a:ea typeface="Verdana" panose="020B0604030504040204" pitchFamily="34" charset="0"/>
                <a:cs typeface="+mn-cs"/>
              </a:rPr>
              <a:t>Hyper article</a:t>
            </a:r>
          </a:p>
          <a:p>
            <a:pPr marL="457200" marR="0" lvl="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fr-FR" altLang="fr-FR" sz="1400" b="0" i="0" u="none" strike="noStrike" kern="1200" cap="none" spc="0" normalizeH="0" baseline="0" noProof="0" dirty="0" err="1">
                <a:ln>
                  <a:noFill/>
                </a:ln>
                <a:solidFill>
                  <a:srgbClr val="006666"/>
                </a:solidFill>
                <a:effectLst/>
                <a:uLnTx/>
                <a:uFillTx/>
                <a:latin typeface="Verdana" panose="020B0604030504040204" pitchFamily="34" charset="0"/>
                <a:ea typeface="Verdana" panose="020B0604030504040204" pitchFamily="34" charset="0"/>
                <a:cs typeface="+mn-cs"/>
              </a:rPr>
              <a:t>Deposits</a:t>
            </a:r>
            <a:r>
              <a:rPr kumimoji="0" lang="fr-FR" altLang="fr-FR" sz="1400" b="0" i="0" u="none" strike="noStrike" kern="1200" cap="none" spc="0" normalizeH="0" baseline="0" noProof="0" dirty="0">
                <a:ln>
                  <a:noFill/>
                </a:ln>
                <a:solidFill>
                  <a:srgbClr val="006666"/>
                </a:solidFill>
                <a:effectLst/>
                <a:uLnTx/>
                <a:uFillTx/>
                <a:latin typeface="Verdana" panose="020B0604030504040204" pitchFamily="34" charset="0"/>
                <a:ea typeface="Verdana" panose="020B0604030504040204" pitchFamily="34" charset="0"/>
                <a:cs typeface="+mn-cs"/>
              </a:rPr>
              <a:t> by </a:t>
            </a:r>
            <a:r>
              <a:rPr kumimoji="0" lang="fr-FR" altLang="fr-FR" sz="1400" b="0" i="0" u="none" strike="noStrike" kern="1200" cap="none" spc="0" normalizeH="0" baseline="0" noProof="0" dirty="0" err="1">
                <a:ln>
                  <a:noFill/>
                </a:ln>
                <a:solidFill>
                  <a:srgbClr val="006666"/>
                </a:solidFill>
                <a:effectLst/>
                <a:uLnTx/>
                <a:uFillTx/>
                <a:latin typeface="Verdana" panose="020B0604030504040204" pitchFamily="34" charset="0"/>
                <a:ea typeface="Verdana" panose="020B0604030504040204" pitchFamily="34" charset="0"/>
                <a:cs typeface="+mn-cs"/>
              </a:rPr>
              <a:t>researcher</a:t>
            </a:r>
            <a:r>
              <a:rPr kumimoji="0" lang="fr-FR" altLang="fr-FR" sz="1400" b="0" i="0" u="none" strike="noStrike" kern="1200" cap="none" spc="0" normalizeH="0" baseline="0" noProof="0" dirty="0">
                <a:ln>
                  <a:noFill/>
                </a:ln>
                <a:solidFill>
                  <a:srgbClr val="006666"/>
                </a:solidFill>
                <a:effectLst/>
                <a:uLnTx/>
                <a:uFillTx/>
                <a:latin typeface="Verdana" panose="020B0604030504040204" pitchFamily="34" charset="0"/>
                <a:ea typeface="Verdana" panose="020B0604030504040204" pitchFamily="34" charset="0"/>
                <a:cs typeface="+mn-cs"/>
              </a:rPr>
              <a:t> or </a:t>
            </a:r>
            <a:r>
              <a:rPr kumimoji="0" lang="fr-FR" altLang="fr-FR" sz="1400" b="0" i="0" u="none" strike="noStrike" kern="1200" cap="none" spc="0" normalizeH="0" baseline="0" noProof="0" dirty="0" err="1">
                <a:ln>
                  <a:noFill/>
                </a:ln>
                <a:solidFill>
                  <a:srgbClr val="006666"/>
                </a:solidFill>
                <a:effectLst/>
                <a:uLnTx/>
                <a:uFillTx/>
                <a:latin typeface="Verdana" panose="020B0604030504040204" pitchFamily="34" charset="0"/>
                <a:ea typeface="Verdana" panose="020B0604030504040204" pitchFamily="34" charset="0"/>
                <a:cs typeface="+mn-cs"/>
              </a:rPr>
              <a:t>laboratory</a:t>
            </a:r>
            <a:endParaRPr kumimoji="0" lang="fr-FR" altLang="fr-FR" sz="1400" b="0" i="0" u="none" strike="noStrike" kern="1200" cap="none" spc="0" normalizeH="0" baseline="0" noProof="0" dirty="0">
              <a:ln>
                <a:noFill/>
              </a:ln>
              <a:solidFill>
                <a:srgbClr val="006666"/>
              </a:solidFill>
              <a:effectLst/>
              <a:uLnTx/>
              <a:uFillTx/>
              <a:latin typeface="Verdana" panose="020B0604030504040204" pitchFamily="34" charset="0"/>
              <a:ea typeface="Verdana" panose="020B0604030504040204" pitchFamily="34" charset="0"/>
              <a:cs typeface="+mn-cs"/>
            </a:endParaRPr>
          </a:p>
          <a:p>
            <a:pPr marL="457200" marR="0" lvl="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lang="fr-FR" altLang="fr-FR" sz="1400" dirty="0">
                <a:solidFill>
                  <a:srgbClr val="006666"/>
                </a:solidFill>
              </a:rPr>
              <a:t>French </a:t>
            </a:r>
            <a:r>
              <a:rPr kumimoji="0" lang="fr-FR" altLang="fr-FR" sz="1400" b="0" i="0" u="none" strike="noStrike" kern="1200" cap="none" spc="0" normalizeH="0" baseline="0" noProof="0" dirty="0">
                <a:ln>
                  <a:noFill/>
                </a:ln>
                <a:solidFill>
                  <a:srgbClr val="006666"/>
                </a:solidFill>
                <a:effectLst/>
                <a:uLnTx/>
                <a:uFillTx/>
                <a:latin typeface="Verdana" panose="020B0604030504040204" pitchFamily="34" charset="0"/>
                <a:ea typeface="Verdana" panose="020B0604030504040204" pitchFamily="34" charset="0"/>
                <a:cs typeface="+mn-cs"/>
              </a:rPr>
              <a:t>web site</a:t>
            </a:r>
          </a:p>
        </p:txBody>
      </p:sp>
      <p:sp>
        <p:nvSpPr>
          <p:cNvPr id="7" name="Rectangle 4">
            <a:extLst>
              <a:ext uri="{FF2B5EF4-FFF2-40B4-BE49-F238E27FC236}">
                <a16:creationId xmlns:a16="http://schemas.microsoft.com/office/drawing/2014/main" id="{938BEB1F-0F5D-496B-B59E-90CA6C7DDDC5}"/>
              </a:ext>
            </a:extLst>
          </p:cNvPr>
          <p:cNvSpPr>
            <a:spLocks noChangeArrowheads="1"/>
          </p:cNvSpPr>
          <p:nvPr/>
        </p:nvSpPr>
        <p:spPr bwMode="auto">
          <a:xfrm>
            <a:off x="863852" y="1167102"/>
            <a:ext cx="3238387" cy="461665"/>
          </a:xfrm>
          <a:prstGeom prst="rect">
            <a:avLst/>
          </a:prstGeom>
          <a:noFill/>
          <a:ln w="9525">
            <a:noFill/>
            <a:miter lim="800000"/>
            <a:headEnd/>
            <a:tailEnd/>
          </a:ln>
          <a:effectLst/>
        </p:spPr>
        <p:txBody>
          <a:bodyPr wrap="none">
            <a:spAutoFit/>
          </a:bodyPr>
          <a:lstStyle/>
          <a:p>
            <a:pPr lvl="0">
              <a:defRPr/>
            </a:pPr>
            <a:r>
              <a:rPr lang="fr-FR" sz="2400" dirty="0">
                <a:solidFill>
                  <a:srgbClr val="292934"/>
                </a:solidFill>
                <a:effectLst>
                  <a:outerShdw blurRad="38100" dist="38100" dir="2700000" algn="tl">
                    <a:srgbClr val="FFFFFF"/>
                  </a:outerShdw>
                </a:effectLst>
                <a:latin typeface="Verdana" pitchFamily="34" charset="0"/>
                <a:hlinkClick r:id="rId3"/>
              </a:rPr>
              <a:t>https://hal.science/</a:t>
            </a:r>
            <a:endParaRPr lang="fr-FR" sz="2400" dirty="0">
              <a:solidFill>
                <a:srgbClr val="292934"/>
              </a:solidFill>
              <a:effectLst>
                <a:outerShdw blurRad="38100" dist="38100" dir="2700000" algn="tl">
                  <a:srgbClr val="FFFFFF"/>
                </a:outerShdw>
              </a:effectLst>
              <a:latin typeface="Verdana" pitchFamily="34" charset="0"/>
            </a:endParaRPr>
          </a:p>
        </p:txBody>
      </p:sp>
      <p:pic>
        <p:nvPicPr>
          <p:cNvPr id="9" name="Picture 2">
            <a:extLst>
              <a:ext uri="{FF2B5EF4-FFF2-40B4-BE49-F238E27FC236}">
                <a16:creationId xmlns:a16="http://schemas.microsoft.com/office/drawing/2014/main" id="{D0BF85D0-2FAB-4567-9352-06638E6A45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0225" y="1399394"/>
            <a:ext cx="2220142" cy="858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Image 10">
            <a:extLst>
              <a:ext uri="{FF2B5EF4-FFF2-40B4-BE49-F238E27FC236}">
                <a16:creationId xmlns:a16="http://schemas.microsoft.com/office/drawing/2014/main" id="{FBE11DEE-E6D3-4BDB-9A38-32DA5A644EE9}"/>
              </a:ext>
            </a:extLst>
          </p:cNvPr>
          <p:cNvPicPr>
            <a:picLocks noChangeAspect="1"/>
          </p:cNvPicPr>
          <p:nvPr/>
        </p:nvPicPr>
        <p:blipFill rotWithShape="1">
          <a:blip r:embed="rId5"/>
          <a:srcRect l="10883" t="9475" r="12794" b="13678"/>
          <a:stretch/>
        </p:blipFill>
        <p:spPr>
          <a:xfrm>
            <a:off x="5327187" y="3007224"/>
            <a:ext cx="6045491" cy="2237864"/>
          </a:xfrm>
          <a:prstGeom prst="rect">
            <a:avLst/>
          </a:prstGeom>
        </p:spPr>
      </p:pic>
      <p:sp>
        <p:nvSpPr>
          <p:cNvPr id="2" name="Rectangle 1">
            <a:extLst>
              <a:ext uri="{FF2B5EF4-FFF2-40B4-BE49-F238E27FC236}">
                <a16:creationId xmlns:a16="http://schemas.microsoft.com/office/drawing/2014/main" id="{58218994-618C-4059-B99E-D3071F2109AB}"/>
              </a:ext>
            </a:extLst>
          </p:cNvPr>
          <p:cNvSpPr/>
          <p:nvPr/>
        </p:nvSpPr>
        <p:spPr>
          <a:xfrm>
            <a:off x="568577" y="3825739"/>
            <a:ext cx="3969292" cy="461665"/>
          </a:xfrm>
          <a:prstGeom prst="rect">
            <a:avLst/>
          </a:prstGeom>
        </p:spPr>
        <p:txBody>
          <a:bodyPr wrap="none">
            <a:spAutoFit/>
          </a:bodyPr>
          <a:lstStyle/>
          <a:p>
            <a:pPr algn="ctr">
              <a:defRPr/>
            </a:pPr>
            <a:r>
              <a:rPr lang="fr-FR" sz="2400" dirty="0">
                <a:hlinkClick r:id="rId6"/>
              </a:rPr>
              <a:t>https://www.base-search.net/</a:t>
            </a:r>
            <a:endParaRPr lang="fr-FR" sz="2400" dirty="0"/>
          </a:p>
        </p:txBody>
      </p:sp>
      <p:sp>
        <p:nvSpPr>
          <p:cNvPr id="3" name="ZoneTexte 2">
            <a:extLst>
              <a:ext uri="{FF2B5EF4-FFF2-40B4-BE49-F238E27FC236}">
                <a16:creationId xmlns:a16="http://schemas.microsoft.com/office/drawing/2014/main" id="{02CC7D2E-39D3-4B92-A517-ABC329B441B1}"/>
              </a:ext>
            </a:extLst>
          </p:cNvPr>
          <p:cNvSpPr txBox="1"/>
          <p:nvPr/>
        </p:nvSpPr>
        <p:spPr>
          <a:xfrm>
            <a:off x="487723" y="4554263"/>
            <a:ext cx="5496339" cy="2308324"/>
          </a:xfrm>
          <a:prstGeom prst="rect">
            <a:avLst/>
          </a:prstGeom>
          <a:noFill/>
        </p:spPr>
        <p:txBody>
          <a:bodyPr wrap="square" rtlCol="0">
            <a:spAutoFit/>
          </a:bodyPr>
          <a:lstStyle/>
          <a:p>
            <a:pPr marL="285750" indent="-285750">
              <a:buFont typeface="Arial" panose="020B0604020202020204" pitchFamily="34" charset="0"/>
              <a:buChar char="•"/>
            </a:pPr>
            <a:r>
              <a:rPr lang="en-US" dirty="0"/>
              <a:t>BASE is one of the world's most voluminous search engines especially for academic web resources. </a:t>
            </a:r>
          </a:p>
          <a:p>
            <a:pPr marL="285750" indent="-285750">
              <a:buFont typeface="Arial" panose="020B0604020202020204" pitchFamily="34" charset="0"/>
              <a:buChar char="•"/>
            </a:pPr>
            <a:r>
              <a:rPr lang="en-US" dirty="0"/>
              <a:t>more than 400 million records from more than 11,000 </a:t>
            </a:r>
            <a:r>
              <a:rPr lang="en-US" dirty="0">
                <a:hlinkClick r:id="rId7"/>
              </a:rPr>
              <a:t>content providers</a:t>
            </a:r>
            <a:r>
              <a:rPr lang="en-US" dirty="0"/>
              <a:t>.</a:t>
            </a:r>
          </a:p>
          <a:p>
            <a:pPr marL="285750" indent="-285750">
              <a:buFont typeface="Arial" panose="020B0604020202020204" pitchFamily="34" charset="0"/>
              <a:buChar char="•"/>
            </a:pPr>
            <a:r>
              <a:rPr lang="en-US" dirty="0"/>
              <a:t>access the full texts of about 60% of the indexed records for free (Open Access).</a:t>
            </a:r>
            <a:br>
              <a:rPr lang="en-US" dirty="0"/>
            </a:br>
            <a:br>
              <a:rPr lang="en-US" dirty="0"/>
            </a:br>
            <a:endParaRPr lang="fr-FR" dirty="0"/>
          </a:p>
        </p:txBody>
      </p:sp>
      <p:sp>
        <p:nvSpPr>
          <p:cNvPr id="8" name="ZoneTexte 7">
            <a:extLst>
              <a:ext uri="{FF2B5EF4-FFF2-40B4-BE49-F238E27FC236}">
                <a16:creationId xmlns:a16="http://schemas.microsoft.com/office/drawing/2014/main" id="{1BBE0CC2-E713-41CA-A2F8-9BE5213B8209}"/>
              </a:ext>
            </a:extLst>
          </p:cNvPr>
          <p:cNvSpPr txBox="1"/>
          <p:nvPr/>
        </p:nvSpPr>
        <p:spPr>
          <a:xfrm>
            <a:off x="687376" y="2861312"/>
            <a:ext cx="4484699" cy="830997"/>
          </a:xfrm>
          <a:prstGeom prst="rect">
            <a:avLst/>
          </a:prstGeom>
          <a:noFill/>
        </p:spPr>
        <p:txBody>
          <a:bodyPr wrap="square" rtlCol="0">
            <a:spAutoFit/>
          </a:bodyPr>
          <a:lstStyle/>
          <a:p>
            <a:r>
              <a:rPr lang="en-US" sz="2400" b="1" i="1" dirty="0">
                <a:solidFill>
                  <a:srgbClr val="80276C"/>
                </a:solidFill>
                <a:latin typeface="Times New Roman" panose="02020603050405020304" pitchFamily="18" charset="0"/>
                <a:cs typeface="Times New Roman" panose="02020603050405020304" pitchFamily="18" charset="0"/>
              </a:rPr>
              <a:t>2. Search engines with many indexes articles for free </a:t>
            </a:r>
            <a:endParaRPr lang="fr-FR" sz="2400" b="1" i="1" dirty="0">
              <a:solidFill>
                <a:srgbClr val="80276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852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DDF92E3B-24BF-4F22-B794-35C8700DBC95}"/>
              </a:ext>
            </a:extLst>
          </p:cNvPr>
          <p:cNvSpPr txBox="1">
            <a:spLocks/>
          </p:cNvSpPr>
          <p:nvPr/>
        </p:nvSpPr>
        <p:spPr>
          <a:xfrm>
            <a:off x="0" y="2482665"/>
            <a:ext cx="2398643" cy="1682360"/>
          </a:xfrm>
          <a:prstGeom prst="rect">
            <a:avLst/>
          </a:prstGeom>
          <a:solidFill>
            <a:schemeClr val="bg2">
              <a:lumMod val="90000"/>
            </a:schemeClr>
          </a:solidFill>
        </p:spPr>
        <p:txBody>
          <a:bodyPr>
            <a:noAutofit/>
          </a:bodyPr>
          <a:lstStyle>
            <a:lvl1pPr algn="l" defTabSz="914400" rtl="0" eaLnBrk="1" latinLnBrk="0" hangingPunct="1">
              <a:lnSpc>
                <a:spcPct val="90000"/>
              </a:lnSpc>
              <a:spcBef>
                <a:spcPct val="0"/>
              </a:spcBef>
              <a:buNone/>
              <a:defRPr sz="4000" b="1" kern="1200">
                <a:solidFill>
                  <a:schemeClr val="tx1"/>
                </a:solidFill>
                <a:latin typeface="Verdana" panose="020B0604030504040204" pitchFamily="34" charset="0"/>
                <a:ea typeface="Verdana" panose="020B0604030504040204" pitchFamily="34"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200" b="1" i="0" u="none" strike="noStrike" kern="1200" cap="none" spc="0" normalizeH="0" baseline="0" noProof="0" dirty="0">
                <a:ln>
                  <a:noFill/>
                </a:ln>
                <a:solidFill>
                  <a:srgbClr val="80276C"/>
                </a:solidFill>
                <a:effectLst/>
                <a:uLnTx/>
                <a:uFillTx/>
                <a:latin typeface="Times New Roman" panose="02020603050405020304" pitchFamily="18" charset="0"/>
                <a:ea typeface="Verdana" panose="020B0604030504040204" pitchFamily="34" charset="0"/>
                <a:cs typeface="Times New Roman" panose="02020603050405020304" pitchFamily="18" charset="0"/>
              </a:rPr>
              <a:t>Open science archives</a:t>
            </a:r>
          </a:p>
          <a:p>
            <a:pPr marL="0" marR="0" lvl="0" indent="0" algn="l" defTabSz="914400" rtl="0" eaLnBrk="1" fontAlgn="auto" latinLnBrk="0" hangingPunct="1">
              <a:lnSpc>
                <a:spcPct val="90000"/>
              </a:lnSpc>
              <a:spcBef>
                <a:spcPct val="0"/>
              </a:spcBef>
              <a:spcAft>
                <a:spcPts val="0"/>
              </a:spcAft>
              <a:buClrTx/>
              <a:buSzTx/>
              <a:buFontTx/>
              <a:buNone/>
              <a:tabLst/>
              <a:defRPr/>
            </a:pPr>
            <a:br>
              <a:rPr kumimoji="0" lang="fr-FR" sz="3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br>
            <a:br>
              <a:rPr kumimoji="0" lang="fr-FR" sz="3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br>
            <a:endParaRPr kumimoji="0" lang="fr-FR" sz="3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endParaRPr>
          </a:p>
        </p:txBody>
      </p:sp>
      <p:graphicFrame>
        <p:nvGraphicFramePr>
          <p:cNvPr id="7" name="Tableau 6">
            <a:extLst>
              <a:ext uri="{FF2B5EF4-FFF2-40B4-BE49-F238E27FC236}">
                <a16:creationId xmlns:a16="http://schemas.microsoft.com/office/drawing/2014/main" id="{791934B9-55A3-43DA-B2FD-6AF41E9A2919}"/>
              </a:ext>
            </a:extLst>
          </p:cNvPr>
          <p:cNvGraphicFramePr>
            <a:graphicFrameLocks noGrp="1"/>
          </p:cNvGraphicFramePr>
          <p:nvPr/>
        </p:nvGraphicFramePr>
        <p:xfrm>
          <a:off x="2398643" y="329186"/>
          <a:ext cx="9635067" cy="5989318"/>
        </p:xfrm>
        <a:graphic>
          <a:graphicData uri="http://schemas.openxmlformats.org/drawingml/2006/table">
            <a:tbl>
              <a:tblPr firstRow="1" bandRow="1">
                <a:tableStyleId>{00A15C55-8517-42AA-B614-E9B94910E393}</a:tableStyleId>
              </a:tblPr>
              <a:tblGrid>
                <a:gridCol w="4689887">
                  <a:extLst>
                    <a:ext uri="{9D8B030D-6E8A-4147-A177-3AD203B41FA5}">
                      <a16:colId xmlns:a16="http://schemas.microsoft.com/office/drawing/2014/main" val="2331229314"/>
                    </a:ext>
                  </a:extLst>
                </a:gridCol>
                <a:gridCol w="4945180">
                  <a:extLst>
                    <a:ext uri="{9D8B030D-6E8A-4147-A177-3AD203B41FA5}">
                      <a16:colId xmlns:a16="http://schemas.microsoft.com/office/drawing/2014/main" val="3091930364"/>
                    </a:ext>
                  </a:extLst>
                </a:gridCol>
              </a:tblGrid>
              <a:tr h="1083796">
                <a:tc>
                  <a:txBody>
                    <a:bodyPr/>
                    <a:lstStyle/>
                    <a:p>
                      <a:pPr algn="ctr"/>
                      <a:r>
                        <a:rPr lang="fr-FR" sz="1800" dirty="0">
                          <a:solidFill>
                            <a:srgbClr val="80276C"/>
                          </a:solidFill>
                          <a:latin typeface="Times New Roman" panose="02020603050405020304" pitchFamily="18" charset="0"/>
                          <a:cs typeface="Times New Roman" panose="02020603050405020304" pitchFamily="18" charset="0"/>
                        </a:rPr>
                        <a:t>HAL</a:t>
                      </a:r>
                    </a:p>
                    <a:p>
                      <a:pPr algn="ctr"/>
                      <a:r>
                        <a:rPr lang="fr-FR" sz="1800" dirty="0">
                          <a:solidFill>
                            <a:srgbClr val="80276C"/>
                          </a:solidFill>
                          <a:latin typeface="Times New Roman" panose="02020603050405020304" pitchFamily="18" charset="0"/>
                          <a:cs typeface="Times New Roman" panose="02020603050405020304" pitchFamily="18" charset="0"/>
                        </a:rPr>
                        <a:t>(Hyper Article en ligne)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rgbClr val="0070C0"/>
                          </a:solidFill>
                          <a:latin typeface="+mn-lt"/>
                          <a:ea typeface="+mn-ea"/>
                          <a:cs typeface="+mn-cs"/>
                        </a:rPr>
                        <a:t>https://hal.science/</a:t>
                      </a:r>
                    </a:p>
                  </a:txBody>
                  <a:tcPr/>
                </a:tc>
                <a:tc>
                  <a:txBody>
                    <a:bodyPr/>
                    <a:lstStyle/>
                    <a:p>
                      <a:pPr algn="ctr"/>
                      <a:r>
                        <a:rPr lang="fr-FR" sz="1800" b="1" dirty="0">
                          <a:solidFill>
                            <a:srgbClr val="80276C"/>
                          </a:solidFill>
                          <a:latin typeface="Times New Roman" panose="02020603050405020304" pitchFamily="18" charset="0"/>
                          <a:cs typeface="Times New Roman" panose="02020603050405020304" pitchFamily="18" charset="0"/>
                        </a:rPr>
                        <a:t>BASE</a:t>
                      </a:r>
                    </a:p>
                    <a:p>
                      <a:pPr algn="ctr"/>
                      <a:r>
                        <a:rPr lang="fr-FR" sz="1800" b="1" dirty="0">
                          <a:solidFill>
                            <a:srgbClr val="80276C"/>
                          </a:solidFill>
                          <a:latin typeface="Times New Roman" panose="02020603050405020304" pitchFamily="18" charset="0"/>
                          <a:cs typeface="Times New Roman" panose="02020603050405020304" pitchFamily="18" charset="0"/>
                        </a:rPr>
                        <a:t>(Bielefeld, Academic </a:t>
                      </a:r>
                      <a:r>
                        <a:rPr lang="fr-FR" sz="1800" b="1" dirty="0" err="1">
                          <a:solidFill>
                            <a:srgbClr val="80276C"/>
                          </a:solidFill>
                          <a:latin typeface="Times New Roman" panose="02020603050405020304" pitchFamily="18" charset="0"/>
                          <a:cs typeface="Times New Roman" panose="02020603050405020304" pitchFamily="18" charset="0"/>
                        </a:rPr>
                        <a:t>Search</a:t>
                      </a:r>
                      <a:r>
                        <a:rPr lang="fr-FR" sz="1800" b="1" dirty="0">
                          <a:solidFill>
                            <a:srgbClr val="80276C"/>
                          </a:solidFill>
                          <a:latin typeface="Times New Roman" panose="02020603050405020304" pitchFamily="18" charset="0"/>
                          <a:cs typeface="Times New Roman" panose="02020603050405020304" pitchFamily="18" charset="0"/>
                        </a:rPr>
                        <a:t> Engine)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dirty="0">
                          <a:hlinkClick r:id="rId3"/>
                        </a:rPr>
                        <a:t>https://www.base-search.net/</a:t>
                      </a:r>
                      <a:endParaRPr lang="fr-FR" sz="1800" dirty="0"/>
                    </a:p>
                  </a:txBody>
                  <a:tcPr anchor="ctr"/>
                </a:tc>
                <a:extLst>
                  <a:ext uri="{0D108BD9-81ED-4DB2-BD59-A6C34878D82A}">
                    <a16:rowId xmlns:a16="http://schemas.microsoft.com/office/drawing/2014/main" val="1571165823"/>
                  </a:ext>
                </a:extLst>
              </a:tr>
              <a:tr h="4905522">
                <a:tc>
                  <a:txBody>
                    <a:bodyPr/>
                    <a:lstStyle/>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lang="fr-FR" sz="1800" b="1" kern="1200" dirty="0">
                        <a:solidFill>
                          <a:srgbClr val="80276C"/>
                        </a:solidFill>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lang="fr-FR" sz="1800" b="1" kern="1200" dirty="0">
                          <a:solidFill>
                            <a:srgbClr val="80276C"/>
                          </a:solidFill>
                          <a:latin typeface="Times New Roman" panose="02020603050405020304" pitchFamily="18" charset="0"/>
                          <a:ea typeface="+mn-ea"/>
                          <a:cs typeface="Times New Roman" panose="02020603050405020304" pitchFamily="18" charset="0"/>
                        </a:rPr>
                        <a:t>French national </a:t>
                      </a:r>
                      <a:r>
                        <a:rPr lang="fr-FR" sz="1800" b="1" kern="1200" dirty="0" err="1">
                          <a:solidFill>
                            <a:srgbClr val="80276C"/>
                          </a:solidFill>
                          <a:latin typeface="Times New Roman" panose="02020603050405020304" pitchFamily="18" charset="0"/>
                          <a:ea typeface="+mn-ea"/>
                          <a:cs typeface="Times New Roman" panose="02020603050405020304" pitchFamily="18" charset="0"/>
                        </a:rPr>
                        <a:t>scientific</a:t>
                      </a:r>
                      <a:r>
                        <a:rPr lang="fr-FR" sz="1800" b="1" kern="1200" dirty="0">
                          <a:solidFill>
                            <a:srgbClr val="80276C"/>
                          </a:solidFill>
                          <a:latin typeface="Times New Roman" panose="02020603050405020304" pitchFamily="18" charset="0"/>
                          <a:ea typeface="+mn-ea"/>
                          <a:cs typeface="Times New Roman" panose="02020603050405020304" pitchFamily="18" charset="0"/>
                        </a:rPr>
                        <a:t>  online </a:t>
                      </a:r>
                      <a:r>
                        <a:rPr lang="fr-FR" sz="1800" b="1" kern="1200" dirty="0" err="1">
                          <a:solidFill>
                            <a:srgbClr val="80276C"/>
                          </a:solidFill>
                          <a:latin typeface="Times New Roman" panose="02020603050405020304" pitchFamily="18" charset="0"/>
                          <a:ea typeface="+mn-ea"/>
                          <a:cs typeface="Times New Roman" panose="02020603050405020304" pitchFamily="18" charset="0"/>
                        </a:rPr>
                        <a:t>multidisciplinary</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academic</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plateform</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developed</a:t>
                      </a:r>
                      <a:r>
                        <a:rPr lang="fr-FR" sz="1800" b="1" kern="1200" dirty="0">
                          <a:solidFill>
                            <a:srgbClr val="80276C"/>
                          </a:solidFill>
                          <a:latin typeface="Times New Roman" panose="02020603050405020304" pitchFamily="18" charset="0"/>
                          <a:ea typeface="+mn-ea"/>
                          <a:cs typeface="Times New Roman" panose="02020603050405020304" pitchFamily="18" charset="0"/>
                        </a:rPr>
                        <a:t> in 2001 by the CNRS </a:t>
                      </a:r>
                      <a:r>
                        <a:rPr lang="fr-FR" sz="1800" b="1" kern="1200" dirty="0" err="1">
                          <a:solidFill>
                            <a:srgbClr val="80276C"/>
                          </a:solidFill>
                          <a:latin typeface="Times New Roman" panose="02020603050405020304" pitchFamily="18" charset="0"/>
                          <a:ea typeface="+mn-ea"/>
                          <a:cs typeface="Times New Roman" panose="02020603050405020304" pitchFamily="18" charset="0"/>
                        </a:rPr>
                        <a:t>p</a:t>
                      </a:r>
                      <a:r>
                        <a:rPr lang="fr-FR" sz="1800" b="1" dirty="0" err="1">
                          <a:solidFill>
                            <a:srgbClr val="80276C"/>
                          </a:solidFill>
                          <a:latin typeface="Times New Roman" panose="02020603050405020304" pitchFamily="18" charset="0"/>
                          <a:cs typeface="Times New Roman" panose="02020603050405020304" pitchFamily="18" charset="0"/>
                        </a:rPr>
                        <a:t>ublished</a:t>
                      </a:r>
                      <a:r>
                        <a:rPr lang="fr-FR" sz="1800" b="1" dirty="0">
                          <a:solidFill>
                            <a:srgbClr val="80276C"/>
                          </a:solidFill>
                          <a:latin typeface="Times New Roman" panose="02020603050405020304" pitchFamily="18" charset="0"/>
                          <a:cs typeface="Times New Roman" panose="02020603050405020304" pitchFamily="18" charset="0"/>
                        </a:rPr>
                        <a:t> in French or in English, to </a:t>
                      </a:r>
                      <a:r>
                        <a:rPr lang="fr-FR" sz="1800" b="1" dirty="0" err="1">
                          <a:solidFill>
                            <a:srgbClr val="80276C"/>
                          </a:solidFill>
                          <a:latin typeface="Times New Roman" panose="02020603050405020304" pitchFamily="18" charset="0"/>
                          <a:cs typeface="Times New Roman" panose="02020603050405020304" pitchFamily="18" charset="0"/>
                        </a:rPr>
                        <a:t>be</a:t>
                      </a:r>
                      <a:r>
                        <a:rPr lang="fr-FR" sz="1800" b="1" dirty="0">
                          <a:solidFill>
                            <a:srgbClr val="80276C"/>
                          </a:solidFill>
                          <a:latin typeface="Times New Roman" panose="02020603050405020304" pitchFamily="18" charset="0"/>
                          <a:cs typeface="Times New Roman" panose="02020603050405020304" pitchFamily="18" charset="0"/>
                        </a:rPr>
                        <a:t> </a:t>
                      </a:r>
                      <a:r>
                        <a:rPr lang="fr-FR" sz="1800" b="1" dirty="0" err="1">
                          <a:solidFill>
                            <a:srgbClr val="80276C"/>
                          </a:solidFill>
                          <a:latin typeface="Times New Roman" panose="02020603050405020304" pitchFamily="18" charset="0"/>
                          <a:cs typeface="Times New Roman" panose="02020603050405020304" pitchFamily="18" charset="0"/>
                        </a:rPr>
                        <a:t>queried</a:t>
                      </a:r>
                      <a:r>
                        <a:rPr lang="fr-FR" sz="1800" b="1" dirty="0">
                          <a:solidFill>
                            <a:srgbClr val="80276C"/>
                          </a:solidFill>
                          <a:latin typeface="Times New Roman" panose="02020603050405020304" pitchFamily="18" charset="0"/>
                          <a:cs typeface="Times New Roman" panose="02020603050405020304" pitchFamily="18" charset="0"/>
                        </a:rPr>
                        <a:t>  </a:t>
                      </a:r>
                      <a:r>
                        <a:rPr lang="fr-FR" sz="1800" b="1" dirty="0" err="1">
                          <a:solidFill>
                            <a:srgbClr val="80276C"/>
                          </a:solidFill>
                          <a:latin typeface="Times New Roman" panose="02020603050405020304" pitchFamily="18" charset="0"/>
                          <a:cs typeface="Times New Roman" panose="02020603050405020304" pitchFamily="18" charset="0"/>
                        </a:rPr>
                        <a:t>preferably</a:t>
                      </a:r>
                      <a:r>
                        <a:rPr lang="fr-FR" sz="1800" b="1" dirty="0">
                          <a:solidFill>
                            <a:srgbClr val="80276C"/>
                          </a:solidFill>
                          <a:latin typeface="Times New Roman" panose="02020603050405020304" pitchFamily="18" charset="0"/>
                          <a:cs typeface="Times New Roman" panose="02020603050405020304" pitchFamily="18" charset="0"/>
                        </a:rPr>
                        <a:t> in English </a:t>
                      </a:r>
                      <a:endParaRPr lang="fr-FR" sz="1800" b="1" kern="1200" dirty="0">
                        <a:solidFill>
                          <a:srgbClr val="80276C"/>
                        </a:solidFill>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lang="fr-FR" sz="1800" b="1" kern="1200" dirty="0">
                        <a:solidFill>
                          <a:srgbClr val="80276C"/>
                        </a:solidFill>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lang="fr-FR" sz="1800" b="1" kern="1200" dirty="0" err="1">
                          <a:solidFill>
                            <a:srgbClr val="80276C"/>
                          </a:solidFill>
                          <a:latin typeface="Times New Roman" panose="02020603050405020304" pitchFamily="18" charset="0"/>
                          <a:ea typeface="+mn-ea"/>
                          <a:cs typeface="Times New Roman" panose="02020603050405020304" pitchFamily="18" charset="0"/>
                        </a:rPr>
                        <a:t>Designed</a:t>
                      </a:r>
                      <a:r>
                        <a:rPr lang="fr-FR" sz="1800" b="1" kern="1200" dirty="0">
                          <a:solidFill>
                            <a:srgbClr val="80276C"/>
                          </a:solidFill>
                          <a:latin typeface="Times New Roman" panose="02020603050405020304" pitchFamily="18" charset="0"/>
                          <a:ea typeface="+mn-ea"/>
                          <a:cs typeface="Times New Roman" panose="02020603050405020304" pitchFamily="18" charset="0"/>
                        </a:rPr>
                        <a:t> for </a:t>
                      </a:r>
                      <a:r>
                        <a:rPr lang="fr-FR" sz="1800" b="1" kern="1200" dirty="0" err="1">
                          <a:solidFill>
                            <a:srgbClr val="80276C"/>
                          </a:solidFill>
                          <a:latin typeface="Times New Roman" panose="02020603050405020304" pitchFamily="18" charset="0"/>
                          <a:ea typeface="+mn-ea"/>
                          <a:cs typeface="Times New Roman" panose="02020603050405020304" pitchFamily="18" charset="0"/>
                        </a:rPr>
                        <a:t>deposit</a:t>
                      </a:r>
                      <a:r>
                        <a:rPr lang="fr-FR" sz="1800" b="1" kern="1200" dirty="0">
                          <a:solidFill>
                            <a:srgbClr val="80276C"/>
                          </a:solidFill>
                          <a:latin typeface="Times New Roman" panose="02020603050405020304" pitchFamily="18" charset="0"/>
                          <a:ea typeface="+mn-ea"/>
                          <a:cs typeface="Times New Roman" panose="02020603050405020304" pitchFamily="18" charset="0"/>
                        </a:rPr>
                        <a:t> and </a:t>
                      </a:r>
                      <a:r>
                        <a:rPr lang="fr-FR" sz="1800" b="1" kern="1200" dirty="0" err="1">
                          <a:solidFill>
                            <a:srgbClr val="80276C"/>
                          </a:solidFill>
                          <a:latin typeface="Times New Roman" panose="02020603050405020304" pitchFamily="18" charset="0"/>
                          <a:ea typeface="+mn-ea"/>
                          <a:cs typeface="Times New Roman" panose="02020603050405020304" pitchFamily="18" charset="0"/>
                        </a:rPr>
                        <a:t>dissemination</a:t>
                      </a:r>
                      <a:r>
                        <a:rPr lang="fr-FR" sz="1800" b="1" kern="1200" dirty="0">
                          <a:solidFill>
                            <a:srgbClr val="80276C"/>
                          </a:solidFill>
                          <a:latin typeface="Times New Roman" panose="02020603050405020304" pitchFamily="18" charset="0"/>
                          <a:ea typeface="+mn-ea"/>
                          <a:cs typeface="Times New Roman" panose="02020603050405020304" pitchFamily="18" charset="0"/>
                        </a:rPr>
                        <a:t> of </a:t>
                      </a:r>
                      <a:r>
                        <a:rPr lang="fr-FR" sz="1800" b="1" kern="1200" dirty="0" err="1">
                          <a:solidFill>
                            <a:srgbClr val="80276C"/>
                          </a:solidFill>
                          <a:latin typeface="Times New Roman" panose="02020603050405020304" pitchFamily="18" charset="0"/>
                          <a:ea typeface="+mn-ea"/>
                          <a:cs typeface="Times New Roman" panose="02020603050405020304" pitchFamily="18" charset="0"/>
                        </a:rPr>
                        <a:t>research</a:t>
                      </a:r>
                      <a:r>
                        <a:rPr lang="fr-FR" sz="1800" b="1" kern="1200" dirty="0">
                          <a:solidFill>
                            <a:srgbClr val="80276C"/>
                          </a:solidFill>
                          <a:latin typeface="Times New Roman" panose="02020603050405020304" pitchFamily="18" charset="0"/>
                          <a:ea typeface="+mn-ea"/>
                          <a:cs typeface="Times New Roman" panose="02020603050405020304" pitchFamily="18" charset="0"/>
                        </a:rPr>
                        <a:t> articles </a:t>
                      </a:r>
                      <a:r>
                        <a:rPr lang="fr-FR" sz="1800" b="1" kern="1200" dirty="0" err="1">
                          <a:solidFill>
                            <a:srgbClr val="80276C"/>
                          </a:solidFill>
                          <a:latin typeface="Times New Roman" panose="02020603050405020304" pitchFamily="18" charset="0"/>
                          <a:ea typeface="+mn-ea"/>
                          <a:cs typeface="Times New Roman" panose="02020603050405020304" pitchFamily="18" charset="0"/>
                        </a:rPr>
                        <a:t>whether</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published</a:t>
                      </a:r>
                      <a:r>
                        <a:rPr lang="fr-FR" sz="1800" b="1" kern="1200" dirty="0">
                          <a:solidFill>
                            <a:srgbClr val="80276C"/>
                          </a:solidFill>
                          <a:latin typeface="Times New Roman" panose="02020603050405020304" pitchFamily="18" charset="0"/>
                          <a:ea typeface="+mn-ea"/>
                          <a:cs typeface="Times New Roman" panose="02020603050405020304" pitchFamily="18" charset="0"/>
                        </a:rPr>
                        <a:t> or not and of </a:t>
                      </a:r>
                      <a:r>
                        <a:rPr lang="fr-FR" sz="1800" b="1" kern="1200" dirty="0" err="1">
                          <a:solidFill>
                            <a:srgbClr val="80276C"/>
                          </a:solidFill>
                          <a:latin typeface="Times New Roman" panose="02020603050405020304" pitchFamily="18" charset="0"/>
                          <a:ea typeface="+mn-ea"/>
                          <a:cs typeface="Times New Roman" panose="02020603050405020304" pitchFamily="18" charset="0"/>
                        </a:rPr>
                        <a:t>theses</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from</a:t>
                      </a:r>
                      <a:r>
                        <a:rPr lang="fr-FR" sz="1800" b="1" kern="1200" dirty="0">
                          <a:solidFill>
                            <a:srgbClr val="80276C"/>
                          </a:solidFill>
                          <a:latin typeface="Times New Roman" panose="02020603050405020304" pitchFamily="18" charset="0"/>
                          <a:ea typeface="+mn-ea"/>
                          <a:cs typeface="Times New Roman" panose="02020603050405020304" pitchFamily="18" charset="0"/>
                        </a:rPr>
                        <a:t>  French or </a:t>
                      </a:r>
                      <a:r>
                        <a:rPr lang="fr-FR" sz="1800" b="1" kern="1200" dirty="0" err="1">
                          <a:solidFill>
                            <a:srgbClr val="80276C"/>
                          </a:solidFill>
                          <a:latin typeface="Times New Roman" panose="02020603050405020304" pitchFamily="18" charset="0"/>
                          <a:ea typeface="+mn-ea"/>
                          <a:cs typeface="Times New Roman" panose="02020603050405020304" pitchFamily="18" charset="0"/>
                        </a:rPr>
                        <a:t>foreign</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higher</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education</a:t>
                      </a:r>
                      <a:r>
                        <a:rPr lang="fr-FR" sz="1800" b="1" kern="1200" dirty="0">
                          <a:solidFill>
                            <a:srgbClr val="80276C"/>
                          </a:solidFill>
                          <a:latin typeface="Times New Roman" panose="02020603050405020304" pitchFamily="18" charset="0"/>
                          <a:ea typeface="+mn-ea"/>
                          <a:cs typeface="Times New Roman" panose="02020603050405020304" pitchFamily="18" charset="0"/>
                        </a:rPr>
                        <a:t> or </a:t>
                      </a:r>
                      <a:r>
                        <a:rPr lang="fr-FR" sz="1800" b="1" kern="1200" dirty="0" err="1">
                          <a:solidFill>
                            <a:srgbClr val="80276C"/>
                          </a:solidFill>
                          <a:latin typeface="Times New Roman" panose="02020603050405020304" pitchFamily="18" charset="0"/>
                          <a:ea typeface="+mn-ea"/>
                          <a:cs typeface="Times New Roman" panose="02020603050405020304" pitchFamily="18" charset="0"/>
                        </a:rPr>
                        <a:t>research</a:t>
                      </a:r>
                      <a:r>
                        <a:rPr lang="fr-FR" sz="1800" b="1" kern="1200" dirty="0">
                          <a:solidFill>
                            <a:srgbClr val="80276C"/>
                          </a:solidFill>
                          <a:latin typeface="Times New Roman" panose="02020603050405020304" pitchFamily="18" charset="0"/>
                          <a:ea typeface="+mn-ea"/>
                          <a:cs typeface="Times New Roman" panose="02020603050405020304" pitchFamily="18" charset="0"/>
                        </a:rPr>
                        <a:t> establishments or </a:t>
                      </a:r>
                      <a:r>
                        <a:rPr lang="fr-FR" sz="1800" b="1" kern="1200" dirty="0" err="1">
                          <a:solidFill>
                            <a:srgbClr val="80276C"/>
                          </a:solidFill>
                          <a:latin typeface="Times New Roman" panose="02020603050405020304" pitchFamily="18" charset="0"/>
                          <a:ea typeface="+mn-ea"/>
                          <a:cs typeface="Times New Roman" panose="02020603050405020304" pitchFamily="18" charset="0"/>
                        </a:rPr>
                        <a:t>from</a:t>
                      </a:r>
                      <a:r>
                        <a:rPr lang="fr-FR" sz="1800" b="1" kern="1200" dirty="0">
                          <a:solidFill>
                            <a:srgbClr val="80276C"/>
                          </a:solidFill>
                          <a:latin typeface="Times New Roman" panose="02020603050405020304" pitchFamily="18" charset="0"/>
                          <a:ea typeface="+mn-ea"/>
                          <a:cs typeface="Times New Roman" panose="02020603050405020304" pitchFamily="18" charset="0"/>
                        </a:rPr>
                        <a:t> public or </a:t>
                      </a:r>
                      <a:r>
                        <a:rPr lang="fr-FR" sz="1800" b="1" kern="1200" dirty="0" err="1">
                          <a:solidFill>
                            <a:srgbClr val="80276C"/>
                          </a:solidFill>
                          <a:latin typeface="Times New Roman" panose="02020603050405020304" pitchFamily="18" charset="0"/>
                          <a:ea typeface="+mn-ea"/>
                          <a:cs typeface="Times New Roman" panose="02020603050405020304" pitchFamily="18" charset="0"/>
                        </a:rPr>
                        <a:t>private</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laboratories</a:t>
                      </a:r>
                      <a:r>
                        <a:rPr lang="fr-FR" sz="1800" b="1" kern="1200" dirty="0">
                          <a:solidFill>
                            <a:srgbClr val="80276C"/>
                          </a:solidFill>
                          <a:latin typeface="Times New Roman" panose="02020603050405020304" pitchFamily="18" charset="0"/>
                          <a:ea typeface="+mn-ea"/>
                          <a:cs typeface="Times New Roman" panose="02020603050405020304" pitchFamily="18" charset="0"/>
                        </a:rPr>
                        <a:t>.</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lang="fr-FR" sz="1800" b="1" dirty="0">
                        <a:solidFill>
                          <a:srgbClr val="80276C"/>
                        </a:solidFill>
                        <a:latin typeface="Times New Roman" panose="02020603050405020304" pitchFamily="18" charset="0"/>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lang="fr-FR" sz="1800" b="1" dirty="0">
                          <a:solidFill>
                            <a:srgbClr val="80276C"/>
                          </a:solidFill>
                          <a:latin typeface="Times New Roman" panose="02020603050405020304" pitchFamily="18" charset="0"/>
                          <a:cs typeface="Times New Roman" panose="02020603050405020304" pitchFamily="18" charset="0"/>
                        </a:rPr>
                        <a:t>Use </a:t>
                      </a:r>
                      <a:r>
                        <a:rPr lang="fr-FR" sz="1800" b="1" dirty="0" err="1">
                          <a:solidFill>
                            <a:srgbClr val="80276C"/>
                          </a:solidFill>
                          <a:latin typeface="Times New Roman" panose="02020603050405020304" pitchFamily="18" charset="0"/>
                          <a:cs typeface="Times New Roman" panose="02020603050405020304" pitchFamily="18" charset="0"/>
                        </a:rPr>
                        <a:t>rather</a:t>
                      </a:r>
                      <a:r>
                        <a:rPr lang="fr-FR" sz="1800" b="1" dirty="0">
                          <a:solidFill>
                            <a:srgbClr val="80276C"/>
                          </a:solidFill>
                          <a:latin typeface="Times New Roman" panose="02020603050405020304" pitchFamily="18" charset="0"/>
                          <a:cs typeface="Times New Roman" panose="02020603050405020304" pitchFamily="18" charset="0"/>
                        </a:rPr>
                        <a:t> the basic </a:t>
                      </a:r>
                      <a:r>
                        <a:rPr lang="fr-FR" sz="1800" b="1" dirty="0" err="1">
                          <a:solidFill>
                            <a:srgbClr val="80276C"/>
                          </a:solidFill>
                          <a:latin typeface="Times New Roman" panose="02020603050405020304" pitchFamily="18" charset="0"/>
                          <a:cs typeface="Times New Roman" panose="02020603050405020304" pitchFamily="18" charset="0"/>
                        </a:rPr>
                        <a:t>search</a:t>
                      </a:r>
                      <a:r>
                        <a:rPr lang="fr-FR" sz="1800" b="1" dirty="0">
                          <a:solidFill>
                            <a:srgbClr val="80276C"/>
                          </a:solidFill>
                          <a:latin typeface="Times New Roman" panose="02020603050405020304" pitchFamily="18" charset="0"/>
                          <a:cs typeface="Times New Roman" panose="02020603050405020304" pitchFamily="18" charset="0"/>
                        </a:rPr>
                        <a:t>, </a:t>
                      </a:r>
                      <a:r>
                        <a:rPr lang="fr-FR" sz="1800" b="1" dirty="0" err="1">
                          <a:solidFill>
                            <a:srgbClr val="80276C"/>
                          </a:solidFill>
                          <a:latin typeface="Times New Roman" panose="02020603050405020304" pitchFamily="18" charset="0"/>
                          <a:cs typeface="Times New Roman" panose="02020603050405020304" pitchFamily="18" charset="0"/>
                        </a:rPr>
                        <a:t>since</a:t>
                      </a:r>
                      <a:r>
                        <a:rPr lang="fr-FR" sz="1800" b="1" dirty="0">
                          <a:solidFill>
                            <a:srgbClr val="80276C"/>
                          </a:solidFill>
                          <a:latin typeface="Times New Roman" panose="02020603050405020304" pitchFamily="18" charset="0"/>
                          <a:cs typeface="Times New Roman" panose="02020603050405020304" pitchFamily="18" charset="0"/>
                        </a:rPr>
                        <a:t> the </a:t>
                      </a:r>
                      <a:r>
                        <a:rPr lang="fr-FR" sz="1800" b="1" dirty="0" err="1">
                          <a:solidFill>
                            <a:srgbClr val="80276C"/>
                          </a:solidFill>
                          <a:latin typeface="Times New Roman" panose="02020603050405020304" pitchFamily="18" charset="0"/>
                          <a:cs typeface="Times New Roman" panose="02020603050405020304" pitchFamily="18" charset="0"/>
                        </a:rPr>
                        <a:t>advanced</a:t>
                      </a:r>
                      <a:r>
                        <a:rPr lang="fr-FR" sz="1800" b="1" dirty="0">
                          <a:solidFill>
                            <a:srgbClr val="80276C"/>
                          </a:solidFill>
                          <a:latin typeface="Times New Roman" panose="02020603050405020304" pitchFamily="18" charset="0"/>
                          <a:cs typeface="Times New Roman" panose="02020603050405020304" pitchFamily="18" charset="0"/>
                        </a:rPr>
                        <a:t> </a:t>
                      </a:r>
                      <a:r>
                        <a:rPr lang="fr-FR" sz="1800" b="1" dirty="0" err="1">
                          <a:solidFill>
                            <a:srgbClr val="80276C"/>
                          </a:solidFill>
                          <a:latin typeface="Times New Roman" panose="02020603050405020304" pitchFamily="18" charset="0"/>
                          <a:cs typeface="Times New Roman" panose="02020603050405020304" pitchFamily="18" charset="0"/>
                        </a:rPr>
                        <a:t>search</a:t>
                      </a:r>
                      <a:r>
                        <a:rPr lang="fr-FR" sz="1800" b="1" dirty="0">
                          <a:solidFill>
                            <a:srgbClr val="80276C"/>
                          </a:solidFill>
                          <a:latin typeface="Times New Roman" panose="02020603050405020304" pitchFamily="18" charset="0"/>
                          <a:cs typeface="Times New Roman" panose="02020603050405020304" pitchFamily="18" charset="0"/>
                        </a:rPr>
                        <a:t> </a:t>
                      </a:r>
                      <a:r>
                        <a:rPr lang="fr-FR" sz="1800" b="1" dirty="0" err="1">
                          <a:solidFill>
                            <a:srgbClr val="80276C"/>
                          </a:solidFill>
                          <a:latin typeface="Times New Roman" panose="02020603050405020304" pitchFamily="18" charset="0"/>
                          <a:cs typeface="Times New Roman" panose="02020603050405020304" pitchFamily="18" charset="0"/>
                        </a:rPr>
                        <a:t>is</a:t>
                      </a:r>
                      <a:r>
                        <a:rPr lang="fr-FR" sz="1800" b="1" dirty="0">
                          <a:solidFill>
                            <a:srgbClr val="80276C"/>
                          </a:solidFill>
                          <a:latin typeface="Times New Roman" panose="02020603050405020304" pitchFamily="18" charset="0"/>
                          <a:cs typeface="Times New Roman" panose="02020603050405020304" pitchFamily="18" charset="0"/>
                        </a:rPr>
                        <a:t> not </a:t>
                      </a:r>
                      <a:r>
                        <a:rPr lang="fr-FR" sz="1800" b="1" dirty="0" err="1">
                          <a:solidFill>
                            <a:srgbClr val="80276C"/>
                          </a:solidFill>
                          <a:latin typeface="Times New Roman" panose="02020603050405020304" pitchFamily="18" charset="0"/>
                          <a:cs typeface="Times New Roman" panose="02020603050405020304" pitchFamily="18" charset="0"/>
                        </a:rPr>
                        <a:t>very</a:t>
                      </a:r>
                      <a:r>
                        <a:rPr lang="fr-FR" sz="1800" b="1" dirty="0">
                          <a:solidFill>
                            <a:srgbClr val="80276C"/>
                          </a:solidFill>
                          <a:latin typeface="Times New Roman" panose="02020603050405020304" pitchFamily="18" charset="0"/>
                          <a:cs typeface="Times New Roman" panose="02020603050405020304" pitchFamily="18" charset="0"/>
                        </a:rPr>
                        <a:t> user-</a:t>
                      </a:r>
                      <a:r>
                        <a:rPr lang="fr-FR" sz="1800" b="1" dirty="0" err="1">
                          <a:solidFill>
                            <a:srgbClr val="80276C"/>
                          </a:solidFill>
                          <a:latin typeface="Times New Roman" panose="02020603050405020304" pitchFamily="18" charset="0"/>
                          <a:cs typeface="Times New Roman" panose="02020603050405020304" pitchFamily="18" charset="0"/>
                        </a:rPr>
                        <a:t>friendly</a:t>
                      </a:r>
                      <a:endParaRPr lang="fr-FR" sz="1800" b="1" dirty="0">
                        <a:solidFill>
                          <a:srgbClr val="80276C"/>
                        </a:solidFill>
                        <a:latin typeface="Times New Roman" panose="02020603050405020304" pitchFamily="18" charset="0"/>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lang="fr-FR" sz="1800" b="1" dirty="0">
                        <a:solidFill>
                          <a:srgbClr val="80276C"/>
                        </a:solidFill>
                        <a:latin typeface="Times New Roman" panose="02020603050405020304" pitchFamily="18" charset="0"/>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lang="fr-FR" sz="1800" b="1" kern="1200" dirty="0">
                          <a:solidFill>
                            <a:srgbClr val="80276C"/>
                          </a:solidFill>
                          <a:latin typeface="Times New Roman" panose="02020603050405020304" pitchFamily="18" charset="0"/>
                          <a:ea typeface="+mn-ea"/>
                          <a:cs typeface="Times New Roman" panose="02020603050405020304" pitchFamily="18" charset="0"/>
                        </a:rPr>
                        <a:t>Access to data </a:t>
                      </a:r>
                      <a:r>
                        <a:rPr lang="fr-FR" sz="1800" b="1" kern="1200" dirty="0" err="1">
                          <a:solidFill>
                            <a:srgbClr val="80276C"/>
                          </a:solidFill>
                          <a:latin typeface="Times New Roman" panose="02020603050405020304" pitchFamily="18" charset="0"/>
                          <a:ea typeface="+mn-ea"/>
                          <a:cs typeface="Times New Roman" panose="02020603050405020304" pitchFamily="18" charset="0"/>
                        </a:rPr>
                        <a:t>is</a:t>
                      </a:r>
                      <a:r>
                        <a:rPr lang="fr-FR" sz="1800" b="1" kern="1200" dirty="0">
                          <a:solidFill>
                            <a:srgbClr val="80276C"/>
                          </a:solidFill>
                          <a:latin typeface="Times New Roman" panose="02020603050405020304" pitchFamily="18" charset="0"/>
                          <a:ea typeface="+mn-ea"/>
                          <a:cs typeface="Times New Roman" panose="02020603050405020304" pitchFamily="18" charset="0"/>
                        </a:rPr>
                        <a:t> free </a:t>
                      </a:r>
                      <a:r>
                        <a:rPr lang="fr-FR" sz="1800" b="1" kern="1200" dirty="0">
                          <a:solidFill>
                            <a:srgbClr val="00B050"/>
                          </a:solidFill>
                          <a:latin typeface="Times New Roman" panose="02020603050405020304" pitchFamily="18" charset="0"/>
                          <a:ea typeface="+mn-ea"/>
                          <a:cs typeface="Times New Roman" panose="02020603050405020304" pitchFamily="18" charset="0"/>
                        </a:rPr>
                        <a:t>but not  </a:t>
                      </a:r>
                      <a:r>
                        <a:rPr lang="fr-FR" sz="1800" b="1" kern="1200" dirty="0" err="1">
                          <a:solidFill>
                            <a:srgbClr val="00B050"/>
                          </a:solidFill>
                          <a:latin typeface="Times New Roman" panose="02020603050405020304" pitchFamily="18" charset="0"/>
                          <a:ea typeface="+mn-ea"/>
                          <a:cs typeface="Times New Roman" panose="02020603050405020304" pitchFamily="18" charset="0"/>
                        </a:rPr>
                        <a:t>necessarily</a:t>
                      </a:r>
                      <a:r>
                        <a:rPr lang="fr-FR" sz="1800" b="1" kern="1200" dirty="0">
                          <a:solidFill>
                            <a:srgbClr val="00B050"/>
                          </a:solidFill>
                          <a:latin typeface="Times New Roman" panose="02020603050405020304" pitchFamily="18" charset="0"/>
                          <a:ea typeface="+mn-ea"/>
                          <a:cs typeface="Times New Roman" panose="02020603050405020304" pitchFamily="18" charset="0"/>
                        </a:rPr>
                        <a:t> </a:t>
                      </a:r>
                      <a:r>
                        <a:rPr lang="fr-FR" sz="1800" b="1" kern="1200" dirty="0" err="1">
                          <a:solidFill>
                            <a:srgbClr val="00B050"/>
                          </a:solidFill>
                          <a:latin typeface="Times New Roman" panose="02020603050405020304" pitchFamily="18" charset="0"/>
                          <a:ea typeface="+mn-ea"/>
                          <a:cs typeface="Times New Roman" panose="02020603050405020304" pitchFamily="18" charset="0"/>
                        </a:rPr>
                        <a:t>their</a:t>
                      </a:r>
                      <a:r>
                        <a:rPr lang="fr-FR" sz="1800" b="1" kern="1200" dirty="0">
                          <a:solidFill>
                            <a:srgbClr val="00B050"/>
                          </a:solidFill>
                          <a:latin typeface="Times New Roman" panose="02020603050405020304" pitchFamily="18" charset="0"/>
                          <a:ea typeface="+mn-ea"/>
                          <a:cs typeface="Times New Roman" panose="02020603050405020304" pitchFamily="18" charset="0"/>
                        </a:rPr>
                        <a:t> use or </a:t>
                      </a:r>
                      <a:r>
                        <a:rPr lang="fr-FR" sz="1800" b="1" kern="1200" dirty="0" err="1">
                          <a:solidFill>
                            <a:srgbClr val="00B050"/>
                          </a:solidFill>
                          <a:latin typeface="Times New Roman" panose="02020603050405020304" pitchFamily="18" charset="0"/>
                          <a:ea typeface="+mn-ea"/>
                          <a:cs typeface="Times New Roman" panose="02020603050405020304" pitchFamily="18" charset="0"/>
                        </a:rPr>
                        <a:t>their</a:t>
                      </a:r>
                      <a:r>
                        <a:rPr lang="fr-FR" sz="1800" b="1" kern="1200" dirty="0">
                          <a:solidFill>
                            <a:srgbClr val="00B050"/>
                          </a:solidFill>
                          <a:latin typeface="Times New Roman" panose="02020603050405020304" pitchFamily="18" charset="0"/>
                          <a:ea typeface="+mn-ea"/>
                          <a:cs typeface="Times New Roman" panose="02020603050405020304" pitchFamily="18" charset="0"/>
                        </a:rPr>
                        <a:t> </a:t>
                      </a:r>
                      <a:r>
                        <a:rPr lang="fr-FR" sz="1800" b="1" kern="1200" dirty="0" err="1">
                          <a:solidFill>
                            <a:srgbClr val="00B050"/>
                          </a:solidFill>
                          <a:latin typeface="Times New Roman" panose="02020603050405020304" pitchFamily="18" charset="0"/>
                          <a:ea typeface="+mn-ea"/>
                          <a:cs typeface="Times New Roman" panose="02020603050405020304" pitchFamily="18" charset="0"/>
                        </a:rPr>
                        <a:t>reuse</a:t>
                      </a:r>
                      <a:r>
                        <a:rPr lang="fr-FR" sz="1800" b="1" kern="1200" dirty="0">
                          <a:solidFill>
                            <a:srgbClr val="00B050"/>
                          </a:solidFill>
                          <a:latin typeface="Times New Roman" panose="02020603050405020304" pitchFamily="18" charset="0"/>
                          <a:ea typeface="+mn-ea"/>
                          <a:cs typeface="Times New Roman" panose="02020603050405020304" pitchFamily="18" charset="0"/>
                        </a:rPr>
                        <a:t> </a:t>
                      </a:r>
                      <a:r>
                        <a:rPr lang="fr-FR" sz="1800" b="1" kern="1200" dirty="0">
                          <a:solidFill>
                            <a:srgbClr val="80276C"/>
                          </a:solidFill>
                          <a:latin typeface="Times New Roman" panose="02020603050405020304" pitchFamily="18" charset="0"/>
                          <a:ea typeface="+mn-ea"/>
                          <a:cs typeface="Times New Roman" panose="02020603050405020304" pitchFamily="18" charset="0"/>
                        </a:rPr>
                        <a:t>(</a:t>
                      </a:r>
                      <a:r>
                        <a:rPr lang="fr-FR" sz="1800" b="1" kern="1200" dirty="0" err="1">
                          <a:solidFill>
                            <a:srgbClr val="80276C"/>
                          </a:solidFill>
                          <a:latin typeface="Times New Roman" panose="02020603050405020304" pitchFamily="18" charset="0"/>
                          <a:ea typeface="+mn-ea"/>
                          <a:cs typeface="Times New Roman" panose="02020603050405020304" pitchFamily="18" charset="0"/>
                        </a:rPr>
                        <a:t>Ask</a:t>
                      </a:r>
                      <a:r>
                        <a:rPr lang="fr-FR" sz="1800" b="1" kern="1200" dirty="0">
                          <a:solidFill>
                            <a:srgbClr val="80276C"/>
                          </a:solidFill>
                          <a:latin typeface="Times New Roman" panose="02020603050405020304" pitchFamily="18" charset="0"/>
                          <a:ea typeface="+mn-ea"/>
                          <a:cs typeface="Times New Roman" panose="02020603050405020304" pitchFamily="18" charset="0"/>
                        </a:rPr>
                        <a:t> the </a:t>
                      </a:r>
                      <a:r>
                        <a:rPr lang="fr-FR" sz="1800" b="1" kern="1200" dirty="0" err="1">
                          <a:solidFill>
                            <a:srgbClr val="80276C"/>
                          </a:solidFill>
                          <a:latin typeface="Times New Roman" panose="02020603050405020304" pitchFamily="18" charset="0"/>
                          <a:ea typeface="+mn-ea"/>
                          <a:cs typeface="Times New Roman" panose="02020603050405020304" pitchFamily="18" charset="0"/>
                        </a:rPr>
                        <a:t>author</a:t>
                      </a:r>
                      <a:r>
                        <a:rPr lang="fr-FR" sz="1800" b="1" kern="1200" dirty="0">
                          <a:solidFill>
                            <a:srgbClr val="80276C"/>
                          </a:solidFill>
                          <a:latin typeface="Times New Roman" panose="02020603050405020304" pitchFamily="18" charset="0"/>
                          <a:ea typeface="+mn-ea"/>
                          <a:cs typeface="Times New Roman" panose="02020603050405020304" pitchFamily="18" charset="0"/>
                        </a:rPr>
                        <a:t> to </a:t>
                      </a:r>
                      <a:r>
                        <a:rPr lang="fr-FR" sz="1800" b="1" kern="1200" dirty="0" err="1">
                          <a:solidFill>
                            <a:srgbClr val="80276C"/>
                          </a:solidFill>
                          <a:latin typeface="Times New Roman" panose="02020603050405020304" pitchFamily="18" charset="0"/>
                          <a:ea typeface="+mn-ea"/>
                          <a:cs typeface="Times New Roman" panose="02020603050405020304" pitchFamily="18" charset="0"/>
                        </a:rPr>
                        <a:t>entitle</a:t>
                      </a:r>
                      <a:r>
                        <a:rPr lang="fr-FR" sz="1800" b="1" kern="1200" dirty="0">
                          <a:solidFill>
                            <a:srgbClr val="80276C"/>
                          </a:solidFill>
                          <a:latin typeface="Times New Roman" panose="02020603050405020304" pitchFamily="18" charset="0"/>
                          <a:ea typeface="+mn-ea"/>
                          <a:cs typeface="Times New Roman" panose="02020603050405020304" pitchFamily="18" charset="0"/>
                        </a:rPr>
                        <a:t> </a:t>
                      </a:r>
                      <a:r>
                        <a:rPr lang="fr-FR" sz="1800" b="1" kern="1200" dirty="0" err="1">
                          <a:solidFill>
                            <a:srgbClr val="80276C"/>
                          </a:solidFill>
                          <a:latin typeface="Times New Roman" panose="02020603050405020304" pitchFamily="18" charset="0"/>
                          <a:ea typeface="+mn-ea"/>
                          <a:cs typeface="Times New Roman" panose="02020603050405020304" pitchFamily="18" charset="0"/>
                        </a:rPr>
                        <a:t>you</a:t>
                      </a:r>
                      <a:r>
                        <a:rPr lang="fr-FR" sz="1800" b="1" kern="1200" dirty="0">
                          <a:solidFill>
                            <a:srgbClr val="80276C"/>
                          </a:solidFill>
                          <a:latin typeface="Times New Roman" panose="02020603050405020304" pitchFamily="18" charset="0"/>
                          <a:ea typeface="+mn-ea"/>
                          <a:cs typeface="Times New Roman" panose="02020603050405020304" pitchFamily="18" charset="0"/>
                        </a:rPr>
                        <a:t> to use or to </a:t>
                      </a:r>
                      <a:r>
                        <a:rPr lang="fr-FR" sz="1800" b="1" kern="1200" dirty="0" err="1">
                          <a:solidFill>
                            <a:srgbClr val="80276C"/>
                          </a:solidFill>
                          <a:latin typeface="Times New Roman" panose="02020603050405020304" pitchFamily="18" charset="0"/>
                          <a:ea typeface="+mn-ea"/>
                          <a:cs typeface="Times New Roman" panose="02020603050405020304" pitchFamily="18" charset="0"/>
                        </a:rPr>
                        <a:t>reuse</a:t>
                      </a:r>
                      <a:r>
                        <a:rPr lang="fr-FR" sz="1800" b="1" kern="1200" dirty="0">
                          <a:solidFill>
                            <a:srgbClr val="80276C"/>
                          </a:solidFill>
                          <a:latin typeface="Times New Roman" panose="02020603050405020304" pitchFamily="18" charset="0"/>
                          <a:ea typeface="+mn-ea"/>
                          <a:cs typeface="Times New Roman" panose="02020603050405020304" pitchFamily="18" charset="0"/>
                        </a:rPr>
                        <a:t> the data)</a:t>
                      </a:r>
                    </a:p>
                  </a:txBody>
                  <a:tcPr/>
                </a:tc>
                <a:tc>
                  <a:txBody>
                    <a:bodyPr/>
                    <a:lstStyle/>
                    <a:p>
                      <a:pPr marL="0" marR="0" lvl="0" indent="0" algn="just" defTabSz="685983" rtl="0" eaLnBrk="1" fontAlgn="auto" latinLnBrk="0" hangingPunct="1">
                        <a:lnSpc>
                          <a:spcPts val="1600"/>
                        </a:lnSpc>
                        <a:spcBef>
                          <a:spcPts val="0"/>
                        </a:spcBef>
                        <a:spcAft>
                          <a:spcPts val="0"/>
                        </a:spcAft>
                        <a:buClrTx/>
                        <a:buSzTx/>
                        <a:buFont typeface="Wingdings" panose="05000000000000000000" pitchFamily="2" charset="2"/>
                        <a:buNone/>
                        <a:tabLst/>
                        <a:defRPr/>
                      </a:pP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One of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engines and world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academic</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web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resources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most</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considerable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in volume to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be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queried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preferably</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in  English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Multilingual</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in 20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languages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lang="fr-FR" sz="1800" b="1" dirty="0">
                          <a:solidFill>
                            <a:srgbClr val="80276C"/>
                          </a:solidFill>
                          <a:latin typeface="Times New Roman" panose="02020603050405020304" pitchFamily="18" charset="0"/>
                          <a:cs typeface="Times New Roman" panose="02020603050405020304" pitchFamily="18" charset="0"/>
                        </a:rPr>
                        <a:t> Open and free </a:t>
                      </a:r>
                      <a:r>
                        <a:rPr lang="fr-FR" sz="1800" b="1" dirty="0" err="1">
                          <a:solidFill>
                            <a:srgbClr val="80276C"/>
                          </a:solidFill>
                          <a:latin typeface="Times New Roman" panose="02020603050405020304" pitchFamily="18" charset="0"/>
                          <a:cs typeface="Times New Roman" panose="02020603050405020304" pitchFamily="18" charset="0"/>
                        </a:rPr>
                        <a:t>access</a:t>
                      </a:r>
                      <a:r>
                        <a:rPr lang="fr-FR" sz="1800" b="1" dirty="0">
                          <a:solidFill>
                            <a:srgbClr val="80276C"/>
                          </a:solidFill>
                          <a:latin typeface="Times New Roman" panose="02020603050405020304" pitchFamily="18" charset="0"/>
                          <a:cs typeface="Times New Roman" panose="02020603050405020304" pitchFamily="18" charset="0"/>
                        </a:rPr>
                        <a:t>  to full-</a:t>
                      </a:r>
                      <a:r>
                        <a:rPr lang="fr-FR" sz="1800" b="1" dirty="0" err="1">
                          <a:solidFill>
                            <a:srgbClr val="80276C"/>
                          </a:solidFill>
                          <a:latin typeface="Times New Roman" panose="02020603050405020304" pitchFamily="18" charset="0"/>
                          <a:cs typeface="Times New Roman" panose="02020603050405020304" pitchFamily="18" charset="0"/>
                        </a:rPr>
                        <a:t>text</a:t>
                      </a:r>
                      <a:r>
                        <a:rPr lang="fr-FR" sz="1800" b="1" dirty="0">
                          <a:solidFill>
                            <a:srgbClr val="80276C"/>
                          </a:solidFill>
                          <a:latin typeface="Times New Roman" panose="02020603050405020304" pitchFamily="18" charset="0"/>
                          <a:cs typeface="Times New Roman" panose="02020603050405020304" pitchFamily="18" charset="0"/>
                        </a:rPr>
                        <a:t> documents  for 60 % of documents</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lang="fr-FR" sz="1800" b="1" dirty="0">
                        <a:solidFill>
                          <a:srgbClr val="80276C"/>
                        </a:solidFill>
                        <a:latin typeface="Times New Roman" panose="02020603050405020304" pitchFamily="18" charset="0"/>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Browse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the «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advanced</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web » </a:t>
                      </a:r>
                      <a:endParaRPr lang="fr-FR" sz="1800" b="1" dirty="0">
                        <a:solidFill>
                          <a:srgbClr val="80276C"/>
                        </a:solidFill>
                        <a:latin typeface="Times New Roman" panose="02020603050405020304" pitchFamily="18" charset="0"/>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search</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equation</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must not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be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too</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long as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otherwise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the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results</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will</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not </a:t>
                      </a:r>
                      <a:r>
                        <a:rPr kumimoji="0" lang="fr-FR" sz="1800" b="1" i="0" u="none" strike="noStrike" kern="1200" cap="none" spc="0" normalizeH="0" baseline="0" dirty="0" err="1">
                          <a:ln>
                            <a:noFill/>
                          </a:ln>
                          <a:solidFill>
                            <a:srgbClr val="80276C"/>
                          </a:solidFill>
                          <a:effectLst/>
                          <a:uLnTx/>
                          <a:uFillTx/>
                          <a:latin typeface="Times New Roman" panose="02020603050405020304" pitchFamily="18" charset="0"/>
                          <a:ea typeface="+mn-ea"/>
                          <a:cs typeface="Times New Roman" panose="02020603050405020304" pitchFamily="18" charset="0"/>
                        </a:rPr>
                        <a:t>be</a:t>
                      </a:r>
                      <a:r>
                        <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rPr>
                        <a:t> relevant</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2 cons :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you</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cannot</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sort by affiliation and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you</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cannot</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export a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list</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of </a:t>
                      </a:r>
                      <a:r>
                        <a:rPr kumimoji="0" lang="fr-FR" sz="1800" b="1" i="0" u="none" strike="noStrike" kern="1200" cap="none" spc="0" normalizeH="0" baseline="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bibliographic</a:t>
                      </a:r>
                      <a:r>
                        <a:rPr kumimoji="0" lang="fr-FR" sz="1800" b="1" i="0" u="none" strike="noStrike" kern="1200" cap="none" spc="0" normalizeH="0" baseline="0" dirty="0">
                          <a:ln>
                            <a:noFill/>
                          </a:ln>
                          <a:solidFill>
                            <a:srgbClr val="00B050"/>
                          </a:solidFill>
                          <a:effectLst/>
                          <a:uLnTx/>
                          <a:uFillTx/>
                          <a:latin typeface="Times New Roman" panose="02020603050405020304" pitchFamily="18" charset="0"/>
                          <a:ea typeface="+mn-ea"/>
                          <a:cs typeface="Times New Roman" panose="02020603050405020304" pitchFamily="18" charset="0"/>
                        </a:rPr>
                        <a:t> records</a:t>
                      </a: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685983"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ts val="1600"/>
                        </a:lnSpc>
                        <a:spcBef>
                          <a:spcPts val="0"/>
                        </a:spcBef>
                        <a:spcAft>
                          <a:spcPts val="0"/>
                        </a:spcAft>
                        <a:buClrTx/>
                        <a:buSzTx/>
                        <a:buFont typeface="Wingdings" panose="05000000000000000000" pitchFamily="2" charset="2"/>
                        <a:buChar char="ü"/>
                        <a:tabLst/>
                        <a:defRPr/>
                      </a:pPr>
                      <a:endParaRPr kumimoji="0" lang="fr-FR" sz="1800" b="1" i="0" u="none" strike="noStrike" kern="1200" cap="none" spc="0" normalizeH="0" baseline="0" dirty="0">
                        <a:ln>
                          <a:noFill/>
                        </a:ln>
                        <a:solidFill>
                          <a:srgbClr val="80276C"/>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47858408"/>
                  </a:ext>
                </a:extLst>
              </a:tr>
            </a:tbl>
          </a:graphicData>
        </a:graphic>
      </p:graphicFrame>
    </p:spTree>
    <p:extLst>
      <p:ext uri="{BB962C8B-B14F-4D97-AF65-F5344CB8AC3E}">
        <p14:creationId xmlns:p14="http://schemas.microsoft.com/office/powerpoint/2010/main" val="730156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60E34B-A08F-43ED-9F2E-37F385836E90}"/>
              </a:ext>
            </a:extLst>
          </p:cNvPr>
          <p:cNvSpPr/>
          <p:nvPr/>
        </p:nvSpPr>
        <p:spPr>
          <a:xfrm>
            <a:off x="659219" y="729465"/>
            <a:ext cx="10760149" cy="954107"/>
          </a:xfrm>
          <a:prstGeom prst="rect">
            <a:avLst/>
          </a:prstGeom>
        </p:spPr>
        <p:txBody>
          <a:bodyPr wrap="square">
            <a:spAutoFit/>
          </a:bodyPr>
          <a:lstStyle/>
          <a:p>
            <a:pPr algn="ctr"/>
            <a:r>
              <a:rPr lang="fr-FR" sz="2000" b="1" dirty="0">
                <a:solidFill>
                  <a:srgbClr val="0070C0"/>
                </a:solidFill>
                <a:latin typeface="Times New Roman" panose="02020603050405020304" pitchFamily="18" charset="0"/>
                <a:cs typeface="Times New Roman" panose="02020603050405020304" pitchFamily="18" charset="0"/>
              </a:rPr>
              <a:t>Open Science archives</a:t>
            </a:r>
          </a:p>
          <a:p>
            <a:pPr algn="ctr"/>
            <a:r>
              <a:rPr lang="fr-FR" b="1" dirty="0">
                <a:solidFill>
                  <a:srgbClr val="0070C0"/>
                </a:solidFill>
                <a:latin typeface="Times New Roman" panose="02020603050405020304" pitchFamily="18" charset="0"/>
                <a:cs typeface="Times New Roman" panose="02020603050405020304" pitchFamily="18" charset="0"/>
              </a:rPr>
              <a:t>Hal and Pastel </a:t>
            </a:r>
            <a:r>
              <a:rPr lang="fr-FR" b="1" dirty="0" err="1">
                <a:solidFill>
                  <a:srgbClr val="0070C0"/>
                </a:solidFill>
                <a:latin typeface="Times New Roman" panose="02020603050405020304" pitchFamily="18" charset="0"/>
                <a:cs typeface="Times New Roman" panose="02020603050405020304" pitchFamily="18" charset="0"/>
              </a:rPr>
              <a:t>theses</a:t>
            </a:r>
            <a:r>
              <a:rPr lang="fr-FR" b="1" dirty="0">
                <a:solidFill>
                  <a:srgbClr val="0070C0"/>
                </a:solidFill>
                <a:latin typeface="Times New Roman" panose="02020603050405020304" pitchFamily="18" charset="0"/>
                <a:cs typeface="Times New Roman" panose="02020603050405020304" pitchFamily="18" charset="0"/>
              </a:rPr>
              <a:t> </a:t>
            </a:r>
            <a:r>
              <a:rPr lang="fr-FR" b="1" dirty="0" err="1">
                <a:solidFill>
                  <a:srgbClr val="0070C0"/>
                </a:solidFill>
                <a:latin typeface="Times New Roman" panose="02020603050405020304" pitchFamily="18" charset="0"/>
                <a:cs typeface="Times New Roman" panose="02020603050405020304" pitchFamily="18" charset="0"/>
              </a:rPr>
              <a:t>from</a:t>
            </a:r>
            <a:r>
              <a:rPr lang="fr-FR" b="1" dirty="0">
                <a:solidFill>
                  <a:srgbClr val="0070C0"/>
                </a:solidFill>
                <a:latin typeface="Times New Roman" panose="02020603050405020304" pitchFamily="18" charset="0"/>
                <a:cs typeface="Times New Roman" panose="02020603050405020304" pitchFamily="18" charset="0"/>
              </a:rPr>
              <a:t> Paris Tech :</a:t>
            </a:r>
          </a:p>
          <a:p>
            <a:pPr algn="ctr"/>
            <a:r>
              <a:rPr lang="fr-FR" dirty="0">
                <a:hlinkClick r:id="rId2"/>
              </a:rPr>
              <a:t>https://pastel.hal.science/</a:t>
            </a:r>
            <a:endParaRPr lang="fr-FR" dirty="0"/>
          </a:p>
        </p:txBody>
      </p:sp>
      <p:sp>
        <p:nvSpPr>
          <p:cNvPr id="7" name="Rectangle 6">
            <a:extLst>
              <a:ext uri="{FF2B5EF4-FFF2-40B4-BE49-F238E27FC236}">
                <a16:creationId xmlns:a16="http://schemas.microsoft.com/office/drawing/2014/main" id="{A9700150-A2D4-4BF3-922F-2C2B27BE71D0}"/>
              </a:ext>
            </a:extLst>
          </p:cNvPr>
          <p:cNvSpPr/>
          <p:nvPr/>
        </p:nvSpPr>
        <p:spPr>
          <a:xfrm>
            <a:off x="2909975" y="5065508"/>
            <a:ext cx="3129318" cy="369332"/>
          </a:xfrm>
          <a:prstGeom prst="rect">
            <a:avLst/>
          </a:prstGeom>
        </p:spPr>
        <p:txBody>
          <a:bodyPr wrap="none">
            <a:spAutoFit/>
          </a:bodyPr>
          <a:lstStyle/>
          <a:p>
            <a:r>
              <a:rPr lang="fr-FR" dirty="0"/>
              <a:t>French </a:t>
            </a:r>
            <a:r>
              <a:rPr lang="fr-FR" dirty="0" err="1"/>
              <a:t>thesis</a:t>
            </a:r>
            <a:r>
              <a:rPr lang="fr-FR" dirty="0"/>
              <a:t> : http://theses.fr/</a:t>
            </a:r>
          </a:p>
        </p:txBody>
      </p:sp>
      <p:pic>
        <p:nvPicPr>
          <p:cNvPr id="8" name="Image 7">
            <a:extLst>
              <a:ext uri="{FF2B5EF4-FFF2-40B4-BE49-F238E27FC236}">
                <a16:creationId xmlns:a16="http://schemas.microsoft.com/office/drawing/2014/main" id="{CF62CBA8-2FDD-4184-A272-4556EEC6E8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619" y="4992999"/>
            <a:ext cx="2381250" cy="514350"/>
          </a:xfrm>
          <a:prstGeom prst="rect">
            <a:avLst/>
          </a:prstGeom>
        </p:spPr>
      </p:pic>
      <p:pic>
        <p:nvPicPr>
          <p:cNvPr id="9" name="Image 8">
            <a:extLst>
              <a:ext uri="{FF2B5EF4-FFF2-40B4-BE49-F238E27FC236}">
                <a16:creationId xmlns:a16="http://schemas.microsoft.com/office/drawing/2014/main" id="{B473DCFC-4DAB-43D9-8FB8-19DE2E2399DD}"/>
              </a:ext>
            </a:extLst>
          </p:cNvPr>
          <p:cNvPicPr/>
          <p:nvPr/>
        </p:nvPicPr>
        <p:blipFill rotWithShape="1">
          <a:blip r:embed="rId4"/>
          <a:srcRect t="5233" b="13262"/>
          <a:stretch/>
        </p:blipFill>
        <p:spPr bwMode="auto">
          <a:xfrm>
            <a:off x="3317183" y="1828220"/>
            <a:ext cx="5670872" cy="23461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147384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27E37-3E6D-C657-264C-AE9E41943612}"/>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440B245B-62F7-E527-2A4B-9B852859730D}"/>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sp>
        <p:nvSpPr>
          <p:cNvPr id="9" name="Espace réservé du texte 1">
            <a:extLst>
              <a:ext uri="{FF2B5EF4-FFF2-40B4-BE49-F238E27FC236}">
                <a16:creationId xmlns:a16="http://schemas.microsoft.com/office/drawing/2014/main" id="{3DFABF22-6AF5-6D57-6C7D-00686AF59A4E}"/>
              </a:ext>
            </a:extLst>
          </p:cNvPr>
          <p:cNvSpPr txBox="1">
            <a:spLocks/>
          </p:cNvSpPr>
          <p:nvPr/>
        </p:nvSpPr>
        <p:spPr>
          <a:xfrm>
            <a:off x="100963" y="231442"/>
            <a:ext cx="3198334" cy="12498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endParaRPr lang="fr-FR" sz="2300" dirty="0"/>
          </a:p>
        </p:txBody>
      </p:sp>
      <p:sp>
        <p:nvSpPr>
          <p:cNvPr id="4" name="ZoneTexte 3">
            <a:extLst>
              <a:ext uri="{FF2B5EF4-FFF2-40B4-BE49-F238E27FC236}">
                <a16:creationId xmlns:a16="http://schemas.microsoft.com/office/drawing/2014/main" id="{5BBB29C0-5E70-E502-33CB-FC396067E96A}"/>
              </a:ext>
            </a:extLst>
          </p:cNvPr>
          <p:cNvSpPr txBox="1"/>
          <p:nvPr/>
        </p:nvSpPr>
        <p:spPr>
          <a:xfrm>
            <a:off x="3462591" y="371789"/>
            <a:ext cx="7161424" cy="446276"/>
          </a:xfrm>
          <a:prstGeom prst="rect">
            <a:avLst/>
          </a:prstGeom>
          <a:noFill/>
        </p:spPr>
        <p:txBody>
          <a:bodyPr wrap="square" rtlCol="0">
            <a:spAutoFit/>
          </a:bodyPr>
          <a:lstStyle/>
          <a:p>
            <a:r>
              <a:rPr lang="en-US" sz="2300" b="1" dirty="0">
                <a:solidFill>
                  <a:srgbClr val="80276C"/>
                </a:solidFill>
                <a:latin typeface="Verdana" panose="020B0604030504040204" pitchFamily="34" charset="0"/>
                <a:ea typeface="Verdana" panose="020B0604030504040204" pitchFamily="34" charset="0"/>
              </a:rPr>
              <a:t>Where to search for press articles?</a:t>
            </a:r>
            <a:endParaRPr lang="fr-FR" sz="2300" b="1" dirty="0">
              <a:solidFill>
                <a:srgbClr val="80276C"/>
              </a:solidFill>
              <a:latin typeface="Verdana" panose="020B0604030504040204" pitchFamily="34" charset="0"/>
              <a:ea typeface="Verdana" panose="020B0604030504040204" pitchFamily="34" charset="0"/>
            </a:endParaRPr>
          </a:p>
        </p:txBody>
      </p:sp>
      <p:sp>
        <p:nvSpPr>
          <p:cNvPr id="3" name="ZoneTexte 2">
            <a:extLst>
              <a:ext uri="{FF2B5EF4-FFF2-40B4-BE49-F238E27FC236}">
                <a16:creationId xmlns:a16="http://schemas.microsoft.com/office/drawing/2014/main" id="{7A3C98E5-1112-89A1-989A-519E46456085}"/>
              </a:ext>
            </a:extLst>
          </p:cNvPr>
          <p:cNvSpPr txBox="1"/>
          <p:nvPr/>
        </p:nvSpPr>
        <p:spPr>
          <a:xfrm>
            <a:off x="2117060" y="1462130"/>
            <a:ext cx="7161424" cy="446276"/>
          </a:xfrm>
          <a:prstGeom prst="rect">
            <a:avLst/>
          </a:prstGeom>
          <a:noFill/>
        </p:spPr>
        <p:txBody>
          <a:bodyPr wrap="square" rtlCol="0">
            <a:spAutoFit/>
          </a:bodyPr>
          <a:lstStyle/>
          <a:p>
            <a:pPr marL="342900" indent="-342900">
              <a:buFont typeface="Wingdings" panose="05000000000000000000" pitchFamily="2" charset="2"/>
              <a:buChar char="à"/>
            </a:pPr>
            <a:r>
              <a:rPr lang="fr-FR" sz="2300" dirty="0">
                <a:latin typeface="Verdana" panose="020B0604030504040204" pitchFamily="34" charset="0"/>
                <a:ea typeface="Verdana" panose="020B0604030504040204" pitchFamily="34" charset="0"/>
                <a:sym typeface="Wingdings" panose="05000000000000000000" pitchFamily="2" charset="2"/>
              </a:rPr>
              <a:t>SUDOC catalogue (French </a:t>
            </a:r>
            <a:r>
              <a:rPr lang="fr-FR" sz="2300" dirty="0" err="1">
                <a:latin typeface="Verdana" panose="020B0604030504040204" pitchFamily="34" charset="0"/>
                <a:ea typeface="Verdana" panose="020B0604030504040204" pitchFamily="34" charset="0"/>
                <a:sym typeface="Wingdings" panose="05000000000000000000" pitchFamily="2" charset="2"/>
              </a:rPr>
              <a:t>theses</a:t>
            </a:r>
            <a:r>
              <a:rPr lang="fr-FR" sz="2300" dirty="0">
                <a:latin typeface="Verdana" panose="020B0604030504040204" pitchFamily="34" charset="0"/>
                <a:ea typeface="Verdana" panose="020B0604030504040204" pitchFamily="34" charset="0"/>
                <a:sym typeface="Wingdings" panose="05000000000000000000" pitchFamily="2" charset="2"/>
              </a:rPr>
              <a:t>)</a:t>
            </a:r>
          </a:p>
        </p:txBody>
      </p:sp>
      <p:sp>
        <p:nvSpPr>
          <p:cNvPr id="5" name="ZoneTexte 4">
            <a:extLst>
              <a:ext uri="{FF2B5EF4-FFF2-40B4-BE49-F238E27FC236}">
                <a16:creationId xmlns:a16="http://schemas.microsoft.com/office/drawing/2014/main" id="{F6839367-203E-89FC-F442-364E92470C27}"/>
              </a:ext>
            </a:extLst>
          </p:cNvPr>
          <p:cNvSpPr txBox="1"/>
          <p:nvPr/>
        </p:nvSpPr>
        <p:spPr>
          <a:xfrm>
            <a:off x="2117060" y="5395870"/>
            <a:ext cx="7771425" cy="830997"/>
          </a:xfrm>
          <a:prstGeom prst="rect">
            <a:avLst/>
          </a:prstGeom>
          <a:noFill/>
        </p:spPr>
        <p:txBody>
          <a:bodyPr wrap="square" rtlCol="0">
            <a:spAutoFit/>
          </a:bodyPr>
          <a:lstStyle/>
          <a:p>
            <a:pPr marL="342900" indent="-342900">
              <a:buFont typeface="Wingdings" panose="05000000000000000000" pitchFamily="2" charset="2"/>
              <a:buChar char="à"/>
            </a:pPr>
            <a:r>
              <a:rPr lang="fr-FR" sz="2300" dirty="0" err="1">
                <a:latin typeface="Verdana" panose="020B0604030504040204" pitchFamily="34" charset="0"/>
                <a:ea typeface="Verdana" panose="020B0604030504040204" pitchFamily="34" charset="0"/>
                <a:sym typeface="Wingdings" panose="05000000000000000000" pitchFamily="2" charset="2"/>
              </a:rPr>
              <a:t>Foreign</a:t>
            </a:r>
            <a:r>
              <a:rPr lang="fr-FR" sz="2300" dirty="0">
                <a:latin typeface="Verdana" panose="020B0604030504040204" pitchFamily="34" charset="0"/>
                <a:ea typeface="Verdana" panose="020B0604030504040204" pitchFamily="34" charset="0"/>
                <a:sym typeface="Wingdings" panose="05000000000000000000" pitchFamily="2" charset="2"/>
              </a:rPr>
              <a:t> </a:t>
            </a:r>
            <a:r>
              <a:rPr lang="fr-FR" sz="2300" dirty="0" err="1">
                <a:latin typeface="Verdana" panose="020B0604030504040204" pitchFamily="34" charset="0"/>
                <a:ea typeface="Verdana" panose="020B0604030504040204" pitchFamily="34" charset="0"/>
                <a:sym typeface="Wingdings" panose="05000000000000000000" pitchFamily="2" charset="2"/>
              </a:rPr>
              <a:t>theses</a:t>
            </a:r>
            <a:r>
              <a:rPr lang="fr-FR" sz="2300" dirty="0">
                <a:latin typeface="Verdana" panose="020B0604030504040204" pitchFamily="34" charset="0"/>
                <a:ea typeface="Verdana" panose="020B0604030504040204" pitchFamily="34" charset="0"/>
                <a:sym typeface="Wingdings" panose="05000000000000000000" pitchFamily="2" charset="2"/>
              </a:rPr>
              <a:t> </a:t>
            </a:r>
            <a:r>
              <a:rPr lang="fr-FR" sz="2000" dirty="0">
                <a:latin typeface="Verdana" panose="020B0604030504040204" pitchFamily="34" charset="0"/>
                <a:ea typeface="Verdana" panose="020B0604030504040204" pitchFamily="34" charset="0"/>
                <a:sym typeface="Wingdings" panose="05000000000000000000" pitchFamily="2" charset="2"/>
              </a:rPr>
              <a:t>(</a:t>
            </a:r>
            <a:r>
              <a:rPr lang="fr-FR" sz="24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links on Abes </a:t>
            </a:r>
            <a:r>
              <a:rPr lang="fr-FR" sz="2400" dirty="0" err="1">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websites</a:t>
            </a:r>
            <a:r>
              <a:rPr lang="fr-FR" sz="24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 </a:t>
            </a:r>
            <a:r>
              <a:rPr lang="fr-FR" sz="2400" dirty="0" err="1">
                <a:hlinkClick r:id="rId3"/>
              </a:rPr>
              <a:t>Selection</a:t>
            </a:r>
            <a:r>
              <a:rPr lang="fr-FR" sz="2400" dirty="0">
                <a:hlinkClick r:id="rId3"/>
              </a:rPr>
              <a:t> of sites - </a:t>
            </a:r>
            <a:r>
              <a:rPr lang="fr-FR" sz="2400" dirty="0" err="1">
                <a:hlinkClick r:id="rId3"/>
              </a:rPr>
              <a:t>Theses</a:t>
            </a:r>
            <a:r>
              <a:rPr lang="fr-FR" sz="2400" dirty="0">
                <a:hlinkClick r:id="rId3"/>
              </a:rPr>
              <a:t> Network - abes.fr</a:t>
            </a:r>
            <a:r>
              <a:rPr lang="fr-FR" sz="2400" dirty="0"/>
              <a:t>)</a:t>
            </a:r>
            <a:endParaRPr lang="fr-FR" sz="2400" dirty="0">
              <a:latin typeface="Verdana" panose="020B0604030504040204" pitchFamily="34" charset="0"/>
              <a:ea typeface="Verdana" panose="020B0604030504040204" pitchFamily="34" charset="0"/>
              <a:sym typeface="Wingdings" panose="05000000000000000000" pitchFamily="2" charset="2"/>
            </a:endParaRPr>
          </a:p>
        </p:txBody>
      </p:sp>
      <p:sp>
        <p:nvSpPr>
          <p:cNvPr id="7" name="ZoneTexte 6">
            <a:extLst>
              <a:ext uri="{FF2B5EF4-FFF2-40B4-BE49-F238E27FC236}">
                <a16:creationId xmlns:a16="http://schemas.microsoft.com/office/drawing/2014/main" id="{8E02FCBB-A401-F2E9-E265-6525D6CF7933}"/>
              </a:ext>
            </a:extLst>
          </p:cNvPr>
          <p:cNvSpPr txBox="1"/>
          <p:nvPr/>
        </p:nvSpPr>
        <p:spPr>
          <a:xfrm>
            <a:off x="2117060" y="2212789"/>
            <a:ext cx="7663674" cy="800219"/>
          </a:xfrm>
          <a:prstGeom prst="rect">
            <a:avLst/>
          </a:prstGeom>
          <a:noFill/>
        </p:spPr>
        <p:txBody>
          <a:bodyPr wrap="square" rtlCol="0">
            <a:spAutoFit/>
          </a:bodyPr>
          <a:lstStyle/>
          <a:p>
            <a:pPr marL="342900" indent="-342900">
              <a:buFont typeface="Wingdings" panose="05000000000000000000" pitchFamily="2" charset="2"/>
              <a:buChar char="à"/>
            </a:pPr>
            <a:r>
              <a:rPr lang="fr-FR" sz="2300" dirty="0">
                <a:latin typeface="Verdana" panose="020B0604030504040204" pitchFamily="34" charset="0"/>
                <a:ea typeface="Verdana" panose="020B0604030504040204" pitchFamily="34" charset="0"/>
                <a:sym typeface="Wingdings" panose="05000000000000000000" pitchFamily="2" charset="2"/>
              </a:rPr>
              <a:t>THESES.fr</a:t>
            </a:r>
          </a:p>
          <a:p>
            <a:r>
              <a:rPr lang="fr-FR" sz="2300" dirty="0">
                <a:latin typeface="Verdana" panose="020B0604030504040204" pitchFamily="34" charset="0"/>
                <a:ea typeface="Verdana" panose="020B0604030504040204" pitchFamily="34" charset="0"/>
                <a:sym typeface="Wingdings" panose="05000000000000000000" pitchFamily="2" charset="2"/>
              </a:rPr>
              <a:t>      (</a:t>
            </a:r>
            <a:r>
              <a:rPr lang="en-US" sz="2300" dirty="0">
                <a:latin typeface="Verdana" panose="020B0604030504040204" pitchFamily="34" charset="0"/>
                <a:ea typeface="Verdana" panose="020B0604030504040204" pitchFamily="34" charset="0"/>
                <a:sym typeface="Wingdings" panose="05000000000000000000" pitchFamily="2" charset="2"/>
              </a:rPr>
              <a:t>French theses: defended or in preparation</a:t>
            </a:r>
            <a:r>
              <a:rPr lang="fr-FR" sz="2000" dirty="0">
                <a:latin typeface="Verdana" panose="020B0604030504040204" pitchFamily="34" charset="0"/>
                <a:ea typeface="Verdana" panose="020B0604030504040204" pitchFamily="34" charset="0"/>
                <a:sym typeface="Wingdings" panose="05000000000000000000" pitchFamily="2" charset="2"/>
              </a:rPr>
              <a:t>)</a:t>
            </a:r>
          </a:p>
        </p:txBody>
      </p:sp>
      <p:sp>
        <p:nvSpPr>
          <p:cNvPr id="8" name="ZoneTexte 7">
            <a:extLst>
              <a:ext uri="{FF2B5EF4-FFF2-40B4-BE49-F238E27FC236}">
                <a16:creationId xmlns:a16="http://schemas.microsoft.com/office/drawing/2014/main" id="{95EECD5F-53C4-D962-8437-5A677BFBDEC9}"/>
              </a:ext>
            </a:extLst>
          </p:cNvPr>
          <p:cNvSpPr txBox="1"/>
          <p:nvPr/>
        </p:nvSpPr>
        <p:spPr>
          <a:xfrm>
            <a:off x="2117060" y="4305026"/>
            <a:ext cx="7161424" cy="815608"/>
          </a:xfrm>
          <a:prstGeom prst="rect">
            <a:avLst/>
          </a:prstGeom>
          <a:noFill/>
        </p:spPr>
        <p:txBody>
          <a:bodyPr wrap="square" rtlCol="0">
            <a:spAutoFit/>
          </a:bodyPr>
          <a:lstStyle/>
          <a:p>
            <a:pPr marL="342900" indent="-342900">
              <a:buFont typeface="Wingdings" panose="05000000000000000000" pitchFamily="2" charset="2"/>
              <a:buChar char="à"/>
            </a:pPr>
            <a:r>
              <a:rPr lang="fr-FR" sz="2300" dirty="0">
                <a:latin typeface="Verdana" panose="020B0604030504040204" pitchFamily="34" charset="0"/>
                <a:ea typeface="Verdana" panose="020B0604030504040204" pitchFamily="34" charset="0"/>
                <a:sym typeface="Wingdings" panose="05000000000000000000" pitchFamily="2" charset="2"/>
              </a:rPr>
              <a:t>MIT </a:t>
            </a:r>
            <a:r>
              <a:rPr lang="fr-FR" sz="2300" dirty="0" err="1">
                <a:latin typeface="Verdana" panose="020B0604030504040204" pitchFamily="34" charset="0"/>
                <a:ea typeface="Verdana" panose="020B0604030504040204" pitchFamily="34" charset="0"/>
                <a:sym typeface="Wingdings" panose="05000000000000000000" pitchFamily="2" charset="2"/>
              </a:rPr>
              <a:t>Theses</a:t>
            </a:r>
            <a:r>
              <a:rPr lang="fr-FR" sz="2300" dirty="0">
                <a:latin typeface="Verdana" panose="020B0604030504040204" pitchFamily="34" charset="0"/>
                <a:ea typeface="Verdana" panose="020B0604030504040204" pitchFamily="34" charset="0"/>
                <a:sym typeface="Wingdings" panose="05000000000000000000" pitchFamily="2" charset="2"/>
              </a:rPr>
              <a:t> (American </a:t>
            </a:r>
            <a:r>
              <a:rPr lang="fr-FR" sz="2300" dirty="0" err="1">
                <a:latin typeface="Verdana" panose="020B0604030504040204" pitchFamily="34" charset="0"/>
                <a:ea typeface="Verdana" panose="020B0604030504040204" pitchFamily="34" charset="0"/>
                <a:sym typeface="Wingdings" panose="05000000000000000000" pitchFamily="2" charset="2"/>
              </a:rPr>
              <a:t>theses</a:t>
            </a:r>
            <a:r>
              <a:rPr lang="fr-FR" sz="2300" dirty="0">
                <a:latin typeface="Verdana" panose="020B0604030504040204" pitchFamily="34" charset="0"/>
                <a:ea typeface="Verdana" panose="020B0604030504040204" pitchFamily="34" charset="0"/>
                <a:sym typeface="Wingdings" panose="05000000000000000000" pitchFamily="2" charset="2"/>
              </a:rPr>
              <a:t>) </a:t>
            </a:r>
            <a:r>
              <a:rPr lang="fr-FR" sz="2300" dirty="0" err="1">
                <a:latin typeface="Verdana" panose="020B0604030504040204" pitchFamily="34" charset="0"/>
                <a:ea typeface="Verdana" panose="020B0604030504040204" pitchFamily="34" charset="0"/>
                <a:sym typeface="Wingdings" panose="05000000000000000000" pitchFamily="2" charset="2"/>
              </a:rPr>
              <a:t>from</a:t>
            </a:r>
            <a:r>
              <a:rPr lang="fr-FR" sz="2300" dirty="0">
                <a:latin typeface="Verdana" panose="020B0604030504040204" pitchFamily="34" charset="0"/>
                <a:ea typeface="Verdana" panose="020B0604030504040204" pitchFamily="34" charset="0"/>
                <a:sym typeface="Wingdings" panose="05000000000000000000" pitchFamily="2" charset="2"/>
              </a:rPr>
              <a:t> </a:t>
            </a:r>
            <a:r>
              <a:rPr lang="fr-FR" sz="2000" dirty="0">
                <a:latin typeface="Verdana" panose="020B0604030504040204" pitchFamily="34" charset="0"/>
                <a:ea typeface="Verdana" panose="020B0604030504040204" pitchFamily="34" charset="0"/>
                <a:sym typeface="Wingdings" panose="05000000000000000000" pitchFamily="2" charset="2"/>
              </a:rPr>
              <a:t>Massachusetts Institute of Technologie</a:t>
            </a:r>
            <a:r>
              <a:rPr lang="fr-FR" sz="2300" dirty="0">
                <a:latin typeface="Verdana" panose="020B0604030504040204" pitchFamily="34" charset="0"/>
                <a:ea typeface="Verdana" panose="020B0604030504040204" pitchFamily="34" charset="0"/>
                <a:sym typeface="Wingdings" panose="05000000000000000000" pitchFamily="2" charset="2"/>
              </a:rPr>
              <a:t>)</a:t>
            </a:r>
          </a:p>
        </p:txBody>
      </p:sp>
      <p:sp>
        <p:nvSpPr>
          <p:cNvPr id="2" name="ZoneTexte 1">
            <a:extLst>
              <a:ext uri="{FF2B5EF4-FFF2-40B4-BE49-F238E27FC236}">
                <a16:creationId xmlns:a16="http://schemas.microsoft.com/office/drawing/2014/main" id="{D94AB3C0-6A29-657D-20DD-2276C9B65265}"/>
              </a:ext>
            </a:extLst>
          </p:cNvPr>
          <p:cNvSpPr txBox="1"/>
          <p:nvPr/>
        </p:nvSpPr>
        <p:spPr>
          <a:xfrm>
            <a:off x="2117060" y="3217622"/>
            <a:ext cx="7663674" cy="800219"/>
          </a:xfrm>
          <a:prstGeom prst="rect">
            <a:avLst/>
          </a:prstGeom>
          <a:noFill/>
        </p:spPr>
        <p:txBody>
          <a:bodyPr wrap="square" rtlCol="0">
            <a:spAutoFit/>
          </a:bodyPr>
          <a:lstStyle/>
          <a:p>
            <a:pPr marL="342900" indent="-342900">
              <a:buFont typeface="Wingdings" panose="05000000000000000000" pitchFamily="2" charset="2"/>
              <a:buChar char="à"/>
            </a:pPr>
            <a:r>
              <a:rPr lang="fr-FR" sz="2300" dirty="0">
                <a:latin typeface="Verdana" panose="020B0604030504040204" pitchFamily="34" charset="0"/>
                <a:ea typeface="Verdana" panose="020B0604030504040204" pitchFamily="34" charset="0"/>
                <a:sym typeface="Wingdings" panose="05000000000000000000" pitchFamily="2" charset="2"/>
              </a:rPr>
              <a:t>HAL </a:t>
            </a:r>
          </a:p>
          <a:p>
            <a:r>
              <a:rPr lang="fr-FR" sz="2300" dirty="0">
                <a:latin typeface="Verdana" panose="020B0604030504040204" pitchFamily="34" charset="0"/>
                <a:ea typeface="Verdana" panose="020B0604030504040204" pitchFamily="34" charset="0"/>
                <a:sym typeface="Wingdings" panose="05000000000000000000" pitchFamily="2" charset="2"/>
              </a:rPr>
              <a:t>      (</a:t>
            </a:r>
            <a:r>
              <a:rPr lang="en-US" sz="2300" dirty="0">
                <a:latin typeface="Verdana" panose="020B0604030504040204" pitchFamily="34" charset="0"/>
                <a:ea typeface="Verdana" panose="020B0604030504040204" pitchFamily="34" charset="0"/>
                <a:sym typeface="Wingdings" panose="05000000000000000000" pitchFamily="2" charset="2"/>
              </a:rPr>
              <a:t>French theses </a:t>
            </a:r>
            <a:r>
              <a:rPr lang="fr-FR" sz="2300" dirty="0">
                <a:latin typeface="Verdana" panose="020B0604030504040204" pitchFamily="34" charset="0"/>
                <a:ea typeface="Verdana" panose="020B0604030504040204" pitchFamily="34" charset="0"/>
                <a:sym typeface="Wingdings" panose="05000000000000000000" pitchFamily="2" charset="2"/>
              </a:rPr>
              <a:t>+ articles</a:t>
            </a:r>
            <a:r>
              <a:rPr lang="fr-FR" sz="2000" dirty="0">
                <a:latin typeface="Verdana" panose="020B0604030504040204" pitchFamily="34" charset="0"/>
                <a:ea typeface="Verdana" panose="020B0604030504040204" pitchFamily="34" charset="0"/>
                <a:sym typeface="Wingdings" panose="05000000000000000000" pitchFamily="2" charset="2"/>
              </a:rPr>
              <a:t>)</a:t>
            </a:r>
          </a:p>
        </p:txBody>
      </p:sp>
    </p:spTree>
    <p:extLst>
      <p:ext uri="{BB962C8B-B14F-4D97-AF65-F5344CB8AC3E}">
        <p14:creationId xmlns:p14="http://schemas.microsoft.com/office/powerpoint/2010/main" val="9911939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5271C3A-5B2D-495D-A0F6-4475C19B317D}"/>
              </a:ext>
            </a:extLst>
          </p:cNvPr>
          <p:cNvSpPr>
            <a:spLocks noGrp="1"/>
          </p:cNvSpPr>
          <p:nvPr>
            <p:ph type="body" sz="quarter" idx="11"/>
          </p:nvPr>
        </p:nvSpPr>
        <p:spPr>
          <a:xfrm>
            <a:off x="1240526" y="655355"/>
            <a:ext cx="9710948" cy="4237713"/>
          </a:xfrm>
        </p:spPr>
        <p:txBody>
          <a:bodyPr>
            <a:normAutofit lnSpcReduction="10000"/>
          </a:bodyPr>
          <a:lstStyle/>
          <a:p>
            <a:r>
              <a:rPr lang="fr-FR" sz="2000" dirty="0" err="1"/>
              <a:t>With</a:t>
            </a:r>
            <a:r>
              <a:rPr lang="fr-FR" sz="2000" dirty="0"/>
              <a:t> Zotero, </a:t>
            </a:r>
            <a:r>
              <a:rPr lang="fr-FR" sz="2000" dirty="0" err="1"/>
              <a:t>you</a:t>
            </a:r>
            <a:r>
              <a:rPr lang="fr-FR" sz="2000" dirty="0"/>
              <a:t> can :</a:t>
            </a:r>
          </a:p>
          <a:p>
            <a:pPr marL="265113" indent="-265113">
              <a:buFont typeface="Wingdings" panose="05000000000000000000" pitchFamily="2" charset="2"/>
              <a:buChar char="ü"/>
            </a:pPr>
            <a:r>
              <a:rPr lang="fr-FR" b="0" dirty="0"/>
              <a:t>import and </a:t>
            </a:r>
            <a:r>
              <a:rPr lang="fr-FR" b="0" dirty="0" err="1"/>
              <a:t>organize</a:t>
            </a:r>
            <a:r>
              <a:rPr lang="fr-FR" b="0" dirty="0"/>
              <a:t> </a:t>
            </a:r>
            <a:r>
              <a:rPr lang="fr-FR" b="0" dirty="0" err="1"/>
              <a:t>bibliographic</a:t>
            </a:r>
            <a:r>
              <a:rPr lang="fr-FR" b="0" dirty="0"/>
              <a:t> </a:t>
            </a:r>
            <a:r>
              <a:rPr lang="fr-FR" b="0" dirty="0" err="1"/>
              <a:t>references</a:t>
            </a:r>
            <a:r>
              <a:rPr lang="fr-FR" b="0" dirty="0"/>
              <a:t> ;  </a:t>
            </a:r>
          </a:p>
          <a:p>
            <a:pPr marL="285750" indent="-285750">
              <a:buFont typeface="Wingdings" panose="05000000000000000000" pitchFamily="2" charset="2"/>
              <a:buChar char="ü"/>
            </a:pPr>
            <a:r>
              <a:rPr lang="fr-FR" b="0" dirty="0" err="1"/>
              <a:t>edit</a:t>
            </a:r>
            <a:r>
              <a:rPr lang="fr-FR" b="0" dirty="0"/>
              <a:t> a </a:t>
            </a:r>
            <a:r>
              <a:rPr lang="fr-FR" b="0" dirty="0" err="1"/>
              <a:t>bibliography</a:t>
            </a:r>
            <a:endParaRPr lang="fr-FR" b="0" dirty="0"/>
          </a:p>
          <a:p>
            <a:pPr marL="285750" indent="-285750">
              <a:buFont typeface="Wingdings" panose="05000000000000000000" pitchFamily="2" charset="2"/>
              <a:buChar char="ü"/>
            </a:pPr>
            <a:r>
              <a:rPr lang="fr-FR" b="0" dirty="0"/>
              <a:t>Store </a:t>
            </a:r>
            <a:r>
              <a:rPr lang="fr-FR" b="0" dirty="0" err="1"/>
              <a:t>pdf</a:t>
            </a:r>
            <a:r>
              <a:rPr lang="fr-FR" b="0" dirty="0"/>
              <a:t> documents, web pages and </a:t>
            </a:r>
            <a:r>
              <a:rPr lang="fr-FR" b="0" dirty="0" err="1"/>
              <a:t>other</a:t>
            </a:r>
            <a:r>
              <a:rPr lang="fr-FR" b="0" dirty="0"/>
              <a:t> </a:t>
            </a:r>
            <a:r>
              <a:rPr lang="fr-FR" b="0" dirty="0" err="1"/>
              <a:t>kinds</a:t>
            </a:r>
            <a:r>
              <a:rPr lang="fr-FR" b="0" dirty="0"/>
              <a:t> of files</a:t>
            </a:r>
            <a:br>
              <a:rPr lang="fr-FR" b="0" dirty="0"/>
            </a:br>
            <a:endParaRPr lang="fr-FR" b="0" dirty="0"/>
          </a:p>
          <a:p>
            <a:pPr marL="285750" indent="-285750">
              <a:buFont typeface="Wingdings" panose="05000000000000000000" pitchFamily="2" charset="2"/>
              <a:buChar char="ü"/>
            </a:pPr>
            <a:r>
              <a:rPr lang="fr-FR" b="0" dirty="0" err="1"/>
              <a:t>create</a:t>
            </a:r>
            <a:r>
              <a:rPr lang="fr-FR" b="0" dirty="0"/>
              <a:t> notes and </a:t>
            </a:r>
            <a:r>
              <a:rPr lang="fr-FR" b="0" dirty="0" err="1"/>
              <a:t>annotate</a:t>
            </a:r>
            <a:r>
              <a:rPr lang="fr-FR" b="0" dirty="0"/>
              <a:t> </a:t>
            </a:r>
            <a:r>
              <a:rPr lang="fr-FR" b="0" dirty="0" err="1"/>
              <a:t>your</a:t>
            </a:r>
            <a:r>
              <a:rPr lang="fr-FR" b="0" dirty="0"/>
              <a:t> </a:t>
            </a:r>
            <a:r>
              <a:rPr lang="fr-FR" b="0" dirty="0" err="1"/>
              <a:t>pdf</a:t>
            </a:r>
            <a:endParaRPr lang="fr-FR" b="0" dirty="0"/>
          </a:p>
          <a:p>
            <a:pPr marL="285750" indent="-285750">
              <a:buFont typeface="Wingdings" panose="05000000000000000000" pitchFamily="2" charset="2"/>
              <a:buChar char="ü"/>
            </a:pPr>
            <a:r>
              <a:rPr lang="fr-FR" b="0" dirty="0"/>
              <a:t>Exploit </a:t>
            </a:r>
            <a:r>
              <a:rPr lang="fr-FR" b="0" dirty="0" err="1"/>
              <a:t>references</a:t>
            </a:r>
            <a:r>
              <a:rPr lang="fr-FR" b="0" dirty="0"/>
              <a:t> </a:t>
            </a:r>
            <a:r>
              <a:rPr lang="fr-FR" b="0" dirty="0" err="1"/>
              <a:t>with</a:t>
            </a:r>
            <a:r>
              <a:rPr lang="fr-FR" b="0" dirty="0"/>
              <a:t> a </a:t>
            </a:r>
            <a:r>
              <a:rPr lang="fr-FR" b="0" dirty="0" err="1"/>
              <a:t>text</a:t>
            </a:r>
            <a:r>
              <a:rPr lang="fr-FR" b="0" dirty="0"/>
              <a:t> processor</a:t>
            </a:r>
            <a:endParaRPr lang="fr-FR" dirty="0"/>
          </a:p>
          <a:p>
            <a:endParaRPr lang="fr-FR" sz="2000" dirty="0"/>
          </a:p>
          <a:p>
            <a:r>
              <a:rPr lang="fr-FR" sz="2000" dirty="0"/>
              <a:t>Advanced </a:t>
            </a:r>
            <a:r>
              <a:rPr lang="fr-FR" sz="2000" dirty="0" err="1"/>
              <a:t>functionalities</a:t>
            </a:r>
            <a:endParaRPr lang="fr-FR" sz="2000" dirty="0"/>
          </a:p>
          <a:p>
            <a:pPr marL="285750" indent="-285750">
              <a:buFont typeface="Wingdings" panose="05000000000000000000" pitchFamily="2" charset="2"/>
              <a:buChar char="ü"/>
            </a:pPr>
            <a:r>
              <a:rPr lang="fr-FR" dirty="0" err="1"/>
              <a:t>Zoterobib</a:t>
            </a:r>
            <a:r>
              <a:rPr lang="fr-FR" dirty="0"/>
              <a:t> </a:t>
            </a:r>
            <a:r>
              <a:rPr lang="fr-FR" b="0" dirty="0" err="1"/>
              <a:t>allows</a:t>
            </a:r>
            <a:r>
              <a:rPr lang="fr-FR" b="0" dirty="0"/>
              <a:t> to </a:t>
            </a:r>
            <a:r>
              <a:rPr lang="fr-FR" b="0" dirty="0" err="1"/>
              <a:t>create</a:t>
            </a:r>
            <a:r>
              <a:rPr lang="fr-FR" b="0" dirty="0"/>
              <a:t> a </a:t>
            </a:r>
            <a:r>
              <a:rPr lang="fr-FR" b="0" dirty="0" err="1"/>
              <a:t>bibliography</a:t>
            </a:r>
            <a:r>
              <a:rPr lang="fr-FR" b="0" dirty="0"/>
              <a:t> </a:t>
            </a:r>
            <a:r>
              <a:rPr lang="fr-FR" b="0" dirty="0" err="1"/>
              <a:t>with</a:t>
            </a:r>
            <a:r>
              <a:rPr lang="fr-FR" b="0" dirty="0"/>
              <a:t> </a:t>
            </a:r>
            <a:r>
              <a:rPr lang="fr-FR" b="0" dirty="0" err="1"/>
              <a:t>any</a:t>
            </a:r>
            <a:r>
              <a:rPr lang="fr-FR" b="0" dirty="0"/>
              <a:t> </a:t>
            </a:r>
            <a:r>
              <a:rPr lang="fr-FR" b="0" dirty="0" err="1"/>
              <a:t>device</a:t>
            </a:r>
            <a:r>
              <a:rPr lang="fr-FR" b="0" dirty="0"/>
              <a:t>, no </a:t>
            </a:r>
            <a:r>
              <a:rPr lang="fr-FR" b="0" dirty="0" err="1"/>
              <a:t>need</a:t>
            </a:r>
            <a:r>
              <a:rPr lang="fr-FR" b="0" dirty="0"/>
              <a:t> to </a:t>
            </a:r>
            <a:r>
              <a:rPr lang="fr-FR" b="0" dirty="0" err="1"/>
              <a:t>sign</a:t>
            </a:r>
            <a:r>
              <a:rPr lang="fr-FR" b="0" dirty="0"/>
              <a:t> up : </a:t>
            </a:r>
            <a:r>
              <a:rPr lang="fr-FR" dirty="0">
                <a:hlinkClick r:id="rId2"/>
              </a:rPr>
              <a:t>https://zbib.org/</a:t>
            </a:r>
            <a:endParaRPr lang="fr-FR" dirty="0"/>
          </a:p>
          <a:p>
            <a:pPr marL="285750" indent="-285750">
              <a:buFont typeface="Wingdings" panose="05000000000000000000" pitchFamily="2" charset="2"/>
              <a:buChar char="ü"/>
            </a:pPr>
            <a:r>
              <a:rPr lang="fr-FR" dirty="0" err="1"/>
              <a:t>Zoterogroup</a:t>
            </a:r>
            <a:r>
              <a:rPr lang="fr-FR" dirty="0"/>
              <a:t> </a:t>
            </a:r>
            <a:r>
              <a:rPr lang="fr-FR" b="0" dirty="0" err="1"/>
              <a:t>allows</a:t>
            </a:r>
            <a:r>
              <a:rPr lang="fr-FR" b="0" dirty="0"/>
              <a:t> to </a:t>
            </a:r>
            <a:r>
              <a:rPr lang="fr-FR" b="0" dirty="0" err="1"/>
              <a:t>share</a:t>
            </a:r>
            <a:r>
              <a:rPr lang="fr-FR" b="0" dirty="0"/>
              <a:t> documents </a:t>
            </a:r>
            <a:r>
              <a:rPr lang="fr-FR" b="0" dirty="0" err="1"/>
              <a:t>with</a:t>
            </a:r>
            <a:r>
              <a:rPr lang="fr-FR" b="0" dirty="0"/>
              <a:t> </a:t>
            </a:r>
            <a:r>
              <a:rPr lang="fr-FR" b="0" dirty="0" err="1"/>
              <a:t>other</a:t>
            </a:r>
            <a:r>
              <a:rPr lang="fr-FR" b="0" dirty="0"/>
              <a:t> </a:t>
            </a:r>
            <a:r>
              <a:rPr lang="fr-FR" b="0" dirty="0" err="1"/>
              <a:t>users</a:t>
            </a:r>
            <a:r>
              <a:rPr lang="fr-FR" b="0" dirty="0"/>
              <a:t> : </a:t>
            </a:r>
            <a:r>
              <a:rPr lang="fr-FR" dirty="0"/>
              <a:t>https://www.zotero.org/groups/</a:t>
            </a:r>
          </a:p>
          <a:p>
            <a:br>
              <a:rPr lang="fr-FR" dirty="0"/>
            </a:br>
            <a:br>
              <a:rPr lang="fr-FR" dirty="0"/>
            </a:br>
            <a:endParaRPr lang="fr-FR" dirty="0"/>
          </a:p>
        </p:txBody>
      </p:sp>
      <p:sp>
        <p:nvSpPr>
          <p:cNvPr id="3" name="AutoShape 2" descr="Zotero">
            <a:extLst>
              <a:ext uri="{FF2B5EF4-FFF2-40B4-BE49-F238E27FC236}">
                <a16:creationId xmlns:a16="http://schemas.microsoft.com/office/drawing/2014/main" id="{AE357F7A-1C98-47B4-B299-D92B295F2CB0}"/>
              </a:ext>
            </a:extLst>
          </p:cNvPr>
          <p:cNvSpPr>
            <a:spLocks noChangeAspect="1" noChangeArrowheads="1"/>
          </p:cNvSpPr>
          <p:nvPr/>
        </p:nvSpPr>
        <p:spPr bwMode="auto">
          <a:xfrm>
            <a:off x="5943600" y="3276600"/>
            <a:ext cx="4206240" cy="5913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4" name="AutoShape 4" descr="Zotero">
            <a:extLst>
              <a:ext uri="{FF2B5EF4-FFF2-40B4-BE49-F238E27FC236}">
                <a16:creationId xmlns:a16="http://schemas.microsoft.com/office/drawing/2014/main" id="{8FF2624A-9614-45C2-98EC-29D0F28CABE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0" name="Picture 6" descr="https://imgs.search.brave.com/r6YPAyI45QtjOoeserFb91wS3376QZbVKubR3p0J5gU/rs:fit:0:180:1:0/g:ce/aHR0cHM6Ly93d3cu/YWphci1vbmxpbmUu/ZnIvd3AtY29udGVu/dC91cGxvYWRzLzIw/MTUvMDgvem90ZXJv/LWxvZ28tNTIweDI0/NS0zMDB4MTQxLnBu/Zw">
            <a:extLst>
              <a:ext uri="{FF2B5EF4-FFF2-40B4-BE49-F238E27FC236}">
                <a16:creationId xmlns:a16="http://schemas.microsoft.com/office/drawing/2014/main" id="{73B105BB-2EFB-4E47-96AD-EC1812860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8587" y="557323"/>
            <a:ext cx="3648075" cy="1714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AFD407C-2683-4C12-AC6D-D0D953286E0C}"/>
              </a:ext>
            </a:extLst>
          </p:cNvPr>
          <p:cNvSpPr/>
          <p:nvPr/>
        </p:nvSpPr>
        <p:spPr>
          <a:xfrm>
            <a:off x="3086276" y="4195824"/>
            <a:ext cx="5429628" cy="369332"/>
          </a:xfrm>
          <a:prstGeom prst="rect">
            <a:avLst/>
          </a:prstGeom>
        </p:spPr>
        <p:txBody>
          <a:bodyPr wrap="none">
            <a:spAutoFit/>
          </a:bodyPr>
          <a:lstStyle/>
          <a:p>
            <a:pPr marL="285750" indent="-285750">
              <a:buFont typeface="Wingdings" panose="05000000000000000000" pitchFamily="2" charset="2"/>
              <a:buChar char="Ø"/>
            </a:pPr>
            <a:r>
              <a:rPr lang="fr-FR" b="1" dirty="0">
                <a:solidFill>
                  <a:srgbClr val="C00000"/>
                </a:solidFill>
              </a:rPr>
              <a:t>https://www.zotero.org/support/quick_start_guide</a:t>
            </a:r>
          </a:p>
        </p:txBody>
      </p:sp>
      <p:sp>
        <p:nvSpPr>
          <p:cNvPr id="6" name="Rectangle 5">
            <a:extLst>
              <a:ext uri="{FF2B5EF4-FFF2-40B4-BE49-F238E27FC236}">
                <a16:creationId xmlns:a16="http://schemas.microsoft.com/office/drawing/2014/main" id="{72CF96B1-7156-4DD7-AC74-C61D2AB25273}"/>
              </a:ext>
            </a:extLst>
          </p:cNvPr>
          <p:cNvSpPr/>
          <p:nvPr/>
        </p:nvSpPr>
        <p:spPr>
          <a:xfrm>
            <a:off x="3832795" y="4852186"/>
            <a:ext cx="3936590" cy="369332"/>
          </a:xfrm>
          <a:prstGeom prst="rect">
            <a:avLst/>
          </a:prstGeom>
        </p:spPr>
        <p:txBody>
          <a:bodyPr wrap="none">
            <a:spAutoFit/>
          </a:bodyPr>
          <a:lstStyle/>
          <a:p>
            <a:pPr marL="285750" indent="-285750">
              <a:buFont typeface="Wingdings" panose="05000000000000000000" pitchFamily="2" charset="2"/>
              <a:buChar char="Ø"/>
            </a:pPr>
            <a:r>
              <a:rPr lang="fr-FR" b="1" dirty="0">
                <a:solidFill>
                  <a:srgbClr val="C00000"/>
                </a:solidFill>
              </a:rPr>
              <a:t>https://www.zotero.org/download/</a:t>
            </a:r>
          </a:p>
        </p:txBody>
      </p:sp>
      <p:sp>
        <p:nvSpPr>
          <p:cNvPr id="10" name="ZoneTexte 9">
            <a:extLst>
              <a:ext uri="{FF2B5EF4-FFF2-40B4-BE49-F238E27FC236}">
                <a16:creationId xmlns:a16="http://schemas.microsoft.com/office/drawing/2014/main" id="{7A323392-41E4-3567-78F8-CB9108ADBFD8}"/>
              </a:ext>
            </a:extLst>
          </p:cNvPr>
          <p:cNvSpPr txBox="1"/>
          <p:nvPr/>
        </p:nvSpPr>
        <p:spPr>
          <a:xfrm>
            <a:off x="1153839" y="5507492"/>
            <a:ext cx="9155017" cy="923330"/>
          </a:xfrm>
          <a:prstGeom prst="rect">
            <a:avLst/>
          </a:prstGeom>
          <a:noFill/>
        </p:spPr>
        <p:txBody>
          <a:bodyPr wrap="square" rtlCol="0">
            <a:spAutoFit/>
          </a:bodyPr>
          <a:lstStyle/>
          <a:p>
            <a:pPr lvl="0" eaLnBrk="0" fontAlgn="base" hangingPunct="0">
              <a:spcBef>
                <a:spcPct val="0"/>
              </a:spcBef>
              <a:spcAft>
                <a:spcPct val="0"/>
              </a:spcAft>
              <a:buFontTx/>
              <a:buChar char="•"/>
            </a:pPr>
            <a:r>
              <a:rPr lang="fr-FR" altLang="fr-FR" dirty="0">
                <a:latin typeface="Arial" panose="020B0604020202020204" pitchFamily="34" charset="0"/>
                <a:hlinkClick r:id="rId4"/>
              </a:rPr>
              <a:t>Playlist </a:t>
            </a:r>
            <a:r>
              <a:rPr lang="fr-FR" altLang="fr-FR" dirty="0" err="1">
                <a:latin typeface="Arial" panose="020B0604020202020204" pitchFamily="34" charset="0"/>
                <a:hlinkClick r:id="rId4"/>
              </a:rPr>
              <a:t>Youtube</a:t>
            </a:r>
            <a:r>
              <a:rPr lang="fr-FR" altLang="fr-FR" dirty="0">
                <a:latin typeface="Arial" panose="020B0604020202020204" pitchFamily="34" charset="0"/>
                <a:hlinkClick r:id="rId4"/>
              </a:rPr>
              <a:t> </a:t>
            </a:r>
            <a:r>
              <a:rPr lang="fr-FR" altLang="fr-FR" dirty="0" err="1">
                <a:latin typeface="Arial" panose="020B0604020202020204" pitchFamily="34" charset="0"/>
                <a:hlinkClick r:id="rId4"/>
              </a:rPr>
              <a:t>Doctobib</a:t>
            </a:r>
            <a:r>
              <a:rPr lang="fr-FR" altLang="fr-FR" dirty="0">
                <a:latin typeface="Arial" panose="020B0604020202020204" pitchFamily="34" charset="0"/>
                <a:hlinkClick r:id="rId4"/>
              </a:rPr>
              <a:t> sur Zotero</a:t>
            </a:r>
            <a:endParaRPr lang="fr-FR" altLang="fr-FR" dirty="0">
              <a:latin typeface="Arial" panose="020B0604020202020204" pitchFamily="34" charset="0"/>
            </a:endParaRPr>
          </a:p>
          <a:p>
            <a:pPr lvl="0" eaLnBrk="0" fontAlgn="base" hangingPunct="0">
              <a:spcBef>
                <a:spcPct val="0"/>
              </a:spcBef>
              <a:spcAft>
                <a:spcPct val="0"/>
              </a:spcAft>
              <a:buFontTx/>
              <a:buChar char="•"/>
            </a:pPr>
            <a:r>
              <a:rPr lang="fr-FR" altLang="fr-FR" dirty="0">
                <a:latin typeface="Arial" panose="020B0604020202020204" pitchFamily="34" charset="0"/>
                <a:hlinkClick r:id="rId5"/>
              </a:rPr>
              <a:t>Playlist </a:t>
            </a:r>
            <a:r>
              <a:rPr lang="fr-FR" altLang="fr-FR" dirty="0" err="1">
                <a:latin typeface="Arial" panose="020B0604020202020204" pitchFamily="34" charset="0"/>
                <a:hlinkClick r:id="rId5"/>
              </a:rPr>
              <a:t>Youtube</a:t>
            </a:r>
            <a:r>
              <a:rPr lang="fr-FR" altLang="fr-FR" dirty="0">
                <a:latin typeface="Arial" panose="020B0604020202020204" pitchFamily="34" charset="0"/>
                <a:hlinkClick r:id="rId5"/>
              </a:rPr>
              <a:t> de la bibliothèque de l'Université de Liège sur Zotero</a:t>
            </a:r>
            <a:endParaRPr lang="fr-FR" altLang="fr-FR" dirty="0">
              <a:latin typeface="Arial" panose="020B0604020202020204" pitchFamily="34" charset="0"/>
            </a:endParaRPr>
          </a:p>
          <a:p>
            <a:endParaRPr lang="fr-FR" dirty="0"/>
          </a:p>
        </p:txBody>
      </p:sp>
    </p:spTree>
    <p:extLst>
      <p:ext uri="{BB962C8B-B14F-4D97-AF65-F5344CB8AC3E}">
        <p14:creationId xmlns:p14="http://schemas.microsoft.com/office/powerpoint/2010/main" val="2568110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1AF50BA-5415-D18C-5EAA-0C2CCF3DA225}"/>
              </a:ext>
            </a:extLst>
          </p:cNvPr>
          <p:cNvPicPr>
            <a:picLocks noChangeAspect="1"/>
          </p:cNvPicPr>
          <p:nvPr/>
        </p:nvPicPr>
        <p:blipFill>
          <a:blip r:embed="rId2"/>
          <a:srcRect b="5966"/>
          <a:stretch>
            <a:fillRect/>
          </a:stretch>
        </p:blipFill>
        <p:spPr>
          <a:xfrm>
            <a:off x="478465" y="627321"/>
            <a:ext cx="11142921" cy="5665284"/>
          </a:xfrm>
          <a:prstGeom prst="rect">
            <a:avLst/>
          </a:prstGeom>
        </p:spPr>
      </p:pic>
    </p:spTree>
    <p:extLst>
      <p:ext uri="{BB962C8B-B14F-4D97-AF65-F5344CB8AC3E}">
        <p14:creationId xmlns:p14="http://schemas.microsoft.com/office/powerpoint/2010/main" val="40012281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Zotero — the two misconceptions to avoid</a:t>
            </a:r>
            <a:endParaRPr lang="en-US" sz="3000" dirty="0"/>
          </a:p>
        </p:txBody>
      </p:sp>
      <p:sp>
        <p:nvSpPr>
          <p:cNvPr id="3" name="Text 1"/>
          <p:cNvSpPr/>
          <p:nvPr/>
        </p:nvSpPr>
        <p:spPr>
          <a:xfrm>
            <a:off x="9613087" y="502920"/>
            <a:ext cx="2011680" cy="365760"/>
          </a:xfrm>
          <a:prstGeom prst="rect">
            <a:avLst/>
          </a:prstGeom>
          <a:noFill/>
          <a:ln/>
        </p:spPr>
        <p:txBody>
          <a:bodyPr wrap="square" lIns="0" tIns="0" rIns="0" bIns="0" rtlCol="0" anchor="ctr"/>
          <a:lstStyle/>
          <a:p>
            <a:pPr marL="0" indent="0" algn="r">
              <a:buNone/>
            </a:pPr>
            <a:r>
              <a:rPr lang="en-US" sz="1100" kern="0" spc="80" dirty="0">
                <a:solidFill>
                  <a:srgbClr val="5C6B73"/>
                </a:solidFill>
                <a:latin typeface="Calibri" pitchFamily="34" charset="0"/>
                <a:ea typeface="Calibri" pitchFamily="34" charset="-122"/>
                <a:cs typeface="Calibri" pitchFamily="34" charset="-120"/>
              </a:rPr>
              <a:t>BLOCK B · ZOTERO</a:t>
            </a:r>
            <a:endParaRPr lang="en-US" sz="1100" dirty="0"/>
          </a:p>
        </p:txBody>
      </p:sp>
      <p:sp>
        <p:nvSpPr>
          <p:cNvPr id="4" name="Shape 2"/>
          <p:cNvSpPr/>
          <p:nvPr/>
        </p:nvSpPr>
        <p:spPr>
          <a:xfrm>
            <a:off x="566928" y="1298448"/>
            <a:ext cx="5346040" cy="4434840"/>
          </a:xfrm>
          <a:prstGeom prst="roundRect">
            <a:avLst>
              <a:gd name="adj" fmla="val 1237"/>
            </a:avLst>
          </a:prstGeom>
          <a:solidFill>
            <a:srgbClr val="E4F1ED"/>
          </a:solidFill>
          <a:ln w="12700">
            <a:solidFill>
              <a:srgbClr val="E4F1ED"/>
            </a:solidFill>
            <a:prstDash val="solid"/>
          </a:ln>
        </p:spPr>
        <p:txBody>
          <a:bodyPr/>
          <a:lstStyle/>
          <a:p>
            <a:endParaRPr lang="fr-FR"/>
          </a:p>
        </p:txBody>
      </p:sp>
      <p:sp>
        <p:nvSpPr>
          <p:cNvPr id="5" name="Text 3"/>
          <p:cNvSpPr/>
          <p:nvPr/>
        </p:nvSpPr>
        <p:spPr>
          <a:xfrm>
            <a:off x="822960" y="1481328"/>
            <a:ext cx="4833976" cy="384048"/>
          </a:xfrm>
          <a:prstGeom prst="rect">
            <a:avLst/>
          </a:prstGeom>
          <a:noFill/>
          <a:ln/>
        </p:spPr>
        <p:txBody>
          <a:bodyPr wrap="square" lIns="0" tIns="0" rIns="0" bIns="0" rtlCol="0" anchor="ctr"/>
          <a:lstStyle/>
          <a:p>
            <a:pPr marL="0" indent="0">
              <a:buNone/>
            </a:pPr>
            <a:r>
              <a:rPr lang="en-US" sz="1600" b="1" dirty="0">
                <a:solidFill>
                  <a:srgbClr val="1F8A70"/>
                </a:solidFill>
                <a:latin typeface="Cambria" pitchFamily="34" charset="0"/>
                <a:ea typeface="Cambria" pitchFamily="34" charset="-122"/>
                <a:cs typeface="Cambria" pitchFamily="34" charset="-120"/>
              </a:rPr>
              <a:t>A collection is not a folder</a:t>
            </a:r>
            <a:endParaRPr lang="en-US" sz="1600" dirty="0"/>
          </a:p>
        </p:txBody>
      </p:sp>
      <p:sp>
        <p:nvSpPr>
          <p:cNvPr id="6" name="Text 4"/>
          <p:cNvSpPr/>
          <p:nvPr/>
        </p:nvSpPr>
        <p:spPr>
          <a:xfrm>
            <a:off x="8229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The same reference lives in </a:t>
            </a:r>
            <a:r>
              <a:rPr lang="en-US" sz="1350" b="1" dirty="0">
                <a:solidFill>
                  <a:srgbClr val="1A1A1A"/>
                </a:solidFill>
                <a:latin typeface="Calibri" pitchFamily="34" charset="0"/>
                <a:ea typeface="Calibri" pitchFamily="34" charset="-122"/>
                <a:cs typeface="Calibri" pitchFamily="34" charset="-120"/>
              </a:rPr>
              <a:t>several collections</a:t>
            </a:r>
            <a:r>
              <a:rPr lang="en-US" sz="1350" dirty="0">
                <a:solidFill>
                  <a:srgbClr val="1A1A1A"/>
                </a:solidFill>
                <a:latin typeface="Calibri" pitchFamily="34" charset="0"/>
                <a:ea typeface="Calibri" pitchFamily="34" charset="-122"/>
                <a:cs typeface="Calibri" pitchFamily="34" charset="-120"/>
              </a:rPr>
              <a:t> without being duplicated.</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Removing it from a collection does not delete it from the library.</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Organising rule:</a:t>
            </a:r>
            <a:r>
              <a:rPr lang="en-US" sz="1350" dirty="0">
                <a:solidFill>
                  <a:srgbClr val="1A1A1A"/>
                </a:solidFill>
                <a:latin typeface="Calibri" pitchFamily="34" charset="0"/>
                <a:ea typeface="Calibri" pitchFamily="34" charset="-122"/>
                <a:cs typeface="Calibri" pitchFamily="34" charset="-120"/>
              </a:rPr>
              <a:t> collections follow the outline of the document to be written; tags carry status and inclusion criteria.</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Confusing the two produces a tree of fifty collections in which nothing can be found again.</a:t>
            </a:r>
            <a:endParaRPr lang="en-US" sz="1350" dirty="0"/>
          </a:p>
        </p:txBody>
      </p:sp>
      <p:sp>
        <p:nvSpPr>
          <p:cNvPr id="7" name="Shape 5"/>
          <p:cNvSpPr/>
          <p:nvPr/>
        </p:nvSpPr>
        <p:spPr>
          <a:xfrm>
            <a:off x="6278728" y="1298448"/>
            <a:ext cx="5346040" cy="4434840"/>
          </a:xfrm>
          <a:prstGeom prst="roundRect">
            <a:avLst>
              <a:gd name="adj" fmla="val 1237"/>
            </a:avLst>
          </a:prstGeom>
          <a:solidFill>
            <a:srgbClr val="FBEEE2"/>
          </a:solidFill>
          <a:ln w="12700">
            <a:solidFill>
              <a:srgbClr val="FBEEE2"/>
            </a:solidFill>
            <a:prstDash val="solid"/>
          </a:ln>
        </p:spPr>
        <p:txBody>
          <a:bodyPr/>
          <a:lstStyle/>
          <a:p>
            <a:endParaRPr lang="fr-FR"/>
          </a:p>
        </p:txBody>
      </p:sp>
      <p:sp>
        <p:nvSpPr>
          <p:cNvPr id="8" name="Text 6"/>
          <p:cNvSpPr/>
          <p:nvPr/>
        </p:nvSpPr>
        <p:spPr>
          <a:xfrm>
            <a:off x="6534760" y="1481328"/>
            <a:ext cx="4833976" cy="384048"/>
          </a:xfrm>
          <a:prstGeom prst="rect">
            <a:avLst/>
          </a:prstGeom>
          <a:noFill/>
          <a:ln/>
        </p:spPr>
        <p:txBody>
          <a:bodyPr wrap="square" lIns="0" tIns="0" rIns="0" bIns="0" rtlCol="0" anchor="ctr"/>
          <a:lstStyle/>
          <a:p>
            <a:pPr marL="0" indent="0">
              <a:buNone/>
            </a:pPr>
            <a:r>
              <a:rPr lang="en-US" sz="1600" b="1" dirty="0">
                <a:solidFill>
                  <a:srgbClr val="E07A29"/>
                </a:solidFill>
                <a:latin typeface="Cambria" pitchFamily="34" charset="0"/>
                <a:ea typeface="Cambria" pitchFamily="34" charset="-122"/>
                <a:cs typeface="Cambria" pitchFamily="34" charset="-120"/>
              </a:rPr>
              <a:t>An attachment is stored as a copy</a:t>
            </a:r>
            <a:endParaRPr lang="en-US" sz="1600" dirty="0"/>
          </a:p>
        </p:txBody>
      </p:sp>
      <p:sp>
        <p:nvSpPr>
          <p:cNvPr id="9" name="Text 7"/>
          <p:cNvSpPr/>
          <p:nvPr/>
        </p:nvSpPr>
        <p:spPr>
          <a:xfrm>
            <a:off x="65347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Never as a link to a local file.</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A link only works on the original machine — at group scale, that cannot be recovered.</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Quota trap:</a:t>
            </a:r>
            <a:r>
              <a:rPr lang="en-US" sz="1350" dirty="0">
                <a:solidFill>
                  <a:srgbClr val="1A1A1A"/>
                </a:solidFill>
                <a:latin typeface="Calibri" pitchFamily="34" charset="0"/>
                <a:ea typeface="Calibri" pitchFamily="34" charset="-122"/>
                <a:cs typeface="Calibri" pitchFamily="34" charset="-120"/>
              </a:rPr>
              <a:t> attachments in a group library count against the </a:t>
            </a:r>
            <a:r>
              <a:rPr lang="en-US" sz="1350" b="1" dirty="0">
                <a:solidFill>
                  <a:srgbClr val="1A1A1A"/>
                </a:solidFill>
                <a:latin typeface="Calibri" pitchFamily="34" charset="0"/>
                <a:ea typeface="Calibri" pitchFamily="34" charset="-122"/>
                <a:cs typeface="Calibri" pitchFamily="34" charset="-120"/>
              </a:rPr>
              <a:t>owner's</a:t>
            </a:r>
            <a:r>
              <a:rPr lang="en-US" sz="1350" dirty="0">
                <a:solidFill>
                  <a:srgbClr val="1A1A1A"/>
                </a:solidFill>
                <a:latin typeface="Calibri" pitchFamily="34" charset="0"/>
                <a:ea typeface="Calibri" pitchFamily="34" charset="-122"/>
                <a:cs typeface="Calibri" pitchFamily="34" charset="-120"/>
              </a:rPr>
              <a:t> storage, not that of whoever uploads them. Three hundred megabytes on a free account, used up fast.</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Each team chooses its strategy when the group is created.</a:t>
            </a:r>
            <a:endParaRPr lang="en-US" sz="1350" dirty="0"/>
          </a:p>
        </p:txBody>
      </p:sp>
      <p:sp>
        <p:nvSpPr>
          <p:cNvPr id="25" name="Slide Number Placeholder 0"/>
          <p:cNvSpPr>
            <a:spLocks noGrp="1"/>
          </p:cNvSpPr>
          <p:nvPr>
            <p:ph type="sldNum" sz="quarter" idx="4294967295"/>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B73"/>
                </a:solidFill>
                <a:latin typeface="Calibri"/>
                <a:ea typeface="Calibri"/>
                <a:cs typeface="Calibri"/>
              </a:defRPr>
            </a:lvl1pPr>
          </a:lstStyle>
          <a:p>
            <a:pPr algn="r"/>
            <a:fld id="{F7021451-1387-4CA6-816F-3879F97B5CBC}" type="slidenum">
              <a:rPr lang="en-US" b="0"/>
              <a:t>61</a:t>
            </a:fld>
            <a:endParaRPr lang="en-US"/>
          </a:p>
        </p:txBody>
      </p:sp>
    </p:spTree>
    <p:extLst>
      <p:ext uri="{BB962C8B-B14F-4D97-AF65-F5344CB8AC3E}">
        <p14:creationId xmlns:p14="http://schemas.microsoft.com/office/powerpoint/2010/main" val="23830113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8F16BB5-272F-BF87-3C45-9D9272BACF9D}"/>
              </a:ext>
            </a:extLst>
          </p:cNvPr>
          <p:cNvSpPr txBox="1"/>
          <p:nvPr/>
        </p:nvSpPr>
        <p:spPr>
          <a:xfrm>
            <a:off x="1909148" y="435693"/>
            <a:ext cx="9274326" cy="523220"/>
          </a:xfrm>
          <a:prstGeom prst="rect">
            <a:avLst/>
          </a:prstGeom>
          <a:noFill/>
        </p:spPr>
        <p:txBody>
          <a:bodyPr wrap="square" rtlCol="0">
            <a:spAutoFit/>
          </a:bodyPr>
          <a:lstStyle/>
          <a:p>
            <a:pPr algn="just"/>
            <a:r>
              <a:rPr lang="fr-FR" sz="4000" b="1" baseline="30000" dirty="0">
                <a:solidFill>
                  <a:srgbClr val="80276C"/>
                </a:solidFill>
                <a:latin typeface="Verdana" panose="020B0604030504040204" pitchFamily="34" charset="0"/>
                <a:ea typeface="Verdana" panose="020B0604030504040204" pitchFamily="34" charset="0"/>
              </a:rPr>
              <a:t>Browsers </a:t>
            </a:r>
            <a:r>
              <a:rPr lang="fr-FR" sz="4000" b="1" baseline="30000" dirty="0" err="1">
                <a:solidFill>
                  <a:srgbClr val="80276C"/>
                </a:solidFill>
                <a:latin typeface="Verdana" panose="020B0604030504040204" pitchFamily="34" charset="0"/>
                <a:ea typeface="Verdana" panose="020B0604030504040204" pitchFamily="34" charset="0"/>
              </a:rPr>
              <a:t>add-in</a:t>
            </a:r>
            <a:r>
              <a:rPr lang="fr-FR" sz="4000" b="1" baseline="30000" dirty="0">
                <a:solidFill>
                  <a:srgbClr val="80276C"/>
                </a:solidFill>
                <a:latin typeface="Verdana" panose="020B0604030504040204" pitchFamily="34" charset="0"/>
                <a:ea typeface="Verdana" panose="020B0604030504040204" pitchFamily="34" charset="0"/>
              </a:rPr>
              <a:t>                      Lean </a:t>
            </a:r>
            <a:r>
              <a:rPr lang="fr-FR" sz="2800" b="1" dirty="0">
                <a:solidFill>
                  <a:srgbClr val="80276C"/>
                </a:solidFill>
                <a:latin typeface="Verdana" panose="020B0604030504040204" pitchFamily="34" charset="0"/>
                <a:ea typeface="Verdana" panose="020B0604030504040204" pitchFamily="34" charset="0"/>
              </a:rPr>
              <a:t>Library</a:t>
            </a:r>
            <a:endParaRPr lang="fr-FR" sz="2800" b="1" baseline="30000" dirty="0">
              <a:solidFill>
                <a:srgbClr val="80276C"/>
              </a:solidFill>
              <a:latin typeface="Verdana" panose="020B0604030504040204" pitchFamily="34" charset="0"/>
              <a:ea typeface="Verdana" panose="020B0604030504040204" pitchFamily="34" charset="0"/>
            </a:endParaRPr>
          </a:p>
        </p:txBody>
      </p:sp>
      <p:sp>
        <p:nvSpPr>
          <p:cNvPr id="8" name="ZoneTexte 7">
            <a:extLst>
              <a:ext uri="{FF2B5EF4-FFF2-40B4-BE49-F238E27FC236}">
                <a16:creationId xmlns:a16="http://schemas.microsoft.com/office/drawing/2014/main" id="{39719962-1892-6D6B-C580-11D754F8B9F7}"/>
              </a:ext>
            </a:extLst>
          </p:cNvPr>
          <p:cNvSpPr txBox="1"/>
          <p:nvPr/>
        </p:nvSpPr>
        <p:spPr>
          <a:xfrm>
            <a:off x="1865791" y="857068"/>
            <a:ext cx="4680520" cy="1938992"/>
          </a:xfrm>
          <a:prstGeom prst="rect">
            <a:avLst/>
          </a:prstGeom>
          <a:noFill/>
          <a:ln>
            <a:solidFill>
              <a:srgbClr val="80276C"/>
            </a:solidFill>
          </a:ln>
        </p:spPr>
        <p:txBody>
          <a:bodyPr wrap="square" rtlCol="0">
            <a:spAutoFit/>
          </a:bodyPr>
          <a:lstStyle/>
          <a:p>
            <a:pPr marL="285750" indent="-285750">
              <a:buFontTx/>
              <a:buChar char="-"/>
            </a:pPr>
            <a:r>
              <a:rPr lang="fr-FR" sz="2000" dirty="0" err="1"/>
              <a:t>Available</a:t>
            </a:r>
            <a:r>
              <a:rPr lang="fr-FR" sz="2000" dirty="0"/>
              <a:t> on all browsers</a:t>
            </a:r>
          </a:p>
          <a:p>
            <a:pPr marL="285750" indent="-285750">
              <a:buFontTx/>
              <a:buChar char="-"/>
            </a:pPr>
            <a:r>
              <a:rPr lang="fr-FR" sz="2000" dirty="0"/>
              <a:t>Reports, identifies </a:t>
            </a:r>
            <a:r>
              <a:rPr lang="fr-FR" sz="2000" dirty="0" err="1"/>
              <a:t>our</a:t>
            </a:r>
            <a:r>
              <a:rPr lang="fr-FR" sz="2000" dirty="0"/>
              <a:t> </a:t>
            </a:r>
            <a:r>
              <a:rPr lang="fr-FR" sz="2000" dirty="0" err="1"/>
              <a:t>subscriptions</a:t>
            </a:r>
            <a:r>
              <a:rPr lang="fr-FR" sz="2000" dirty="0"/>
              <a:t> and </a:t>
            </a:r>
            <a:r>
              <a:rPr lang="fr-FR" sz="2000" dirty="0" err="1"/>
              <a:t>redirects</a:t>
            </a:r>
            <a:r>
              <a:rPr lang="fr-FR" sz="2000" dirty="0"/>
              <a:t> </a:t>
            </a:r>
            <a:r>
              <a:rPr lang="fr-FR" sz="2000" dirty="0" err="1"/>
              <a:t>you</a:t>
            </a:r>
            <a:r>
              <a:rPr lang="fr-FR" sz="2000" dirty="0"/>
              <a:t> to </a:t>
            </a:r>
            <a:r>
              <a:rPr lang="fr-FR" sz="2000" dirty="0" err="1"/>
              <a:t>them</a:t>
            </a:r>
            <a:r>
              <a:rPr lang="fr-FR" sz="2000" dirty="0"/>
              <a:t>  </a:t>
            </a:r>
            <a:r>
              <a:rPr lang="fr-FR" sz="2000" dirty="0" err="1"/>
              <a:t>through</a:t>
            </a:r>
            <a:r>
              <a:rPr lang="fr-FR" sz="2000" dirty="0"/>
              <a:t> pop-ups</a:t>
            </a:r>
          </a:p>
          <a:p>
            <a:endParaRPr lang="fr-FR" sz="2000" dirty="0"/>
          </a:p>
          <a:p>
            <a:pPr marL="285750" indent="-285750">
              <a:buFontTx/>
              <a:buChar char="-"/>
            </a:pPr>
            <a:r>
              <a:rPr lang="fr-FR" sz="2000" dirty="0">
                <a:hlinkClick r:id="rId2"/>
              </a:rPr>
              <a:t>https://www.leanlibrary.com/download/</a:t>
            </a:r>
            <a:r>
              <a:rPr lang="fr-FR" sz="2000" dirty="0"/>
              <a:t> </a:t>
            </a:r>
          </a:p>
          <a:p>
            <a:pPr marL="285750" indent="-285750">
              <a:buFontTx/>
              <a:buChar char="-"/>
            </a:pPr>
            <a:endParaRPr lang="fr-FR" sz="2000" dirty="0"/>
          </a:p>
        </p:txBody>
      </p:sp>
      <p:pic>
        <p:nvPicPr>
          <p:cNvPr id="10" name="Image 9">
            <a:extLst>
              <a:ext uri="{FF2B5EF4-FFF2-40B4-BE49-F238E27FC236}">
                <a16:creationId xmlns:a16="http://schemas.microsoft.com/office/drawing/2014/main" id="{18997B48-03B7-A33B-9E54-D1ED1CC69B99}"/>
              </a:ext>
            </a:extLst>
          </p:cNvPr>
          <p:cNvPicPr>
            <a:picLocks noChangeAspect="1"/>
          </p:cNvPicPr>
          <p:nvPr/>
        </p:nvPicPr>
        <p:blipFill rotWithShape="1">
          <a:blip r:embed="rId3"/>
          <a:srcRect l="20213" t="13660" r="23162" b="69505"/>
          <a:stretch/>
        </p:blipFill>
        <p:spPr>
          <a:xfrm>
            <a:off x="1850566" y="2955825"/>
            <a:ext cx="5434074" cy="976082"/>
          </a:xfrm>
          <a:prstGeom prst="rect">
            <a:avLst/>
          </a:prstGeom>
        </p:spPr>
      </p:pic>
      <p:pic>
        <p:nvPicPr>
          <p:cNvPr id="12" name="Image 11">
            <a:extLst>
              <a:ext uri="{FF2B5EF4-FFF2-40B4-BE49-F238E27FC236}">
                <a16:creationId xmlns:a16="http://schemas.microsoft.com/office/drawing/2014/main" id="{14EE40EB-5E7A-B9F5-13BE-307B45400E88}"/>
              </a:ext>
            </a:extLst>
          </p:cNvPr>
          <p:cNvPicPr>
            <a:picLocks noChangeAspect="1"/>
          </p:cNvPicPr>
          <p:nvPr/>
        </p:nvPicPr>
        <p:blipFill rotWithShape="1">
          <a:blip r:embed="rId4"/>
          <a:srcRect l="39958" t="6658" r="40128" b="31875"/>
          <a:stretch/>
        </p:blipFill>
        <p:spPr>
          <a:xfrm>
            <a:off x="3111854" y="3529837"/>
            <a:ext cx="1743882" cy="3252003"/>
          </a:xfrm>
          <a:prstGeom prst="rect">
            <a:avLst/>
          </a:prstGeom>
        </p:spPr>
      </p:pic>
      <p:pic>
        <p:nvPicPr>
          <p:cNvPr id="14" name="Image 13">
            <a:extLst>
              <a:ext uri="{FF2B5EF4-FFF2-40B4-BE49-F238E27FC236}">
                <a16:creationId xmlns:a16="http://schemas.microsoft.com/office/drawing/2014/main" id="{F552898E-A3C2-0EDA-6339-BA45E5FFE559}"/>
              </a:ext>
            </a:extLst>
          </p:cNvPr>
          <p:cNvPicPr>
            <a:picLocks noChangeAspect="1"/>
          </p:cNvPicPr>
          <p:nvPr/>
        </p:nvPicPr>
        <p:blipFill rotWithShape="1">
          <a:blip r:embed="rId5"/>
          <a:srcRect l="80898" t="11609" r="2136" b="45880"/>
          <a:stretch/>
        </p:blipFill>
        <p:spPr>
          <a:xfrm>
            <a:off x="6394412" y="3513479"/>
            <a:ext cx="1985107" cy="3005162"/>
          </a:xfrm>
          <a:prstGeom prst="rect">
            <a:avLst/>
          </a:prstGeom>
        </p:spPr>
      </p:pic>
      <p:sp>
        <p:nvSpPr>
          <p:cNvPr id="16" name="ZoneTexte 15">
            <a:extLst>
              <a:ext uri="{FF2B5EF4-FFF2-40B4-BE49-F238E27FC236}">
                <a16:creationId xmlns:a16="http://schemas.microsoft.com/office/drawing/2014/main" id="{4564294E-77BE-B6F0-C8BD-ABA6930DD5ED}"/>
              </a:ext>
            </a:extLst>
          </p:cNvPr>
          <p:cNvSpPr txBox="1"/>
          <p:nvPr/>
        </p:nvSpPr>
        <p:spPr>
          <a:xfrm>
            <a:off x="8410943" y="4698810"/>
            <a:ext cx="1798429" cy="1384995"/>
          </a:xfrm>
          <a:prstGeom prst="rect">
            <a:avLst/>
          </a:prstGeom>
          <a:solidFill>
            <a:srgbClr val="FFA300">
              <a:alpha val="53000"/>
            </a:srgbClr>
          </a:solidFill>
        </p:spPr>
        <p:txBody>
          <a:bodyPr wrap="square" rtlCol="0">
            <a:spAutoFit/>
          </a:bodyPr>
          <a:lstStyle/>
          <a:p>
            <a:r>
              <a:rPr lang="fr-FR" sz="1200" dirty="0"/>
              <a:t>More information </a:t>
            </a:r>
            <a:r>
              <a:rPr lang="fr-FR" sz="1200" dirty="0" err="1"/>
              <a:t>here</a:t>
            </a:r>
            <a:r>
              <a:rPr lang="fr-FR" sz="1200" dirty="0"/>
              <a:t> : </a:t>
            </a:r>
          </a:p>
          <a:p>
            <a:r>
              <a:rPr lang="fr-FR" sz="1200" dirty="0"/>
              <a:t>: </a:t>
            </a:r>
            <a:r>
              <a:rPr lang="fr-FR" sz="1200" dirty="0">
                <a:hlinkClick r:id="rId6"/>
              </a:rPr>
              <a:t>https://bibliotheques.ensam.eu/infosetservices/explorer-nos-ressources-facilement</a:t>
            </a:r>
            <a:endParaRPr lang="fr-FR" sz="1200" dirty="0"/>
          </a:p>
          <a:p>
            <a:endParaRPr lang="fr-FR" sz="1200" dirty="0"/>
          </a:p>
        </p:txBody>
      </p:sp>
      <p:sp>
        <p:nvSpPr>
          <p:cNvPr id="18" name="ZoneTexte 17">
            <a:extLst>
              <a:ext uri="{FF2B5EF4-FFF2-40B4-BE49-F238E27FC236}">
                <a16:creationId xmlns:a16="http://schemas.microsoft.com/office/drawing/2014/main" id="{D1DCCEC2-8575-164E-D998-749129887A5A}"/>
              </a:ext>
            </a:extLst>
          </p:cNvPr>
          <p:cNvSpPr txBox="1"/>
          <p:nvPr/>
        </p:nvSpPr>
        <p:spPr>
          <a:xfrm>
            <a:off x="7606530" y="927828"/>
            <a:ext cx="3851737" cy="2862322"/>
          </a:xfrm>
          <a:prstGeom prst="rect">
            <a:avLst/>
          </a:prstGeom>
          <a:noFill/>
        </p:spPr>
        <p:txBody>
          <a:bodyPr wrap="square" rtlCol="0">
            <a:spAutoFit/>
          </a:bodyPr>
          <a:lstStyle/>
          <a:p>
            <a:r>
              <a:rPr lang="fr-FR" dirty="0"/>
              <a:t>Lean Library </a:t>
            </a:r>
            <a:r>
              <a:rPr lang="fr-FR" dirty="0" err="1"/>
              <a:t>is</a:t>
            </a:r>
            <a:r>
              <a:rPr lang="fr-FR" dirty="0"/>
              <a:t> a browser extension </a:t>
            </a:r>
            <a:r>
              <a:rPr lang="fr-FR" dirty="0" err="1"/>
              <a:t>that</a:t>
            </a:r>
            <a:r>
              <a:rPr lang="fr-FR" dirty="0"/>
              <a:t> </a:t>
            </a:r>
            <a:r>
              <a:rPr lang="fr-FR" dirty="0" err="1"/>
              <a:t>delivers</a:t>
            </a:r>
            <a:r>
              <a:rPr lang="fr-FR" dirty="0"/>
              <a:t> </a:t>
            </a:r>
            <a:r>
              <a:rPr lang="fr-FR" dirty="0" err="1"/>
              <a:t>your</a:t>
            </a:r>
            <a:r>
              <a:rPr lang="fr-FR" dirty="0"/>
              <a:t> </a:t>
            </a:r>
            <a:r>
              <a:rPr lang="fr-FR" dirty="0" err="1"/>
              <a:t>library’s</a:t>
            </a:r>
            <a:r>
              <a:rPr lang="fr-FR" dirty="0"/>
              <a:t> </a:t>
            </a:r>
            <a:r>
              <a:rPr lang="fr-FR" dirty="0" err="1"/>
              <a:t>resources</a:t>
            </a:r>
            <a:r>
              <a:rPr lang="fr-FR" dirty="0"/>
              <a:t> and guidance </a:t>
            </a:r>
            <a:r>
              <a:rPr lang="fr-FR" dirty="0" err="1"/>
              <a:t>directly</a:t>
            </a:r>
            <a:r>
              <a:rPr lang="fr-FR" dirty="0"/>
              <a:t> </a:t>
            </a:r>
            <a:r>
              <a:rPr lang="fr-FR" dirty="0" err="1"/>
              <a:t>into</a:t>
            </a:r>
            <a:r>
              <a:rPr lang="fr-FR" dirty="0"/>
              <a:t> </a:t>
            </a:r>
            <a:r>
              <a:rPr lang="fr-FR" dirty="0" err="1"/>
              <a:t>your</a:t>
            </a:r>
            <a:r>
              <a:rPr lang="fr-FR" dirty="0"/>
              <a:t> </a:t>
            </a:r>
            <a:r>
              <a:rPr lang="fr-FR" dirty="0" err="1"/>
              <a:t>student's</a:t>
            </a:r>
            <a:r>
              <a:rPr lang="fr-FR" dirty="0"/>
              <a:t> online workflow — </a:t>
            </a:r>
            <a:r>
              <a:rPr lang="fr-FR" dirty="0" err="1"/>
              <a:t>giving</a:t>
            </a:r>
            <a:r>
              <a:rPr lang="fr-FR" dirty="0"/>
              <a:t> </a:t>
            </a:r>
            <a:r>
              <a:rPr lang="fr-FR" dirty="0" err="1"/>
              <a:t>them</a:t>
            </a:r>
            <a:r>
              <a:rPr lang="fr-FR" dirty="0"/>
              <a:t> </a:t>
            </a:r>
            <a:r>
              <a:rPr lang="fr-FR" dirty="0" err="1"/>
              <a:t>seamless</a:t>
            </a:r>
            <a:r>
              <a:rPr lang="fr-FR" dirty="0"/>
              <a:t>, </a:t>
            </a:r>
            <a:r>
              <a:rPr lang="fr-FR" dirty="0" err="1"/>
              <a:t>legal</a:t>
            </a:r>
            <a:r>
              <a:rPr lang="fr-FR" dirty="0"/>
              <a:t> </a:t>
            </a:r>
            <a:r>
              <a:rPr lang="fr-FR" dirty="0" err="1"/>
              <a:t>access</a:t>
            </a:r>
            <a:r>
              <a:rPr lang="fr-FR" dirty="0"/>
              <a:t> to millions of articles, </a:t>
            </a:r>
            <a:r>
              <a:rPr lang="fr-FR" dirty="0" err="1"/>
              <a:t>eBooks</a:t>
            </a:r>
            <a:r>
              <a:rPr lang="fr-FR" dirty="0"/>
              <a:t>, and open‑</a:t>
            </a:r>
            <a:r>
              <a:rPr lang="fr-FR" dirty="0" err="1"/>
              <a:t>access</a:t>
            </a:r>
            <a:r>
              <a:rPr lang="fr-FR" dirty="0"/>
              <a:t> content </a:t>
            </a:r>
            <a:r>
              <a:rPr lang="fr-FR" dirty="0" err="1"/>
              <a:t>wherever</a:t>
            </a:r>
            <a:r>
              <a:rPr lang="fr-FR" dirty="0"/>
              <a:t> </a:t>
            </a:r>
            <a:r>
              <a:rPr lang="fr-FR" dirty="0" err="1"/>
              <a:t>they</a:t>
            </a:r>
            <a:r>
              <a:rPr lang="fr-FR" dirty="0"/>
              <a:t> </a:t>
            </a:r>
            <a:r>
              <a:rPr lang="fr-FR" dirty="0" err="1"/>
              <a:t>search</a:t>
            </a:r>
            <a:r>
              <a:rPr lang="fr-FR" dirty="0"/>
              <a:t>.</a:t>
            </a:r>
          </a:p>
          <a:p>
            <a:r>
              <a:rPr lang="fr-FR" dirty="0" err="1">
                <a:hlinkClick r:id="rId7"/>
              </a:rPr>
              <a:t>Experience</a:t>
            </a:r>
            <a:r>
              <a:rPr lang="fr-FR" dirty="0">
                <a:hlinkClick r:id="rId7"/>
              </a:rPr>
              <a:t> Lean Library extension – Lean Library</a:t>
            </a:r>
            <a:endParaRPr lang="fr-FR" dirty="0"/>
          </a:p>
        </p:txBody>
      </p:sp>
    </p:spTree>
    <p:extLst>
      <p:ext uri="{BB962C8B-B14F-4D97-AF65-F5344CB8AC3E}">
        <p14:creationId xmlns:p14="http://schemas.microsoft.com/office/powerpoint/2010/main" val="21561775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F64672FD-7194-9DC7-DB86-08DE177838B3}"/>
              </a:ext>
            </a:extLst>
          </p:cNvPr>
          <p:cNvSpPr txBox="1">
            <a:spLocks/>
          </p:cNvSpPr>
          <p:nvPr/>
        </p:nvSpPr>
        <p:spPr>
          <a:xfrm>
            <a:off x="1493003" y="476622"/>
            <a:ext cx="7237708" cy="69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fr-FR" sz="2400">
                <a:hlinkClick r:id="rId2"/>
              </a:rPr>
              <a:t>https://atrium.ensam.eu/infosetservices/explorer-nos-ressources-facilement</a:t>
            </a:r>
            <a:endParaRPr lang="fr-FR" sz="2400" dirty="0">
              <a:solidFill>
                <a:srgbClr val="80276C"/>
              </a:solidFill>
            </a:endParaRPr>
          </a:p>
        </p:txBody>
      </p:sp>
      <p:pic>
        <p:nvPicPr>
          <p:cNvPr id="5" name="Image 4">
            <a:extLst>
              <a:ext uri="{FF2B5EF4-FFF2-40B4-BE49-F238E27FC236}">
                <a16:creationId xmlns:a16="http://schemas.microsoft.com/office/drawing/2014/main" id="{D71C059F-17B4-706D-B944-88CEE7FD150D}"/>
              </a:ext>
            </a:extLst>
          </p:cNvPr>
          <p:cNvPicPr/>
          <p:nvPr/>
        </p:nvPicPr>
        <p:blipFill rotWithShape="1">
          <a:blip r:embed="rId3"/>
          <a:srcRect l="50000" t="7053" b="5722"/>
          <a:stretch/>
        </p:blipFill>
        <p:spPr bwMode="auto">
          <a:xfrm>
            <a:off x="866334" y="1352330"/>
            <a:ext cx="10818642" cy="41533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128564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4D2DE206-1133-EA73-8367-ADFC097AB03D}"/>
              </a:ext>
            </a:extLst>
          </p:cNvPr>
          <p:cNvSpPr txBox="1"/>
          <p:nvPr/>
        </p:nvSpPr>
        <p:spPr>
          <a:xfrm>
            <a:off x="5916933" y="1656805"/>
            <a:ext cx="6121830" cy="4832092"/>
          </a:xfrm>
          <a:prstGeom prst="rect">
            <a:avLst/>
          </a:prstGeom>
          <a:noFill/>
        </p:spPr>
        <p:txBody>
          <a:bodyPr wrap="square" rtlCol="0">
            <a:spAutoFit/>
          </a:bodyPr>
          <a:lstStyle/>
          <a:p>
            <a:r>
              <a:rPr lang="fr-FR" sz="2800" b="1" dirty="0" err="1">
                <a:solidFill>
                  <a:srgbClr val="80276C"/>
                </a:solidFill>
                <a:latin typeface="Times New Roman" panose="02020603050405020304" pitchFamily="18" charset="0"/>
                <a:cs typeface="Times New Roman" panose="02020603050405020304" pitchFamily="18" charset="0"/>
              </a:rPr>
              <a:t>Unpaywall</a:t>
            </a:r>
            <a:endParaRPr lang="fr-FR" sz="2800" b="1" dirty="0">
              <a:solidFill>
                <a:srgbClr val="80276C"/>
              </a:solidFill>
              <a:latin typeface="Times New Roman" panose="02020603050405020304" pitchFamily="18" charset="0"/>
              <a:cs typeface="Times New Roman" panose="02020603050405020304" pitchFamily="18" charset="0"/>
            </a:endParaRPr>
          </a:p>
          <a:p>
            <a:r>
              <a:rPr lang="fr-FR" sz="2800" dirty="0">
                <a:solidFill>
                  <a:schemeClr val="accent2"/>
                </a:solidFill>
                <a:hlinkClick r:id="rId2"/>
              </a:rPr>
              <a:t>https://unpaywall.org/</a:t>
            </a:r>
            <a:r>
              <a:rPr lang="fr-FR" sz="2800" dirty="0">
                <a:solidFill>
                  <a:schemeClr val="accent2"/>
                </a:solidFill>
              </a:rPr>
              <a:t> </a:t>
            </a:r>
          </a:p>
          <a:p>
            <a:endParaRPr lang="fr-FR" sz="2800" b="1" dirty="0">
              <a:solidFill>
                <a:srgbClr val="80276C"/>
              </a:solidFill>
              <a:latin typeface="Times New Roman" panose="02020603050405020304" pitchFamily="18" charset="0"/>
              <a:cs typeface="Times New Roman" panose="02020603050405020304" pitchFamily="18" charset="0"/>
            </a:endParaRPr>
          </a:p>
          <a:p>
            <a:r>
              <a:rPr lang="fr-FR" sz="2800" b="1" dirty="0" err="1">
                <a:solidFill>
                  <a:srgbClr val="80276C"/>
                </a:solidFill>
                <a:latin typeface="Times New Roman" panose="02020603050405020304" pitchFamily="18" charset="0"/>
                <a:cs typeface="Times New Roman" panose="02020603050405020304" pitchFamily="18" charset="0"/>
              </a:rPr>
              <a:t>Core</a:t>
            </a:r>
            <a:r>
              <a:rPr lang="fr-FR" sz="2800" b="1" dirty="0">
                <a:solidFill>
                  <a:srgbClr val="80276C"/>
                </a:solidFill>
                <a:latin typeface="Times New Roman" panose="02020603050405020304" pitchFamily="18" charset="0"/>
                <a:cs typeface="Times New Roman" panose="02020603050405020304" pitchFamily="18" charset="0"/>
              </a:rPr>
              <a:t> </a:t>
            </a:r>
            <a:r>
              <a:rPr lang="fr-FR" sz="2800" b="1" dirty="0" err="1">
                <a:solidFill>
                  <a:srgbClr val="80276C"/>
                </a:solidFill>
                <a:latin typeface="Times New Roman" panose="02020603050405020304" pitchFamily="18" charset="0"/>
                <a:cs typeface="Times New Roman" panose="02020603050405020304" pitchFamily="18" charset="0"/>
              </a:rPr>
              <a:t>discovery</a:t>
            </a:r>
            <a:endParaRPr lang="fr-FR" sz="2800" b="1" dirty="0">
              <a:solidFill>
                <a:srgbClr val="80276C"/>
              </a:solidFill>
              <a:latin typeface="Times New Roman" panose="02020603050405020304" pitchFamily="18" charset="0"/>
              <a:cs typeface="Times New Roman" panose="02020603050405020304" pitchFamily="18" charset="0"/>
            </a:endParaRPr>
          </a:p>
          <a:p>
            <a:endParaRPr lang="fr-FR" sz="2800" b="1" dirty="0">
              <a:solidFill>
                <a:srgbClr val="80276C"/>
              </a:solidFill>
              <a:latin typeface="Times New Roman" panose="02020603050405020304" pitchFamily="18" charset="0"/>
              <a:cs typeface="Times New Roman" panose="02020603050405020304" pitchFamily="18" charset="0"/>
            </a:endParaRPr>
          </a:p>
          <a:p>
            <a:r>
              <a:rPr lang="fr-FR" sz="2800" dirty="0">
                <a:hlinkClick r:id="rId3"/>
              </a:rPr>
              <a:t>https://core.ac.uk/services/discovery</a:t>
            </a:r>
            <a:r>
              <a:rPr lang="fr-FR" sz="2800" dirty="0"/>
              <a:t> </a:t>
            </a:r>
          </a:p>
          <a:p>
            <a:endParaRPr lang="fr-FR" sz="2800" b="1" dirty="0">
              <a:solidFill>
                <a:srgbClr val="80276C"/>
              </a:solidFill>
              <a:latin typeface="Times New Roman" panose="02020603050405020304" pitchFamily="18" charset="0"/>
              <a:cs typeface="Times New Roman" panose="02020603050405020304" pitchFamily="18" charset="0"/>
            </a:endParaRPr>
          </a:p>
          <a:p>
            <a:r>
              <a:rPr lang="fr-FR" sz="2800" b="1" dirty="0">
                <a:solidFill>
                  <a:srgbClr val="80276C"/>
                </a:solidFill>
                <a:latin typeface="Times New Roman" panose="02020603050405020304" pitchFamily="18" charset="0"/>
                <a:cs typeface="Times New Roman" panose="02020603050405020304" pitchFamily="18" charset="0"/>
              </a:rPr>
              <a:t>Lean </a:t>
            </a:r>
            <a:r>
              <a:rPr lang="fr-FR" sz="2800" b="1" dirty="0" err="1">
                <a:solidFill>
                  <a:srgbClr val="80276C"/>
                </a:solidFill>
                <a:latin typeface="Times New Roman" panose="02020603050405020304" pitchFamily="18" charset="0"/>
                <a:cs typeface="Times New Roman" panose="02020603050405020304" pitchFamily="18" charset="0"/>
              </a:rPr>
              <a:t>library</a:t>
            </a:r>
            <a:endParaRPr lang="fr-FR" sz="2800" b="1" dirty="0">
              <a:solidFill>
                <a:srgbClr val="80276C"/>
              </a:solidFill>
              <a:latin typeface="Times New Roman" panose="02020603050405020304" pitchFamily="18" charset="0"/>
              <a:cs typeface="Times New Roman" panose="02020603050405020304" pitchFamily="18" charset="0"/>
            </a:endParaRPr>
          </a:p>
          <a:p>
            <a:r>
              <a:rPr lang="fr-FR" sz="2800" dirty="0">
                <a:solidFill>
                  <a:schemeClr val="accent1"/>
                </a:solidFill>
                <a:hlinkClick r:id="rId4">
                  <a:extLst>
                    <a:ext uri="{A12FA001-AC4F-418D-AE19-62706E023703}">
                      <ahyp:hlinkClr xmlns:ahyp="http://schemas.microsoft.com/office/drawing/2018/hyperlinkcolor" val="tx"/>
                    </a:ext>
                  </a:extLst>
                </a:hlinkClick>
              </a:rPr>
              <a:t>https://www.leanlibrary.com</a:t>
            </a:r>
            <a:endParaRPr lang="fr-FR" sz="2800" dirty="0">
              <a:solidFill>
                <a:schemeClr val="accent1"/>
              </a:solidFill>
            </a:endParaRPr>
          </a:p>
          <a:p>
            <a:endParaRPr lang="fr-FR" sz="2800" dirty="0"/>
          </a:p>
          <a:p>
            <a:endParaRPr lang="fr-FR" sz="2800" b="1" dirty="0">
              <a:solidFill>
                <a:srgbClr val="80276C"/>
              </a:solidFill>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AD1A0BB8-4111-CF70-D528-B7A88E73ECDC}"/>
              </a:ext>
            </a:extLst>
          </p:cNvPr>
          <p:cNvSpPr txBox="1"/>
          <p:nvPr/>
        </p:nvSpPr>
        <p:spPr>
          <a:xfrm>
            <a:off x="6556552" y="638782"/>
            <a:ext cx="6121830" cy="584775"/>
          </a:xfrm>
          <a:prstGeom prst="rect">
            <a:avLst/>
          </a:prstGeom>
          <a:noFill/>
        </p:spPr>
        <p:txBody>
          <a:bodyPr wrap="square" rtlCol="0">
            <a:spAutoFit/>
          </a:bodyPr>
          <a:lstStyle/>
          <a:p>
            <a:r>
              <a:rPr lang="fr-FR" sz="3200" b="1" dirty="0" err="1">
                <a:solidFill>
                  <a:srgbClr val="80276C"/>
                </a:solidFill>
                <a:latin typeface="Times New Roman" panose="02020603050405020304" pitchFamily="18" charset="0"/>
                <a:cs typeface="Times New Roman" panose="02020603050405020304" pitchFamily="18" charset="0"/>
              </a:rPr>
              <a:t>Other</a:t>
            </a:r>
            <a:r>
              <a:rPr lang="fr-FR" sz="3200" b="1" dirty="0">
                <a:solidFill>
                  <a:srgbClr val="80276C"/>
                </a:solidFill>
                <a:latin typeface="Times New Roman" panose="02020603050405020304" pitchFamily="18" charset="0"/>
                <a:cs typeface="Times New Roman" panose="02020603050405020304" pitchFamily="18" charset="0"/>
              </a:rPr>
              <a:t> browser </a:t>
            </a:r>
            <a:r>
              <a:rPr lang="fr-FR" sz="3200" b="1" dirty="0" err="1">
                <a:solidFill>
                  <a:srgbClr val="80276C"/>
                </a:solidFill>
                <a:latin typeface="Times New Roman" panose="02020603050405020304" pitchFamily="18" charset="0"/>
                <a:cs typeface="Times New Roman" panose="02020603050405020304" pitchFamily="18" charset="0"/>
              </a:rPr>
              <a:t>add-ins</a:t>
            </a:r>
            <a:endParaRPr lang="fr-FR" sz="3200" b="1" dirty="0">
              <a:solidFill>
                <a:srgbClr val="80276C"/>
              </a:solidFill>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5E1AC9C6-BFFF-340E-971C-977FFD62A8D3}"/>
              </a:ext>
            </a:extLst>
          </p:cNvPr>
          <p:cNvSpPr txBox="1"/>
          <p:nvPr/>
        </p:nvSpPr>
        <p:spPr>
          <a:xfrm>
            <a:off x="2341877" y="1657805"/>
            <a:ext cx="2464230" cy="2554545"/>
          </a:xfrm>
          <a:prstGeom prst="rect">
            <a:avLst/>
          </a:prstGeom>
          <a:noFill/>
        </p:spPr>
        <p:txBody>
          <a:bodyPr wrap="square" rtlCol="0">
            <a:spAutoFit/>
          </a:bodyPr>
          <a:lstStyle/>
          <a:p>
            <a:pPr lvl="0" algn="ctr"/>
            <a:r>
              <a:rPr lang="fr-FR" sz="3200" b="1" dirty="0">
                <a:solidFill>
                  <a:srgbClr val="80276C"/>
                </a:solidFill>
                <a:latin typeface="Times New Roman" panose="02020603050405020304" pitchFamily="18" charset="0"/>
                <a:cs typeface="Times New Roman" panose="02020603050405020304" pitchFamily="18" charset="0"/>
              </a:rPr>
              <a:t>Browser</a:t>
            </a:r>
          </a:p>
          <a:p>
            <a:pPr lvl="0" algn="ctr"/>
            <a:r>
              <a:rPr lang="fr-FR" sz="3200" b="1" dirty="0" err="1">
                <a:solidFill>
                  <a:srgbClr val="80276C"/>
                </a:solidFill>
                <a:latin typeface="Times New Roman" panose="02020603050405020304" pitchFamily="18" charset="0"/>
                <a:cs typeface="Times New Roman" panose="02020603050405020304" pitchFamily="18" charset="0"/>
              </a:rPr>
              <a:t>Add-ins</a:t>
            </a:r>
            <a:endParaRPr lang="fr-FR" sz="3200" b="1" dirty="0">
              <a:solidFill>
                <a:srgbClr val="80276C"/>
              </a:solidFill>
              <a:latin typeface="Times New Roman" panose="02020603050405020304" pitchFamily="18" charset="0"/>
              <a:cs typeface="Times New Roman" panose="02020603050405020304" pitchFamily="18" charset="0"/>
            </a:endParaRPr>
          </a:p>
          <a:p>
            <a:pPr lvl="0" algn="ctr"/>
            <a:r>
              <a:rPr lang="fr-FR" sz="3200" b="1" dirty="0">
                <a:solidFill>
                  <a:srgbClr val="80276C"/>
                </a:solidFill>
                <a:latin typeface="Times New Roman" panose="02020603050405020304" pitchFamily="18" charset="0"/>
                <a:cs typeface="Times New Roman" panose="02020603050405020304" pitchFamily="18" charset="0"/>
              </a:rPr>
              <a:t>to </a:t>
            </a:r>
            <a:r>
              <a:rPr lang="fr-FR" sz="3200" b="1" dirty="0" err="1">
                <a:solidFill>
                  <a:srgbClr val="80276C"/>
                </a:solidFill>
                <a:latin typeface="Times New Roman" panose="02020603050405020304" pitchFamily="18" charset="0"/>
                <a:cs typeface="Times New Roman" panose="02020603050405020304" pitchFamily="18" charset="0"/>
              </a:rPr>
              <a:t>access</a:t>
            </a:r>
            <a:endParaRPr lang="fr-FR" sz="3200" b="1" dirty="0">
              <a:solidFill>
                <a:srgbClr val="80276C"/>
              </a:solidFill>
              <a:latin typeface="Times New Roman" panose="02020603050405020304" pitchFamily="18" charset="0"/>
              <a:cs typeface="Times New Roman" panose="02020603050405020304" pitchFamily="18" charset="0"/>
            </a:endParaRPr>
          </a:p>
          <a:p>
            <a:pPr lvl="0" algn="ctr"/>
            <a:r>
              <a:rPr lang="fr-FR" sz="3200" b="1" dirty="0" err="1">
                <a:solidFill>
                  <a:srgbClr val="80276C"/>
                </a:solidFill>
                <a:latin typeface="Times New Roman" panose="02020603050405020304" pitchFamily="18" charset="0"/>
                <a:cs typeface="Times New Roman" panose="02020603050405020304" pitchFamily="18" charset="0"/>
              </a:rPr>
              <a:t>research</a:t>
            </a:r>
            <a:r>
              <a:rPr lang="fr-FR" sz="3200" b="1" dirty="0">
                <a:solidFill>
                  <a:srgbClr val="80276C"/>
                </a:solidFill>
                <a:latin typeface="Times New Roman" panose="02020603050405020304" pitchFamily="18" charset="0"/>
                <a:cs typeface="Times New Roman" panose="02020603050405020304" pitchFamily="18" charset="0"/>
              </a:rPr>
              <a:t> documents</a:t>
            </a:r>
          </a:p>
        </p:txBody>
      </p:sp>
    </p:spTree>
    <p:extLst>
      <p:ext uri="{BB962C8B-B14F-4D97-AF65-F5344CB8AC3E}">
        <p14:creationId xmlns:p14="http://schemas.microsoft.com/office/powerpoint/2010/main" val="21616350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C949C75-30DF-4CFC-930E-69DEF5D89272}"/>
              </a:ext>
            </a:extLst>
          </p:cNvPr>
          <p:cNvSpPr>
            <a:spLocks noGrp="1"/>
          </p:cNvSpPr>
          <p:nvPr>
            <p:ph type="body" sz="quarter" idx="11"/>
          </p:nvPr>
        </p:nvSpPr>
        <p:spPr>
          <a:xfrm>
            <a:off x="6174609" y="1838937"/>
            <a:ext cx="5404477" cy="2266720"/>
          </a:xfrm>
        </p:spPr>
        <p:txBody>
          <a:bodyPr>
            <a:normAutofit fontScale="77500" lnSpcReduction="20000"/>
          </a:bodyPr>
          <a:lstStyle/>
          <a:p>
            <a:r>
              <a:rPr lang="fr-FR" sz="3600" dirty="0" err="1">
                <a:solidFill>
                  <a:srgbClr val="FFC000"/>
                </a:solidFill>
                <a:latin typeface="Times New Roman" panose="02020603050405020304" pitchFamily="18" charset="0"/>
                <a:cs typeface="Times New Roman" panose="02020603050405020304" pitchFamily="18" charset="0"/>
              </a:rPr>
              <a:t>Exploring</a:t>
            </a:r>
            <a:r>
              <a:rPr lang="fr-FR" sz="3600" dirty="0">
                <a:solidFill>
                  <a:srgbClr val="FFC000"/>
                </a:solidFill>
                <a:latin typeface="Times New Roman" panose="02020603050405020304" pitchFamily="18" charset="0"/>
                <a:cs typeface="Times New Roman" panose="02020603050405020304" pitchFamily="18" charset="0"/>
              </a:rPr>
              <a:t> the world of </a:t>
            </a:r>
            <a:r>
              <a:rPr lang="fr-FR" sz="3600" dirty="0" err="1">
                <a:solidFill>
                  <a:srgbClr val="FFC000"/>
                </a:solidFill>
                <a:latin typeface="Times New Roman" panose="02020603050405020304" pitchFamily="18" charset="0"/>
                <a:cs typeface="Times New Roman" panose="02020603050405020304" pitchFamily="18" charset="0"/>
              </a:rPr>
              <a:t>research</a:t>
            </a:r>
            <a:r>
              <a:rPr lang="fr-FR" sz="3600" dirty="0">
                <a:solidFill>
                  <a:srgbClr val="FFC000"/>
                </a:solidFill>
                <a:latin typeface="Times New Roman" panose="02020603050405020304" pitchFamily="18" charset="0"/>
                <a:cs typeface="Times New Roman" panose="02020603050405020304" pitchFamily="18" charset="0"/>
              </a:rPr>
              <a:t> articles</a:t>
            </a:r>
          </a:p>
          <a:p>
            <a:pPr marL="571500" indent="-571500">
              <a:buFontTx/>
              <a:buChar char="-"/>
            </a:pPr>
            <a:r>
              <a:rPr lang="fr-FR" sz="3600" dirty="0" err="1">
                <a:solidFill>
                  <a:srgbClr val="FFC000"/>
                </a:solidFill>
                <a:latin typeface="Times New Roman" panose="02020603050405020304" pitchFamily="18" charset="0"/>
                <a:cs typeface="Times New Roman" panose="02020603050405020304" pitchFamily="18" charset="0"/>
              </a:rPr>
              <a:t>Different</a:t>
            </a:r>
            <a:r>
              <a:rPr lang="fr-FR" sz="3600" dirty="0">
                <a:solidFill>
                  <a:srgbClr val="FFC000"/>
                </a:solidFill>
                <a:latin typeface="Times New Roman" panose="02020603050405020304" pitchFamily="18" charset="0"/>
                <a:cs typeface="Times New Roman" panose="02020603050405020304" pitchFamily="18" charset="0"/>
              </a:rPr>
              <a:t> </a:t>
            </a:r>
            <a:r>
              <a:rPr lang="fr-FR" sz="3600" dirty="0" err="1">
                <a:solidFill>
                  <a:srgbClr val="FFC000"/>
                </a:solidFill>
                <a:latin typeface="Times New Roman" panose="02020603050405020304" pitchFamily="18" charset="0"/>
                <a:cs typeface="Times New Roman" panose="02020603050405020304" pitchFamily="18" charset="0"/>
              </a:rPr>
              <a:t>kinds</a:t>
            </a:r>
            <a:r>
              <a:rPr lang="fr-FR" sz="3600" dirty="0">
                <a:solidFill>
                  <a:srgbClr val="FFC000"/>
                </a:solidFill>
                <a:latin typeface="Times New Roman" panose="02020603050405020304" pitchFamily="18" charset="0"/>
                <a:cs typeface="Times New Roman" panose="02020603050405020304" pitchFamily="18" charset="0"/>
              </a:rPr>
              <a:t> of </a:t>
            </a:r>
            <a:r>
              <a:rPr lang="fr-FR" sz="3600" dirty="0" err="1">
                <a:solidFill>
                  <a:srgbClr val="FFC000"/>
                </a:solidFill>
                <a:latin typeface="Times New Roman" panose="02020603050405020304" pitchFamily="18" charset="0"/>
                <a:cs typeface="Times New Roman" panose="02020603050405020304" pitchFamily="18" charset="0"/>
              </a:rPr>
              <a:t>research</a:t>
            </a:r>
            <a:r>
              <a:rPr lang="fr-FR" sz="3600" dirty="0">
                <a:solidFill>
                  <a:srgbClr val="FFC000"/>
                </a:solidFill>
                <a:latin typeface="Times New Roman" panose="02020603050405020304" pitchFamily="18" charset="0"/>
                <a:cs typeface="Times New Roman" panose="02020603050405020304" pitchFamily="18" charset="0"/>
              </a:rPr>
              <a:t> articles</a:t>
            </a:r>
          </a:p>
          <a:p>
            <a:pPr marL="571500" indent="-571500">
              <a:buFontTx/>
              <a:buChar char="-"/>
            </a:pPr>
            <a:r>
              <a:rPr lang="fr-FR" sz="3600" dirty="0">
                <a:solidFill>
                  <a:srgbClr val="FFC000"/>
                </a:solidFill>
                <a:latin typeface="Times New Roman" panose="02020603050405020304" pitchFamily="18" charset="0"/>
                <a:cs typeface="Times New Roman" panose="02020603050405020304" pitchFamily="18" charset="0"/>
              </a:rPr>
              <a:t>How to </a:t>
            </a:r>
            <a:r>
              <a:rPr lang="fr-FR" sz="3600" dirty="0" err="1">
                <a:solidFill>
                  <a:srgbClr val="FFC000"/>
                </a:solidFill>
                <a:latin typeface="Times New Roman" panose="02020603050405020304" pitchFamily="18" charset="0"/>
                <a:cs typeface="Times New Roman" panose="02020603050405020304" pitchFamily="18" charset="0"/>
              </a:rPr>
              <a:t>read</a:t>
            </a:r>
            <a:r>
              <a:rPr lang="fr-FR" sz="3600" dirty="0">
                <a:solidFill>
                  <a:srgbClr val="FFC000"/>
                </a:solidFill>
                <a:latin typeface="Times New Roman" panose="02020603050405020304" pitchFamily="18" charset="0"/>
                <a:cs typeface="Times New Roman" panose="02020603050405020304" pitchFamily="18" charset="0"/>
              </a:rPr>
              <a:t> </a:t>
            </a:r>
            <a:r>
              <a:rPr lang="fr-FR" sz="3600" dirty="0" err="1">
                <a:solidFill>
                  <a:srgbClr val="FFC000"/>
                </a:solidFill>
                <a:latin typeface="Times New Roman" panose="02020603050405020304" pitchFamily="18" charset="0"/>
                <a:cs typeface="Times New Roman" panose="02020603050405020304" pitchFamily="18" charset="0"/>
              </a:rPr>
              <a:t>them</a:t>
            </a:r>
            <a:r>
              <a:rPr lang="fr-FR" sz="3600" dirty="0">
                <a:solidFill>
                  <a:srgbClr val="FFC000"/>
                </a:solidFill>
                <a:latin typeface="Times New Roman" panose="02020603050405020304" pitchFamily="18" charset="0"/>
                <a:cs typeface="Times New Roman" panose="02020603050405020304" pitchFamily="18" charset="0"/>
              </a:rPr>
              <a:t> </a:t>
            </a:r>
          </a:p>
          <a:p>
            <a:pPr marL="571500" indent="-571500">
              <a:buFontTx/>
              <a:buChar char="-"/>
            </a:pPr>
            <a:r>
              <a:rPr lang="fr-FR" sz="3600" dirty="0">
                <a:solidFill>
                  <a:srgbClr val="FFC000"/>
                </a:solidFill>
                <a:latin typeface="Times New Roman" panose="02020603050405020304" pitchFamily="18" charset="0"/>
                <a:cs typeface="Times New Roman" panose="02020603050405020304" pitchFamily="18" charset="0"/>
              </a:rPr>
              <a:t>Sources and </a:t>
            </a:r>
            <a:r>
              <a:rPr lang="fr-FR" sz="3600" dirty="0" err="1">
                <a:solidFill>
                  <a:srgbClr val="FFC000"/>
                </a:solidFill>
                <a:latin typeface="Times New Roman" panose="02020603050405020304" pitchFamily="18" charset="0"/>
                <a:cs typeface="Times New Roman" panose="02020603050405020304" pitchFamily="18" charset="0"/>
              </a:rPr>
              <a:t>references</a:t>
            </a:r>
            <a:r>
              <a:rPr lang="fr-FR" sz="3600" dirty="0">
                <a:solidFill>
                  <a:srgbClr val="FFC000"/>
                </a:solidFill>
                <a:latin typeface="Times New Roman" panose="02020603050405020304" pitchFamily="18" charset="0"/>
                <a:cs typeface="Times New Roman" panose="02020603050405020304" pitchFamily="18" charset="0"/>
              </a:rPr>
              <a:t> </a:t>
            </a:r>
          </a:p>
          <a:p>
            <a:endParaRPr lang="fr-FR" sz="3600" dirty="0">
              <a:solidFill>
                <a:srgbClr val="FFC000"/>
              </a:solidFill>
              <a:cs typeface="Times New Roman" panose="02020603050405020304" pitchFamily="18" charset="0"/>
            </a:endParaRPr>
          </a:p>
          <a:p>
            <a:endParaRPr lang="fr-FR" sz="3600" dirty="0">
              <a:solidFill>
                <a:srgbClr val="FFC000"/>
              </a:solidFill>
            </a:endParaRPr>
          </a:p>
        </p:txBody>
      </p:sp>
    </p:spTree>
    <p:extLst>
      <p:ext uri="{BB962C8B-B14F-4D97-AF65-F5344CB8AC3E}">
        <p14:creationId xmlns:p14="http://schemas.microsoft.com/office/powerpoint/2010/main" val="3443253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8B6A080-B310-449D-975C-5293D987012C}"/>
              </a:ext>
            </a:extLst>
          </p:cNvPr>
          <p:cNvSpPr>
            <a:spLocks noGrp="1"/>
          </p:cNvSpPr>
          <p:nvPr>
            <p:ph type="body" sz="quarter" idx="11"/>
          </p:nvPr>
        </p:nvSpPr>
        <p:spPr>
          <a:xfrm>
            <a:off x="5934075" y="1284269"/>
            <a:ext cx="5857875" cy="4444557"/>
          </a:xfrm>
        </p:spPr>
        <p:txBody>
          <a:bodyPr>
            <a:normAutofit lnSpcReduction="10000"/>
          </a:bodyPr>
          <a:lstStyle/>
          <a:p>
            <a:r>
              <a:rPr lang="fr-FR" sz="2800" dirty="0" err="1">
                <a:latin typeface="Times New Roman" panose="02020603050405020304" pitchFamily="18" charset="0"/>
                <a:cs typeface="Times New Roman" panose="02020603050405020304" pitchFamily="18" charset="0"/>
              </a:rPr>
              <a:t>Different</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kinds</a:t>
            </a:r>
            <a:r>
              <a:rPr lang="fr-FR" sz="2800" dirty="0">
                <a:latin typeface="Times New Roman" panose="02020603050405020304" pitchFamily="18" charset="0"/>
                <a:cs typeface="Times New Roman" panose="02020603050405020304" pitchFamily="18" charset="0"/>
              </a:rPr>
              <a:t> of </a:t>
            </a:r>
            <a:r>
              <a:rPr lang="fr-FR" sz="2800" dirty="0" err="1">
                <a:latin typeface="Times New Roman" panose="02020603050405020304" pitchFamily="18" charset="0"/>
                <a:cs typeface="Times New Roman" panose="02020603050405020304" pitchFamily="18" charset="0"/>
              </a:rPr>
              <a:t>research</a:t>
            </a:r>
            <a:r>
              <a:rPr lang="fr-FR" sz="2800" dirty="0">
                <a:latin typeface="Times New Roman" panose="02020603050405020304" pitchFamily="18" charset="0"/>
                <a:cs typeface="Times New Roman" panose="02020603050405020304" pitchFamily="18" charset="0"/>
              </a:rPr>
              <a:t> articles</a:t>
            </a:r>
          </a:p>
          <a:p>
            <a:endParaRPr lang="fr-FR"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General paper (state of art) / specialized specific paper</a:t>
            </a:r>
          </a:p>
          <a:p>
            <a:r>
              <a:rPr lang="fr-FR" sz="1700" dirty="0">
                <a:latin typeface="Times New Roman" panose="02020603050405020304" pitchFamily="18" charset="0"/>
                <a:cs typeface="Times New Roman" panose="02020603050405020304" pitchFamily="18" charset="0"/>
              </a:rPr>
              <a:t>Original </a:t>
            </a:r>
            <a:r>
              <a:rPr lang="fr-FR" sz="1700" dirty="0" err="1">
                <a:latin typeface="Times New Roman" panose="02020603050405020304" pitchFamily="18" charset="0"/>
                <a:cs typeface="Times New Roman" panose="02020603050405020304" pitchFamily="18" charset="0"/>
              </a:rPr>
              <a:t>Research</a:t>
            </a:r>
            <a:endParaRPr lang="fr-FR" sz="1700" dirty="0">
              <a:latin typeface="Times New Roman" panose="02020603050405020304" pitchFamily="18" charset="0"/>
              <a:cs typeface="Times New Roman" panose="02020603050405020304" pitchFamily="18" charset="0"/>
            </a:endParaRPr>
          </a:p>
          <a:p>
            <a:r>
              <a:rPr lang="fr-FR" sz="1700" dirty="0" err="1">
                <a:latin typeface="Times New Roman" panose="02020603050405020304" pitchFamily="18" charset="0"/>
                <a:cs typeface="Times New Roman" panose="02020603050405020304" pitchFamily="18" charset="0"/>
              </a:rPr>
              <a:t>Review</a:t>
            </a:r>
            <a:r>
              <a:rPr lang="fr-FR" sz="1700" dirty="0">
                <a:latin typeface="Times New Roman" panose="02020603050405020304" pitchFamily="18" charset="0"/>
                <a:cs typeface="Times New Roman" panose="02020603050405020304" pitchFamily="18" charset="0"/>
              </a:rPr>
              <a:t> </a:t>
            </a:r>
          </a:p>
          <a:p>
            <a:r>
              <a:rPr lang="en-US" sz="1700" dirty="0">
                <a:latin typeface="Times New Roman" panose="02020603050405020304" pitchFamily="18" charset="0"/>
                <a:cs typeface="Times New Roman" panose="02020603050405020304" pitchFamily="18" charset="0"/>
              </a:rPr>
              <a:t>Meta-analysis </a:t>
            </a:r>
          </a:p>
          <a:p>
            <a:r>
              <a:rPr lang="en-US" sz="1700" dirty="0">
                <a:latin typeface="Times New Roman" panose="02020603050405020304" pitchFamily="18" charset="0"/>
                <a:cs typeface="Times New Roman" panose="02020603050405020304" pitchFamily="18" charset="0"/>
              </a:rPr>
              <a:t>Letter to editor</a:t>
            </a:r>
          </a:p>
          <a:p>
            <a:r>
              <a:rPr lang="en-US" sz="1700" dirty="0">
                <a:latin typeface="Times New Roman" panose="02020603050405020304" pitchFamily="18" charset="0"/>
                <a:cs typeface="Times New Roman" panose="02020603050405020304" pitchFamily="18" charset="0"/>
              </a:rPr>
              <a:t>Case studies</a:t>
            </a:r>
          </a:p>
          <a:p>
            <a:r>
              <a:rPr lang="en-US" sz="1700" dirty="0">
                <a:latin typeface="Times New Roman" panose="02020603050405020304" pitchFamily="18" charset="0"/>
                <a:cs typeface="Times New Roman" panose="02020603050405020304" pitchFamily="18" charset="0"/>
              </a:rPr>
              <a:t>Methodology or methods</a:t>
            </a:r>
          </a:p>
          <a:p>
            <a:endParaRPr lang="en-US" sz="1700" dirty="0">
              <a:latin typeface="Times New Roman" panose="02020603050405020304" pitchFamily="18" charset="0"/>
              <a:cs typeface="Times New Roman" panose="02020603050405020304" pitchFamily="18" charset="0"/>
            </a:endParaRPr>
          </a:p>
          <a:p>
            <a:r>
              <a:rPr lang="fr-FR" sz="1700" dirty="0">
                <a:latin typeface="Times New Roman" panose="02020603050405020304" pitchFamily="18" charset="0"/>
                <a:cs typeface="Times New Roman" panose="02020603050405020304" pitchFamily="18" charset="0"/>
                <a:hlinkClick r:id="rId2"/>
              </a:rPr>
              <a:t>Types of journal articles | Springer — International Publisher</a:t>
            </a:r>
            <a:endParaRPr lang="en-US" sz="1700" dirty="0">
              <a:latin typeface="Times New Roman" panose="02020603050405020304" pitchFamily="18" charset="0"/>
              <a:cs typeface="Times New Roman" panose="02020603050405020304" pitchFamily="18" charset="0"/>
            </a:endParaRPr>
          </a:p>
          <a:p>
            <a:endParaRPr lang="fr-FR" dirty="0"/>
          </a:p>
        </p:txBody>
      </p:sp>
      <p:sp>
        <p:nvSpPr>
          <p:cNvPr id="3" name="ZoneTexte 2">
            <a:extLst>
              <a:ext uri="{FF2B5EF4-FFF2-40B4-BE49-F238E27FC236}">
                <a16:creationId xmlns:a16="http://schemas.microsoft.com/office/drawing/2014/main" id="{94E275CA-002B-4BFE-B09F-5C52DE47B07A}"/>
              </a:ext>
            </a:extLst>
          </p:cNvPr>
          <p:cNvSpPr txBox="1"/>
          <p:nvPr/>
        </p:nvSpPr>
        <p:spPr>
          <a:xfrm>
            <a:off x="268614" y="636368"/>
            <a:ext cx="5827386" cy="564257"/>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How to </a:t>
            </a:r>
            <a:r>
              <a:rPr lang="fr-FR" sz="2800" b="1" baseline="30000" dirty="0" err="1">
                <a:solidFill>
                  <a:srgbClr val="80276C"/>
                </a:solidFill>
                <a:latin typeface="Verdana" panose="020B0604030504040204" pitchFamily="34" charset="0"/>
                <a:ea typeface="Verdana" panose="020B0604030504040204" pitchFamily="34" charset="0"/>
              </a:rPr>
              <a:t>read</a:t>
            </a:r>
            <a:r>
              <a:rPr lang="fr-FR" sz="2800" b="1" baseline="30000" dirty="0">
                <a:solidFill>
                  <a:srgbClr val="80276C"/>
                </a:solidFill>
                <a:latin typeface="Verdana" panose="020B0604030504040204" pitchFamily="34" charset="0"/>
                <a:ea typeface="Verdana" panose="020B0604030504040204" pitchFamily="34" charset="0"/>
              </a:rPr>
              <a:t> a </a:t>
            </a:r>
            <a:r>
              <a:rPr lang="fr-FR" sz="2800" b="1" baseline="30000" dirty="0" err="1">
                <a:solidFill>
                  <a:srgbClr val="80276C"/>
                </a:solidFill>
                <a:latin typeface="Verdana" panose="020B0604030504040204" pitchFamily="34" charset="0"/>
                <a:ea typeface="Verdana" panose="020B0604030504040204" pitchFamily="34" charset="0"/>
              </a:rPr>
              <a:t>scientific</a:t>
            </a:r>
            <a:r>
              <a:rPr lang="fr-FR" sz="2800" b="1" baseline="30000" dirty="0">
                <a:solidFill>
                  <a:srgbClr val="80276C"/>
                </a:solidFill>
                <a:latin typeface="Verdana" panose="020B0604030504040204" pitchFamily="34" charset="0"/>
                <a:ea typeface="Verdana" panose="020B0604030504040204" pitchFamily="34" charset="0"/>
              </a:rPr>
              <a:t> article 1/3 ? </a:t>
            </a:r>
          </a:p>
          <a:p>
            <a:pPr algn="just"/>
            <a:endParaRPr lang="fr-FR" baseline="3000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397312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EB3FE5A4-7FAA-454F-BB43-7C6EA1175705}"/>
              </a:ext>
            </a:extLst>
          </p:cNvPr>
          <p:cNvGrpSpPr/>
          <p:nvPr/>
        </p:nvGrpSpPr>
        <p:grpSpPr>
          <a:xfrm>
            <a:off x="5814660" y="1394234"/>
            <a:ext cx="5949250" cy="5414236"/>
            <a:chOff x="2331074" y="1575680"/>
            <a:chExt cx="7828256" cy="4717855"/>
          </a:xfrm>
        </p:grpSpPr>
        <p:sp>
          <p:nvSpPr>
            <p:cNvPr id="5" name="ZoneTexte 4">
              <a:extLst>
                <a:ext uri="{FF2B5EF4-FFF2-40B4-BE49-F238E27FC236}">
                  <a16:creationId xmlns:a16="http://schemas.microsoft.com/office/drawing/2014/main" id="{5A6E2912-0A93-408A-B9C2-0EA35A097EFE}"/>
                </a:ext>
              </a:extLst>
            </p:cNvPr>
            <p:cNvSpPr txBox="1"/>
            <p:nvPr/>
          </p:nvSpPr>
          <p:spPr>
            <a:xfrm>
              <a:off x="2560900" y="1575680"/>
              <a:ext cx="7287491" cy="2369014"/>
            </a:xfrm>
            <a:prstGeom prst="rect">
              <a:avLst/>
            </a:prstGeom>
            <a:noFill/>
          </p:spPr>
          <p:txBody>
            <a:bodyPr wrap="square" rtlCol="0">
              <a:spAutoFit/>
            </a:bodyPr>
            <a:lstStyle/>
            <a:p>
              <a:pPr algn="just"/>
              <a:r>
                <a:rPr lang="fr-FR" sz="2800" b="1" baseline="30000" dirty="0" err="1">
                  <a:solidFill>
                    <a:srgbClr val="80276C"/>
                  </a:solidFill>
                  <a:latin typeface="Verdana" panose="020B0604030504040204" pitchFamily="34" charset="0"/>
                  <a:ea typeface="Verdana" panose="020B0604030504040204" pitchFamily="34" charset="0"/>
                </a:rPr>
                <a:t>What</a:t>
              </a:r>
              <a:r>
                <a:rPr lang="fr-FR" sz="2800" b="1" baseline="30000" dirty="0">
                  <a:solidFill>
                    <a:srgbClr val="80276C"/>
                  </a:solidFill>
                  <a:latin typeface="Verdana" panose="020B0604030504040204" pitchFamily="34" charset="0"/>
                  <a:ea typeface="Verdana" panose="020B0604030504040204" pitchFamily="34" charset="0"/>
                </a:rPr>
                <a:t> to </a:t>
              </a:r>
              <a:r>
                <a:rPr lang="fr-FR" sz="2800" b="1" baseline="30000" dirty="0" err="1">
                  <a:solidFill>
                    <a:srgbClr val="80276C"/>
                  </a:solidFill>
                  <a:latin typeface="Verdana" panose="020B0604030504040204" pitchFamily="34" charset="0"/>
                  <a:ea typeface="Verdana" panose="020B0604030504040204" pitchFamily="34" charset="0"/>
                </a:rPr>
                <a:t>pay</a:t>
              </a:r>
              <a:r>
                <a:rPr lang="fr-FR" sz="2800" b="1" baseline="30000" dirty="0">
                  <a:solidFill>
                    <a:srgbClr val="80276C"/>
                  </a:solidFill>
                  <a:latin typeface="Verdana" panose="020B0604030504040204" pitchFamily="34" charset="0"/>
                  <a:ea typeface="Verdana" panose="020B0604030504040204" pitchFamily="34" charset="0"/>
                </a:rPr>
                <a:t> attention to: </a:t>
              </a:r>
            </a:p>
            <a:p>
              <a:r>
                <a:rPr lang="en-US" sz="2000" dirty="0">
                  <a:solidFill>
                    <a:srgbClr val="80276C"/>
                  </a:solidFill>
                </a:rPr>
                <a:t>The number of quotes on BD Scopus</a:t>
              </a:r>
            </a:p>
            <a:p>
              <a:r>
                <a:rPr lang="en-US" sz="2000" dirty="0">
                  <a:solidFill>
                    <a:srgbClr val="80276C"/>
                  </a:solidFill>
                </a:rPr>
                <a:t>Old article mentioned in many articles </a:t>
              </a:r>
            </a:p>
            <a:p>
              <a:r>
                <a:rPr lang="en-US" sz="2000" dirty="0">
                  <a:solidFill>
                    <a:srgbClr val="80276C"/>
                  </a:solidFill>
                </a:rPr>
                <a:t>probably a founding article</a:t>
              </a:r>
            </a:p>
            <a:p>
              <a:r>
                <a:rPr lang="en-US" sz="2000" dirty="0">
                  <a:solidFill>
                    <a:srgbClr val="80276C"/>
                  </a:solidFill>
                </a:rPr>
                <a:t>General paper (state of art) /  specific paper</a:t>
              </a:r>
            </a:p>
            <a:p>
              <a:r>
                <a:rPr lang="en-US" sz="2000" dirty="0">
                  <a:solidFill>
                    <a:srgbClr val="80276C"/>
                  </a:solidFill>
                </a:rPr>
                <a:t>Author and/or laboratory recognized in the field</a:t>
              </a:r>
            </a:p>
            <a:p>
              <a:r>
                <a:rPr lang="en-US" sz="2000" dirty="0">
                  <a:solidFill>
                    <a:srgbClr val="80276C"/>
                  </a:solidFill>
                </a:rPr>
                <a:t>Relevant journal in the field</a:t>
              </a:r>
            </a:p>
            <a:p>
              <a:r>
                <a:rPr lang="en-US" sz="2000" dirty="0">
                  <a:solidFill>
                    <a:srgbClr val="80276C"/>
                  </a:solidFill>
                </a:rPr>
                <a:t>Your experience....</a:t>
              </a:r>
              <a:endParaRPr lang="fr-FR" sz="2000" dirty="0">
                <a:solidFill>
                  <a:srgbClr val="80276C"/>
                </a:solidFill>
              </a:endParaRPr>
            </a:p>
            <a:p>
              <a:pPr algn="just"/>
              <a:endParaRPr lang="fr-FR" baseline="30000" dirty="0">
                <a:solidFill>
                  <a:srgbClr val="80276C"/>
                </a:solidFill>
                <a:latin typeface="Verdana" panose="020B0604030504040204" pitchFamily="34" charset="0"/>
                <a:ea typeface="Verdana" panose="020B0604030504040204" pitchFamily="34" charset="0"/>
              </a:endParaRPr>
            </a:p>
          </p:txBody>
        </p:sp>
        <p:sp>
          <p:nvSpPr>
            <p:cNvPr id="6" name="ZoneTexte 5">
              <a:extLst>
                <a:ext uri="{FF2B5EF4-FFF2-40B4-BE49-F238E27FC236}">
                  <a16:creationId xmlns:a16="http://schemas.microsoft.com/office/drawing/2014/main" id="{D5A4D5B2-CEC9-4CCC-9446-B6F2DBD5CE1A}"/>
                </a:ext>
              </a:extLst>
            </p:cNvPr>
            <p:cNvSpPr txBox="1"/>
            <p:nvPr/>
          </p:nvSpPr>
          <p:spPr>
            <a:xfrm>
              <a:off x="2331074" y="4282108"/>
              <a:ext cx="7828256" cy="2011427"/>
            </a:xfrm>
            <a:prstGeom prst="rect">
              <a:avLst/>
            </a:prstGeom>
            <a:noFill/>
          </p:spPr>
          <p:txBody>
            <a:bodyPr wrap="square" rtlCol="0">
              <a:spAutoFit/>
            </a:bodyPr>
            <a:lstStyle/>
            <a:p>
              <a:r>
                <a:rPr lang="fr-FR" b="1" dirty="0" err="1"/>
                <a:t>Study</a:t>
              </a:r>
              <a:r>
                <a:rPr lang="fr-FR" b="1" dirty="0"/>
                <a:t> of a article:</a:t>
              </a:r>
            </a:p>
            <a:p>
              <a:r>
                <a:rPr lang="fr-FR" b="1" dirty="0" err="1"/>
                <a:t>Scopus</a:t>
              </a:r>
              <a:r>
                <a:rPr lang="fr-FR" b="1" dirty="0"/>
                <a:t> – </a:t>
              </a:r>
              <a:r>
                <a:rPr lang="fr-FR" b="1" dirty="0" err="1"/>
                <a:t>search</a:t>
              </a:r>
              <a:r>
                <a:rPr lang="fr-FR" b="1" dirty="0"/>
                <a:t> « innovation </a:t>
              </a:r>
              <a:r>
                <a:rPr lang="fr-FR" b="1" dirty="0" err="1"/>
                <a:t>engineer</a:t>
              </a:r>
              <a:r>
                <a:rPr lang="fr-FR" b="1" dirty="0"/>
                <a:t> »</a:t>
              </a:r>
              <a:br>
                <a:rPr lang="fr-FR" b="1" dirty="0"/>
              </a:br>
              <a:r>
                <a:rPr lang="fr-FR" b="1" dirty="0"/>
                <a:t> </a:t>
              </a:r>
              <a:r>
                <a:rPr lang="fr-FR" b="1" dirty="0" err="1"/>
                <a:t>year</a:t>
              </a:r>
              <a:r>
                <a:rPr lang="fr-FR" b="1" dirty="0"/>
                <a:t> 2025, 6th </a:t>
              </a:r>
              <a:r>
                <a:rPr lang="fr-FR" b="1" dirty="0" err="1"/>
                <a:t>occurency</a:t>
              </a:r>
              <a:endParaRPr lang="fr-FR" b="1" dirty="0"/>
            </a:p>
            <a:p>
              <a:endParaRPr lang="fr-FR" b="1" dirty="0"/>
            </a:p>
            <a:p>
              <a:r>
                <a:rPr lang="fr-FR" dirty="0">
                  <a:solidFill>
                    <a:srgbClr val="80276C"/>
                  </a:solidFill>
                  <a:hlinkClick r:id="rId2"/>
                </a:rPr>
                <a:t>https://www-scopus-com.rp1.ensam.eu/pages/publications/105010112561</a:t>
              </a:r>
              <a:br>
                <a:rPr lang="fr-FR" dirty="0">
                  <a:highlight>
                    <a:srgbClr val="FFFF00"/>
                  </a:highlight>
                </a:rPr>
              </a:br>
              <a:br>
                <a:rPr lang="fr-FR" dirty="0">
                  <a:highlight>
                    <a:srgbClr val="FFFF00"/>
                  </a:highlight>
                </a:rPr>
              </a:br>
              <a:r>
                <a:rPr lang="fr-FR" dirty="0">
                  <a:highlight>
                    <a:srgbClr val="FFFF00"/>
                  </a:highlight>
                </a:rPr>
                <a:t>  </a:t>
              </a:r>
            </a:p>
          </p:txBody>
        </p:sp>
      </p:grpSp>
      <p:sp>
        <p:nvSpPr>
          <p:cNvPr id="7" name="ZoneTexte 6">
            <a:extLst>
              <a:ext uri="{FF2B5EF4-FFF2-40B4-BE49-F238E27FC236}">
                <a16:creationId xmlns:a16="http://schemas.microsoft.com/office/drawing/2014/main" id="{80D1E92E-2200-458A-A1C9-4CECC4CE8403}"/>
              </a:ext>
            </a:extLst>
          </p:cNvPr>
          <p:cNvSpPr txBox="1"/>
          <p:nvPr/>
        </p:nvSpPr>
        <p:spPr>
          <a:xfrm>
            <a:off x="268614" y="636368"/>
            <a:ext cx="5827386" cy="564257"/>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How to </a:t>
            </a:r>
            <a:r>
              <a:rPr lang="fr-FR" sz="2800" b="1" baseline="30000" dirty="0" err="1">
                <a:solidFill>
                  <a:srgbClr val="80276C"/>
                </a:solidFill>
                <a:latin typeface="Verdana" panose="020B0604030504040204" pitchFamily="34" charset="0"/>
                <a:ea typeface="Verdana" panose="020B0604030504040204" pitchFamily="34" charset="0"/>
              </a:rPr>
              <a:t>read</a:t>
            </a:r>
            <a:r>
              <a:rPr lang="fr-FR" sz="2800" b="1" baseline="30000" dirty="0">
                <a:solidFill>
                  <a:srgbClr val="80276C"/>
                </a:solidFill>
                <a:latin typeface="Verdana" panose="020B0604030504040204" pitchFamily="34" charset="0"/>
                <a:ea typeface="Verdana" panose="020B0604030504040204" pitchFamily="34" charset="0"/>
              </a:rPr>
              <a:t> a </a:t>
            </a:r>
            <a:r>
              <a:rPr lang="fr-FR" sz="2800" b="1" baseline="30000" dirty="0" err="1">
                <a:solidFill>
                  <a:srgbClr val="80276C"/>
                </a:solidFill>
                <a:latin typeface="Verdana" panose="020B0604030504040204" pitchFamily="34" charset="0"/>
                <a:ea typeface="Verdana" panose="020B0604030504040204" pitchFamily="34" charset="0"/>
              </a:rPr>
              <a:t>scientific</a:t>
            </a:r>
            <a:r>
              <a:rPr lang="fr-FR" sz="2800" b="1" baseline="30000" dirty="0">
                <a:solidFill>
                  <a:srgbClr val="80276C"/>
                </a:solidFill>
                <a:latin typeface="Verdana" panose="020B0604030504040204" pitchFamily="34" charset="0"/>
                <a:ea typeface="Verdana" panose="020B0604030504040204" pitchFamily="34" charset="0"/>
              </a:rPr>
              <a:t> article 2/4 ? </a:t>
            </a:r>
          </a:p>
          <a:p>
            <a:pPr algn="just"/>
            <a:endParaRPr lang="fr-FR" baseline="30000"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20355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D8E678DF-4A1C-471C-893D-A76A6ED5D138}"/>
              </a:ext>
            </a:extLst>
          </p:cNvPr>
          <p:cNvSpPr txBox="1"/>
          <p:nvPr/>
        </p:nvSpPr>
        <p:spPr>
          <a:xfrm>
            <a:off x="825963" y="518346"/>
            <a:ext cx="5827386" cy="564257"/>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How to </a:t>
            </a:r>
            <a:r>
              <a:rPr lang="fr-FR" sz="2800" b="1" baseline="30000" dirty="0" err="1">
                <a:solidFill>
                  <a:srgbClr val="80276C"/>
                </a:solidFill>
                <a:latin typeface="Verdana" panose="020B0604030504040204" pitchFamily="34" charset="0"/>
                <a:ea typeface="Verdana" panose="020B0604030504040204" pitchFamily="34" charset="0"/>
              </a:rPr>
              <a:t>read</a:t>
            </a:r>
            <a:r>
              <a:rPr lang="fr-FR" sz="2800" b="1" baseline="30000" dirty="0">
                <a:solidFill>
                  <a:srgbClr val="80276C"/>
                </a:solidFill>
                <a:latin typeface="Verdana" panose="020B0604030504040204" pitchFamily="34" charset="0"/>
                <a:ea typeface="Verdana" panose="020B0604030504040204" pitchFamily="34" charset="0"/>
              </a:rPr>
              <a:t> a </a:t>
            </a:r>
            <a:r>
              <a:rPr lang="fr-FR" sz="2800" b="1" baseline="30000" dirty="0" err="1">
                <a:solidFill>
                  <a:srgbClr val="80276C"/>
                </a:solidFill>
                <a:latin typeface="Verdana" panose="020B0604030504040204" pitchFamily="34" charset="0"/>
                <a:ea typeface="Verdana" panose="020B0604030504040204" pitchFamily="34" charset="0"/>
              </a:rPr>
              <a:t>scientific</a:t>
            </a:r>
            <a:r>
              <a:rPr lang="fr-FR" sz="2800" b="1" baseline="30000" dirty="0">
                <a:solidFill>
                  <a:srgbClr val="80276C"/>
                </a:solidFill>
                <a:latin typeface="Verdana" panose="020B0604030504040204" pitchFamily="34" charset="0"/>
                <a:ea typeface="Verdana" panose="020B0604030504040204" pitchFamily="34" charset="0"/>
              </a:rPr>
              <a:t> article 3/4 ? </a:t>
            </a:r>
          </a:p>
          <a:p>
            <a:pPr algn="just"/>
            <a:endParaRPr lang="fr-FR" baseline="30000" dirty="0">
              <a:solidFill>
                <a:srgbClr val="80276C"/>
              </a:solidFill>
              <a:latin typeface="Verdana" panose="020B0604030504040204" pitchFamily="34" charset="0"/>
              <a:ea typeface="Verdana" panose="020B0604030504040204" pitchFamily="34" charset="0"/>
            </a:endParaRPr>
          </a:p>
        </p:txBody>
      </p:sp>
      <p:pic>
        <p:nvPicPr>
          <p:cNvPr id="5" name="Image 4">
            <a:extLst>
              <a:ext uri="{FF2B5EF4-FFF2-40B4-BE49-F238E27FC236}">
                <a16:creationId xmlns:a16="http://schemas.microsoft.com/office/drawing/2014/main" id="{5EF46F6E-717D-4838-ACD2-0675A28C4006}"/>
              </a:ext>
            </a:extLst>
          </p:cNvPr>
          <p:cNvPicPr/>
          <p:nvPr/>
        </p:nvPicPr>
        <p:blipFill rotWithShape="1">
          <a:blip r:embed="rId2"/>
          <a:srcRect l="71374" t="15871" r="12752" b="6661"/>
          <a:stretch/>
        </p:blipFill>
        <p:spPr bwMode="auto">
          <a:xfrm>
            <a:off x="3900689" y="859536"/>
            <a:ext cx="7785342" cy="5480118"/>
          </a:xfrm>
          <a:prstGeom prst="rect">
            <a:avLst/>
          </a:prstGeom>
          <a:ln>
            <a:noFill/>
          </a:ln>
          <a:extLst>
            <a:ext uri="{53640926-AAD7-44D8-BBD7-CCE9431645EC}">
              <a14:shadowObscured xmlns:a14="http://schemas.microsoft.com/office/drawing/2010/main"/>
            </a:ext>
          </a:extLst>
        </p:spPr>
      </p:pic>
      <p:sp>
        <p:nvSpPr>
          <p:cNvPr id="2" name="Rectangle 1">
            <a:extLst>
              <a:ext uri="{FF2B5EF4-FFF2-40B4-BE49-F238E27FC236}">
                <a16:creationId xmlns:a16="http://schemas.microsoft.com/office/drawing/2014/main" id="{91A26A1F-ACFA-4909-A7A3-D291BF6BBDDA}"/>
              </a:ext>
            </a:extLst>
          </p:cNvPr>
          <p:cNvSpPr/>
          <p:nvPr/>
        </p:nvSpPr>
        <p:spPr>
          <a:xfrm>
            <a:off x="691656" y="1423793"/>
            <a:ext cx="2508744" cy="3970318"/>
          </a:xfrm>
          <a:prstGeom prst="rect">
            <a:avLst/>
          </a:prstGeom>
        </p:spPr>
        <p:txBody>
          <a:bodyPr wrap="square">
            <a:spAutoFit/>
          </a:bodyPr>
          <a:lstStyle/>
          <a:p>
            <a:pPr marL="285750" indent="-285750">
              <a:buFont typeface="Wingdings" panose="05000000000000000000" pitchFamily="2" charset="2"/>
              <a:buChar char="§"/>
            </a:pPr>
            <a:r>
              <a:rPr lang="en-US" dirty="0">
                <a:solidFill>
                  <a:srgbClr val="80276C"/>
                </a:solidFill>
                <a:latin typeface="Roboto"/>
              </a:rPr>
              <a:t>Why was this article put together? What decided its author to develop it? </a:t>
            </a:r>
          </a:p>
          <a:p>
            <a:endParaRPr lang="en-US" dirty="0">
              <a:solidFill>
                <a:srgbClr val="80276C"/>
              </a:solidFill>
              <a:latin typeface="Roboto"/>
            </a:endParaRPr>
          </a:p>
          <a:p>
            <a:pPr marL="342900" indent="-342900">
              <a:buFont typeface="Wingdings" panose="05000000000000000000" pitchFamily="2" charset="2"/>
              <a:buChar char="§"/>
            </a:pPr>
            <a:r>
              <a:rPr lang="en-US" dirty="0">
                <a:solidFill>
                  <a:srgbClr val="80276C"/>
                </a:solidFill>
                <a:latin typeface="Roboto"/>
              </a:rPr>
              <a:t>What answer(s) does it provide to the problem? </a:t>
            </a:r>
          </a:p>
          <a:p>
            <a:endParaRPr lang="en-US" dirty="0">
              <a:solidFill>
                <a:srgbClr val="80276C"/>
              </a:solidFill>
              <a:latin typeface="Roboto"/>
            </a:endParaRPr>
          </a:p>
          <a:p>
            <a:pPr marL="342900" indent="-342900">
              <a:buFont typeface="Wingdings" panose="05000000000000000000" pitchFamily="2" charset="2"/>
              <a:buChar char="§"/>
            </a:pPr>
            <a:r>
              <a:rPr lang="en-US" dirty="0">
                <a:solidFill>
                  <a:srgbClr val="80276C"/>
                </a:solidFill>
                <a:latin typeface="Roboto"/>
              </a:rPr>
              <a:t>What is the contribution of this answer to the advancement of the issue?</a:t>
            </a:r>
            <a:endParaRPr lang="fr-FR" dirty="0">
              <a:solidFill>
                <a:srgbClr val="80276C"/>
              </a:solidFill>
            </a:endParaRPr>
          </a:p>
        </p:txBody>
      </p:sp>
    </p:spTree>
    <p:extLst>
      <p:ext uri="{BB962C8B-B14F-4D97-AF65-F5344CB8AC3E}">
        <p14:creationId xmlns:p14="http://schemas.microsoft.com/office/powerpoint/2010/main" val="33903318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102E6204-A7F7-447F-9889-702D192D83E6}"/>
              </a:ext>
            </a:extLst>
          </p:cNvPr>
          <p:cNvGrpSpPr/>
          <p:nvPr/>
        </p:nvGrpSpPr>
        <p:grpSpPr>
          <a:xfrm>
            <a:off x="357397" y="518346"/>
            <a:ext cx="6295952" cy="4616218"/>
            <a:chOff x="-324573" y="518346"/>
            <a:chExt cx="10525444" cy="4616218"/>
          </a:xfrm>
        </p:grpSpPr>
        <p:sp>
          <p:nvSpPr>
            <p:cNvPr id="5" name="ZoneTexte 4">
              <a:extLst>
                <a:ext uri="{FF2B5EF4-FFF2-40B4-BE49-F238E27FC236}">
                  <a16:creationId xmlns:a16="http://schemas.microsoft.com/office/drawing/2014/main" id="{D85A34BE-D15C-4FAA-A5F6-F584AFED4757}"/>
                </a:ext>
              </a:extLst>
            </p:cNvPr>
            <p:cNvSpPr txBox="1"/>
            <p:nvPr/>
          </p:nvSpPr>
          <p:spPr>
            <a:xfrm>
              <a:off x="458766" y="518346"/>
              <a:ext cx="9742105" cy="564257"/>
            </a:xfrm>
            <a:prstGeom prst="rect">
              <a:avLst/>
            </a:prstGeom>
            <a:noFill/>
          </p:spPr>
          <p:txBody>
            <a:bodyPr wrap="square" rtlCol="0">
              <a:spAutoFit/>
            </a:bodyPr>
            <a:lstStyle/>
            <a:p>
              <a:pPr algn="just"/>
              <a:r>
                <a:rPr lang="fr-FR" sz="2800" b="1" baseline="30000" dirty="0">
                  <a:solidFill>
                    <a:srgbClr val="80276C"/>
                  </a:solidFill>
                  <a:latin typeface="Verdana" panose="020B0604030504040204" pitchFamily="34" charset="0"/>
                  <a:ea typeface="Verdana" panose="020B0604030504040204" pitchFamily="34" charset="0"/>
                </a:rPr>
                <a:t>How to </a:t>
              </a:r>
              <a:r>
                <a:rPr lang="fr-FR" sz="2800" b="1" baseline="30000" dirty="0" err="1">
                  <a:solidFill>
                    <a:srgbClr val="80276C"/>
                  </a:solidFill>
                  <a:latin typeface="Verdana" panose="020B0604030504040204" pitchFamily="34" charset="0"/>
                  <a:ea typeface="Verdana" panose="020B0604030504040204" pitchFamily="34" charset="0"/>
                </a:rPr>
                <a:t>read</a:t>
              </a:r>
              <a:r>
                <a:rPr lang="fr-FR" sz="2800" b="1" baseline="30000" dirty="0">
                  <a:solidFill>
                    <a:srgbClr val="80276C"/>
                  </a:solidFill>
                  <a:latin typeface="Verdana" panose="020B0604030504040204" pitchFamily="34" charset="0"/>
                  <a:ea typeface="Verdana" panose="020B0604030504040204" pitchFamily="34" charset="0"/>
                </a:rPr>
                <a:t> a </a:t>
              </a:r>
              <a:r>
                <a:rPr lang="fr-FR" sz="2800" b="1" baseline="30000" dirty="0" err="1">
                  <a:solidFill>
                    <a:srgbClr val="80276C"/>
                  </a:solidFill>
                  <a:latin typeface="Verdana" panose="020B0604030504040204" pitchFamily="34" charset="0"/>
                  <a:ea typeface="Verdana" panose="020B0604030504040204" pitchFamily="34" charset="0"/>
                </a:rPr>
                <a:t>scientific</a:t>
              </a:r>
              <a:r>
                <a:rPr lang="fr-FR" sz="2800" b="1" baseline="30000" dirty="0">
                  <a:solidFill>
                    <a:srgbClr val="80276C"/>
                  </a:solidFill>
                  <a:latin typeface="Verdana" panose="020B0604030504040204" pitchFamily="34" charset="0"/>
                  <a:ea typeface="Verdana" panose="020B0604030504040204" pitchFamily="34" charset="0"/>
                </a:rPr>
                <a:t> article 4/4 ? </a:t>
              </a:r>
            </a:p>
            <a:p>
              <a:pPr algn="just"/>
              <a:endParaRPr lang="fr-FR" baseline="30000" dirty="0">
                <a:solidFill>
                  <a:srgbClr val="80276C"/>
                </a:solidFill>
                <a:latin typeface="Verdana" panose="020B0604030504040204" pitchFamily="34" charset="0"/>
                <a:ea typeface="Verdana" panose="020B0604030504040204" pitchFamily="34" charset="0"/>
              </a:endParaRPr>
            </a:p>
          </p:txBody>
        </p:sp>
        <p:sp>
          <p:nvSpPr>
            <p:cNvPr id="6" name="Espace réservé du contenu 2">
              <a:extLst>
                <a:ext uri="{FF2B5EF4-FFF2-40B4-BE49-F238E27FC236}">
                  <a16:creationId xmlns:a16="http://schemas.microsoft.com/office/drawing/2014/main" id="{C971DD16-0BB4-4F0B-92AE-D4ECCA080510}"/>
                </a:ext>
              </a:extLst>
            </p:cNvPr>
            <p:cNvSpPr txBox="1">
              <a:spLocks/>
            </p:cNvSpPr>
            <p:nvPr/>
          </p:nvSpPr>
          <p:spPr>
            <a:xfrm>
              <a:off x="-324573" y="1082603"/>
              <a:ext cx="4750937" cy="40519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600" dirty="0">
                  <a:solidFill>
                    <a:srgbClr val="80276C"/>
                  </a:solidFill>
                </a:rPr>
                <a:t>Date of the article and/or publication (recent article? Has it already been published?)</a:t>
              </a:r>
            </a:p>
            <a:p>
              <a:r>
                <a:rPr lang="en-US" sz="1600" dirty="0">
                  <a:solidFill>
                    <a:srgbClr val="80276C"/>
                  </a:solidFill>
                </a:rPr>
                <a:t>Support and nature of the article (journal, book, magazine, collective work, conference, seminar, course....)</a:t>
              </a:r>
            </a:p>
            <a:p>
              <a:pPr>
                <a:buFont typeface="Wingdings" panose="05000000000000000000" pitchFamily="2" charset="2"/>
                <a:buChar char="§"/>
              </a:pPr>
              <a:r>
                <a:rPr lang="en-US" sz="1600" dirty="0">
                  <a:solidFill>
                    <a:srgbClr val="80276C"/>
                  </a:solidFill>
                </a:rPr>
                <a:t>What type of text is it (original result, report, press release ....)</a:t>
              </a:r>
              <a:endParaRPr lang="fr-FR" sz="1600" dirty="0">
                <a:solidFill>
                  <a:srgbClr val="80276C"/>
                </a:solidFill>
              </a:endParaRPr>
            </a:p>
          </p:txBody>
        </p:sp>
      </p:grpSp>
      <p:pic>
        <p:nvPicPr>
          <p:cNvPr id="8" name="Picture 4">
            <a:extLst>
              <a:ext uri="{FF2B5EF4-FFF2-40B4-BE49-F238E27FC236}">
                <a16:creationId xmlns:a16="http://schemas.microsoft.com/office/drawing/2014/main" id="{2250C98C-62D5-42F7-9FAC-89D86D2DB8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314" t="11497" r="27458"/>
          <a:stretch/>
        </p:blipFill>
        <p:spPr bwMode="auto">
          <a:xfrm>
            <a:off x="3510575" y="1124337"/>
            <a:ext cx="4704871" cy="444317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Ellipse 8">
            <a:extLst>
              <a:ext uri="{FF2B5EF4-FFF2-40B4-BE49-F238E27FC236}">
                <a16:creationId xmlns:a16="http://schemas.microsoft.com/office/drawing/2014/main" id="{C668700A-1D9D-4469-97CB-4F067163E551}"/>
              </a:ext>
            </a:extLst>
          </p:cNvPr>
          <p:cNvSpPr/>
          <p:nvPr/>
        </p:nvSpPr>
        <p:spPr>
          <a:xfrm>
            <a:off x="4941062" y="1216275"/>
            <a:ext cx="1802633" cy="43218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9A9CAF9-22C3-41EC-9C07-E9FFC20F7B5D}"/>
              </a:ext>
            </a:extLst>
          </p:cNvPr>
          <p:cNvSpPr/>
          <p:nvPr/>
        </p:nvSpPr>
        <p:spPr>
          <a:xfrm>
            <a:off x="3344220" y="2451122"/>
            <a:ext cx="1596842" cy="89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AB98FF01-CE45-44BA-A0C2-3A05E9D13384}"/>
              </a:ext>
            </a:extLst>
          </p:cNvPr>
          <p:cNvSpPr/>
          <p:nvPr/>
        </p:nvSpPr>
        <p:spPr>
          <a:xfrm>
            <a:off x="1520361" y="5609241"/>
            <a:ext cx="6942639" cy="646331"/>
          </a:xfrm>
          <a:prstGeom prst="rect">
            <a:avLst/>
          </a:prstGeom>
        </p:spPr>
        <p:txBody>
          <a:bodyPr wrap="square">
            <a:spAutoFit/>
          </a:bodyPr>
          <a:lstStyle/>
          <a:p>
            <a:pPr marL="285750" indent="-285750">
              <a:buFont typeface="Wingdings" panose="05000000000000000000" pitchFamily="2" charset="2"/>
              <a:buChar char="Ø"/>
            </a:pPr>
            <a:r>
              <a:rPr lang="en-US" dirty="0">
                <a:solidFill>
                  <a:srgbClr val="00B050"/>
                </a:solidFill>
                <a:latin typeface="-apple-system"/>
                <a:hlinkClick r:id="rId3" tooltip="PDF download">
                  <a:extLst>
                    <a:ext uri="{A12FA001-AC4F-418D-AE19-62706E023703}">
                      <ahyp:hlinkClr xmlns:ahyp="http://schemas.microsoft.com/office/drawing/2018/hyperlinkcolor" val="tx"/>
                    </a:ext>
                  </a:extLst>
                </a:hlinkClick>
              </a:rPr>
              <a:t>PDF : How to read a scientific paper</a:t>
            </a:r>
            <a:br>
              <a:rPr lang="en-US" dirty="0">
                <a:solidFill>
                  <a:srgbClr val="0091D2"/>
                </a:solidFill>
                <a:latin typeface="-apple-system"/>
              </a:rPr>
            </a:br>
            <a:r>
              <a:rPr lang="en-US" dirty="0">
                <a:solidFill>
                  <a:srgbClr val="80276C"/>
                </a:solidFill>
                <a:latin typeface="+mj-lt"/>
              </a:rPr>
              <a:t>with a Template for Taking Notes on Research Articles</a:t>
            </a:r>
            <a:endParaRPr lang="en-US" b="0" i="0" dirty="0">
              <a:solidFill>
                <a:srgbClr val="80276C"/>
              </a:solidFill>
              <a:effectLst/>
              <a:latin typeface="+mj-lt"/>
            </a:endParaRPr>
          </a:p>
        </p:txBody>
      </p:sp>
      <p:sp>
        <p:nvSpPr>
          <p:cNvPr id="3" name="Rectangle 2">
            <a:extLst>
              <a:ext uri="{FF2B5EF4-FFF2-40B4-BE49-F238E27FC236}">
                <a16:creationId xmlns:a16="http://schemas.microsoft.com/office/drawing/2014/main" id="{38BE3C82-8572-4040-ADB9-325BFF76B3B0}"/>
              </a:ext>
            </a:extLst>
          </p:cNvPr>
          <p:cNvSpPr/>
          <p:nvPr/>
        </p:nvSpPr>
        <p:spPr>
          <a:xfrm>
            <a:off x="8381801" y="335845"/>
            <a:ext cx="3194648" cy="6463308"/>
          </a:xfrm>
          <a:prstGeom prst="rect">
            <a:avLst/>
          </a:prstGeom>
        </p:spPr>
        <p:txBody>
          <a:bodyPr wrap="square">
            <a:spAutoFit/>
          </a:bodyPr>
          <a:lstStyle/>
          <a:p>
            <a:pPr marL="285750" indent="-285750">
              <a:buFont typeface="Wingdings" panose="05000000000000000000" pitchFamily="2" charset="2"/>
              <a:buChar char="ü"/>
            </a:pPr>
            <a:r>
              <a:rPr lang="en-US" dirty="0">
                <a:latin typeface="-apple-system"/>
              </a:rPr>
              <a:t>Identify the structure and features of the article and the author’s main points (see the highlights in ScienceDirect to insert in the reference of your bibliography).</a:t>
            </a:r>
          </a:p>
          <a:p>
            <a:endParaRPr lang="en-US" dirty="0">
              <a:latin typeface="-apple-system"/>
            </a:endParaRPr>
          </a:p>
          <a:p>
            <a:pPr marL="285750" indent="-285750">
              <a:buFont typeface="Wingdings" panose="05000000000000000000" pitchFamily="2" charset="2"/>
              <a:buChar char="ü"/>
            </a:pPr>
            <a:r>
              <a:rPr lang="en-US" dirty="0">
                <a:latin typeface="-apple-system"/>
              </a:rPr>
              <a:t>Generate questions before, during, and after reading.</a:t>
            </a:r>
          </a:p>
          <a:p>
            <a:pPr marL="285750" indent="-285750">
              <a:buFont typeface="Wingdings" panose="05000000000000000000" pitchFamily="2" charset="2"/>
              <a:buChar char="ü"/>
            </a:pPr>
            <a:endParaRPr lang="en-US" dirty="0">
              <a:latin typeface="-apple-system"/>
            </a:endParaRPr>
          </a:p>
          <a:p>
            <a:pPr marL="285750" indent="-285750">
              <a:buFont typeface="Wingdings" panose="05000000000000000000" pitchFamily="2" charset="2"/>
              <a:buChar char="ü"/>
            </a:pPr>
            <a:r>
              <a:rPr lang="en-US" dirty="0">
                <a:latin typeface="-apple-system"/>
              </a:rPr>
              <a:t>Take notes as you read.</a:t>
            </a:r>
          </a:p>
          <a:p>
            <a:endParaRPr lang="en-US" dirty="0">
              <a:latin typeface="-apple-system"/>
            </a:endParaRPr>
          </a:p>
          <a:p>
            <a:pPr marL="285750" indent="-285750">
              <a:buFont typeface="Wingdings" panose="05000000000000000000" pitchFamily="2" charset="2"/>
              <a:buChar char="ü"/>
            </a:pPr>
            <a:r>
              <a:rPr lang="en-US" dirty="0">
                <a:latin typeface="-apple-system"/>
              </a:rPr>
              <a:t>Draw inferences based on your own experiences,  knowledge and research.</a:t>
            </a:r>
          </a:p>
          <a:p>
            <a:pPr marL="285750" indent="-285750">
              <a:buFont typeface="Wingdings" panose="05000000000000000000" pitchFamily="2" charset="2"/>
              <a:buChar char="ü"/>
            </a:pPr>
            <a:endParaRPr lang="en-US" dirty="0">
              <a:latin typeface="-apple-system"/>
            </a:endParaRPr>
          </a:p>
          <a:p>
            <a:pPr marL="285750" indent="-285750">
              <a:buFont typeface="Wingdings" panose="05000000000000000000" pitchFamily="2" charset="2"/>
              <a:buChar char="ü"/>
            </a:pPr>
            <a:r>
              <a:rPr lang="en-US" dirty="0">
                <a:latin typeface="-apple-system"/>
              </a:rPr>
              <a:t>See the </a:t>
            </a:r>
            <a:r>
              <a:rPr lang="en-US" b="1" dirty="0">
                <a:highlight>
                  <a:srgbClr val="FFFF00"/>
                </a:highlight>
                <a:latin typeface="-apple-system"/>
              </a:rPr>
              <a:t>impact</a:t>
            </a:r>
            <a:r>
              <a:rPr lang="en-US" b="1" dirty="0">
                <a:latin typeface="-apple-system"/>
              </a:rPr>
              <a:t> </a:t>
            </a:r>
            <a:r>
              <a:rPr lang="en-US" dirty="0">
                <a:latin typeface="-apple-system"/>
              </a:rPr>
              <a:t>of the Journal and the article (number of citations…)</a:t>
            </a:r>
          </a:p>
          <a:p>
            <a:pPr marL="285750" indent="-285750">
              <a:buFont typeface="Wingdings" panose="05000000000000000000" pitchFamily="2" charset="2"/>
              <a:buChar char="ü"/>
            </a:pPr>
            <a:endParaRPr lang="en-US" dirty="0">
              <a:latin typeface="-apple-system"/>
            </a:endParaRPr>
          </a:p>
          <a:p>
            <a:pPr marL="285750" indent="-285750">
              <a:buFont typeface="Wingdings" panose="05000000000000000000" pitchFamily="2" charset="2"/>
              <a:buChar char="ü"/>
            </a:pPr>
            <a:r>
              <a:rPr lang="en-US" dirty="0">
                <a:latin typeface="-apple-system"/>
              </a:rPr>
              <a:t>Index it in your bibliographic base</a:t>
            </a:r>
            <a:endParaRPr lang="en-US" b="0" i="0" dirty="0">
              <a:effectLst/>
              <a:latin typeface="-apple-system"/>
            </a:endParaRPr>
          </a:p>
        </p:txBody>
      </p:sp>
    </p:spTree>
    <p:extLst>
      <p:ext uri="{BB962C8B-B14F-4D97-AF65-F5344CB8AC3E}">
        <p14:creationId xmlns:p14="http://schemas.microsoft.com/office/powerpoint/2010/main" val="8007862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4E5AA30-E4D9-4636-946B-9FE5C48C7E33}"/>
              </a:ext>
            </a:extLst>
          </p:cNvPr>
          <p:cNvSpPr txBox="1"/>
          <p:nvPr/>
        </p:nvSpPr>
        <p:spPr>
          <a:xfrm>
            <a:off x="1378696" y="551146"/>
            <a:ext cx="6644639" cy="523220"/>
          </a:xfrm>
          <a:prstGeom prst="rect">
            <a:avLst/>
          </a:prstGeom>
          <a:noFill/>
        </p:spPr>
        <p:txBody>
          <a:bodyPr wrap="square" rtlCol="0">
            <a:spAutoFit/>
          </a:bodyPr>
          <a:lstStyle/>
          <a:p>
            <a:pPr algn="just"/>
            <a:r>
              <a:rPr lang="fr-FR" sz="2800" b="1" dirty="0">
                <a:solidFill>
                  <a:srgbClr val="80276C"/>
                </a:solidFill>
                <a:latin typeface="Verdana" panose="020B0604030504040204" pitchFamily="34" charset="0"/>
                <a:ea typeface="Verdana" panose="020B0604030504040204" pitchFamily="34" charset="0"/>
              </a:rPr>
              <a:t>It </a:t>
            </a:r>
            <a:r>
              <a:rPr lang="fr-FR" sz="2800" b="1" dirty="0" err="1">
                <a:solidFill>
                  <a:srgbClr val="80276C"/>
                </a:solidFill>
                <a:latin typeface="Verdana" panose="020B0604030504040204" pitchFamily="34" charset="0"/>
                <a:ea typeface="Verdana" panose="020B0604030504040204" pitchFamily="34" charset="0"/>
              </a:rPr>
              <a:t>is</a:t>
            </a:r>
            <a:r>
              <a:rPr lang="fr-FR" sz="2800" b="1" dirty="0">
                <a:solidFill>
                  <a:srgbClr val="80276C"/>
                </a:solidFill>
                <a:latin typeface="Verdana" panose="020B0604030504040204" pitchFamily="34" charset="0"/>
                <a:ea typeface="Verdana" panose="020B0604030504040204" pitchFamily="34" charset="0"/>
              </a:rPr>
              <a:t> </a:t>
            </a:r>
            <a:r>
              <a:rPr lang="fr-FR" sz="2800" b="1" dirty="0" err="1">
                <a:solidFill>
                  <a:srgbClr val="80276C"/>
                </a:solidFill>
                <a:latin typeface="Verdana" panose="020B0604030504040204" pitchFamily="34" charset="0"/>
                <a:ea typeface="Verdana" panose="020B0604030504040204" pitchFamily="34" charset="0"/>
              </a:rPr>
              <a:t>your</a:t>
            </a:r>
            <a:r>
              <a:rPr lang="fr-FR" sz="2800" b="1" dirty="0">
                <a:solidFill>
                  <a:srgbClr val="80276C"/>
                </a:solidFill>
                <a:latin typeface="Verdana" panose="020B0604030504040204" pitchFamily="34" charset="0"/>
                <a:ea typeface="Verdana" panose="020B0604030504040204" pitchFamily="34" charset="0"/>
              </a:rPr>
              <a:t> </a:t>
            </a:r>
            <a:r>
              <a:rPr lang="fr-FR" sz="2800" b="1" dirty="0" err="1">
                <a:solidFill>
                  <a:srgbClr val="80276C"/>
                </a:solidFill>
                <a:latin typeface="Verdana" panose="020B0604030504040204" pitchFamily="34" charset="0"/>
                <a:ea typeface="Verdana" panose="020B0604030504040204" pitchFamily="34" charset="0"/>
              </a:rPr>
              <a:t>turn</a:t>
            </a:r>
            <a:r>
              <a:rPr lang="fr-FR" sz="2800" b="1" dirty="0">
                <a:solidFill>
                  <a:srgbClr val="80276C"/>
                </a:solidFill>
                <a:latin typeface="Verdana" panose="020B0604030504040204" pitchFamily="34" charset="0"/>
                <a:ea typeface="Verdana" panose="020B0604030504040204" pitchFamily="34" charset="0"/>
              </a:rPr>
              <a:t>!</a:t>
            </a:r>
            <a:endParaRPr lang="fr-FR" baseline="30000" dirty="0">
              <a:solidFill>
                <a:srgbClr val="80276C"/>
              </a:solidFill>
              <a:latin typeface="Verdana" panose="020B0604030504040204" pitchFamily="34" charset="0"/>
              <a:ea typeface="Verdana" panose="020B0604030504040204" pitchFamily="34" charset="0"/>
            </a:endParaRPr>
          </a:p>
        </p:txBody>
      </p:sp>
      <p:sp>
        <p:nvSpPr>
          <p:cNvPr id="4" name="ZoneTexte 3">
            <a:extLst>
              <a:ext uri="{FF2B5EF4-FFF2-40B4-BE49-F238E27FC236}">
                <a16:creationId xmlns:a16="http://schemas.microsoft.com/office/drawing/2014/main" id="{9508325E-08E6-4FEF-9CB9-D9AA948BA6D1}"/>
              </a:ext>
            </a:extLst>
          </p:cNvPr>
          <p:cNvSpPr txBox="1"/>
          <p:nvPr/>
        </p:nvSpPr>
        <p:spPr>
          <a:xfrm>
            <a:off x="2672080" y="1536192"/>
            <a:ext cx="8062975" cy="3477875"/>
          </a:xfrm>
          <a:prstGeom prst="rect">
            <a:avLst/>
          </a:prstGeom>
          <a:noFill/>
        </p:spPr>
        <p:txBody>
          <a:bodyPr wrap="square" rtlCol="0">
            <a:spAutoFit/>
          </a:bodyPr>
          <a:lstStyle/>
          <a:p>
            <a:r>
              <a:rPr lang="en-US" sz="2000" dirty="0"/>
              <a:t>Find the full text of this article so that we can study it :</a:t>
            </a:r>
          </a:p>
          <a:p>
            <a:endParaRPr lang="en-US" sz="2000" dirty="0"/>
          </a:p>
          <a:p>
            <a:r>
              <a:rPr lang="fr-FR" sz="2000" b="1" dirty="0" err="1"/>
              <a:t>Understanding</a:t>
            </a:r>
            <a:r>
              <a:rPr lang="fr-FR" sz="2000" b="1" dirty="0"/>
              <a:t> social innovation as an innovation process: </a:t>
            </a:r>
            <a:r>
              <a:rPr lang="fr-FR" sz="2000" b="1" dirty="0" err="1"/>
              <a:t>Applying</a:t>
            </a:r>
            <a:r>
              <a:rPr lang="fr-FR" sz="2000" b="1" dirty="0"/>
              <a:t> the innovation </a:t>
            </a:r>
            <a:r>
              <a:rPr lang="fr-FR" sz="2000" b="1" dirty="0" err="1"/>
              <a:t>journey</a:t>
            </a:r>
            <a:r>
              <a:rPr lang="fr-FR" sz="2000" b="1" dirty="0"/>
              <a:t> model</a:t>
            </a:r>
          </a:p>
          <a:p>
            <a:r>
              <a:rPr lang="fr-FR" sz="2000" dirty="0"/>
              <a:t>Peter </a:t>
            </a:r>
            <a:r>
              <a:rPr lang="fr-FR" sz="2000" dirty="0" err="1"/>
              <a:t>R.A.Oeij</a:t>
            </a:r>
            <a:r>
              <a:rPr lang="fr-FR" sz="2000" baseline="30000" dirty="0"/>
              <a:t>,</a:t>
            </a:r>
            <a:r>
              <a:rPr lang="fr-FR" sz="2000" dirty="0"/>
              <a:t> </a:t>
            </a:r>
            <a:r>
              <a:rPr lang="fr-FR" sz="2000" dirty="0" err="1"/>
              <a:t>Woutervan</a:t>
            </a:r>
            <a:r>
              <a:rPr lang="fr-FR" sz="2000" dirty="0"/>
              <a:t> der Torre</a:t>
            </a:r>
            <a:r>
              <a:rPr lang="fr-FR" sz="2000" baseline="30000" dirty="0"/>
              <a:t>,</a:t>
            </a:r>
            <a:r>
              <a:rPr lang="fr-FR" sz="2000" dirty="0"/>
              <a:t> </a:t>
            </a:r>
            <a:r>
              <a:rPr lang="fr-FR" sz="2000" dirty="0" err="1"/>
              <a:t>FietjeVaas</a:t>
            </a:r>
            <a:r>
              <a:rPr lang="fr-FR" sz="2000" baseline="30000" dirty="0"/>
              <a:t>,</a:t>
            </a:r>
            <a:r>
              <a:rPr lang="fr-FR" sz="2000" dirty="0"/>
              <a:t> </a:t>
            </a:r>
            <a:r>
              <a:rPr lang="fr-FR" sz="2000" dirty="0" err="1"/>
              <a:t>StevenDhondt</a:t>
            </a:r>
            <a:r>
              <a:rPr lang="fr-FR" sz="2000" baseline="30000" dirty="0"/>
              <a:t>.-</a:t>
            </a:r>
            <a:r>
              <a:rPr lang="fr-FR" sz="2000" dirty="0"/>
              <a:t> Journal of Business </a:t>
            </a:r>
            <a:r>
              <a:rPr lang="fr-FR" sz="2000" dirty="0" err="1"/>
              <a:t>Resarch</a:t>
            </a:r>
            <a:r>
              <a:rPr lang="fr-FR" sz="2000" dirty="0"/>
              <a:t> vol 101, 2019.</a:t>
            </a:r>
          </a:p>
          <a:p>
            <a:endParaRPr lang="fr-FR" sz="2000" b="1" dirty="0"/>
          </a:p>
          <a:p>
            <a:endParaRPr lang="fr-FR" sz="2000" b="1" dirty="0"/>
          </a:p>
          <a:p>
            <a:endParaRPr lang="fr-FR" sz="2000" b="1" dirty="0"/>
          </a:p>
          <a:p>
            <a:r>
              <a:rPr lang="fr-FR" sz="2000" b="1" dirty="0">
                <a:solidFill>
                  <a:srgbClr val="80276C"/>
                </a:solidFill>
              </a:rPr>
              <a:t>You have 3 minutes.</a:t>
            </a:r>
          </a:p>
          <a:p>
            <a:endParaRPr lang="fr-FR" sz="2000" dirty="0"/>
          </a:p>
        </p:txBody>
      </p:sp>
      <p:pic>
        <p:nvPicPr>
          <p:cNvPr id="5" name="Image 4">
            <a:extLst>
              <a:ext uri="{FF2B5EF4-FFF2-40B4-BE49-F238E27FC236}">
                <a16:creationId xmlns:a16="http://schemas.microsoft.com/office/drawing/2014/main" id="{EB582972-5E0A-4965-B60A-B397903A66AA}"/>
              </a:ext>
            </a:extLst>
          </p:cNvPr>
          <p:cNvPicPr>
            <a:picLocks noChangeAspect="1"/>
          </p:cNvPicPr>
          <p:nvPr/>
        </p:nvPicPr>
        <p:blipFill>
          <a:blip r:embed="rId2"/>
          <a:stretch>
            <a:fillRect/>
          </a:stretch>
        </p:blipFill>
        <p:spPr>
          <a:xfrm>
            <a:off x="460427" y="1979688"/>
            <a:ext cx="2211654" cy="1944730"/>
          </a:xfrm>
          <a:prstGeom prst="rect">
            <a:avLst/>
          </a:prstGeom>
        </p:spPr>
      </p:pic>
    </p:spTree>
    <p:extLst>
      <p:ext uri="{BB962C8B-B14F-4D97-AF65-F5344CB8AC3E}">
        <p14:creationId xmlns:p14="http://schemas.microsoft.com/office/powerpoint/2010/main" val="15653026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FEC5BA10-6B00-42D1-9109-B10B7DC88485}"/>
              </a:ext>
            </a:extLst>
          </p:cNvPr>
          <p:cNvPicPr/>
          <p:nvPr/>
        </p:nvPicPr>
        <p:blipFill rotWithShape="1">
          <a:blip r:embed="rId2"/>
          <a:srcRect l="50157" t="10286" r="268" b="3890"/>
          <a:stretch/>
        </p:blipFill>
        <p:spPr bwMode="auto">
          <a:xfrm>
            <a:off x="1481572" y="1320654"/>
            <a:ext cx="8860047" cy="4511911"/>
          </a:xfrm>
          <a:prstGeom prst="rect">
            <a:avLst/>
          </a:prstGeom>
          <a:ln>
            <a:noFill/>
          </a:ln>
          <a:extLst>
            <a:ext uri="{53640926-AAD7-44D8-BBD7-CCE9431645EC}">
              <a14:shadowObscured xmlns:a14="http://schemas.microsoft.com/office/drawing/2010/main"/>
            </a:ext>
          </a:extLst>
        </p:spPr>
      </p:pic>
      <p:sp>
        <p:nvSpPr>
          <p:cNvPr id="3" name="ZoneTexte 2">
            <a:extLst>
              <a:ext uri="{FF2B5EF4-FFF2-40B4-BE49-F238E27FC236}">
                <a16:creationId xmlns:a16="http://schemas.microsoft.com/office/drawing/2014/main" id="{2EE4609A-D339-4741-91D0-2FBF596F6407}"/>
              </a:ext>
            </a:extLst>
          </p:cNvPr>
          <p:cNvSpPr txBox="1"/>
          <p:nvPr/>
        </p:nvSpPr>
        <p:spPr>
          <a:xfrm>
            <a:off x="3995928" y="612648"/>
            <a:ext cx="3831336" cy="369332"/>
          </a:xfrm>
          <a:prstGeom prst="rect">
            <a:avLst/>
          </a:prstGeom>
          <a:noFill/>
        </p:spPr>
        <p:txBody>
          <a:bodyPr wrap="square" rtlCol="0">
            <a:spAutoFit/>
          </a:bodyPr>
          <a:lstStyle/>
          <a:p>
            <a:r>
              <a:rPr lang="fr-FR" dirty="0" err="1"/>
              <a:t>ScienceDirect</a:t>
            </a:r>
            <a:endParaRPr lang="fr-FR" dirty="0"/>
          </a:p>
        </p:txBody>
      </p:sp>
      <p:sp>
        <p:nvSpPr>
          <p:cNvPr id="4" name="Ellipse 3">
            <a:extLst>
              <a:ext uri="{FF2B5EF4-FFF2-40B4-BE49-F238E27FC236}">
                <a16:creationId xmlns:a16="http://schemas.microsoft.com/office/drawing/2014/main" id="{6970032F-2252-455E-89CA-A1A4BADCF380}"/>
              </a:ext>
            </a:extLst>
          </p:cNvPr>
          <p:cNvSpPr/>
          <p:nvPr/>
        </p:nvSpPr>
        <p:spPr>
          <a:xfrm>
            <a:off x="4232366" y="3805647"/>
            <a:ext cx="3239588" cy="50509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32BD3F49-C96F-471A-9505-16561436B404}"/>
              </a:ext>
            </a:extLst>
          </p:cNvPr>
          <p:cNvSpPr/>
          <p:nvPr/>
        </p:nvSpPr>
        <p:spPr>
          <a:xfrm>
            <a:off x="1850381" y="1849483"/>
            <a:ext cx="2416818" cy="420297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BE5DBBE1-7C61-4962-9BB8-3BE27801102E}"/>
              </a:ext>
            </a:extLst>
          </p:cNvPr>
          <p:cNvSpPr/>
          <p:nvPr/>
        </p:nvSpPr>
        <p:spPr>
          <a:xfrm>
            <a:off x="7287768" y="4453128"/>
            <a:ext cx="2057400" cy="159932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B6D2FE7-2113-4747-8301-6D3042BFC78F}"/>
              </a:ext>
            </a:extLst>
          </p:cNvPr>
          <p:cNvSpPr/>
          <p:nvPr/>
        </p:nvSpPr>
        <p:spPr>
          <a:xfrm>
            <a:off x="4384767" y="5577842"/>
            <a:ext cx="735873" cy="50509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019971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48D6DB4-5B19-4063-BDF1-2C43DC11C069}"/>
              </a:ext>
            </a:extLst>
          </p:cNvPr>
          <p:cNvSpPr txBox="1"/>
          <p:nvPr/>
        </p:nvSpPr>
        <p:spPr>
          <a:xfrm>
            <a:off x="1335024" y="576072"/>
            <a:ext cx="5779008" cy="369332"/>
          </a:xfrm>
          <a:prstGeom prst="rect">
            <a:avLst/>
          </a:prstGeom>
          <a:noFill/>
        </p:spPr>
        <p:txBody>
          <a:bodyPr wrap="square" rtlCol="0">
            <a:spAutoFit/>
          </a:bodyPr>
          <a:lstStyle/>
          <a:p>
            <a:r>
              <a:rPr lang="fr-FR" dirty="0" err="1"/>
              <a:t>Scopus</a:t>
            </a:r>
            <a:r>
              <a:rPr lang="fr-FR" dirty="0"/>
              <a:t> First </a:t>
            </a:r>
            <a:r>
              <a:rPr lang="fr-FR" dirty="0" err="1"/>
              <a:t>step</a:t>
            </a:r>
            <a:endParaRPr lang="fr-FR" dirty="0"/>
          </a:p>
        </p:txBody>
      </p:sp>
      <p:pic>
        <p:nvPicPr>
          <p:cNvPr id="5" name="Image 4">
            <a:extLst>
              <a:ext uri="{FF2B5EF4-FFF2-40B4-BE49-F238E27FC236}">
                <a16:creationId xmlns:a16="http://schemas.microsoft.com/office/drawing/2014/main" id="{3314D5DB-2E14-4EA9-8CF2-9D7055B80EC8}"/>
              </a:ext>
            </a:extLst>
          </p:cNvPr>
          <p:cNvPicPr/>
          <p:nvPr/>
        </p:nvPicPr>
        <p:blipFill rotWithShape="1">
          <a:blip r:embed="rId2"/>
          <a:srcRect l="50392" t="10489" r="532" b="3694"/>
          <a:stretch/>
        </p:blipFill>
        <p:spPr bwMode="auto">
          <a:xfrm>
            <a:off x="1072197" y="1225422"/>
            <a:ext cx="9836595" cy="4571873"/>
          </a:xfrm>
          <a:prstGeom prst="rect">
            <a:avLst/>
          </a:prstGeom>
          <a:ln>
            <a:noFill/>
          </a:ln>
          <a:extLst>
            <a:ext uri="{53640926-AAD7-44D8-BBD7-CCE9431645EC}">
              <a14:shadowObscured xmlns:a14="http://schemas.microsoft.com/office/drawing/2010/main"/>
            </a:ext>
          </a:extLst>
        </p:spPr>
      </p:pic>
      <p:sp>
        <p:nvSpPr>
          <p:cNvPr id="7" name="Ellipse 6">
            <a:extLst>
              <a:ext uri="{FF2B5EF4-FFF2-40B4-BE49-F238E27FC236}">
                <a16:creationId xmlns:a16="http://schemas.microsoft.com/office/drawing/2014/main" id="{20115A4B-5FF6-4459-B513-9C738DC5B80E}"/>
              </a:ext>
            </a:extLst>
          </p:cNvPr>
          <p:cNvSpPr/>
          <p:nvPr/>
        </p:nvSpPr>
        <p:spPr>
          <a:xfrm>
            <a:off x="4093029" y="4511041"/>
            <a:ext cx="4310741" cy="50509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176680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B4F279B-5BE2-4B5F-999B-17A939AA298C}"/>
              </a:ext>
            </a:extLst>
          </p:cNvPr>
          <p:cNvPicPr/>
          <p:nvPr/>
        </p:nvPicPr>
        <p:blipFill rotWithShape="1">
          <a:blip r:embed="rId2"/>
          <a:srcRect l="50216" t="11329" b="4338"/>
          <a:stretch/>
        </p:blipFill>
        <p:spPr bwMode="auto">
          <a:xfrm>
            <a:off x="1582959" y="1191577"/>
            <a:ext cx="8603457" cy="4029647"/>
          </a:xfrm>
          <a:prstGeom prst="rect">
            <a:avLst/>
          </a:prstGeom>
          <a:ln>
            <a:noFill/>
          </a:ln>
          <a:extLst>
            <a:ext uri="{53640926-AAD7-44D8-BBD7-CCE9431645EC}">
              <a14:shadowObscured xmlns:a14="http://schemas.microsoft.com/office/drawing/2010/main"/>
            </a:ext>
          </a:extLst>
        </p:spPr>
      </p:pic>
      <p:sp>
        <p:nvSpPr>
          <p:cNvPr id="3" name="ZoneTexte 2">
            <a:extLst>
              <a:ext uri="{FF2B5EF4-FFF2-40B4-BE49-F238E27FC236}">
                <a16:creationId xmlns:a16="http://schemas.microsoft.com/office/drawing/2014/main" id="{809B0D9A-6010-45F8-8661-A827334C1257}"/>
              </a:ext>
            </a:extLst>
          </p:cNvPr>
          <p:cNvSpPr txBox="1"/>
          <p:nvPr/>
        </p:nvSpPr>
        <p:spPr>
          <a:xfrm>
            <a:off x="1508760" y="534924"/>
            <a:ext cx="6766560" cy="374904"/>
          </a:xfrm>
          <a:prstGeom prst="rect">
            <a:avLst/>
          </a:prstGeom>
          <a:noFill/>
        </p:spPr>
        <p:txBody>
          <a:bodyPr wrap="square" rtlCol="0">
            <a:spAutoFit/>
          </a:bodyPr>
          <a:lstStyle/>
          <a:p>
            <a:r>
              <a:rPr lang="fr-FR" dirty="0" err="1"/>
              <a:t>Scopus</a:t>
            </a:r>
            <a:r>
              <a:rPr lang="fr-FR" dirty="0"/>
              <a:t> second </a:t>
            </a:r>
            <a:r>
              <a:rPr lang="fr-FR" dirty="0" err="1"/>
              <a:t>step</a:t>
            </a:r>
            <a:endParaRPr lang="fr-FR" dirty="0"/>
          </a:p>
        </p:txBody>
      </p:sp>
    </p:spTree>
    <p:extLst>
      <p:ext uri="{BB962C8B-B14F-4D97-AF65-F5344CB8AC3E}">
        <p14:creationId xmlns:p14="http://schemas.microsoft.com/office/powerpoint/2010/main" val="23048827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C66F39F-F9EA-1583-8D8E-A2C6C09F096A}"/>
              </a:ext>
            </a:extLst>
          </p:cNvPr>
          <p:cNvSpPr/>
          <p:nvPr/>
        </p:nvSpPr>
        <p:spPr>
          <a:xfrm>
            <a:off x="452628" y="624078"/>
            <a:ext cx="10138509" cy="777240"/>
          </a:xfrm>
          <a:prstGeom prst="rect">
            <a:avLst/>
          </a:prstGeom>
          <a:noFill/>
          <a:ln/>
        </p:spPr>
        <p:txBody>
          <a:bodyPr wrap="square" lIns="0" tIns="0" rIns="0" bIns="0" rtlCol="0" anchor="ctr"/>
          <a:lstStyle/>
          <a:p>
            <a:r>
              <a:rPr lang="en-US" sz="4000" b="1" dirty="0"/>
              <a:t>The engineer's extraction matrix </a:t>
            </a:r>
            <a:r>
              <a:rPr lang="en-US" sz="2400" b="1" dirty="0"/>
              <a:t>(non exhaustive)</a:t>
            </a:r>
          </a:p>
        </p:txBody>
      </p:sp>
      <p:graphicFrame>
        <p:nvGraphicFramePr>
          <p:cNvPr id="4" name="Table 0">
            <a:extLst>
              <a:ext uri="{FF2B5EF4-FFF2-40B4-BE49-F238E27FC236}">
                <a16:creationId xmlns:a16="http://schemas.microsoft.com/office/drawing/2014/main" id="{311ACE7B-CD07-1AFF-194F-960692A25640}"/>
              </a:ext>
            </a:extLst>
          </p:cNvPr>
          <p:cNvGraphicFramePr>
            <a:graphicFrameLocks noGrp="1"/>
          </p:cNvGraphicFramePr>
          <p:nvPr>
            <p:extLst>
              <p:ext uri="{D42A27DB-BD31-4B8C-83A1-F6EECF244321}">
                <p14:modId xmlns:p14="http://schemas.microsoft.com/office/powerpoint/2010/main" val="903090691"/>
              </p:ext>
            </p:extLst>
          </p:nvPr>
        </p:nvGraphicFramePr>
        <p:xfrm>
          <a:off x="450243" y="1619250"/>
          <a:ext cx="11060225" cy="4099560"/>
        </p:xfrm>
        <a:graphic>
          <a:graphicData uri="http://schemas.openxmlformats.org/drawingml/2006/table">
            <a:tbl>
              <a:tblPr/>
              <a:tblGrid>
                <a:gridCol w="2314479">
                  <a:extLst>
                    <a:ext uri="{9D8B030D-6E8A-4147-A177-3AD203B41FA5}">
                      <a16:colId xmlns:a16="http://schemas.microsoft.com/office/drawing/2014/main" val="20000"/>
                    </a:ext>
                  </a:extLst>
                </a:gridCol>
                <a:gridCol w="4322610">
                  <a:extLst>
                    <a:ext uri="{9D8B030D-6E8A-4147-A177-3AD203B41FA5}">
                      <a16:colId xmlns:a16="http://schemas.microsoft.com/office/drawing/2014/main" val="20001"/>
                    </a:ext>
                  </a:extLst>
                </a:gridCol>
                <a:gridCol w="4423136">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is recorded there</a:t>
                      </a:r>
                      <a:endParaRPr lang="en-US" sz="12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Common trap</a:t>
                      </a:r>
                      <a:endParaRPr lang="en-US" sz="120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Subject studied</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Material, process, architecture, algorithm</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Wording too vague to be compared</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Operating conditions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it-IT" sz="1150" dirty="0">
                          <a:solidFill>
                            <a:srgbClr val="1A1A1A"/>
                          </a:solidFill>
                          <a:latin typeface="Calibri" pitchFamily="34" charset="0"/>
                          <a:ea typeface="Calibri" pitchFamily="34" charset="-122"/>
                          <a:cs typeface="Calibri" pitchFamily="34" charset="-120"/>
                        </a:rPr>
                        <a:t>Temperature, pressure, scale, data set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b="1" dirty="0">
                          <a:solidFill>
                            <a:srgbClr val="1A1A1A"/>
                          </a:solidFill>
                          <a:latin typeface="Calibri" pitchFamily="34" charset="0"/>
                          <a:ea typeface="Calibri" pitchFamily="34" charset="-122"/>
                          <a:cs typeface="Calibri" pitchFamily="34" charset="-120"/>
                        </a:rPr>
                        <a:t>The column most often skipped, and the most decisive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Metrics and value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The announced performance, with its unit.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A value recorded without its conditions is useless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Validation method</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Simulation, banc d'essai, prototype, terrain</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Simulation, test bench, prototype, field</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4"/>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Baseline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What the authors compare themselves to</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Comparison to an outdated state of the art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Declared limits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What the authors themselves acknowledge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Can be found in the discussion, never in the summary</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6"/>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Maturity</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Laboratory, pilot, industrial</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The gap between the title and reality is often wide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Data and code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Available, on request, or unavailable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150" dirty="0">
                          <a:solidFill>
                            <a:srgbClr val="1A1A1A"/>
                          </a:solidFill>
                          <a:latin typeface="Calibri" pitchFamily="34" charset="0"/>
                          <a:ea typeface="Calibri" pitchFamily="34" charset="-122"/>
                          <a:cs typeface="Calibri" pitchFamily="34" charset="-120"/>
                        </a:rPr>
                        <a:t>Conditions any future reuse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8"/>
                  </a:ext>
                </a:extLst>
              </a:tr>
            </a:tbl>
          </a:graphicData>
        </a:graphic>
      </p:graphicFrame>
      <p:sp>
        <p:nvSpPr>
          <p:cNvPr id="5" name="Slide Number Placeholder 0">
            <a:extLst>
              <a:ext uri="{FF2B5EF4-FFF2-40B4-BE49-F238E27FC236}">
                <a16:creationId xmlns:a16="http://schemas.microsoft.com/office/drawing/2014/main" id="{3BF9BD26-B85A-0DC6-41AE-CF4DF5117189}"/>
              </a:ext>
            </a:extLst>
          </p:cNvPr>
          <p:cNvSpPr txBox="1">
            <a:spLocks/>
          </p:cNvSpPr>
          <p:nvPr/>
        </p:nvSpPr>
        <p:spPr>
          <a:xfrm>
            <a:off x="11391595" y="6713982"/>
            <a:ext cx="365760" cy="2286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74</a:t>
            </a:fld>
            <a:endParaRPr lang="en-US"/>
          </a:p>
        </p:txBody>
      </p:sp>
    </p:spTree>
    <p:extLst>
      <p:ext uri="{BB962C8B-B14F-4D97-AF65-F5344CB8AC3E}">
        <p14:creationId xmlns:p14="http://schemas.microsoft.com/office/powerpoint/2010/main" val="36791934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B482649A-B9AC-7CBE-D23A-8A9A735F17E6}"/>
              </a:ext>
            </a:extLst>
          </p:cNvPr>
          <p:cNvSpPr/>
          <p:nvPr/>
        </p:nvSpPr>
        <p:spPr>
          <a:xfrm>
            <a:off x="566928" y="384048"/>
            <a:ext cx="8954719" cy="777240"/>
          </a:xfrm>
          <a:prstGeom prst="rect">
            <a:avLst/>
          </a:prstGeom>
          <a:noFill/>
          <a:ln/>
        </p:spPr>
        <p:txBody>
          <a:bodyPr wrap="square" lIns="0" tIns="0" rIns="0" bIns="0" rtlCol="0" anchor="ctr"/>
          <a:lstStyle/>
          <a:p>
            <a:r>
              <a:rPr lang="en-US" sz="3000" b="1" dirty="0">
                <a:solidFill>
                  <a:srgbClr val="12303F"/>
                </a:solidFill>
                <a:latin typeface="Cambria" pitchFamily="34" charset="0"/>
                <a:ea typeface="Cambria" pitchFamily="34" charset="-122"/>
                <a:cs typeface="Cambria" pitchFamily="34" charset="-120"/>
              </a:rPr>
              <a:t>Critical </a:t>
            </a:r>
            <a:r>
              <a:rPr lang="en-US" sz="3000" b="1">
                <a:solidFill>
                  <a:srgbClr val="12303F"/>
                </a:solidFill>
                <a:latin typeface="Cambria" pitchFamily="34" charset="0"/>
                <a:ea typeface="Cambria" pitchFamily="34" charset="-122"/>
                <a:cs typeface="Cambria" pitchFamily="34" charset="-120"/>
              </a:rPr>
              <a:t>reading: seven </a:t>
            </a:r>
            <a:r>
              <a:rPr lang="en-US" sz="3000" b="1" dirty="0">
                <a:solidFill>
                  <a:srgbClr val="12303F"/>
                </a:solidFill>
                <a:latin typeface="Cambria" pitchFamily="34" charset="0"/>
                <a:ea typeface="Cambria" pitchFamily="34" charset="-122"/>
                <a:cs typeface="Cambria" pitchFamily="34" charset="-120"/>
              </a:rPr>
              <a:t>questions</a:t>
            </a:r>
            <a:endParaRPr lang="en-US" sz="3000" dirty="0"/>
          </a:p>
        </p:txBody>
      </p:sp>
      <p:sp>
        <p:nvSpPr>
          <p:cNvPr id="5" name="Shape 2">
            <a:extLst>
              <a:ext uri="{FF2B5EF4-FFF2-40B4-BE49-F238E27FC236}">
                <a16:creationId xmlns:a16="http://schemas.microsoft.com/office/drawing/2014/main" id="{D666D10A-EC86-92EE-EE7C-6FD75AC40C1A}"/>
              </a:ext>
            </a:extLst>
          </p:cNvPr>
          <p:cNvSpPr/>
          <p:nvPr/>
        </p:nvSpPr>
        <p:spPr>
          <a:xfrm>
            <a:off x="566928" y="156819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6" name="Shape 3">
            <a:extLst>
              <a:ext uri="{FF2B5EF4-FFF2-40B4-BE49-F238E27FC236}">
                <a16:creationId xmlns:a16="http://schemas.microsoft.com/office/drawing/2014/main" id="{31468980-0CBD-0E2B-A965-181CD72AA522}"/>
              </a:ext>
            </a:extLst>
          </p:cNvPr>
          <p:cNvSpPr/>
          <p:nvPr/>
        </p:nvSpPr>
        <p:spPr>
          <a:xfrm>
            <a:off x="786384" y="1769364"/>
            <a:ext cx="384048" cy="384048"/>
          </a:xfrm>
          <a:prstGeom prst="ellipse">
            <a:avLst/>
          </a:prstGeom>
          <a:solidFill>
            <a:srgbClr val="E07A29"/>
          </a:solidFill>
          <a:ln w="12700">
            <a:solidFill>
              <a:srgbClr val="E07A29"/>
            </a:solidFill>
            <a:prstDash val="solid"/>
          </a:ln>
        </p:spPr>
        <p:txBody>
          <a:bodyPr/>
          <a:lstStyle/>
          <a:p>
            <a:endParaRPr lang="fr-FR"/>
          </a:p>
        </p:txBody>
      </p:sp>
      <p:sp>
        <p:nvSpPr>
          <p:cNvPr id="7" name="Text 4">
            <a:extLst>
              <a:ext uri="{FF2B5EF4-FFF2-40B4-BE49-F238E27FC236}">
                <a16:creationId xmlns:a16="http://schemas.microsoft.com/office/drawing/2014/main" id="{E5622118-0699-B8C1-3239-6D830280224F}"/>
              </a:ext>
            </a:extLst>
          </p:cNvPr>
          <p:cNvSpPr/>
          <p:nvPr/>
        </p:nvSpPr>
        <p:spPr>
          <a:xfrm>
            <a:off x="786384" y="1769364"/>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a:extLst>
              <a:ext uri="{FF2B5EF4-FFF2-40B4-BE49-F238E27FC236}">
                <a16:creationId xmlns:a16="http://schemas.microsoft.com/office/drawing/2014/main" id="{3908332A-BE41-ABFB-836D-E06491E59D8E}"/>
              </a:ext>
            </a:extLst>
          </p:cNvPr>
          <p:cNvSpPr/>
          <p:nvPr/>
        </p:nvSpPr>
        <p:spPr>
          <a:xfrm>
            <a:off x="1280160" y="175107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Conditions</a:t>
            </a:r>
            <a:endParaRPr lang="en-US" sz="1450" dirty="0"/>
          </a:p>
        </p:txBody>
      </p:sp>
      <p:sp>
        <p:nvSpPr>
          <p:cNvPr id="9" name="Text 6">
            <a:extLst>
              <a:ext uri="{FF2B5EF4-FFF2-40B4-BE49-F238E27FC236}">
                <a16:creationId xmlns:a16="http://schemas.microsoft.com/office/drawing/2014/main" id="{812E4EA9-CC74-D7D5-3A3C-8D2CF85B97AD}"/>
              </a:ext>
            </a:extLst>
          </p:cNvPr>
          <p:cNvSpPr/>
          <p:nvPr/>
        </p:nvSpPr>
        <p:spPr>
          <a:xfrm>
            <a:off x="804672" y="2281428"/>
            <a:ext cx="2083232" cy="978408"/>
          </a:xfrm>
          <a:prstGeom prst="rect">
            <a:avLst/>
          </a:prstGeom>
          <a:noFill/>
          <a:ln/>
        </p:spPr>
        <p:txBody>
          <a:bodyPr wrap="square" lIns="0" tIns="0" rIns="0" bIns="0" rtlCol="0" anchor="t"/>
          <a:lstStyle/>
          <a:p>
            <a:pPr>
              <a:lnSpc>
                <a:spcPts val="1600"/>
              </a:lnSpc>
            </a:pPr>
            <a:r>
              <a:rPr lang="en-US" sz="1200" dirty="0"/>
              <a:t>Under what conditions was this result obtained, and how does it differ from actual use?</a:t>
            </a:r>
          </a:p>
        </p:txBody>
      </p:sp>
      <p:sp>
        <p:nvSpPr>
          <p:cNvPr id="10" name="Shape 7">
            <a:extLst>
              <a:ext uri="{FF2B5EF4-FFF2-40B4-BE49-F238E27FC236}">
                <a16:creationId xmlns:a16="http://schemas.microsoft.com/office/drawing/2014/main" id="{DFA2E67F-29D7-067B-A832-833C78154960}"/>
              </a:ext>
            </a:extLst>
          </p:cNvPr>
          <p:cNvSpPr/>
          <p:nvPr/>
        </p:nvSpPr>
        <p:spPr>
          <a:xfrm>
            <a:off x="3399968" y="156819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1" name="Shape 8">
            <a:extLst>
              <a:ext uri="{FF2B5EF4-FFF2-40B4-BE49-F238E27FC236}">
                <a16:creationId xmlns:a16="http://schemas.microsoft.com/office/drawing/2014/main" id="{A036EFBE-E5E5-E805-F571-2113D3A51EFE}"/>
              </a:ext>
            </a:extLst>
          </p:cNvPr>
          <p:cNvSpPr/>
          <p:nvPr/>
        </p:nvSpPr>
        <p:spPr>
          <a:xfrm>
            <a:off x="3619424" y="1769364"/>
            <a:ext cx="384048" cy="384048"/>
          </a:xfrm>
          <a:prstGeom prst="ellipse">
            <a:avLst/>
          </a:prstGeom>
          <a:solidFill>
            <a:srgbClr val="E07A29"/>
          </a:solidFill>
          <a:ln w="12700">
            <a:solidFill>
              <a:srgbClr val="E07A29"/>
            </a:solidFill>
            <a:prstDash val="solid"/>
          </a:ln>
        </p:spPr>
        <p:txBody>
          <a:bodyPr/>
          <a:lstStyle/>
          <a:p>
            <a:endParaRPr lang="fr-FR"/>
          </a:p>
        </p:txBody>
      </p:sp>
      <p:sp>
        <p:nvSpPr>
          <p:cNvPr id="12" name="Text 9">
            <a:extLst>
              <a:ext uri="{FF2B5EF4-FFF2-40B4-BE49-F238E27FC236}">
                <a16:creationId xmlns:a16="http://schemas.microsoft.com/office/drawing/2014/main" id="{038C01DC-A221-899B-2BAA-3DBE8C836023}"/>
              </a:ext>
            </a:extLst>
          </p:cNvPr>
          <p:cNvSpPr/>
          <p:nvPr/>
        </p:nvSpPr>
        <p:spPr>
          <a:xfrm>
            <a:off x="3619424" y="1769364"/>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a:extLst>
              <a:ext uri="{FF2B5EF4-FFF2-40B4-BE49-F238E27FC236}">
                <a16:creationId xmlns:a16="http://schemas.microsoft.com/office/drawing/2014/main" id="{69181CD3-E718-0BD5-DA38-695287132C94}"/>
              </a:ext>
            </a:extLst>
          </p:cNvPr>
          <p:cNvSpPr/>
          <p:nvPr/>
        </p:nvSpPr>
        <p:spPr>
          <a:xfrm>
            <a:off x="4113200" y="175107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Metrics</a:t>
            </a:r>
            <a:endParaRPr lang="en-US" sz="1450" dirty="0"/>
          </a:p>
        </p:txBody>
      </p:sp>
      <p:sp>
        <p:nvSpPr>
          <p:cNvPr id="14" name="Text 11">
            <a:extLst>
              <a:ext uri="{FF2B5EF4-FFF2-40B4-BE49-F238E27FC236}">
                <a16:creationId xmlns:a16="http://schemas.microsoft.com/office/drawing/2014/main" id="{51C59CCD-1747-EB5F-0818-3A89B529AF44}"/>
              </a:ext>
            </a:extLst>
          </p:cNvPr>
          <p:cNvSpPr/>
          <p:nvPr/>
        </p:nvSpPr>
        <p:spPr>
          <a:xfrm>
            <a:off x="3637712" y="228142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Is it standardized? Measured how? Two capacities measured differently can't be compared.</a:t>
            </a:r>
            <a:endParaRPr lang="en-US" sz="1200" dirty="0"/>
          </a:p>
        </p:txBody>
      </p:sp>
      <p:sp>
        <p:nvSpPr>
          <p:cNvPr id="15" name="Shape 12">
            <a:extLst>
              <a:ext uri="{FF2B5EF4-FFF2-40B4-BE49-F238E27FC236}">
                <a16:creationId xmlns:a16="http://schemas.microsoft.com/office/drawing/2014/main" id="{C36FC3CC-EF37-53BF-399F-0D6509CAC143}"/>
              </a:ext>
            </a:extLst>
          </p:cNvPr>
          <p:cNvSpPr/>
          <p:nvPr/>
        </p:nvSpPr>
        <p:spPr>
          <a:xfrm>
            <a:off x="6233008" y="156819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6" name="Text 15">
            <a:extLst>
              <a:ext uri="{FF2B5EF4-FFF2-40B4-BE49-F238E27FC236}">
                <a16:creationId xmlns:a16="http://schemas.microsoft.com/office/drawing/2014/main" id="{CF998727-3615-E263-727C-B2B0D088162A}"/>
              </a:ext>
            </a:extLst>
          </p:cNvPr>
          <p:cNvSpPr/>
          <p:nvPr/>
        </p:nvSpPr>
        <p:spPr>
          <a:xfrm>
            <a:off x="6946240" y="175107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Baseline</a:t>
            </a:r>
            <a:endParaRPr lang="en-US" sz="1450" dirty="0"/>
          </a:p>
        </p:txBody>
      </p:sp>
      <p:sp>
        <p:nvSpPr>
          <p:cNvPr id="17" name="Text 16">
            <a:extLst>
              <a:ext uri="{FF2B5EF4-FFF2-40B4-BE49-F238E27FC236}">
                <a16:creationId xmlns:a16="http://schemas.microsoft.com/office/drawing/2014/main" id="{13D12F32-DD72-72B5-57DA-58E41E3BD973}"/>
              </a:ext>
            </a:extLst>
          </p:cNvPr>
          <p:cNvSpPr/>
          <p:nvPr/>
        </p:nvSpPr>
        <p:spPr>
          <a:xfrm>
            <a:off x="6470752" y="228142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What are the authors comparing themselves to, and is this reference honest and up-to-date??</a:t>
            </a:r>
            <a:endParaRPr lang="en-US" sz="1200" dirty="0"/>
          </a:p>
        </p:txBody>
      </p:sp>
      <p:sp>
        <p:nvSpPr>
          <p:cNvPr id="18" name="Shape 17">
            <a:extLst>
              <a:ext uri="{FF2B5EF4-FFF2-40B4-BE49-F238E27FC236}">
                <a16:creationId xmlns:a16="http://schemas.microsoft.com/office/drawing/2014/main" id="{02E2A2C2-1956-86BA-90D1-10535D7B4ABD}"/>
              </a:ext>
            </a:extLst>
          </p:cNvPr>
          <p:cNvSpPr/>
          <p:nvPr/>
        </p:nvSpPr>
        <p:spPr>
          <a:xfrm>
            <a:off x="9066047" y="156819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9" name="Shape 18">
            <a:extLst>
              <a:ext uri="{FF2B5EF4-FFF2-40B4-BE49-F238E27FC236}">
                <a16:creationId xmlns:a16="http://schemas.microsoft.com/office/drawing/2014/main" id="{9DB0790F-8430-57FC-6101-63F966549639}"/>
              </a:ext>
            </a:extLst>
          </p:cNvPr>
          <p:cNvSpPr/>
          <p:nvPr/>
        </p:nvSpPr>
        <p:spPr>
          <a:xfrm>
            <a:off x="9285503" y="1769364"/>
            <a:ext cx="384048" cy="384048"/>
          </a:xfrm>
          <a:prstGeom prst="ellipse">
            <a:avLst/>
          </a:prstGeom>
          <a:solidFill>
            <a:srgbClr val="E07A29"/>
          </a:solidFill>
          <a:ln w="12700">
            <a:solidFill>
              <a:srgbClr val="E07A29"/>
            </a:solidFill>
            <a:prstDash val="solid"/>
          </a:ln>
        </p:spPr>
        <p:txBody>
          <a:bodyPr/>
          <a:lstStyle/>
          <a:p>
            <a:endParaRPr lang="fr-FR"/>
          </a:p>
        </p:txBody>
      </p:sp>
      <p:sp>
        <p:nvSpPr>
          <p:cNvPr id="20" name="Text 19">
            <a:extLst>
              <a:ext uri="{FF2B5EF4-FFF2-40B4-BE49-F238E27FC236}">
                <a16:creationId xmlns:a16="http://schemas.microsoft.com/office/drawing/2014/main" id="{F8C5030D-083A-6768-AC84-DF9F4913A63E}"/>
              </a:ext>
            </a:extLst>
          </p:cNvPr>
          <p:cNvSpPr/>
          <p:nvPr/>
        </p:nvSpPr>
        <p:spPr>
          <a:xfrm>
            <a:off x="9285503" y="1769364"/>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20">
            <a:extLst>
              <a:ext uri="{FF2B5EF4-FFF2-40B4-BE49-F238E27FC236}">
                <a16:creationId xmlns:a16="http://schemas.microsoft.com/office/drawing/2014/main" id="{297E5615-052A-38A6-E82B-68323FE432FA}"/>
              </a:ext>
            </a:extLst>
          </p:cNvPr>
          <p:cNvSpPr/>
          <p:nvPr/>
        </p:nvSpPr>
        <p:spPr>
          <a:xfrm>
            <a:off x="9779279" y="175107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Répétition</a:t>
            </a:r>
            <a:endParaRPr lang="en-US" sz="1450" dirty="0"/>
          </a:p>
        </p:txBody>
      </p:sp>
      <p:sp>
        <p:nvSpPr>
          <p:cNvPr id="22" name="Text 21">
            <a:extLst>
              <a:ext uri="{FF2B5EF4-FFF2-40B4-BE49-F238E27FC236}">
                <a16:creationId xmlns:a16="http://schemas.microsoft.com/office/drawing/2014/main" id="{0973F07D-82E0-1938-7160-E95DC880277F}"/>
              </a:ext>
            </a:extLst>
          </p:cNvPr>
          <p:cNvSpPr/>
          <p:nvPr/>
        </p:nvSpPr>
        <p:spPr>
          <a:xfrm>
            <a:off x="9303791" y="228142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How many samples, cycles, repetitions? A single result is not a result.</a:t>
            </a:r>
            <a:endParaRPr lang="en-US" sz="1200" dirty="0"/>
          </a:p>
        </p:txBody>
      </p:sp>
      <p:sp>
        <p:nvSpPr>
          <p:cNvPr id="23" name="Shape 22">
            <a:extLst>
              <a:ext uri="{FF2B5EF4-FFF2-40B4-BE49-F238E27FC236}">
                <a16:creationId xmlns:a16="http://schemas.microsoft.com/office/drawing/2014/main" id="{47034F58-B11C-4E4A-7FBC-1D0FEC967296}"/>
              </a:ext>
            </a:extLst>
          </p:cNvPr>
          <p:cNvSpPr/>
          <p:nvPr/>
        </p:nvSpPr>
        <p:spPr>
          <a:xfrm>
            <a:off x="566928" y="371703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24" name="Shape 23">
            <a:extLst>
              <a:ext uri="{FF2B5EF4-FFF2-40B4-BE49-F238E27FC236}">
                <a16:creationId xmlns:a16="http://schemas.microsoft.com/office/drawing/2014/main" id="{14B080D5-346B-981A-E12E-BE57F1AF3173}"/>
              </a:ext>
            </a:extLst>
          </p:cNvPr>
          <p:cNvSpPr/>
          <p:nvPr/>
        </p:nvSpPr>
        <p:spPr>
          <a:xfrm>
            <a:off x="786384" y="3918204"/>
            <a:ext cx="384048" cy="384048"/>
          </a:xfrm>
          <a:prstGeom prst="ellipse">
            <a:avLst/>
          </a:prstGeom>
          <a:solidFill>
            <a:srgbClr val="E07A29"/>
          </a:solidFill>
          <a:ln w="12700">
            <a:solidFill>
              <a:srgbClr val="E07A29"/>
            </a:solidFill>
            <a:prstDash val="solid"/>
          </a:ln>
        </p:spPr>
        <p:txBody>
          <a:bodyPr/>
          <a:lstStyle/>
          <a:p>
            <a:endParaRPr lang="fr-FR"/>
          </a:p>
        </p:txBody>
      </p:sp>
      <p:sp>
        <p:nvSpPr>
          <p:cNvPr id="25" name="Text 24">
            <a:extLst>
              <a:ext uri="{FF2B5EF4-FFF2-40B4-BE49-F238E27FC236}">
                <a16:creationId xmlns:a16="http://schemas.microsoft.com/office/drawing/2014/main" id="{37C33A32-815A-0DDA-50BE-F9E2148BCFCF}"/>
              </a:ext>
            </a:extLst>
          </p:cNvPr>
          <p:cNvSpPr/>
          <p:nvPr/>
        </p:nvSpPr>
        <p:spPr>
          <a:xfrm>
            <a:off x="786384" y="3918204"/>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5">
            <a:extLst>
              <a:ext uri="{FF2B5EF4-FFF2-40B4-BE49-F238E27FC236}">
                <a16:creationId xmlns:a16="http://schemas.microsoft.com/office/drawing/2014/main" id="{9B8E7DA3-6FC6-9932-707E-212C9DA9455A}"/>
              </a:ext>
            </a:extLst>
          </p:cNvPr>
          <p:cNvSpPr/>
          <p:nvPr/>
        </p:nvSpPr>
        <p:spPr>
          <a:xfrm>
            <a:off x="1280160" y="3899916"/>
            <a:ext cx="1626032" cy="438912"/>
          </a:xfrm>
          <a:prstGeom prst="rect">
            <a:avLst/>
          </a:prstGeom>
          <a:noFill/>
          <a:ln/>
        </p:spPr>
        <p:txBody>
          <a:bodyPr wrap="square" lIns="0" tIns="0" rIns="0" bIns="0" rtlCol="0" anchor="ctr"/>
          <a:lstStyle/>
          <a:p>
            <a:r>
              <a:rPr lang="en-US" sz="1450" b="1" dirty="0">
                <a:solidFill>
                  <a:srgbClr val="12303F"/>
                </a:solidFill>
                <a:latin typeface="Cambria" pitchFamily="34" charset="0"/>
                <a:ea typeface="Cambria" pitchFamily="34" charset="-122"/>
                <a:cs typeface="Cambria" pitchFamily="34" charset="-120"/>
              </a:rPr>
              <a:t>Verifiability</a:t>
            </a:r>
            <a:endParaRPr lang="en-US" sz="1450" dirty="0"/>
          </a:p>
        </p:txBody>
      </p:sp>
      <p:sp>
        <p:nvSpPr>
          <p:cNvPr id="27" name="Text 26">
            <a:extLst>
              <a:ext uri="{FF2B5EF4-FFF2-40B4-BE49-F238E27FC236}">
                <a16:creationId xmlns:a16="http://schemas.microsoft.com/office/drawing/2014/main" id="{C6BF2C92-D80E-A887-F27C-275C13C5FE70}"/>
              </a:ext>
            </a:extLst>
          </p:cNvPr>
          <p:cNvSpPr/>
          <p:nvPr/>
        </p:nvSpPr>
        <p:spPr>
          <a:xfrm>
            <a:off x="804672" y="443026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Data and code available? If not, the result can't be verified — which doesn't make it wrong, but changes its status.</a:t>
            </a:r>
            <a:endParaRPr lang="en-US" sz="1200" dirty="0"/>
          </a:p>
        </p:txBody>
      </p:sp>
      <p:sp>
        <p:nvSpPr>
          <p:cNvPr id="28" name="Text 29">
            <a:extLst>
              <a:ext uri="{FF2B5EF4-FFF2-40B4-BE49-F238E27FC236}">
                <a16:creationId xmlns:a16="http://schemas.microsoft.com/office/drawing/2014/main" id="{C370403B-809D-8693-43D4-032F3A1D45F0}"/>
              </a:ext>
            </a:extLst>
          </p:cNvPr>
          <p:cNvSpPr/>
          <p:nvPr/>
        </p:nvSpPr>
        <p:spPr>
          <a:xfrm>
            <a:off x="3619424" y="39182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30">
            <a:extLst>
              <a:ext uri="{FF2B5EF4-FFF2-40B4-BE49-F238E27FC236}">
                <a16:creationId xmlns:a16="http://schemas.microsoft.com/office/drawing/2014/main" id="{8F2356A2-50EF-AF49-0C0D-E32B50804289}"/>
              </a:ext>
            </a:extLst>
          </p:cNvPr>
          <p:cNvSpPr/>
          <p:nvPr/>
        </p:nvSpPr>
        <p:spPr>
          <a:xfrm>
            <a:off x="4113200" y="389991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Interests</a:t>
            </a:r>
            <a:endParaRPr lang="en-US" sz="1450" dirty="0"/>
          </a:p>
        </p:txBody>
      </p:sp>
      <p:sp>
        <p:nvSpPr>
          <p:cNvPr id="30" name="Text 31">
            <a:extLst>
              <a:ext uri="{FF2B5EF4-FFF2-40B4-BE49-F238E27FC236}">
                <a16:creationId xmlns:a16="http://schemas.microsoft.com/office/drawing/2014/main" id="{263025A1-3CFD-55D6-82EE-F03290093DE4}"/>
              </a:ext>
            </a:extLst>
          </p:cNvPr>
          <p:cNvSpPr/>
          <p:nvPr/>
        </p:nvSpPr>
        <p:spPr>
          <a:xfrm>
            <a:off x="3637712" y="443026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Who is funding it, what interests are at stake? The declaration is at the end of the article and is always read.</a:t>
            </a:r>
            <a:endParaRPr lang="en-US" sz="1200" dirty="0"/>
          </a:p>
        </p:txBody>
      </p:sp>
      <p:sp>
        <p:nvSpPr>
          <p:cNvPr id="31" name="Shape 32">
            <a:extLst>
              <a:ext uri="{FF2B5EF4-FFF2-40B4-BE49-F238E27FC236}">
                <a16:creationId xmlns:a16="http://schemas.microsoft.com/office/drawing/2014/main" id="{5551041C-4A84-4218-9159-59B747007BF9}"/>
              </a:ext>
            </a:extLst>
          </p:cNvPr>
          <p:cNvSpPr/>
          <p:nvPr/>
        </p:nvSpPr>
        <p:spPr>
          <a:xfrm>
            <a:off x="6233008" y="371703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32" name="Shape 33">
            <a:extLst>
              <a:ext uri="{FF2B5EF4-FFF2-40B4-BE49-F238E27FC236}">
                <a16:creationId xmlns:a16="http://schemas.microsoft.com/office/drawing/2014/main" id="{EE65C45A-68FE-2730-B232-BCA75468AF85}"/>
              </a:ext>
            </a:extLst>
          </p:cNvPr>
          <p:cNvSpPr/>
          <p:nvPr/>
        </p:nvSpPr>
        <p:spPr>
          <a:xfrm>
            <a:off x="6452464" y="3918204"/>
            <a:ext cx="384048" cy="384048"/>
          </a:xfrm>
          <a:prstGeom prst="ellipse">
            <a:avLst/>
          </a:prstGeom>
          <a:solidFill>
            <a:srgbClr val="E07A29"/>
          </a:solidFill>
          <a:ln w="12700">
            <a:solidFill>
              <a:srgbClr val="E07A29"/>
            </a:solidFill>
            <a:prstDash val="solid"/>
          </a:ln>
        </p:spPr>
        <p:txBody>
          <a:bodyPr/>
          <a:lstStyle/>
          <a:p>
            <a:endParaRPr lang="fr-FR"/>
          </a:p>
        </p:txBody>
      </p:sp>
      <p:sp>
        <p:nvSpPr>
          <p:cNvPr id="33" name="Text 34">
            <a:extLst>
              <a:ext uri="{FF2B5EF4-FFF2-40B4-BE49-F238E27FC236}">
                <a16:creationId xmlns:a16="http://schemas.microsoft.com/office/drawing/2014/main" id="{099EE01F-1A8A-7B14-5FBD-C89808ACF3E7}"/>
              </a:ext>
            </a:extLst>
          </p:cNvPr>
          <p:cNvSpPr/>
          <p:nvPr/>
        </p:nvSpPr>
        <p:spPr>
          <a:xfrm>
            <a:off x="6452464" y="3918204"/>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4" name="Text 35">
            <a:extLst>
              <a:ext uri="{FF2B5EF4-FFF2-40B4-BE49-F238E27FC236}">
                <a16:creationId xmlns:a16="http://schemas.microsoft.com/office/drawing/2014/main" id="{0E63A0AF-4DB7-E9A9-3D24-3CDD44C27B52}"/>
              </a:ext>
            </a:extLst>
          </p:cNvPr>
          <p:cNvSpPr/>
          <p:nvPr/>
        </p:nvSpPr>
        <p:spPr>
          <a:xfrm>
            <a:off x="6946240" y="3899916"/>
            <a:ext cx="1626032" cy="438912"/>
          </a:xfrm>
          <a:prstGeom prst="rect">
            <a:avLst/>
          </a:prstGeom>
          <a:noFill/>
          <a:ln/>
        </p:spPr>
        <p:txBody>
          <a:bodyPr wrap="square" lIns="0" tIns="0" rIns="0" bIns="0" rtlCol="0" anchor="ctr"/>
          <a:lstStyle/>
          <a:p>
            <a:pPr marL="0" indent="0">
              <a:buNone/>
            </a:pPr>
            <a:r>
              <a:rPr lang="en-US" sz="1450" b="1" dirty="0">
                <a:solidFill>
                  <a:srgbClr val="12303F"/>
                </a:solidFill>
                <a:latin typeface="Cambria" pitchFamily="34" charset="0"/>
                <a:ea typeface="Cambria" pitchFamily="34" charset="-122"/>
                <a:cs typeface="Cambria" pitchFamily="34" charset="-120"/>
              </a:rPr>
              <a:t>Maturity</a:t>
            </a:r>
            <a:endParaRPr lang="en-US" sz="1450" dirty="0"/>
          </a:p>
        </p:txBody>
      </p:sp>
      <p:sp>
        <p:nvSpPr>
          <p:cNvPr id="35" name="Text 36">
            <a:extLst>
              <a:ext uri="{FF2B5EF4-FFF2-40B4-BE49-F238E27FC236}">
                <a16:creationId xmlns:a16="http://schemas.microsoft.com/office/drawing/2014/main" id="{61F68DDC-8264-D94E-641B-677E425DA1BA}"/>
              </a:ext>
            </a:extLst>
          </p:cNvPr>
          <p:cNvSpPr/>
          <p:nvPr/>
        </p:nvSpPr>
        <p:spPr>
          <a:xfrm>
            <a:off x="6470752" y="443026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What real maturity, compared to what the title suggests?</a:t>
            </a:r>
            <a:endParaRPr lang="en-US" sz="1200" dirty="0"/>
          </a:p>
        </p:txBody>
      </p:sp>
      <p:sp>
        <p:nvSpPr>
          <p:cNvPr id="36" name="Shape 37">
            <a:extLst>
              <a:ext uri="{FF2B5EF4-FFF2-40B4-BE49-F238E27FC236}">
                <a16:creationId xmlns:a16="http://schemas.microsoft.com/office/drawing/2014/main" id="{567E40B4-0166-576E-B37B-5873D42B1CE1}"/>
              </a:ext>
            </a:extLst>
          </p:cNvPr>
          <p:cNvSpPr/>
          <p:nvPr/>
        </p:nvSpPr>
        <p:spPr>
          <a:xfrm>
            <a:off x="9066047" y="3717036"/>
            <a:ext cx="2558720" cy="1874520"/>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37" name="Text 38">
            <a:extLst>
              <a:ext uri="{FF2B5EF4-FFF2-40B4-BE49-F238E27FC236}">
                <a16:creationId xmlns:a16="http://schemas.microsoft.com/office/drawing/2014/main" id="{593C53A2-4816-1145-5B36-CA67C3A9ED63}"/>
              </a:ext>
            </a:extLst>
          </p:cNvPr>
          <p:cNvSpPr/>
          <p:nvPr/>
        </p:nvSpPr>
        <p:spPr>
          <a:xfrm>
            <a:off x="9303791" y="3899916"/>
            <a:ext cx="2083232" cy="438912"/>
          </a:xfrm>
          <a:prstGeom prst="rect">
            <a:avLst/>
          </a:prstGeom>
          <a:noFill/>
          <a:ln/>
        </p:spPr>
        <p:txBody>
          <a:bodyPr wrap="square" lIns="0" tIns="0" rIns="0" bIns="0" rtlCol="0" anchor="ctr"/>
          <a:lstStyle/>
          <a:p>
            <a:pPr marL="0" indent="0">
              <a:buNone/>
            </a:pPr>
            <a:r>
              <a:rPr lang="en-US" b="1" dirty="0">
                <a:solidFill>
                  <a:srgbClr val="80276C"/>
                </a:solidFill>
                <a:latin typeface="Cambria" pitchFamily="34" charset="0"/>
                <a:ea typeface="Cambria" pitchFamily="34" charset="-122"/>
                <a:cs typeface="Cambria" pitchFamily="34" charset="-120"/>
              </a:rPr>
              <a:t>Reflex</a:t>
            </a:r>
            <a:r>
              <a:rPr lang="en-US" sz="1450" b="1" dirty="0">
                <a:solidFill>
                  <a:srgbClr val="12303F"/>
                </a:solidFill>
                <a:latin typeface="Cambria" pitchFamily="34" charset="0"/>
                <a:ea typeface="Cambria" pitchFamily="34" charset="-122"/>
                <a:cs typeface="Cambria" pitchFamily="34" charset="-120"/>
              </a:rPr>
              <a:t> </a:t>
            </a:r>
            <a:endParaRPr lang="en-US" sz="1450" dirty="0"/>
          </a:p>
        </p:txBody>
      </p:sp>
      <p:sp>
        <p:nvSpPr>
          <p:cNvPr id="38" name="Text 39">
            <a:extLst>
              <a:ext uri="{FF2B5EF4-FFF2-40B4-BE49-F238E27FC236}">
                <a16:creationId xmlns:a16="http://schemas.microsoft.com/office/drawing/2014/main" id="{7F5C2F98-AFDA-FCF4-B308-3D0A0BC87484}"/>
              </a:ext>
            </a:extLst>
          </p:cNvPr>
          <p:cNvSpPr/>
          <p:nvPr/>
        </p:nvSpPr>
        <p:spPr>
          <a:xfrm>
            <a:off x="9303791" y="4430268"/>
            <a:ext cx="208323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These seven questions come up in the second round, at the same time as filling out the matrix. They don't take any extra time.</a:t>
            </a:r>
            <a:endParaRPr lang="en-US" sz="1200" dirty="0"/>
          </a:p>
        </p:txBody>
      </p:sp>
      <p:sp>
        <p:nvSpPr>
          <p:cNvPr id="39" name="Slide Number Placeholder 0">
            <a:extLst>
              <a:ext uri="{FF2B5EF4-FFF2-40B4-BE49-F238E27FC236}">
                <a16:creationId xmlns:a16="http://schemas.microsoft.com/office/drawing/2014/main" id="{740B2EFB-F46E-D735-E80E-B633B3B3EBA5}"/>
              </a:ext>
            </a:extLst>
          </p:cNvPr>
          <p:cNvSpPr txBox="1">
            <a:spLocks/>
          </p:cNvSpPr>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75</a:t>
            </a:fld>
            <a:endParaRPr lang="en-US" dirty="0"/>
          </a:p>
        </p:txBody>
      </p:sp>
      <p:sp>
        <p:nvSpPr>
          <p:cNvPr id="40" name="Text 24">
            <a:extLst>
              <a:ext uri="{FF2B5EF4-FFF2-40B4-BE49-F238E27FC236}">
                <a16:creationId xmlns:a16="http://schemas.microsoft.com/office/drawing/2014/main" id="{993C83DD-5D02-79BD-2749-EE83B29CE1EF}"/>
              </a:ext>
            </a:extLst>
          </p:cNvPr>
          <p:cNvSpPr/>
          <p:nvPr/>
        </p:nvSpPr>
        <p:spPr>
          <a:xfrm>
            <a:off x="3646856" y="3877056"/>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Text 24">
            <a:extLst>
              <a:ext uri="{FF2B5EF4-FFF2-40B4-BE49-F238E27FC236}">
                <a16:creationId xmlns:a16="http://schemas.microsoft.com/office/drawing/2014/main" id="{B2CF4493-5973-4B72-A770-B7E751F30D2D}"/>
              </a:ext>
            </a:extLst>
          </p:cNvPr>
          <p:cNvSpPr/>
          <p:nvPr/>
        </p:nvSpPr>
        <p:spPr>
          <a:xfrm>
            <a:off x="6425032" y="1778508"/>
            <a:ext cx="384048" cy="384048"/>
          </a:xfrm>
          <a:prstGeom prst="rect">
            <a:avLst/>
          </a:prstGeom>
          <a:solidFill>
            <a:srgbClr val="80276C"/>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extLst>
      <p:ext uri="{BB962C8B-B14F-4D97-AF65-F5344CB8AC3E}">
        <p14:creationId xmlns:p14="http://schemas.microsoft.com/office/powerpoint/2010/main" val="40916842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1AEA512-457B-46B8-B738-8294248820C7}"/>
              </a:ext>
            </a:extLst>
          </p:cNvPr>
          <p:cNvSpPr txBox="1"/>
          <p:nvPr/>
        </p:nvSpPr>
        <p:spPr>
          <a:xfrm>
            <a:off x="603504" y="512064"/>
            <a:ext cx="5193792" cy="707886"/>
          </a:xfrm>
          <a:prstGeom prst="rect">
            <a:avLst/>
          </a:prstGeom>
          <a:noFill/>
        </p:spPr>
        <p:txBody>
          <a:bodyPr wrap="square" rtlCol="0">
            <a:spAutoFit/>
          </a:bodyPr>
          <a:lstStyle/>
          <a:p>
            <a:r>
              <a:rPr lang="fr-FR" sz="4000" b="1" dirty="0">
                <a:solidFill>
                  <a:srgbClr val="80276C"/>
                </a:solidFill>
              </a:rPr>
              <a:t>For </a:t>
            </a:r>
            <a:r>
              <a:rPr lang="fr-FR" sz="4000" b="1" dirty="0" err="1">
                <a:solidFill>
                  <a:srgbClr val="80276C"/>
                </a:solidFill>
              </a:rPr>
              <a:t>now</a:t>
            </a:r>
            <a:endParaRPr lang="fr-FR" sz="4000" b="1" dirty="0">
              <a:solidFill>
                <a:srgbClr val="80276C"/>
              </a:solidFill>
            </a:endParaRPr>
          </a:p>
        </p:txBody>
      </p:sp>
      <p:sp>
        <p:nvSpPr>
          <p:cNvPr id="4" name="ZoneTexte 3">
            <a:extLst>
              <a:ext uri="{FF2B5EF4-FFF2-40B4-BE49-F238E27FC236}">
                <a16:creationId xmlns:a16="http://schemas.microsoft.com/office/drawing/2014/main" id="{0299F90D-25ED-40EF-B2A2-9BDB654ABBEA}"/>
              </a:ext>
            </a:extLst>
          </p:cNvPr>
          <p:cNvSpPr txBox="1"/>
          <p:nvPr/>
        </p:nvSpPr>
        <p:spPr>
          <a:xfrm>
            <a:off x="763524" y="1623060"/>
            <a:ext cx="5431536" cy="3785652"/>
          </a:xfrm>
          <a:prstGeom prst="rect">
            <a:avLst/>
          </a:prstGeom>
          <a:noFill/>
        </p:spPr>
        <p:txBody>
          <a:bodyPr wrap="square" rtlCol="0">
            <a:spAutoFit/>
          </a:bodyPr>
          <a:lstStyle/>
          <a:p>
            <a:pPr marL="342900" indent="-342900">
              <a:buFont typeface="Wingdings" panose="05000000000000000000" pitchFamily="2" charset="2"/>
              <a:buChar char="v"/>
            </a:pPr>
            <a:r>
              <a:rPr lang="fr-FR" sz="2000" b="1" dirty="0">
                <a:solidFill>
                  <a:srgbClr val="80276C"/>
                </a:solidFill>
                <a:latin typeface="Verdana" panose="020B0604030504040204" pitchFamily="34" charset="0"/>
                <a:ea typeface="Verdana" panose="020B0604030504040204" pitchFamily="34" charset="0"/>
              </a:rPr>
              <a:t>I have </a:t>
            </a:r>
            <a:r>
              <a:rPr lang="fr-FR" sz="2000" b="1" dirty="0" err="1">
                <a:solidFill>
                  <a:srgbClr val="80276C"/>
                </a:solidFill>
                <a:latin typeface="Verdana" panose="020B0604030504040204" pitchFamily="34" charset="0"/>
                <a:ea typeface="Verdana" panose="020B0604030504040204" pitchFamily="34" charset="0"/>
              </a:rPr>
              <a:t>tried</a:t>
            </a:r>
            <a:r>
              <a:rPr lang="fr-FR" sz="2000" b="1" dirty="0">
                <a:solidFill>
                  <a:srgbClr val="80276C"/>
                </a:solidFill>
                <a:latin typeface="Verdana" panose="020B0604030504040204" pitchFamily="34" charset="0"/>
                <a:ea typeface="Verdana" panose="020B0604030504040204" pitchFamily="34" charset="0"/>
              </a:rPr>
              <a:t> to </a:t>
            </a:r>
            <a:r>
              <a:rPr lang="fr-FR" sz="2000" b="1" dirty="0" err="1">
                <a:solidFill>
                  <a:srgbClr val="80276C"/>
                </a:solidFill>
                <a:latin typeface="Verdana" panose="020B0604030504040204" pitchFamily="34" charset="0"/>
                <a:ea typeface="Verdana" panose="020B0604030504040204" pitchFamily="34" charset="0"/>
              </a:rPr>
              <a:t>give</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you</a:t>
            </a:r>
            <a:r>
              <a:rPr lang="fr-FR" sz="2000" b="1" dirty="0">
                <a:solidFill>
                  <a:srgbClr val="80276C"/>
                </a:solidFill>
                <a:latin typeface="Verdana" panose="020B0604030504040204" pitchFamily="34" charset="0"/>
                <a:ea typeface="Verdana" panose="020B0604030504040204" pitchFamily="34" charset="0"/>
              </a:rPr>
              <a:t> a </a:t>
            </a:r>
            <a:r>
              <a:rPr lang="fr-FR" sz="2000" b="1" dirty="0" err="1">
                <a:solidFill>
                  <a:srgbClr val="80276C"/>
                </a:solidFill>
                <a:latin typeface="Verdana" panose="020B0604030504040204" pitchFamily="34" charset="0"/>
                <a:ea typeface="Verdana" panose="020B0604030504040204" pitchFamily="34" charset="0"/>
              </a:rPr>
              <a:t>bird’s</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eye</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view</a:t>
            </a:r>
            <a:r>
              <a:rPr lang="fr-FR" sz="2000" b="1" dirty="0">
                <a:solidFill>
                  <a:srgbClr val="80276C"/>
                </a:solidFill>
                <a:latin typeface="Verdana" panose="020B0604030504040204" pitchFamily="34" charset="0"/>
                <a:ea typeface="Verdana" panose="020B0604030504040204" pitchFamily="34" charset="0"/>
              </a:rPr>
              <a:t> of </a:t>
            </a:r>
            <a:r>
              <a:rPr lang="fr-FR" sz="2000" b="1" dirty="0" err="1">
                <a:solidFill>
                  <a:srgbClr val="80276C"/>
                </a:solidFill>
                <a:latin typeface="Verdana" panose="020B0604030504040204" pitchFamily="34" charset="0"/>
                <a:ea typeface="Verdana" panose="020B0604030504040204" pitchFamily="34" charset="0"/>
              </a:rPr>
              <a:t>bibliographic</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research</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methodology</a:t>
            </a:r>
            <a:r>
              <a:rPr lang="fr-FR" sz="2000" b="1" dirty="0">
                <a:solidFill>
                  <a:srgbClr val="80276C"/>
                </a:solidFill>
                <a:latin typeface="Verdana" panose="020B0604030504040204" pitchFamily="34" charset="0"/>
                <a:ea typeface="Verdana" panose="020B0604030504040204" pitchFamily="34" charset="0"/>
              </a:rPr>
              <a:t> for </a:t>
            </a:r>
            <a:r>
              <a:rPr lang="fr-FR" sz="2000" b="1" dirty="0" err="1">
                <a:solidFill>
                  <a:srgbClr val="80276C"/>
                </a:solidFill>
                <a:latin typeface="Verdana" panose="020B0604030504040204" pitchFamily="34" charset="0"/>
                <a:ea typeface="Verdana" panose="020B0604030504040204" pitchFamily="34" charset="0"/>
              </a:rPr>
              <a:t>you</a:t>
            </a:r>
            <a:r>
              <a:rPr lang="fr-FR" sz="2000" b="1" dirty="0">
                <a:solidFill>
                  <a:srgbClr val="80276C"/>
                </a:solidFill>
                <a:latin typeface="Verdana" panose="020B0604030504040204" pitchFamily="34" charset="0"/>
                <a:ea typeface="Verdana" panose="020B0604030504040204" pitchFamily="34" charset="0"/>
              </a:rPr>
              <a:t> to carry out a good report in the STI </a:t>
            </a:r>
            <a:r>
              <a:rPr lang="fr-FR" sz="2000" b="1" dirty="0" err="1">
                <a:solidFill>
                  <a:srgbClr val="80276C"/>
                </a:solidFill>
                <a:latin typeface="Verdana" panose="020B0604030504040204" pitchFamily="34" charset="0"/>
                <a:ea typeface="Verdana" panose="020B0604030504040204" pitchFamily="34" charset="0"/>
              </a:rPr>
              <a:t>field</a:t>
            </a:r>
            <a:r>
              <a:rPr lang="fr-FR" sz="2000" b="1" dirty="0">
                <a:solidFill>
                  <a:srgbClr val="80276C"/>
                </a:solidFill>
                <a:latin typeface="Verdana" panose="020B0604030504040204" pitchFamily="34" charset="0"/>
                <a:ea typeface="Verdana" panose="020B0604030504040204" pitchFamily="34" charset="0"/>
              </a:rPr>
              <a:t>. </a:t>
            </a:r>
            <a:br>
              <a:rPr lang="fr-FR" sz="2000" b="1" dirty="0">
                <a:solidFill>
                  <a:srgbClr val="80276C"/>
                </a:solidFill>
                <a:latin typeface="Verdana" panose="020B0604030504040204" pitchFamily="34" charset="0"/>
                <a:ea typeface="Verdana" panose="020B0604030504040204" pitchFamily="34" charset="0"/>
              </a:rPr>
            </a:br>
            <a:r>
              <a:rPr lang="fr-FR" sz="2000" b="1" dirty="0">
                <a:solidFill>
                  <a:srgbClr val="80276C"/>
                </a:solidFill>
                <a:latin typeface="Verdana" panose="020B0604030504040204" pitchFamily="34" charset="0"/>
                <a:ea typeface="Verdana" panose="020B0604030504040204" pitchFamily="34" charset="0"/>
              </a:rPr>
              <a:t>As a </a:t>
            </a:r>
            <a:r>
              <a:rPr lang="fr-FR" sz="2000" b="1" dirty="0" err="1">
                <a:solidFill>
                  <a:srgbClr val="80276C"/>
                </a:solidFill>
                <a:latin typeface="Verdana" panose="020B0604030504040204" pitchFamily="34" charset="0"/>
                <a:ea typeface="Verdana" panose="020B0604030504040204" pitchFamily="34" charset="0"/>
              </a:rPr>
              <a:t>matter</a:t>
            </a:r>
            <a:r>
              <a:rPr lang="fr-FR" sz="2000" b="1" dirty="0">
                <a:solidFill>
                  <a:srgbClr val="80276C"/>
                </a:solidFill>
                <a:latin typeface="Verdana" panose="020B0604030504040204" pitchFamily="34" charset="0"/>
                <a:ea typeface="Verdana" panose="020B0604030504040204" pitchFamily="34" charset="0"/>
              </a:rPr>
              <a:t> of </a:t>
            </a:r>
            <a:r>
              <a:rPr lang="fr-FR" sz="2000" b="1" dirty="0" err="1">
                <a:solidFill>
                  <a:srgbClr val="80276C"/>
                </a:solidFill>
                <a:latin typeface="Verdana" panose="020B0604030504040204" pitchFamily="34" charset="0"/>
                <a:ea typeface="Verdana" panose="020B0604030504040204" pitchFamily="34" charset="0"/>
              </a:rPr>
              <a:t>fact</a:t>
            </a:r>
            <a:r>
              <a:rPr lang="fr-FR" sz="2000" b="1" dirty="0">
                <a:solidFill>
                  <a:srgbClr val="80276C"/>
                </a:solidFill>
                <a:latin typeface="Verdana" panose="020B0604030504040204" pitchFamily="34" charset="0"/>
                <a:ea typeface="Verdana" panose="020B0604030504040204" pitchFamily="34" charset="0"/>
              </a:rPr>
              <a:t> the </a:t>
            </a:r>
            <a:r>
              <a:rPr lang="fr-FR" sz="2000" b="1" dirty="0" err="1">
                <a:solidFill>
                  <a:srgbClr val="80276C"/>
                </a:solidFill>
                <a:latin typeface="Verdana" panose="020B0604030504040204" pitchFamily="34" charset="0"/>
                <a:ea typeface="Verdana" panose="020B0604030504040204" pitchFamily="34" charset="0"/>
              </a:rPr>
              <a:t>quality</a:t>
            </a:r>
            <a:r>
              <a:rPr lang="fr-FR" sz="2000" b="1" dirty="0">
                <a:solidFill>
                  <a:srgbClr val="80276C"/>
                </a:solidFill>
                <a:latin typeface="Verdana" panose="020B0604030504040204" pitchFamily="34" charset="0"/>
                <a:ea typeface="Verdana" panose="020B0604030504040204" pitchFamily="34" charset="0"/>
              </a:rPr>
              <a:t> of </a:t>
            </a:r>
            <a:r>
              <a:rPr lang="fr-FR" sz="2000" b="1" dirty="0" err="1">
                <a:solidFill>
                  <a:srgbClr val="80276C"/>
                </a:solidFill>
                <a:latin typeface="Verdana" panose="020B0604030504040204" pitchFamily="34" charset="0"/>
                <a:ea typeface="Verdana" panose="020B0604030504040204" pitchFamily="34" charset="0"/>
              </a:rPr>
              <a:t>your</a:t>
            </a:r>
            <a:r>
              <a:rPr lang="fr-FR" sz="2000" b="1" dirty="0">
                <a:solidFill>
                  <a:srgbClr val="80276C"/>
                </a:solidFill>
                <a:latin typeface="Verdana" panose="020B0604030504040204" pitchFamily="34" charset="0"/>
                <a:ea typeface="Verdana" panose="020B0604030504040204" pitchFamily="34" charset="0"/>
              </a:rPr>
              <a:t> report </a:t>
            </a:r>
            <a:r>
              <a:rPr lang="fr-FR" sz="2000" b="1" dirty="0" err="1">
                <a:solidFill>
                  <a:srgbClr val="80276C"/>
                </a:solidFill>
                <a:latin typeface="Verdana" panose="020B0604030504040204" pitchFamily="34" charset="0"/>
                <a:ea typeface="Verdana" panose="020B0604030504040204" pitchFamily="34" charset="0"/>
              </a:rPr>
              <a:t>depends</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mainly</a:t>
            </a:r>
            <a:r>
              <a:rPr lang="fr-FR" sz="2000" b="1" dirty="0">
                <a:solidFill>
                  <a:srgbClr val="80276C"/>
                </a:solidFill>
                <a:latin typeface="Verdana" panose="020B0604030504040204" pitchFamily="34" charset="0"/>
                <a:ea typeface="Verdana" panose="020B0604030504040204" pitchFamily="34" charset="0"/>
              </a:rPr>
              <a:t> on the </a:t>
            </a:r>
            <a:r>
              <a:rPr lang="fr-FR" sz="2000" b="1" dirty="0" err="1">
                <a:solidFill>
                  <a:srgbClr val="80276C"/>
                </a:solidFill>
                <a:latin typeface="Verdana" panose="020B0604030504040204" pitchFamily="34" charset="0"/>
                <a:ea typeface="Verdana" panose="020B0604030504040204" pitchFamily="34" charset="0"/>
              </a:rPr>
              <a:t>quality</a:t>
            </a:r>
            <a:r>
              <a:rPr lang="fr-FR" sz="2000" b="1" dirty="0">
                <a:solidFill>
                  <a:srgbClr val="80276C"/>
                </a:solidFill>
                <a:latin typeface="Verdana" panose="020B0604030504040204" pitchFamily="34" charset="0"/>
                <a:ea typeface="Verdana" panose="020B0604030504040204" pitchFamily="34" charset="0"/>
              </a:rPr>
              <a:t> of </a:t>
            </a:r>
            <a:r>
              <a:rPr lang="fr-FR" sz="2000" b="1" dirty="0" err="1">
                <a:solidFill>
                  <a:srgbClr val="80276C"/>
                </a:solidFill>
                <a:latin typeface="Verdana" panose="020B0604030504040204" pitchFamily="34" charset="0"/>
                <a:ea typeface="Verdana" panose="020B0604030504040204" pitchFamily="34" charset="0"/>
              </a:rPr>
              <a:t>your</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literature</a:t>
            </a:r>
            <a:r>
              <a:rPr lang="fr-FR" sz="2000" b="1" dirty="0">
                <a:solidFill>
                  <a:srgbClr val="80276C"/>
                </a:solidFill>
                <a:latin typeface="Verdana" panose="020B0604030504040204" pitchFamily="34" charset="0"/>
                <a:ea typeface="Verdana" panose="020B0604030504040204" pitchFamily="34" charset="0"/>
              </a:rPr>
              <a:t> </a:t>
            </a:r>
            <a:r>
              <a:rPr lang="fr-FR" sz="2000" b="1" dirty="0" err="1">
                <a:solidFill>
                  <a:srgbClr val="80276C"/>
                </a:solidFill>
                <a:latin typeface="Verdana" panose="020B0604030504040204" pitchFamily="34" charset="0"/>
                <a:ea typeface="Verdana" panose="020B0604030504040204" pitchFamily="34" charset="0"/>
              </a:rPr>
              <a:t>search</a:t>
            </a:r>
            <a:r>
              <a:rPr lang="fr-FR" sz="2000" b="1" dirty="0">
                <a:solidFill>
                  <a:srgbClr val="80276C"/>
                </a:solidFill>
                <a:latin typeface="Verdana" panose="020B0604030504040204" pitchFamily="34" charset="0"/>
                <a:ea typeface="Verdana" panose="020B0604030504040204" pitchFamily="34" charset="0"/>
              </a:rPr>
              <a:t>.</a:t>
            </a:r>
          </a:p>
          <a:p>
            <a:pPr marL="342900" indent="-342900" algn="just">
              <a:buFont typeface="Wingdings" panose="05000000000000000000" pitchFamily="2" charset="2"/>
              <a:buChar char="v"/>
            </a:pPr>
            <a:endParaRPr lang="fr-FR" sz="2000" b="1" dirty="0">
              <a:solidFill>
                <a:srgbClr val="80276C"/>
              </a:solidFill>
              <a:latin typeface="Verdana" panose="020B0604030504040204" pitchFamily="34" charset="0"/>
              <a:ea typeface="Verdana" panose="020B0604030504040204" pitchFamily="34" charset="0"/>
            </a:endParaRPr>
          </a:p>
          <a:p>
            <a:pPr marL="342900" indent="-342900" algn="just">
              <a:buFont typeface="Wingdings" panose="05000000000000000000" pitchFamily="2" charset="2"/>
              <a:buChar char="v"/>
            </a:pPr>
            <a:r>
              <a:rPr lang="fr-FR" sz="2000" b="1" dirty="0">
                <a:solidFill>
                  <a:srgbClr val="80276C"/>
                </a:solidFill>
                <a:latin typeface="Verdana" panose="020B0604030504040204" pitchFamily="34" charset="0"/>
                <a:ea typeface="Verdana" panose="020B0604030504040204" pitchFamily="34" charset="0"/>
              </a:rPr>
              <a:t>Do </a:t>
            </a:r>
            <a:r>
              <a:rPr lang="fr-FR" sz="2000" b="1" dirty="0" err="1">
                <a:solidFill>
                  <a:srgbClr val="80276C"/>
                </a:solidFill>
                <a:latin typeface="Verdana" panose="020B0604030504040204" pitchFamily="34" charset="0"/>
                <a:ea typeface="Verdana" panose="020B0604030504040204" pitchFamily="34" charset="0"/>
              </a:rPr>
              <a:t>you</a:t>
            </a:r>
            <a:r>
              <a:rPr lang="fr-FR" sz="2000" b="1" dirty="0">
                <a:solidFill>
                  <a:srgbClr val="80276C"/>
                </a:solidFill>
                <a:latin typeface="Verdana" panose="020B0604030504040204" pitchFamily="34" charset="0"/>
                <a:ea typeface="Verdana" panose="020B0604030504040204" pitchFamily="34" charset="0"/>
              </a:rPr>
              <a:t> have </a:t>
            </a:r>
            <a:r>
              <a:rPr lang="fr-FR" sz="2000" b="1" dirty="0" err="1">
                <a:solidFill>
                  <a:srgbClr val="80276C"/>
                </a:solidFill>
                <a:latin typeface="Verdana" panose="020B0604030504040204" pitchFamily="34" charset="0"/>
                <a:ea typeface="Verdana" panose="020B0604030504040204" pitchFamily="34" charset="0"/>
              </a:rPr>
              <a:t>other</a:t>
            </a:r>
            <a:r>
              <a:rPr lang="fr-FR" sz="2000" b="1" dirty="0">
                <a:solidFill>
                  <a:srgbClr val="80276C"/>
                </a:solidFill>
                <a:latin typeface="Verdana" panose="020B0604030504040204" pitchFamily="34" charset="0"/>
                <a:ea typeface="Verdana" panose="020B0604030504040204" pitchFamily="34" charset="0"/>
              </a:rPr>
              <a:t> questions ?</a:t>
            </a:r>
          </a:p>
          <a:p>
            <a:pPr algn="just"/>
            <a:endParaRPr lang="fr-FR" sz="2000" b="1" dirty="0">
              <a:solidFill>
                <a:srgbClr val="80276C"/>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37685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C949C75-30DF-4CFC-930E-69DEF5D89272}"/>
              </a:ext>
            </a:extLst>
          </p:cNvPr>
          <p:cNvSpPr>
            <a:spLocks noGrp="1"/>
          </p:cNvSpPr>
          <p:nvPr>
            <p:ph type="body" sz="quarter" idx="11"/>
          </p:nvPr>
        </p:nvSpPr>
        <p:spPr>
          <a:xfrm>
            <a:off x="5864992" y="2296626"/>
            <a:ext cx="5877182" cy="2565991"/>
          </a:xfrm>
        </p:spPr>
        <p:txBody>
          <a:bodyPr>
            <a:normAutofit/>
          </a:bodyPr>
          <a:lstStyle/>
          <a:p>
            <a:r>
              <a:rPr lang="fr-FR" sz="3600" dirty="0" err="1">
                <a:solidFill>
                  <a:srgbClr val="FFC000"/>
                </a:solidFill>
                <a:latin typeface="Times New Roman" panose="02020603050405020304" pitchFamily="18" charset="0"/>
                <a:cs typeface="Times New Roman" panose="02020603050405020304" pitchFamily="18" charset="0"/>
              </a:rPr>
              <a:t>Some</a:t>
            </a:r>
            <a:r>
              <a:rPr lang="fr-FR" sz="3600" dirty="0">
                <a:solidFill>
                  <a:srgbClr val="FFC000"/>
                </a:solidFill>
                <a:latin typeface="Times New Roman" panose="02020603050405020304" pitchFamily="18" charset="0"/>
                <a:cs typeface="Times New Roman" panose="02020603050405020304" pitchFamily="18" charset="0"/>
              </a:rPr>
              <a:t> orientations for a </a:t>
            </a:r>
            <a:r>
              <a:rPr lang="fr-FR" sz="3600" dirty="0" err="1">
                <a:solidFill>
                  <a:srgbClr val="FFC000"/>
                </a:solidFill>
                <a:latin typeface="Times New Roman" panose="02020603050405020304" pitchFamily="18" charset="0"/>
                <a:cs typeface="Times New Roman" panose="02020603050405020304" pitchFamily="18" charset="0"/>
              </a:rPr>
              <a:t>better</a:t>
            </a:r>
            <a:r>
              <a:rPr lang="fr-FR" sz="3600" dirty="0">
                <a:solidFill>
                  <a:srgbClr val="FFC000"/>
                </a:solidFill>
                <a:latin typeface="Times New Roman" panose="02020603050405020304" pitchFamily="18" charset="0"/>
                <a:cs typeface="Times New Roman" panose="02020603050405020304" pitchFamily="18" charset="0"/>
              </a:rPr>
              <a:t> use of AI for </a:t>
            </a:r>
            <a:r>
              <a:rPr lang="fr-FR" sz="3600" dirty="0" err="1">
                <a:solidFill>
                  <a:srgbClr val="FFC000"/>
                </a:solidFill>
                <a:latin typeface="Times New Roman" panose="02020603050405020304" pitchFamily="18" charset="0"/>
                <a:cs typeface="Times New Roman" panose="02020603050405020304" pitchFamily="18" charset="0"/>
              </a:rPr>
              <a:t>carrying</a:t>
            </a:r>
            <a:r>
              <a:rPr lang="fr-FR" sz="3600" dirty="0">
                <a:solidFill>
                  <a:srgbClr val="FFC000"/>
                </a:solidFill>
                <a:latin typeface="Times New Roman" panose="02020603050405020304" pitchFamily="18" charset="0"/>
                <a:cs typeface="Times New Roman" panose="02020603050405020304" pitchFamily="18" charset="0"/>
              </a:rPr>
              <a:t> out a </a:t>
            </a:r>
            <a:r>
              <a:rPr lang="fr-FR" sz="3600" dirty="0" err="1">
                <a:solidFill>
                  <a:srgbClr val="FFC000"/>
                </a:solidFill>
                <a:latin typeface="Times New Roman" panose="02020603050405020304" pitchFamily="18" charset="0"/>
                <a:cs typeface="Times New Roman" panose="02020603050405020304" pitchFamily="18" charset="0"/>
              </a:rPr>
              <a:t>bibliography</a:t>
            </a:r>
            <a:endParaRPr lang="fr-FR" sz="3600" dirty="0">
              <a:solidFill>
                <a:srgbClr val="FFC000"/>
              </a:solidFill>
              <a:latin typeface="Times New Roman" panose="02020603050405020304" pitchFamily="18" charset="0"/>
              <a:cs typeface="Times New Roman" panose="02020603050405020304" pitchFamily="18" charset="0"/>
            </a:endParaRPr>
          </a:p>
        </p:txBody>
      </p:sp>
      <p:sp>
        <p:nvSpPr>
          <p:cNvPr id="4" name="Espace réservé du texte 1">
            <a:extLst>
              <a:ext uri="{FF2B5EF4-FFF2-40B4-BE49-F238E27FC236}">
                <a16:creationId xmlns:a16="http://schemas.microsoft.com/office/drawing/2014/main" id="{B06B6BE9-34E7-42D8-AFD2-D720BD9B8E79}"/>
              </a:ext>
            </a:extLst>
          </p:cNvPr>
          <p:cNvSpPr txBox="1">
            <a:spLocks/>
          </p:cNvSpPr>
          <p:nvPr/>
        </p:nvSpPr>
        <p:spPr>
          <a:xfrm>
            <a:off x="6241176" y="3579622"/>
            <a:ext cx="5124815" cy="12562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b="1"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4749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0FB821E-1E4C-4708-9934-4EA5A40A838F}"/>
              </a:ext>
            </a:extLst>
          </p:cNvPr>
          <p:cNvSpPr txBox="1"/>
          <p:nvPr/>
        </p:nvSpPr>
        <p:spPr>
          <a:xfrm>
            <a:off x="1406038" y="1157250"/>
            <a:ext cx="9859370" cy="41549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ChatGPT’s</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working</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principle</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and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that</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of other AI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search</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tools</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rely</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upon</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arenR"/>
              <a:tabLst/>
              <a:defRPr/>
            </a:pP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Conversational</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AI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which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enables the web user to «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dialog</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 (and not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only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use keywords),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interact</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with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robot,  or at least,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ask</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contextualized</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questions in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natural</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language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robot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partly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takes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into</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account</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background of the issue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raised</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arenR" startAt="2"/>
              <a:tabLst/>
              <a:defRPr/>
            </a:pP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Generative</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AI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which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enables the robot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produce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contents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texts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sounds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still</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or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animated</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pictures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from</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existing</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data and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provide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most</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likely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probable,  plausible,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credible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answers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which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are not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necessarily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true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or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faithful</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reality.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358775" marR="0" lvl="0" indent="-358775" algn="just"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3) The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LLMs</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(Large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Language</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6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Models</a:t>
            </a:r>
            <a:r>
              <a:rPr kumimoji="0" lang="fr-FR" sz="16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are </a:t>
            </a:r>
            <a:r>
              <a:rPr lang="fr-FR" sz="1400" dirty="0">
                <a:solidFill>
                  <a:prstClr val="black"/>
                </a:solidFill>
                <a:latin typeface="Verdana" panose="020B0604030504040204" pitchFamily="34" charset="0"/>
                <a:ea typeface="Verdana" panose="020B0604030504040204" pitchFamily="34" charset="0"/>
              </a:rPr>
              <a:t>d</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eep</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learning</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and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automatic</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models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which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train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themselves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on large bodies </a:t>
            </a:r>
            <a:r>
              <a:rPr kumimoji="0" lang="fr-FR"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of data </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in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order</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try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understand</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human</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language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and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try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simulate</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human</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texts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Each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LLM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from</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each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AI trains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itself</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on a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different</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corpus (GPT3,5 ou GPT4  for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ChatGPT</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results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depend</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on  the body and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its</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4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quality</a:t>
            </a:r>
            <a:r>
              <a:rPr kumimoji="0" lang="fr-FR"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2424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1685E88-4599-4EBA-A905-6E02A117D078}"/>
              </a:ext>
            </a:extLst>
          </p:cNvPr>
          <p:cNvSpPr>
            <a:spLocks noGrp="1"/>
          </p:cNvSpPr>
          <p:nvPr>
            <p:ph type="body" sz="quarter" idx="11"/>
          </p:nvPr>
        </p:nvSpPr>
        <p:spPr/>
        <p:txBody>
          <a:bodyPr>
            <a:normAutofit/>
          </a:bodyPr>
          <a:lstStyle/>
          <a:p>
            <a:r>
              <a:rPr lang="fr-FR" sz="2400" dirty="0"/>
              <a:t>Prompt </a:t>
            </a:r>
          </a:p>
          <a:p>
            <a:endParaRPr lang="fr-FR" sz="2400" dirty="0"/>
          </a:p>
          <a:p>
            <a:pPr marL="342900" indent="-342900">
              <a:buFont typeface="Wingdings" panose="05000000000000000000" pitchFamily="2" charset="2"/>
              <a:buChar char="Ø"/>
            </a:pPr>
            <a:r>
              <a:rPr lang="fr-FR" sz="2400" dirty="0"/>
              <a:t>First and </a:t>
            </a:r>
            <a:r>
              <a:rPr lang="fr-FR" sz="2400" dirty="0" err="1"/>
              <a:t>very</a:t>
            </a:r>
            <a:r>
              <a:rPr lang="fr-FR" sz="2400" dirty="0"/>
              <a:t> important </a:t>
            </a:r>
            <a:r>
              <a:rPr lang="fr-FR" sz="2400" dirty="0" err="1"/>
              <a:t>step</a:t>
            </a:r>
            <a:r>
              <a:rPr lang="fr-FR" sz="2400" dirty="0"/>
              <a:t> </a:t>
            </a:r>
          </a:p>
          <a:p>
            <a:endParaRPr lang="fr-FR" sz="2400" dirty="0"/>
          </a:p>
          <a:p>
            <a:r>
              <a:rPr lang="fr-FR" sz="2400" dirty="0" err="1">
                <a:hlinkClick r:id="rId2"/>
              </a:rPr>
              <a:t>Communicating</a:t>
            </a:r>
            <a:r>
              <a:rPr lang="fr-FR" sz="2400" dirty="0">
                <a:hlinkClick r:id="rId2"/>
              </a:rPr>
              <a:t> </a:t>
            </a:r>
            <a:r>
              <a:rPr lang="fr-FR" sz="2400" dirty="0" err="1">
                <a:hlinkClick r:id="rId2"/>
              </a:rPr>
              <a:t>Effectively</a:t>
            </a:r>
            <a:r>
              <a:rPr lang="fr-FR" sz="2400" dirty="0">
                <a:hlinkClick r:id="rId2"/>
              </a:rPr>
              <a:t> – </a:t>
            </a:r>
            <a:r>
              <a:rPr lang="fr-FR" sz="2400" dirty="0" err="1">
                <a:hlinkClick r:id="rId2"/>
              </a:rPr>
              <a:t>Crafting</a:t>
            </a:r>
            <a:r>
              <a:rPr lang="fr-FR" sz="2400" dirty="0">
                <a:hlinkClick r:id="rId2"/>
              </a:rPr>
              <a:t> Prompts - Université numérique - UNIGE</a:t>
            </a:r>
            <a:endParaRPr lang="fr-FR" sz="2400" dirty="0"/>
          </a:p>
        </p:txBody>
      </p:sp>
    </p:spTree>
    <p:extLst>
      <p:ext uri="{BB962C8B-B14F-4D97-AF65-F5344CB8AC3E}">
        <p14:creationId xmlns:p14="http://schemas.microsoft.com/office/powerpoint/2010/main" val="37759184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FF9CD531-8039-4BEC-883B-4E9E5B880E0B}"/>
              </a:ext>
            </a:extLst>
          </p:cNvPr>
          <p:cNvSpPr txBox="1">
            <a:spLocks/>
          </p:cNvSpPr>
          <p:nvPr/>
        </p:nvSpPr>
        <p:spPr>
          <a:xfrm>
            <a:off x="85344" y="2337183"/>
            <a:ext cx="2502408" cy="1561839"/>
          </a:xfrm>
          <a:prstGeom prst="rect">
            <a:avLst/>
          </a:prstGeom>
          <a:solidFill>
            <a:srgbClr val="80276C"/>
          </a:solidFill>
        </p:spPr>
        <p:txBody>
          <a:bodyPr>
            <a:normAutofit fontScale="82500" lnSpcReduction="20000"/>
          </a:bodyPr>
          <a:lstStyle>
            <a:lvl1pPr algn="l" defTabSz="914400" rtl="0" eaLnBrk="1" latinLnBrk="0" hangingPunct="1">
              <a:lnSpc>
                <a:spcPct val="90000"/>
              </a:lnSpc>
              <a:spcBef>
                <a:spcPct val="0"/>
              </a:spcBef>
              <a:buNone/>
              <a:defRPr sz="4000" b="1" kern="1200">
                <a:solidFill>
                  <a:schemeClr val="tx1"/>
                </a:solidFill>
                <a:latin typeface="Verdana" panose="020B0604030504040204" pitchFamily="34" charset="0"/>
                <a:ea typeface="Verdana" panose="020B0604030504040204" pitchFamily="34"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fr-FR" sz="41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4100" b="1" i="0" u="none" strike="noStrike" kern="1200" cap="none" spc="0" normalizeH="0" baseline="0" noProof="0" dirty="0" err="1">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rPr>
              <a:t>ChatGPT</a:t>
            </a:r>
            <a:endParaRPr kumimoji="0" lang="fr-FR" sz="41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41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rPr>
              <a:t>(</a:t>
            </a:r>
            <a:r>
              <a:rPr kumimoji="0" lang="fr-FR" sz="37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rPr>
              <a:t>Open AI</a:t>
            </a:r>
            <a:r>
              <a:rPr kumimoji="0" lang="fr-FR" sz="41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rPr>
              <a:t>)</a:t>
            </a:r>
            <a:r>
              <a:rPr kumimoji="0" lang="fr-FR" sz="3700" b="1" i="0" u="none" strike="noStrike" kern="1200" cap="none" spc="0" normalizeH="0" baseline="0" noProof="0" dirty="0">
                <a:ln>
                  <a:noFill/>
                </a:ln>
                <a:solidFill>
                  <a:prstClr val="white"/>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br>
              <a:rPr kumimoji="0" lang="fr-FR" sz="40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br>
            <a:endParaRPr kumimoji="0" lang="fr-FR" sz="40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endParaRPr>
          </a:p>
        </p:txBody>
      </p:sp>
      <p:graphicFrame>
        <p:nvGraphicFramePr>
          <p:cNvPr id="6" name="Tableau 5">
            <a:extLst>
              <a:ext uri="{FF2B5EF4-FFF2-40B4-BE49-F238E27FC236}">
                <a16:creationId xmlns:a16="http://schemas.microsoft.com/office/drawing/2014/main" id="{D640EBCE-2465-4F74-86BE-C7673479A1A6}"/>
              </a:ext>
            </a:extLst>
          </p:cNvPr>
          <p:cNvGraphicFramePr>
            <a:graphicFrameLocks noGrp="1"/>
          </p:cNvGraphicFramePr>
          <p:nvPr/>
        </p:nvGraphicFramePr>
        <p:xfrm>
          <a:off x="3009900" y="310896"/>
          <a:ext cx="8941308" cy="5614415"/>
        </p:xfrm>
        <a:graphic>
          <a:graphicData uri="http://schemas.openxmlformats.org/drawingml/2006/table">
            <a:tbl>
              <a:tblPr firstRow="1" bandRow="1">
                <a:tableStyleId>{00A15C55-8517-42AA-B614-E9B94910E393}</a:tableStyleId>
              </a:tblPr>
              <a:tblGrid>
                <a:gridCol w="4426918">
                  <a:extLst>
                    <a:ext uri="{9D8B030D-6E8A-4147-A177-3AD203B41FA5}">
                      <a16:colId xmlns:a16="http://schemas.microsoft.com/office/drawing/2014/main" val="2331229314"/>
                    </a:ext>
                  </a:extLst>
                </a:gridCol>
                <a:gridCol w="4514390">
                  <a:extLst>
                    <a:ext uri="{9D8B030D-6E8A-4147-A177-3AD203B41FA5}">
                      <a16:colId xmlns:a16="http://schemas.microsoft.com/office/drawing/2014/main" val="3091930364"/>
                    </a:ext>
                  </a:extLst>
                </a:gridCol>
              </a:tblGrid>
              <a:tr h="457209">
                <a:tc>
                  <a:txBody>
                    <a:bodyPr/>
                    <a:lstStyle/>
                    <a:p>
                      <a:pPr algn="ctr"/>
                      <a:r>
                        <a:rPr lang="fr-FR" sz="2000" dirty="0">
                          <a:solidFill>
                            <a:srgbClr val="80276C"/>
                          </a:solidFill>
                          <a:latin typeface="Times New Roman" panose="02020603050405020304" pitchFamily="18" charset="0"/>
                          <a:cs typeface="Times New Roman" panose="02020603050405020304" pitchFamily="18" charset="0"/>
                        </a:rPr>
                        <a:t>PROS</a:t>
                      </a:r>
                    </a:p>
                  </a:txBody>
                  <a:tcPr/>
                </a:tc>
                <a:tc>
                  <a:txBody>
                    <a:bodyPr/>
                    <a:lstStyle/>
                    <a:p>
                      <a:pPr algn="ctr"/>
                      <a:r>
                        <a:rPr lang="fr-FR" sz="2000" b="0" dirty="0">
                          <a:solidFill>
                            <a:srgbClr val="80276C"/>
                          </a:solidFill>
                          <a:latin typeface="Times New Roman" panose="02020603050405020304" pitchFamily="18" charset="0"/>
                          <a:cs typeface="Times New Roman" panose="02020603050405020304" pitchFamily="18" charset="0"/>
                        </a:rPr>
                        <a:t> </a:t>
                      </a:r>
                      <a:r>
                        <a:rPr lang="fr-FR" sz="2000" b="1" dirty="0">
                          <a:solidFill>
                            <a:srgbClr val="80276C"/>
                          </a:solidFill>
                          <a:latin typeface="Times New Roman" panose="02020603050405020304" pitchFamily="18" charset="0"/>
                          <a:cs typeface="Times New Roman" panose="02020603050405020304" pitchFamily="18" charset="0"/>
                        </a:rPr>
                        <a:t>CONS</a:t>
                      </a:r>
                    </a:p>
                  </a:txBody>
                  <a:tcPr/>
                </a:tc>
                <a:extLst>
                  <a:ext uri="{0D108BD9-81ED-4DB2-BD59-A6C34878D82A}">
                    <a16:rowId xmlns:a16="http://schemas.microsoft.com/office/drawing/2014/main" val="1571165823"/>
                  </a:ext>
                </a:extLst>
              </a:tr>
              <a:tr h="1210026">
                <a:tc>
                  <a:txBody>
                    <a:bodyPr/>
                    <a:lstStyle/>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Free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language</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assistant and robot, in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its</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basic version,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which</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enables the web user  to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interact</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with</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ask</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questions in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natural</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language</a:t>
                      </a:r>
                      <a:endPar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endPar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robot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partly</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takes</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into</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account</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background of the issue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raised</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t>
                      </a:r>
                    </a:p>
                    <a:p>
                      <a:pPr marL="0" marR="0" lvl="0" indent="0" algn="just" defTabSz="685983" rtl="0" eaLnBrk="1" fontAlgn="auto" latinLnBrk="0" hangingPunct="1">
                        <a:lnSpc>
                          <a:spcPct val="85000"/>
                        </a:lnSpc>
                        <a:spcBef>
                          <a:spcPts val="0"/>
                        </a:spcBef>
                        <a:spcAft>
                          <a:spcPts val="0"/>
                        </a:spcAft>
                        <a:buClrTx/>
                        <a:buSzTx/>
                        <a:buFont typeface="Wingdings" panose="05000000000000000000" pitchFamily="2" charset="2"/>
                        <a:buNone/>
                        <a:tabLst/>
                        <a:defRPr/>
                      </a:pPr>
                      <a:endPar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 not a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search</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engine. For the time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being</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does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allow</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assessment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 documents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their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sources, and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does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enable the web user to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browse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hidden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web »…</a:t>
                      </a:r>
                    </a:p>
                  </a:txBody>
                  <a:tcPr/>
                </a:tc>
                <a:extLst>
                  <a:ext uri="{0D108BD9-81ED-4DB2-BD59-A6C34878D82A}">
                    <a16:rowId xmlns:a16="http://schemas.microsoft.com/office/drawing/2014/main" val="3847858408"/>
                  </a:ext>
                </a:extLst>
              </a:tr>
              <a:tr h="1383782">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Helpful</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prepare</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 state-of-the-art,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your</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thesis</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your</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dissertation,   and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your</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bibliographical</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researches</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by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skimming</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through</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 issue and  by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determining</a:t>
                      </a:r>
                      <a:r>
                        <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keywords of a lexical </a:t>
                      </a:r>
                      <a:r>
                        <a:rPr kumimoji="0" lang="fr-FR" sz="1100" b="0"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field</a:t>
                      </a:r>
                      <a:endParaRPr kumimoji="0" lang="fr-FR" sz="1100" b="0"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ChatGPT’s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model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language’s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corpus has not been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updated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since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2021 and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exists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only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in English.</a:t>
                      </a:r>
                    </a:p>
                    <a:p>
                      <a:pPr marL="0" marR="0" lvl="0" indent="0" algn="just" defTabSz="685983" rtl="0" eaLnBrk="1" fontAlgn="auto" latinLnBrk="0" hangingPunct="1">
                        <a:lnSpc>
                          <a:spcPct val="85000"/>
                        </a:lnSpc>
                        <a:spcBef>
                          <a:spcPts val="0"/>
                        </a:spcBef>
                        <a:spcAft>
                          <a:spcPts val="0"/>
                        </a:spcAft>
                        <a:buClrTx/>
                        <a:buSzTx/>
                        <a:buFont typeface="Wingdings" panose="05000000000000000000" pitchFamily="2" charset="2"/>
                        <a:buNone/>
                        <a:tabLst/>
                        <a:defRPr/>
                      </a:pPr>
                      <a:endPar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285750" marR="0" lvl="0" indent="-285750" algn="just" defTabSz="685983" rtl="0" eaLnBrk="1" fontAlgn="auto" latinLnBrk="0" hangingPunct="1">
                        <a:lnSpc>
                          <a:spcPct val="85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LLMs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are not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endowed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with</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intelligence,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understanding</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in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human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sense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Therefore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crucial, in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your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question, to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delimit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scope,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perimeter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intervention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field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 the robot.</a:t>
                      </a:r>
                    </a:p>
                    <a:p>
                      <a:pPr marL="0" marR="0" lvl="0" indent="0" algn="just" defTabSz="685983" rtl="0" eaLnBrk="1" fontAlgn="auto" latinLnBrk="0" hangingPunct="1">
                        <a:lnSpc>
                          <a:spcPct val="85000"/>
                        </a:lnSpc>
                        <a:spcBef>
                          <a:spcPts val="0"/>
                        </a:spcBef>
                        <a:spcAft>
                          <a:spcPts val="0"/>
                        </a:spcAft>
                        <a:buClrTx/>
                        <a:buSzTx/>
                        <a:buFont typeface="Wingdings" panose="05000000000000000000" pitchFamily="2" charset="2"/>
                        <a:buNone/>
                        <a:tabLst/>
                        <a:defRPr/>
                      </a:pPr>
                      <a:endPar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1953576439"/>
                  </a:ext>
                </a:extLst>
              </a:tr>
              <a:tr h="1219341">
                <a:tc>
                  <a:txBody>
                    <a:bodyPr/>
                    <a:lstStyle/>
                    <a:p>
                      <a:pPr marL="285750" indent="-285750" algn="just">
                        <a:buFont typeface="Wingdings" panose="05000000000000000000" pitchFamily="2" charset="2"/>
                        <a:buChar char="v"/>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Tool for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synthetising</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analysing</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textual</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sound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video</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documents) in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order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make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deliverables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summaries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t>
                      </a: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This assistant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produces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most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likely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probable,  plausible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credible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answers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which</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are not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necessarily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true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faithful</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reality.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does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know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answer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robot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makes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up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from</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start to finish (One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talks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about «hallucinations » or «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Invented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answers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2452258929"/>
                  </a:ext>
                </a:extLst>
              </a:tr>
              <a:tr h="1344057">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Assessment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tool</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to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make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for instance, a SWOT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analysis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strengths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weaknesses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opportunities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threats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 a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technology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of a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research</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field</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Tool  to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learn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the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computing</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codes for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trainees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future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developers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Generator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of a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bibliography</a:t>
                      </a:r>
                      <a:endPar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This assistant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often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does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quote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sources and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when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does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so</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it</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is</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however</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not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necessarily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feasible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as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they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are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often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inaccurate</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or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even</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fr-FR" sz="1100" b="0" i="0" u="none" strike="noStrike" kern="1200" cap="none" spc="0" normalizeH="0" baseline="0" dirty="0" err="1">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completely</a:t>
                      </a:r>
                      <a:r>
                        <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rPr>
                        <a:t> false.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fr-FR" sz="1100" b="0" i="0" u="none" strike="noStrike" kern="1200" cap="none" spc="0" normalizeH="0" baseline="0" dirty="0">
                        <a:ln>
                          <a:noFill/>
                        </a:ln>
                        <a:solidFill>
                          <a:srgbClr val="80276C"/>
                        </a:solidFill>
                        <a:effectLst/>
                        <a:uLnTx/>
                        <a:uFillTx/>
                        <a:latin typeface="Verdana" panose="020B0604030504040204" pitchFamily="34" charset="0"/>
                        <a:ea typeface="Verdana" panose="020B0604030504040204" pitchFamily="34" charset="0"/>
                        <a:cs typeface="Times New Roman" panose="02020603050405020304" pitchFamily="18" charset="0"/>
                      </a:endParaRPr>
                    </a:p>
                  </a:txBody>
                  <a:tcPr/>
                </a:tc>
                <a:extLst>
                  <a:ext uri="{0D108BD9-81ED-4DB2-BD59-A6C34878D82A}">
                    <a16:rowId xmlns:a16="http://schemas.microsoft.com/office/drawing/2014/main" val="2567804318"/>
                  </a:ext>
                </a:extLst>
              </a:tr>
            </a:tbl>
          </a:graphicData>
        </a:graphic>
      </p:graphicFrame>
    </p:spTree>
    <p:extLst>
      <p:ext uri="{BB962C8B-B14F-4D97-AF65-F5344CB8AC3E}">
        <p14:creationId xmlns:p14="http://schemas.microsoft.com/office/powerpoint/2010/main" val="40674164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6EB8691-AF51-484C-B255-15730B449323}"/>
              </a:ext>
            </a:extLst>
          </p:cNvPr>
          <p:cNvSpPr txBox="1"/>
          <p:nvPr/>
        </p:nvSpPr>
        <p:spPr>
          <a:xfrm>
            <a:off x="1260417" y="512905"/>
            <a:ext cx="7330044" cy="16619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Other</a:t>
            </a:r>
            <a:r>
              <a:rPr kumimoji="0" lang="fr-FR" sz="24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24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powerful</a:t>
            </a:r>
            <a:r>
              <a:rPr kumimoji="0" lang="fr-FR" sz="24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agents : </a:t>
            </a:r>
            <a:r>
              <a:rPr kumimoji="0" lang="fr-FR" sz="24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Perplexity</a:t>
            </a:r>
            <a:r>
              <a:rPr kumimoji="0" lang="fr-FR" sz="24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and Google Gemini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In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which</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cases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should</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you</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resort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to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ChatGPT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turn</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it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to good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account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and use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it</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 </a:t>
            </a:r>
            <a:r>
              <a:rPr kumimoji="0" lang="fr-FR" sz="1800" b="1" i="0" u="none" strike="noStrike" kern="1200" cap="none" spc="0" normalizeH="0" baseline="0" noProof="0" dirty="0" err="1">
                <a:ln>
                  <a:noFill/>
                </a:ln>
                <a:solidFill>
                  <a:srgbClr val="80276C"/>
                </a:solidFill>
                <a:effectLst/>
                <a:uLnTx/>
                <a:uFillTx/>
                <a:latin typeface="Verdana" panose="020B0604030504040204" pitchFamily="34" charset="0"/>
                <a:ea typeface="Verdana" panose="020B0604030504040204" pitchFamily="34" charset="0"/>
                <a:cs typeface="+mn-cs"/>
              </a:rPr>
              <a:t>advisedly</a:t>
            </a:r>
            <a:r>
              <a:rPr kumimoji="0" lang="fr-FR" sz="1800" b="1" i="0" u="none" strike="noStrike" kern="1200" cap="none" spc="0" normalizeH="0" baseline="0" noProof="0" dirty="0">
                <a:ln>
                  <a:noFill/>
                </a:ln>
                <a:solidFill>
                  <a:srgbClr val="80276C"/>
                </a:solidFill>
                <a:effectLst/>
                <a:uLnTx/>
                <a:uFillTx/>
                <a:latin typeface="Verdana" panose="020B0604030504040204" pitchFamily="34" charset="0"/>
                <a:ea typeface="Verdana" panose="020B0604030504040204" pitchFamily="34" charset="0"/>
                <a:cs typeface="+mn-cs"/>
              </a:rPr>
              <a:t>?</a:t>
            </a:r>
          </a:p>
        </p:txBody>
      </p:sp>
      <p:sp>
        <p:nvSpPr>
          <p:cNvPr id="4" name="ZoneTexte 3">
            <a:extLst>
              <a:ext uri="{FF2B5EF4-FFF2-40B4-BE49-F238E27FC236}">
                <a16:creationId xmlns:a16="http://schemas.microsoft.com/office/drawing/2014/main" id="{94219280-F1D9-4EE2-B254-C145F465178C}"/>
              </a:ext>
            </a:extLst>
          </p:cNvPr>
          <p:cNvSpPr txBox="1"/>
          <p:nvPr/>
        </p:nvSpPr>
        <p:spPr>
          <a:xfrm>
            <a:off x="970194" y="2453220"/>
            <a:ext cx="10251612" cy="3293209"/>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According</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the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authors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of « </a:t>
            </a:r>
            <a:r>
              <a:rPr kumimoji="0" lang="fr-FR" sz="16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Bases »</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or monitoring,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using</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generative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AI, to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be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relevant has to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be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confined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very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structured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framework</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a:p>
            <a:pPr marL="742950" marR="0" lvl="1"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Higly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assessed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contents and corpus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which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should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be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identified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beforehand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p>
          <a:p>
            <a:pPr marL="742950" marR="0" lvl="1"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Very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precise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and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contextual</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 prompts ») instructions,</a:t>
            </a:r>
          </a:p>
          <a:p>
            <a:pPr marL="742950" marR="0" lvl="1"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human</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being</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who</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trains, coaches the robot,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provides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guidelines, confines  the scope of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its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investigations,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its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activity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field</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get</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what</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he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she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wants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a:p>
            <a:pPr marL="742950" marR="0" lvl="1"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If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ChatGPT</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has a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role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play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in information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it</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above</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all,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very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upstream</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during</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keyword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stage or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after</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sourcing</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after</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the identification of sources and relevant information.</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Perplexity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one of the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most</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powerful</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AI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agents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nowadays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Google Gemini, the Google AI agent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good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too</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Kagi</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search</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is</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also.of</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good </a:t>
            </a:r>
            <a:r>
              <a:rPr kumimoji="0" lang="fr-FR"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quality</a:t>
            </a:r>
            <a:r>
              <a:rPr kumimoji="0" lang="fr-FR"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p:txBody>
      </p:sp>
    </p:spTree>
    <p:extLst>
      <p:ext uri="{BB962C8B-B14F-4D97-AF65-F5344CB8AC3E}">
        <p14:creationId xmlns:p14="http://schemas.microsoft.com/office/powerpoint/2010/main" val="19446880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79EE0F8-AB69-4BD9-8396-05AC7C5390D3}"/>
              </a:ext>
            </a:extLst>
          </p:cNvPr>
          <p:cNvSpPr>
            <a:spLocks noGrp="1"/>
          </p:cNvSpPr>
          <p:nvPr>
            <p:ph type="body" sz="quarter" idx="11"/>
          </p:nvPr>
        </p:nvSpPr>
        <p:spPr>
          <a:xfrm>
            <a:off x="5823098" y="593595"/>
            <a:ext cx="5472230" cy="5865683"/>
          </a:xfrm>
        </p:spPr>
        <p:txBody>
          <a:bodyPr>
            <a:normAutofit lnSpcReduction="10000"/>
          </a:bodyPr>
          <a:lstStyle/>
          <a:p>
            <a:r>
              <a:rPr lang="fr-FR" dirty="0" err="1"/>
              <a:t>Other</a:t>
            </a:r>
            <a:r>
              <a:rPr lang="fr-FR" dirty="0"/>
              <a:t> AI </a:t>
            </a:r>
            <a:r>
              <a:rPr lang="fr-FR" dirty="0" err="1"/>
              <a:t>tools</a:t>
            </a:r>
            <a:endParaRPr lang="fr-FR" dirty="0"/>
          </a:p>
          <a:p>
            <a:r>
              <a:rPr lang="fr-FR" dirty="0" err="1"/>
              <a:t>Scipace</a:t>
            </a:r>
            <a:r>
              <a:rPr lang="fr-FR" dirty="0"/>
              <a:t>: </a:t>
            </a:r>
            <a:r>
              <a:rPr lang="fr-FR" b="0" dirty="0" err="1"/>
              <a:t>summary</a:t>
            </a:r>
            <a:r>
              <a:rPr lang="fr-FR" b="0" dirty="0"/>
              <a:t> of the five main articles, translation, </a:t>
            </a:r>
            <a:r>
              <a:rPr lang="fr-FR" b="0" dirty="0" err="1"/>
              <a:t>summary</a:t>
            </a:r>
            <a:r>
              <a:rPr lang="fr-FR" b="0" dirty="0"/>
              <a:t> of the sections of an article, </a:t>
            </a:r>
            <a:r>
              <a:rPr lang="fr-FR" b="0" dirty="0" err="1"/>
              <a:t>Copilot</a:t>
            </a:r>
            <a:r>
              <a:rPr lang="fr-FR" b="0" dirty="0"/>
              <a:t> Chat for </a:t>
            </a:r>
            <a:r>
              <a:rPr lang="fr-FR" b="0" dirty="0" err="1"/>
              <a:t>each</a:t>
            </a:r>
            <a:r>
              <a:rPr lang="fr-FR" b="0" dirty="0"/>
              <a:t> article</a:t>
            </a:r>
          </a:p>
          <a:p>
            <a:endParaRPr lang="fr-FR" b="0" dirty="0"/>
          </a:p>
          <a:p>
            <a:r>
              <a:rPr lang="fr-FR" dirty="0" err="1"/>
              <a:t>Concensus</a:t>
            </a:r>
            <a:r>
              <a:rPr lang="fr-FR" dirty="0"/>
              <a:t>: </a:t>
            </a:r>
            <a:r>
              <a:rPr lang="fr-FR" b="0" dirty="0" err="1"/>
              <a:t>focused</a:t>
            </a:r>
            <a:r>
              <a:rPr lang="fr-FR" b="0" dirty="0"/>
              <a:t> on </a:t>
            </a:r>
            <a:r>
              <a:rPr lang="fr-FR" b="0" dirty="0" err="1"/>
              <a:t>titles</a:t>
            </a:r>
            <a:r>
              <a:rPr lang="fr-FR" b="0" dirty="0"/>
              <a:t> and abstracts of </a:t>
            </a:r>
            <a:r>
              <a:rPr lang="fr-FR" b="0" dirty="0" err="1"/>
              <a:t>peer</a:t>
            </a:r>
            <a:r>
              <a:rPr lang="fr-FR" b="0" dirty="0"/>
              <a:t> </a:t>
            </a:r>
            <a:r>
              <a:rPr lang="fr-FR" b="0" dirty="0" err="1"/>
              <a:t>reviewed</a:t>
            </a:r>
            <a:r>
              <a:rPr lang="fr-FR" b="0" dirty="0"/>
              <a:t> articles, « </a:t>
            </a:r>
            <a:r>
              <a:rPr lang="fr-FR" b="0" dirty="0" err="1"/>
              <a:t>concensus</a:t>
            </a:r>
            <a:r>
              <a:rPr lang="fr-FR" b="0" dirty="0"/>
              <a:t> metteur » : select the articles </a:t>
            </a:r>
            <a:r>
              <a:rPr lang="fr-FR" b="0" dirty="0" err="1"/>
              <a:t>answering</a:t>
            </a:r>
            <a:r>
              <a:rPr lang="fr-FR" b="0" dirty="0"/>
              <a:t> or the question or not. Quartile </a:t>
            </a:r>
            <a:r>
              <a:rPr lang="en-US" b="0" dirty="0"/>
              <a:t>of the different journals in which these publications are made, and in the summary it provides here, it will cite each statement or remark accordingly by directing us to the article.</a:t>
            </a:r>
          </a:p>
          <a:p>
            <a:endParaRPr lang="en-US" b="0" dirty="0"/>
          </a:p>
          <a:p>
            <a:r>
              <a:rPr lang="en-US" dirty="0" err="1"/>
              <a:t>ResearchRabbit</a:t>
            </a:r>
            <a:r>
              <a:rPr lang="en-US" dirty="0"/>
              <a:t> and Connected Papers: </a:t>
            </a:r>
            <a:r>
              <a:rPr lang="en-US" b="0" dirty="0"/>
              <a:t>for cartography of quotations and semantic network.</a:t>
            </a:r>
          </a:p>
          <a:p>
            <a:endParaRPr lang="en-US" b="0" dirty="0"/>
          </a:p>
          <a:p>
            <a:r>
              <a:rPr lang="en-US" dirty="0"/>
              <a:t>Scite: </a:t>
            </a:r>
            <a:r>
              <a:rPr lang="en-US" b="0" dirty="0"/>
              <a:t>actually analyzes the text of scientific articles to determine how they cite each other.</a:t>
            </a:r>
            <a:br>
              <a:rPr lang="en-US" b="0" dirty="0"/>
            </a:br>
            <a:r>
              <a:rPr lang="en-US" b="0" dirty="0"/>
              <a:t>Citation score :  s</a:t>
            </a:r>
            <a:r>
              <a:rPr lang="fr-FR" b="0" dirty="0" err="1"/>
              <a:t>upporting</a:t>
            </a:r>
            <a:r>
              <a:rPr lang="fr-FR" b="0" dirty="0"/>
              <a:t> </a:t>
            </a:r>
            <a:r>
              <a:rPr lang="fr-FR" b="0" dirty="0" err="1"/>
              <a:t>contrasting</a:t>
            </a:r>
            <a:r>
              <a:rPr lang="fr-FR" b="0" dirty="0"/>
              <a:t> ou </a:t>
            </a:r>
            <a:r>
              <a:rPr lang="fr-FR" b="0" dirty="0" err="1"/>
              <a:t>mentioning</a:t>
            </a:r>
            <a:r>
              <a:rPr lang="fr-FR" b="0" dirty="0"/>
              <a:t> article, Impact factor, </a:t>
            </a:r>
            <a:r>
              <a:rPr lang="fr-FR" b="0" dirty="0" err="1"/>
              <a:t>work</a:t>
            </a:r>
            <a:r>
              <a:rPr lang="fr-FR" b="0" dirty="0"/>
              <a:t> </a:t>
            </a:r>
            <a:r>
              <a:rPr lang="fr-FR" b="0" dirty="0" err="1"/>
              <a:t>with</a:t>
            </a:r>
            <a:r>
              <a:rPr lang="fr-FR" b="0" dirty="0"/>
              <a:t> </a:t>
            </a:r>
            <a:r>
              <a:rPr lang="fr-FR" b="0" dirty="0" err="1"/>
              <a:t>publisher</a:t>
            </a:r>
            <a:r>
              <a:rPr lang="fr-FR" b="0" dirty="0"/>
              <a:t> </a:t>
            </a:r>
          </a:p>
          <a:p>
            <a:endParaRPr lang="fr-FR" b="0" dirty="0"/>
          </a:p>
          <a:p>
            <a:r>
              <a:rPr lang="en-US" dirty="0" err="1"/>
              <a:t>Apertus</a:t>
            </a:r>
            <a:r>
              <a:rPr lang="en-US" dirty="0"/>
              <a:t>:</a:t>
            </a:r>
            <a:r>
              <a:rPr lang="en-US" b="0" dirty="0"/>
              <a:t> </a:t>
            </a:r>
            <a:r>
              <a:rPr lang="fr-FR" b="0" dirty="0"/>
              <a:t>Swiss AI Initiative in collaboration </a:t>
            </a:r>
            <a:r>
              <a:rPr lang="fr-FR" b="0" dirty="0" err="1"/>
              <a:t>between</a:t>
            </a:r>
            <a:r>
              <a:rPr lang="fr-FR" b="0" dirty="0"/>
              <a:t> EPFL, ETH Zurich, and CSCS</a:t>
            </a:r>
            <a:endParaRPr lang="fr-FR" b="0" u="sng" dirty="0"/>
          </a:p>
          <a:p>
            <a:endParaRPr lang="fr-FR" b="0" dirty="0"/>
          </a:p>
          <a:p>
            <a:r>
              <a:rPr lang="fr-FR" u="sng" dirty="0" err="1">
                <a:hlinkClick r:id="rId2"/>
              </a:rPr>
              <a:t>compar</a:t>
            </a:r>
            <a:r>
              <a:rPr lang="fr-FR" u="sng" dirty="0">
                <a:hlinkClick r:id="rId2"/>
              </a:rPr>
              <a:t>: IA, </a:t>
            </a:r>
            <a:r>
              <a:rPr lang="fr-FR" u="sng" dirty="0" err="1">
                <a:hlinkClick r:id="rId2"/>
              </a:rPr>
              <a:t>Conversational</a:t>
            </a:r>
            <a:r>
              <a:rPr lang="fr-FR" u="sng" dirty="0">
                <a:hlinkClick r:id="rId2"/>
              </a:rPr>
              <a:t> IA </a:t>
            </a:r>
            <a:r>
              <a:rPr lang="fr-FR" u="sng" dirty="0" err="1">
                <a:hlinkClick r:id="rId2"/>
              </a:rPr>
              <a:t>Comparator</a:t>
            </a:r>
            <a:endParaRPr lang="fr-FR" dirty="0"/>
          </a:p>
          <a:p>
            <a:endParaRPr lang="fr-FR" b="0" dirty="0"/>
          </a:p>
          <a:p>
            <a:endParaRPr lang="fr-FR" b="0" dirty="0"/>
          </a:p>
          <a:p>
            <a:endParaRPr lang="en-US" b="0" dirty="0"/>
          </a:p>
          <a:p>
            <a:endParaRPr lang="fr-FR" b="0" dirty="0"/>
          </a:p>
        </p:txBody>
      </p:sp>
    </p:spTree>
    <p:extLst>
      <p:ext uri="{BB962C8B-B14F-4D97-AF65-F5344CB8AC3E}">
        <p14:creationId xmlns:p14="http://schemas.microsoft.com/office/powerpoint/2010/main" val="8408331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79EE0F8-AB69-4BD9-8396-05AC7C5390D3}"/>
              </a:ext>
            </a:extLst>
          </p:cNvPr>
          <p:cNvSpPr>
            <a:spLocks noGrp="1"/>
          </p:cNvSpPr>
          <p:nvPr>
            <p:ph type="body" sz="quarter" idx="11"/>
          </p:nvPr>
        </p:nvSpPr>
        <p:spPr>
          <a:xfrm>
            <a:off x="5823098" y="593595"/>
            <a:ext cx="5472230" cy="5865683"/>
          </a:xfrm>
        </p:spPr>
        <p:txBody>
          <a:bodyPr>
            <a:normAutofit/>
          </a:bodyPr>
          <a:lstStyle/>
          <a:p>
            <a:r>
              <a:rPr lang="fr-FR" dirty="0" err="1"/>
              <a:t>Other</a:t>
            </a:r>
            <a:r>
              <a:rPr lang="fr-FR" dirty="0"/>
              <a:t> AI </a:t>
            </a:r>
            <a:r>
              <a:rPr lang="fr-FR" dirty="0" err="1"/>
              <a:t>tools</a:t>
            </a:r>
            <a:endParaRPr lang="fr-FR" dirty="0"/>
          </a:p>
          <a:p>
            <a:endParaRPr lang="fr-FR" b="0" dirty="0"/>
          </a:p>
          <a:p>
            <a:r>
              <a:rPr lang="fr-FR" b="0" dirty="0">
                <a:hlinkClick r:id="rId2"/>
              </a:rPr>
              <a:t>Claude by </a:t>
            </a:r>
            <a:r>
              <a:rPr lang="fr-FR" b="0" dirty="0" err="1">
                <a:hlinkClick r:id="rId2"/>
              </a:rPr>
              <a:t>Anthropic</a:t>
            </a:r>
            <a:r>
              <a:rPr lang="fr-FR" b="0" dirty="0"/>
              <a:t> : </a:t>
            </a:r>
            <a:r>
              <a:rPr lang="fr-FR" b="0" dirty="0" err="1"/>
              <a:t>very</a:t>
            </a:r>
            <a:r>
              <a:rPr lang="fr-FR" b="0" dirty="0"/>
              <a:t> good for code and sciences</a:t>
            </a:r>
          </a:p>
          <a:p>
            <a:endParaRPr lang="fr-FR" b="0" dirty="0"/>
          </a:p>
          <a:p>
            <a:r>
              <a:rPr lang="fr-FR" dirty="0" err="1"/>
              <a:t>Grok</a:t>
            </a:r>
            <a:r>
              <a:rPr lang="fr-FR" b="0" dirty="0"/>
              <a:t> (</a:t>
            </a:r>
            <a:r>
              <a:rPr lang="fr-FR" b="0" dirty="0" err="1"/>
              <a:t>from</a:t>
            </a:r>
            <a:r>
              <a:rPr lang="fr-FR" b="0" dirty="0"/>
              <a:t> Elon Musk, XAI) : </a:t>
            </a:r>
            <a:r>
              <a:rPr lang="fr-FR" b="0" dirty="0" err="1"/>
              <a:t>create</a:t>
            </a:r>
            <a:r>
              <a:rPr lang="fr-FR" b="0" dirty="0"/>
              <a:t> an </a:t>
            </a:r>
            <a:r>
              <a:rPr lang="fr-FR" b="0" dirty="0" err="1"/>
              <a:t>account</a:t>
            </a:r>
            <a:endParaRPr lang="fr-FR" b="0" dirty="0"/>
          </a:p>
          <a:p>
            <a:endParaRPr lang="fr-FR" b="0" dirty="0"/>
          </a:p>
          <a:p>
            <a:r>
              <a:rPr lang="fr-FR" dirty="0" err="1"/>
              <a:t>Deepseek</a:t>
            </a:r>
            <a:r>
              <a:rPr lang="fr-FR" dirty="0"/>
              <a:t> : </a:t>
            </a:r>
            <a:r>
              <a:rPr lang="fr-FR" b="0" dirty="0" err="1"/>
              <a:t>create</a:t>
            </a:r>
            <a:r>
              <a:rPr lang="fr-FR" b="0" dirty="0"/>
              <a:t> an </a:t>
            </a:r>
            <a:r>
              <a:rPr lang="fr-FR" b="0" dirty="0" err="1"/>
              <a:t>account</a:t>
            </a:r>
            <a:endParaRPr lang="fr-FR" b="0" dirty="0"/>
          </a:p>
          <a:p>
            <a:endParaRPr lang="fr-FR" b="0" dirty="0"/>
          </a:p>
          <a:p>
            <a:r>
              <a:rPr lang="fr-FR" dirty="0"/>
              <a:t>Mistral (french </a:t>
            </a:r>
            <a:r>
              <a:rPr lang="fr-FR" dirty="0" err="1"/>
              <a:t>tools</a:t>
            </a:r>
            <a:r>
              <a:rPr lang="fr-FR" dirty="0"/>
              <a:t>): </a:t>
            </a:r>
            <a:r>
              <a:rPr lang="fr-FR" b="0" dirty="0" err="1"/>
              <a:t>very</a:t>
            </a:r>
            <a:r>
              <a:rPr lang="fr-FR" b="0" dirty="0"/>
              <a:t> good AI, </a:t>
            </a:r>
            <a:r>
              <a:rPr lang="fr-FR" b="0" dirty="0" err="1"/>
              <a:t>doesn’t</a:t>
            </a:r>
            <a:r>
              <a:rPr lang="fr-FR" b="0" dirty="0"/>
              <a:t> </a:t>
            </a:r>
            <a:r>
              <a:rPr lang="fr-FR" b="0" dirty="0" err="1"/>
              <a:t>keep</a:t>
            </a:r>
            <a:r>
              <a:rPr lang="fr-FR" b="0" dirty="0"/>
              <a:t> the documents (</a:t>
            </a:r>
            <a:r>
              <a:rPr lang="fr-FR" b="0" dirty="0" err="1"/>
              <a:t>unlik</a:t>
            </a:r>
            <a:r>
              <a:rPr lang="fr-FR" b="0" dirty="0"/>
              <a:t> Open AI)</a:t>
            </a:r>
          </a:p>
          <a:p>
            <a:endParaRPr lang="fr-FR" b="0" dirty="0"/>
          </a:p>
          <a:p>
            <a:r>
              <a:rPr lang="fr-FR" dirty="0"/>
              <a:t>Quant+: </a:t>
            </a:r>
            <a:r>
              <a:rPr lang="en-US" b="0" dirty="0"/>
              <a:t>with integrated AI that does not keep searches</a:t>
            </a:r>
            <a:endParaRPr lang="fr-FR" b="0" dirty="0">
              <a:highlight>
                <a:srgbClr val="FFFF00"/>
              </a:highlight>
            </a:endParaRPr>
          </a:p>
          <a:p>
            <a:endParaRPr lang="fr-FR" b="0" dirty="0"/>
          </a:p>
          <a:p>
            <a:r>
              <a:rPr lang="fr-FR" b="0" dirty="0"/>
              <a:t>https://www.gref-bretagne.com/ressources/replay-inspiration-formation-un-parcours-mille-chemins-lia-booste-la-formation/ </a:t>
            </a:r>
          </a:p>
          <a:p>
            <a:endParaRPr lang="fr-FR" b="0" dirty="0"/>
          </a:p>
          <a:p>
            <a:endParaRPr lang="fr-FR" b="0" dirty="0"/>
          </a:p>
          <a:p>
            <a:endParaRPr lang="fr-FR" b="0" dirty="0"/>
          </a:p>
          <a:p>
            <a:endParaRPr lang="fr-FR" b="0" dirty="0"/>
          </a:p>
          <a:p>
            <a:endParaRPr lang="fr-FR" b="0" dirty="0"/>
          </a:p>
          <a:p>
            <a:endParaRPr lang="fr-FR" b="0" dirty="0"/>
          </a:p>
          <a:p>
            <a:endParaRPr lang="en-US" b="0" dirty="0"/>
          </a:p>
          <a:p>
            <a:endParaRPr lang="fr-FR" b="0" dirty="0"/>
          </a:p>
        </p:txBody>
      </p:sp>
    </p:spTree>
    <p:extLst>
      <p:ext uri="{BB962C8B-B14F-4D97-AF65-F5344CB8AC3E}">
        <p14:creationId xmlns:p14="http://schemas.microsoft.com/office/powerpoint/2010/main" val="28099204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5AEA20-FEF0-4EC1-82A3-DC7B443C7B4F}"/>
              </a:ext>
            </a:extLst>
          </p:cNvPr>
          <p:cNvSpPr/>
          <p:nvPr/>
        </p:nvSpPr>
        <p:spPr>
          <a:xfrm>
            <a:off x="1097176" y="527769"/>
            <a:ext cx="9560917" cy="5355312"/>
          </a:xfrm>
          <a:prstGeom prst="rect">
            <a:avLst/>
          </a:prstGeom>
        </p:spPr>
        <p:txBody>
          <a:bodyPr wrap="square">
            <a:spAutoFit/>
          </a:bodyPr>
          <a:lstStyle/>
          <a:p>
            <a:r>
              <a:rPr lang="en-US" b="1" dirty="0">
                <a:solidFill>
                  <a:srgbClr val="800080"/>
                </a:solidFill>
              </a:rPr>
              <a:t>Format a bibliography</a:t>
            </a:r>
          </a:p>
          <a:p>
            <a:br>
              <a:rPr lang="fr-FR" dirty="0">
                <a:solidFill>
                  <a:srgbClr val="800080"/>
                </a:solidFill>
              </a:rPr>
            </a:br>
            <a:r>
              <a:rPr lang="fr-FR" dirty="0">
                <a:solidFill>
                  <a:srgbClr val="800080"/>
                </a:solidFill>
              </a:rPr>
              <a:t>Example : Google Scholar → Click “Cite” </a:t>
            </a:r>
            <a:r>
              <a:rPr lang="fr-FR" dirty="0" err="1">
                <a:solidFill>
                  <a:srgbClr val="800080"/>
                </a:solidFill>
              </a:rPr>
              <a:t>below</a:t>
            </a:r>
            <a:r>
              <a:rPr lang="fr-FR" dirty="0">
                <a:solidFill>
                  <a:srgbClr val="800080"/>
                </a:solidFill>
              </a:rPr>
              <a:t> a </a:t>
            </a:r>
            <a:r>
              <a:rPr lang="fr-FR" dirty="0" err="1">
                <a:solidFill>
                  <a:srgbClr val="800080"/>
                </a:solidFill>
              </a:rPr>
              <a:t>paper</a:t>
            </a:r>
            <a:r>
              <a:rPr lang="fr-FR" dirty="0">
                <a:solidFill>
                  <a:srgbClr val="800080"/>
                </a:solidFill>
              </a:rPr>
              <a:t> to </a:t>
            </a:r>
            <a:r>
              <a:rPr lang="fr-FR" dirty="0" err="1">
                <a:solidFill>
                  <a:srgbClr val="800080"/>
                </a:solidFill>
              </a:rPr>
              <a:t>get</a:t>
            </a:r>
            <a:r>
              <a:rPr lang="fr-FR" dirty="0">
                <a:solidFill>
                  <a:srgbClr val="800080"/>
                </a:solidFill>
              </a:rPr>
              <a:t> </a:t>
            </a:r>
            <a:r>
              <a:rPr lang="fr-FR" dirty="0" err="1">
                <a:solidFill>
                  <a:srgbClr val="800080"/>
                </a:solidFill>
              </a:rPr>
              <a:t>preformatted</a:t>
            </a:r>
            <a:r>
              <a:rPr lang="fr-FR" dirty="0">
                <a:solidFill>
                  <a:srgbClr val="800080"/>
                </a:solidFill>
              </a:rPr>
              <a:t> citations in </a:t>
            </a:r>
            <a:r>
              <a:rPr lang="fr-FR" dirty="0" err="1">
                <a:solidFill>
                  <a:srgbClr val="800080"/>
                </a:solidFill>
              </a:rPr>
              <a:t>several</a:t>
            </a:r>
            <a:r>
              <a:rPr lang="fr-FR" dirty="0">
                <a:solidFill>
                  <a:srgbClr val="800080"/>
                </a:solidFill>
              </a:rPr>
              <a:t> formats.</a:t>
            </a:r>
          </a:p>
          <a:p>
            <a:endParaRPr lang="fr-FR" b="1" dirty="0">
              <a:solidFill>
                <a:srgbClr val="80276C"/>
              </a:solidFill>
              <a:highlight>
                <a:srgbClr val="FFFF00"/>
              </a:highlight>
            </a:endParaRPr>
          </a:p>
          <a:p>
            <a:r>
              <a:rPr lang="fr-FR" b="1" dirty="0">
                <a:solidFill>
                  <a:srgbClr val="80276C"/>
                </a:solidFill>
              </a:rPr>
              <a:t>Check the data ! </a:t>
            </a:r>
            <a:br>
              <a:rPr lang="fr-FR" dirty="0">
                <a:solidFill>
                  <a:srgbClr val="FF0000"/>
                </a:solidFill>
              </a:rPr>
            </a:br>
            <a:r>
              <a:rPr lang="en-US" dirty="0">
                <a:hlinkClick r:id="rId2"/>
              </a:rPr>
              <a:t>InfoTrack : Assess </a:t>
            </a:r>
            <a:r>
              <a:rPr lang="en-US" dirty="0" err="1">
                <a:hlinkClick r:id="rId2"/>
              </a:rPr>
              <a:t>GenAI</a:t>
            </a:r>
            <a:r>
              <a:rPr lang="en-US" dirty="0">
                <a:hlinkClick r:id="rId2"/>
              </a:rPr>
              <a:t> output using “lateral reading”</a:t>
            </a:r>
            <a:br>
              <a:rPr lang="en-US" dirty="0"/>
            </a:br>
            <a:endParaRPr lang="en-US" dirty="0">
              <a:solidFill>
                <a:srgbClr val="800080"/>
              </a:solidFill>
              <a:highlight>
                <a:srgbClr val="FFFF00"/>
              </a:highlight>
            </a:endParaRPr>
          </a:p>
          <a:p>
            <a:r>
              <a:rPr lang="fr-FR" b="1" dirty="0">
                <a:solidFill>
                  <a:srgbClr val="800080"/>
                </a:solidFill>
              </a:rPr>
              <a:t>1. Use Tools to Format Citations</a:t>
            </a:r>
            <a:br>
              <a:rPr lang="fr-FR" b="1" dirty="0">
                <a:solidFill>
                  <a:srgbClr val="800080"/>
                </a:solidFill>
              </a:rPr>
            </a:br>
            <a:r>
              <a:rPr lang="fr-FR" dirty="0">
                <a:solidFill>
                  <a:srgbClr val="800080"/>
                </a:solidFill>
              </a:rPr>
              <a:t>AI </a:t>
            </a:r>
            <a:r>
              <a:rPr lang="fr-FR" dirty="0" err="1">
                <a:solidFill>
                  <a:srgbClr val="800080"/>
                </a:solidFill>
              </a:rPr>
              <a:t>tools</a:t>
            </a:r>
            <a:r>
              <a:rPr lang="fr-FR" dirty="0">
                <a:solidFill>
                  <a:srgbClr val="800080"/>
                </a:solidFill>
              </a:rPr>
              <a:t> can </a:t>
            </a:r>
            <a:r>
              <a:rPr lang="fr-FR" dirty="0" err="1">
                <a:solidFill>
                  <a:srgbClr val="800080"/>
                </a:solidFill>
              </a:rPr>
              <a:t>automatically</a:t>
            </a:r>
            <a:r>
              <a:rPr lang="fr-FR" dirty="0">
                <a:solidFill>
                  <a:srgbClr val="800080"/>
                </a:solidFill>
              </a:rPr>
              <a:t> </a:t>
            </a:r>
            <a:r>
              <a:rPr lang="fr-FR" dirty="0" err="1">
                <a:solidFill>
                  <a:srgbClr val="800080"/>
                </a:solidFill>
              </a:rPr>
              <a:t>generate</a:t>
            </a:r>
            <a:r>
              <a:rPr lang="fr-FR" dirty="0">
                <a:solidFill>
                  <a:srgbClr val="800080"/>
                </a:solidFill>
              </a:rPr>
              <a:t> </a:t>
            </a:r>
            <a:r>
              <a:rPr lang="fr-FR" dirty="0" err="1">
                <a:solidFill>
                  <a:srgbClr val="800080"/>
                </a:solidFill>
              </a:rPr>
              <a:t>formatted</a:t>
            </a:r>
            <a:r>
              <a:rPr lang="fr-FR" dirty="0">
                <a:solidFill>
                  <a:srgbClr val="800080"/>
                </a:solidFill>
              </a:rPr>
              <a:t> citations. </a:t>
            </a:r>
          </a:p>
          <a:p>
            <a:br>
              <a:rPr lang="fr-FR" dirty="0">
                <a:solidFill>
                  <a:srgbClr val="800080"/>
                </a:solidFill>
              </a:rPr>
            </a:br>
            <a:r>
              <a:rPr lang="fr-FR" b="1" dirty="0" err="1">
                <a:solidFill>
                  <a:srgbClr val="80276C"/>
                </a:solidFill>
                <a:latin typeface="Times New Roman" panose="02020603050405020304" pitchFamily="18" charset="0"/>
                <a:cs typeface="Times New Roman" panose="02020603050405020304" pitchFamily="18" charset="0"/>
              </a:rPr>
              <a:t>Possibility</a:t>
            </a:r>
            <a:r>
              <a:rPr lang="fr-FR" b="1" dirty="0">
                <a:solidFill>
                  <a:srgbClr val="80276C"/>
                </a:solidFill>
                <a:latin typeface="Times New Roman" panose="02020603050405020304" pitchFamily="18" charset="0"/>
                <a:cs typeface="Times New Roman" panose="02020603050405020304" pitchFamily="18" charset="0"/>
              </a:rPr>
              <a:t> of </a:t>
            </a:r>
            <a:r>
              <a:rPr lang="fr-FR" b="1" dirty="0" err="1">
                <a:solidFill>
                  <a:srgbClr val="80276C"/>
                </a:solidFill>
                <a:latin typeface="Times New Roman" panose="02020603050405020304" pitchFamily="18" charset="0"/>
                <a:cs typeface="Times New Roman" panose="02020603050405020304" pitchFamily="18" charset="0"/>
              </a:rPr>
              <a:t>using</a:t>
            </a:r>
            <a:r>
              <a:rPr lang="fr-FR" b="1" dirty="0">
                <a:solidFill>
                  <a:srgbClr val="80276C"/>
                </a:solidFill>
                <a:latin typeface="Times New Roman" panose="02020603050405020304" pitchFamily="18" charset="0"/>
                <a:cs typeface="Times New Roman" panose="02020603050405020304" pitchFamily="18" charset="0"/>
              </a:rPr>
              <a:t> Zotero, a free Open source software to export, to </a:t>
            </a:r>
            <a:r>
              <a:rPr lang="fr-FR" b="1" dirty="0" err="1">
                <a:solidFill>
                  <a:srgbClr val="80276C"/>
                </a:solidFill>
                <a:latin typeface="Times New Roman" panose="02020603050405020304" pitchFamily="18" charset="0"/>
                <a:cs typeface="Times New Roman" panose="02020603050405020304" pitchFamily="18" charset="0"/>
              </a:rPr>
              <a:t>transfer</a:t>
            </a:r>
            <a:r>
              <a:rPr lang="fr-FR" b="1" dirty="0">
                <a:solidFill>
                  <a:srgbClr val="80276C"/>
                </a:solidFill>
                <a:latin typeface="Times New Roman" panose="02020603050405020304" pitchFamily="18" charset="0"/>
                <a:cs typeface="Times New Roman" panose="02020603050405020304" pitchFamily="18" charset="0"/>
              </a:rPr>
              <a:t> the </a:t>
            </a:r>
            <a:r>
              <a:rPr lang="fr-FR" b="1" dirty="0" err="1">
                <a:solidFill>
                  <a:srgbClr val="80276C"/>
                </a:solidFill>
                <a:latin typeface="Times New Roman" panose="02020603050405020304" pitchFamily="18" charset="0"/>
                <a:cs typeface="Times New Roman" panose="02020603050405020304" pitchFamily="18" charset="0"/>
              </a:rPr>
              <a:t>references</a:t>
            </a:r>
            <a:r>
              <a:rPr lang="fr-FR" b="1" dirty="0">
                <a:solidFill>
                  <a:srgbClr val="80276C"/>
                </a:solidFill>
                <a:latin typeface="Times New Roman" panose="02020603050405020304" pitchFamily="18" charset="0"/>
                <a:cs typeface="Times New Roman" panose="02020603050405020304" pitchFamily="18" charset="0"/>
              </a:rPr>
              <a:t> and to carry out a </a:t>
            </a:r>
            <a:r>
              <a:rPr lang="fr-FR" b="1" dirty="0" err="1">
                <a:solidFill>
                  <a:srgbClr val="80276C"/>
                </a:solidFill>
                <a:latin typeface="Times New Roman" panose="02020603050405020304" pitchFamily="18" charset="0"/>
                <a:cs typeface="Times New Roman" panose="02020603050405020304" pitchFamily="18" charset="0"/>
              </a:rPr>
              <a:t>bibliography</a:t>
            </a:r>
            <a:r>
              <a:rPr lang="fr-FR" b="1" dirty="0">
                <a:solidFill>
                  <a:srgbClr val="80276C"/>
                </a:solidFill>
                <a:latin typeface="Times New Roman" panose="02020603050405020304" pitchFamily="18" charset="0"/>
                <a:cs typeface="Times New Roman" panose="02020603050405020304" pitchFamily="18" charset="0"/>
              </a:rPr>
              <a:t> </a:t>
            </a:r>
            <a:r>
              <a:rPr lang="fr-FR" b="1" dirty="0">
                <a:solidFill>
                  <a:srgbClr val="800080"/>
                </a:solidFill>
              </a:rPr>
              <a:t>Zotero</a:t>
            </a:r>
            <a:r>
              <a:rPr lang="fr-FR" dirty="0">
                <a:solidFill>
                  <a:srgbClr val="800080"/>
                </a:solidFill>
              </a:rPr>
              <a:t> (</a:t>
            </a:r>
            <a:r>
              <a:rPr lang="fr-FR" dirty="0" err="1">
                <a:solidFill>
                  <a:srgbClr val="800080"/>
                </a:solidFill>
              </a:rPr>
              <a:t>with</a:t>
            </a:r>
            <a:r>
              <a:rPr lang="fr-FR" dirty="0">
                <a:solidFill>
                  <a:srgbClr val="800080"/>
                </a:solidFill>
              </a:rPr>
              <a:t> Zotero AI plugin) or </a:t>
            </a:r>
            <a:r>
              <a:rPr lang="fr-FR" dirty="0" err="1">
                <a:solidFill>
                  <a:srgbClr val="800080"/>
                </a:solidFill>
              </a:rPr>
              <a:t>ZoteroBib</a:t>
            </a:r>
            <a:r>
              <a:rPr lang="fr-FR" dirty="0">
                <a:solidFill>
                  <a:srgbClr val="800080"/>
                </a:solidFill>
              </a:rPr>
              <a:t>: </a:t>
            </a:r>
            <a:r>
              <a:rPr lang="fr-FR" dirty="0">
                <a:solidFill>
                  <a:srgbClr val="800080"/>
                </a:solidFill>
                <a:hlinkClick r:id="rId3">
                  <a:extLst>
                    <a:ext uri="{A12FA001-AC4F-418D-AE19-62706E023703}">
                      <ahyp:hlinkClr xmlns:ahyp="http://schemas.microsoft.com/office/drawing/2018/hyperlinkcolor" val="tx"/>
                    </a:ext>
                  </a:extLst>
                </a:hlinkClick>
              </a:rPr>
              <a:t>zbib.org</a:t>
            </a:r>
            <a:endParaRPr lang="fr-FR" dirty="0">
              <a:solidFill>
                <a:srgbClr val="800080"/>
              </a:solidFill>
            </a:endParaRPr>
          </a:p>
          <a:p>
            <a:r>
              <a:rPr lang="fr-FR" b="1" dirty="0">
                <a:solidFill>
                  <a:srgbClr val="80276C"/>
                </a:solidFill>
              </a:rPr>
              <a:t>Zotero</a:t>
            </a:r>
            <a:r>
              <a:rPr lang="fr-FR" dirty="0"/>
              <a:t> </a:t>
            </a:r>
          </a:p>
          <a:p>
            <a:r>
              <a:rPr lang="fr-FR" dirty="0"/>
              <a:t>To </a:t>
            </a:r>
            <a:r>
              <a:rPr lang="fr-FR" dirty="0" err="1"/>
              <a:t>avoid</a:t>
            </a:r>
            <a:r>
              <a:rPr lang="fr-FR" dirty="0"/>
              <a:t> </a:t>
            </a:r>
            <a:r>
              <a:rPr lang="fr-FR" dirty="0" err="1"/>
              <a:t>errors</a:t>
            </a:r>
            <a:r>
              <a:rPr lang="fr-FR" dirty="0"/>
              <a:t>, use </a:t>
            </a:r>
            <a:r>
              <a:rPr lang="fr-FR" dirty="0" err="1"/>
              <a:t>tools</a:t>
            </a:r>
            <a:r>
              <a:rPr lang="fr-FR" dirty="0"/>
              <a:t> </a:t>
            </a:r>
            <a:r>
              <a:rPr lang="fr-FR" dirty="0" err="1"/>
              <a:t>that</a:t>
            </a:r>
            <a:r>
              <a:rPr lang="fr-FR" dirty="0"/>
              <a:t> </a:t>
            </a:r>
            <a:r>
              <a:rPr lang="fr-FR" dirty="0" err="1"/>
              <a:t>automatically</a:t>
            </a:r>
            <a:r>
              <a:rPr lang="fr-FR" dirty="0"/>
              <a:t> </a:t>
            </a:r>
            <a:r>
              <a:rPr lang="fr-FR" dirty="0" err="1"/>
              <a:t>extract</a:t>
            </a:r>
            <a:r>
              <a:rPr lang="fr-FR" dirty="0"/>
              <a:t> </a:t>
            </a:r>
            <a:r>
              <a:rPr lang="fr-FR" dirty="0" err="1"/>
              <a:t>metadata</a:t>
            </a:r>
            <a:r>
              <a:rPr lang="fr-FR" dirty="0"/>
              <a:t>: Zotero + AI Plugins </a:t>
            </a:r>
          </a:p>
          <a:p>
            <a:r>
              <a:rPr lang="fr-FR" dirty="0"/>
              <a:t>	</a:t>
            </a:r>
            <a:r>
              <a:rPr lang="fr-FR" dirty="0" err="1"/>
              <a:t>Add</a:t>
            </a:r>
            <a:r>
              <a:rPr lang="fr-FR" dirty="0"/>
              <a:t> extensions like Zotero GPT to </a:t>
            </a:r>
            <a:r>
              <a:rPr lang="fr-FR" dirty="0" err="1"/>
              <a:t>enhance</a:t>
            </a:r>
            <a:r>
              <a:rPr lang="fr-FR" dirty="0"/>
              <a:t> descriptions. </a:t>
            </a:r>
          </a:p>
          <a:p>
            <a:r>
              <a:rPr lang="fr-FR" dirty="0"/>
              <a:t>Drag and drop a PDF: Zotero </a:t>
            </a:r>
            <a:r>
              <a:rPr lang="fr-FR" dirty="0" err="1"/>
              <a:t>automatically</a:t>
            </a:r>
            <a:r>
              <a:rPr lang="fr-FR" dirty="0"/>
              <a:t> </a:t>
            </a:r>
            <a:r>
              <a:rPr lang="fr-FR" dirty="0" err="1"/>
              <a:t>retrieves</a:t>
            </a:r>
            <a:r>
              <a:rPr lang="fr-FR" dirty="0"/>
              <a:t> the </a:t>
            </a:r>
            <a:r>
              <a:rPr lang="fr-FR" dirty="0" err="1"/>
              <a:t>title</a:t>
            </a:r>
            <a:r>
              <a:rPr lang="fr-FR" dirty="0"/>
              <a:t>, </a:t>
            </a:r>
            <a:r>
              <a:rPr lang="fr-FR" dirty="0" err="1"/>
              <a:t>author</a:t>
            </a:r>
            <a:r>
              <a:rPr lang="fr-FR" dirty="0"/>
              <a:t>, etc.</a:t>
            </a:r>
            <a:endParaRPr lang="fr-FR" dirty="0">
              <a:solidFill>
                <a:srgbClr val="80276C"/>
              </a:solidFill>
            </a:endParaRPr>
          </a:p>
          <a:p>
            <a:r>
              <a:rPr lang="fr-FR" b="1" dirty="0" err="1">
                <a:solidFill>
                  <a:srgbClr val="80276C"/>
                </a:solidFill>
              </a:rPr>
              <a:t>ZoteroBib</a:t>
            </a:r>
            <a:r>
              <a:rPr lang="fr-FR" dirty="0">
                <a:solidFill>
                  <a:srgbClr val="80276C"/>
                </a:solidFill>
              </a:rPr>
              <a:t> </a:t>
            </a:r>
            <a:r>
              <a:rPr lang="en-US" dirty="0"/>
              <a:t>Quick online version: </a:t>
            </a:r>
            <a:r>
              <a:rPr lang="en-US" dirty="0">
                <a:hlinkClick r:id="rId3"/>
              </a:rPr>
              <a:t>https://zbib.org</a:t>
            </a:r>
            <a:endParaRPr lang="fr-FR" dirty="0"/>
          </a:p>
          <a:p>
            <a:r>
              <a:rPr lang="en-US" dirty="0"/>
              <a:t>Paste a DOI, ISBN, URL, or title of a book or article → it generates the reference in the chosen style.</a:t>
            </a:r>
          </a:p>
        </p:txBody>
      </p:sp>
    </p:spTree>
    <p:extLst>
      <p:ext uri="{BB962C8B-B14F-4D97-AF65-F5344CB8AC3E}">
        <p14:creationId xmlns:p14="http://schemas.microsoft.com/office/powerpoint/2010/main" val="4755600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332AF00-599C-4FF2-ABDC-6BC124319F3C}"/>
              </a:ext>
            </a:extLst>
          </p:cNvPr>
          <p:cNvSpPr>
            <a:spLocks noGrp="1"/>
          </p:cNvSpPr>
          <p:nvPr>
            <p:ph type="body" sz="quarter" idx="11"/>
          </p:nvPr>
        </p:nvSpPr>
        <p:spPr>
          <a:xfrm>
            <a:off x="768096" y="612647"/>
            <a:ext cx="10634472" cy="3585641"/>
          </a:xfrm>
        </p:spPr>
        <p:txBody>
          <a:bodyPr>
            <a:normAutofit fontScale="92500" lnSpcReduction="20000"/>
          </a:bodyPr>
          <a:lstStyle/>
          <a:p>
            <a:pPr marL="285750" indent="-285750">
              <a:buFontTx/>
              <a:buChar char="-"/>
            </a:pPr>
            <a:r>
              <a:rPr lang="fr-FR" sz="1700" dirty="0" err="1">
                <a:solidFill>
                  <a:srgbClr val="800080"/>
                </a:solidFill>
              </a:rPr>
              <a:t>EndNote</a:t>
            </a:r>
            <a:r>
              <a:rPr lang="fr-FR" sz="1700" dirty="0">
                <a:solidFill>
                  <a:srgbClr val="800080"/>
                </a:solidFill>
              </a:rPr>
              <a:t> Click </a:t>
            </a:r>
            <a:r>
              <a:rPr lang="en-US" sz="1700" b="0" dirty="0"/>
              <a:t>Click Extension that identifies accessible PDFs and creates bibliographic references</a:t>
            </a:r>
            <a:r>
              <a:rPr lang="fr-FR" sz="1700" b="0" dirty="0"/>
              <a:t>.</a:t>
            </a:r>
            <a:br>
              <a:rPr lang="fr-FR" sz="1700" dirty="0">
                <a:solidFill>
                  <a:srgbClr val="800080"/>
                </a:solidFill>
              </a:rPr>
            </a:br>
            <a:r>
              <a:rPr lang="fr-FR" sz="1700" dirty="0">
                <a:solidFill>
                  <a:srgbClr val="800080"/>
                </a:solidFill>
              </a:rPr>
              <a:t>- </a:t>
            </a:r>
            <a:r>
              <a:rPr lang="fr-FR" sz="1700" dirty="0" err="1">
                <a:solidFill>
                  <a:srgbClr val="800080"/>
                </a:solidFill>
              </a:rPr>
              <a:t>CiteThisForMe</a:t>
            </a:r>
            <a:br>
              <a:rPr lang="fr-FR" sz="1700" dirty="0">
                <a:solidFill>
                  <a:srgbClr val="800080"/>
                </a:solidFill>
              </a:rPr>
            </a:br>
            <a:r>
              <a:rPr lang="fr-FR" sz="1700" dirty="0">
                <a:solidFill>
                  <a:srgbClr val="800080"/>
                </a:solidFill>
              </a:rPr>
              <a:t>- </a:t>
            </a:r>
            <a:r>
              <a:rPr lang="fr-FR" sz="1700" dirty="0" err="1">
                <a:solidFill>
                  <a:srgbClr val="800080"/>
                </a:solidFill>
              </a:rPr>
              <a:t>Mendeley</a:t>
            </a:r>
            <a:r>
              <a:rPr lang="fr-FR" sz="1700" dirty="0">
                <a:solidFill>
                  <a:srgbClr val="800080"/>
                </a:solidFill>
              </a:rPr>
              <a:t> </a:t>
            </a:r>
            <a:r>
              <a:rPr lang="en-US" sz="1700" b="0" dirty="0"/>
              <a:t>Elsevier tool with automatic recognition of references. Works with a Word plugin to insert citations.</a:t>
            </a:r>
            <a:endParaRPr lang="fr-FR" sz="1700" b="0" dirty="0"/>
          </a:p>
          <a:p>
            <a:br>
              <a:rPr lang="en-US" dirty="0"/>
            </a:br>
            <a:br>
              <a:rPr lang="en-US" sz="1600" dirty="0"/>
            </a:br>
            <a:r>
              <a:rPr lang="en-US" sz="1600" dirty="0"/>
              <a:t>2, Use Citation Extensions with AI</a:t>
            </a:r>
            <a:br>
              <a:rPr lang="en-US" sz="1600" dirty="0"/>
            </a:br>
            <a:r>
              <a:rPr lang="en-US" sz="1600" b="0" dirty="0"/>
              <a:t>There are </a:t>
            </a:r>
            <a:r>
              <a:rPr lang="en-US" sz="1600" dirty="0"/>
              <a:t>browser extensions that use AI to manage references automatically:</a:t>
            </a:r>
            <a:br>
              <a:rPr lang="en-US" sz="1600" dirty="0"/>
            </a:br>
            <a:r>
              <a:rPr lang="en-US" sz="1600" dirty="0" err="1"/>
              <a:t>ResearchRabbit</a:t>
            </a:r>
            <a:r>
              <a:rPr lang="en-US" sz="1600" dirty="0"/>
              <a:t> </a:t>
            </a:r>
            <a:r>
              <a:rPr lang="fr-FR" sz="1600" dirty="0"/>
              <a:t>/ </a:t>
            </a:r>
            <a:r>
              <a:rPr lang="fr-FR" sz="1600" dirty="0" err="1">
                <a:solidFill>
                  <a:srgbClr val="0070C0"/>
                </a:solidFill>
              </a:rPr>
              <a:t>Connected</a:t>
            </a:r>
            <a:r>
              <a:rPr lang="fr-FR" sz="1600" dirty="0">
                <a:solidFill>
                  <a:srgbClr val="0070C0"/>
                </a:solidFill>
              </a:rPr>
              <a:t> Papers </a:t>
            </a:r>
            <a:r>
              <a:rPr lang="en-US" sz="1600" b="0" dirty="0">
                <a:solidFill>
                  <a:srgbClr val="0070C0"/>
                </a:solidFill>
              </a:rPr>
              <a:t>make it possible to</a:t>
            </a:r>
            <a:r>
              <a:rPr lang="en-US" sz="1600" b="0" dirty="0"/>
              <a:t> find relevant sources with suggestions based on a topic → then generate the bibliography with Zotero or </a:t>
            </a:r>
            <a:r>
              <a:rPr lang="en-US" sz="1600" b="0" dirty="0" err="1"/>
              <a:t>ChatGPT</a:t>
            </a:r>
            <a:r>
              <a:rPr lang="en-US" sz="1600" b="0" dirty="0"/>
              <a:t>.</a:t>
            </a:r>
            <a:br>
              <a:rPr lang="en-US" sz="1600" dirty="0"/>
            </a:br>
            <a:br>
              <a:rPr lang="en-US" sz="1600" dirty="0"/>
            </a:br>
            <a:r>
              <a:rPr lang="en-US" sz="1600" dirty="0"/>
              <a:t>Scite.ai </a:t>
            </a:r>
            <a:r>
              <a:rPr lang="en-US" sz="1600" b="0" dirty="0"/>
              <a:t>: use AI to show how a source is cited (positively, negatively, or neutrally). Also provide the formatted citation.</a:t>
            </a:r>
            <a:endParaRPr lang="fr-FR" sz="1600" dirty="0"/>
          </a:p>
          <a:p>
            <a:r>
              <a:rPr lang="fr-FR" sz="1600" dirty="0" err="1"/>
              <a:t>Scribbr</a:t>
            </a:r>
            <a:r>
              <a:rPr lang="fr-FR" sz="1600" dirty="0"/>
              <a:t> (</a:t>
            </a:r>
            <a:r>
              <a:rPr lang="fr-FR" sz="1600" dirty="0">
                <a:hlinkClick r:id="rId2"/>
              </a:rPr>
              <a:t>www.scribbr.fr</a:t>
            </a:r>
            <a:r>
              <a:rPr lang="fr-FR" sz="1600" dirty="0"/>
              <a:t>) → Free </a:t>
            </a:r>
            <a:r>
              <a:rPr lang="fr-FR" sz="1600" dirty="0" err="1"/>
              <a:t>quote</a:t>
            </a:r>
            <a:r>
              <a:rPr lang="fr-FR" sz="1600" dirty="0"/>
              <a:t> </a:t>
            </a:r>
            <a:r>
              <a:rPr lang="fr-FR" sz="1600" dirty="0" err="1"/>
              <a:t>generator</a:t>
            </a:r>
            <a:r>
              <a:rPr lang="fr-FR" sz="1600" dirty="0"/>
              <a:t> (APA, MLA).</a:t>
            </a:r>
          </a:p>
          <a:p>
            <a:r>
              <a:rPr lang="fr-FR" sz="1600" dirty="0" err="1"/>
              <a:t>MyBib</a:t>
            </a:r>
            <a:r>
              <a:rPr lang="fr-FR" sz="1600" dirty="0"/>
              <a:t> (</a:t>
            </a:r>
            <a:r>
              <a:rPr lang="fr-FR" sz="1600" dirty="0">
                <a:hlinkClick r:id="rId3"/>
              </a:rPr>
              <a:t>www.mybib.com</a:t>
            </a:r>
            <a:r>
              <a:rPr lang="fr-FR" sz="1600" dirty="0"/>
              <a:t>) →</a:t>
            </a:r>
            <a:r>
              <a:rPr lang="en-US" sz="1600" b="0" dirty="0"/>
              <a:t> </a:t>
            </a:r>
            <a:r>
              <a:rPr lang="en-US" sz="1600" dirty="0"/>
              <a:t>Create bibliographies in just a few clicks</a:t>
            </a:r>
            <a:r>
              <a:rPr lang="fr-FR" sz="1600" dirty="0"/>
              <a:t>.</a:t>
            </a:r>
          </a:p>
          <a:p>
            <a:r>
              <a:rPr lang="fr-FR" sz="1600" dirty="0"/>
              <a:t>Grammarly or </a:t>
            </a:r>
            <a:r>
              <a:rPr lang="fr-FR" sz="1600" dirty="0" err="1"/>
              <a:t>QuillBot</a:t>
            </a:r>
            <a:r>
              <a:rPr lang="fr-FR" sz="1600" dirty="0"/>
              <a:t> : </a:t>
            </a:r>
            <a:r>
              <a:rPr lang="en-US" sz="1600" dirty="0"/>
              <a:t>Check the reliability of the references</a:t>
            </a:r>
            <a:r>
              <a:rPr lang="fr-FR" sz="1600" dirty="0"/>
              <a:t>.</a:t>
            </a:r>
          </a:p>
          <a:p>
            <a:endParaRPr lang="fr-FR" dirty="0"/>
          </a:p>
        </p:txBody>
      </p:sp>
      <p:sp>
        <p:nvSpPr>
          <p:cNvPr id="3" name="ZoneTexte 2">
            <a:extLst>
              <a:ext uri="{FF2B5EF4-FFF2-40B4-BE49-F238E27FC236}">
                <a16:creationId xmlns:a16="http://schemas.microsoft.com/office/drawing/2014/main" id="{FC327AAD-5350-4A7C-BEF0-B3B520C88DDA}"/>
              </a:ext>
            </a:extLst>
          </p:cNvPr>
          <p:cNvSpPr txBox="1"/>
          <p:nvPr/>
        </p:nvSpPr>
        <p:spPr>
          <a:xfrm>
            <a:off x="768096" y="4499814"/>
            <a:ext cx="8061867" cy="2308324"/>
          </a:xfrm>
          <a:prstGeom prst="rect">
            <a:avLst/>
          </a:prstGeom>
          <a:noFill/>
        </p:spPr>
        <p:txBody>
          <a:bodyPr wrap="square" rtlCol="0">
            <a:spAutoFit/>
          </a:bodyPr>
          <a:lstStyle/>
          <a:p>
            <a:r>
              <a:rPr lang="fr-FR" b="1" dirty="0">
                <a:solidFill>
                  <a:srgbClr val="80276C"/>
                </a:solidFill>
              </a:rPr>
              <a:t>3. </a:t>
            </a:r>
            <a:r>
              <a:rPr lang="en-US" b="1" dirty="0">
                <a:solidFill>
                  <a:srgbClr val="80276C"/>
                </a:solidFill>
              </a:rPr>
              <a:t>One of the possible methods</a:t>
            </a:r>
          </a:p>
          <a:p>
            <a:r>
              <a:rPr lang="fr-FR" b="1" dirty="0">
                <a:solidFill>
                  <a:srgbClr val="80276C"/>
                </a:solidFill>
              </a:rPr>
              <a:t>Collection: </a:t>
            </a:r>
            <a:r>
              <a:rPr lang="fr-FR" dirty="0" err="1">
                <a:solidFill>
                  <a:srgbClr val="80276C"/>
                </a:solidFill>
              </a:rPr>
              <a:t>Find</a:t>
            </a:r>
            <a:r>
              <a:rPr lang="fr-FR" dirty="0">
                <a:solidFill>
                  <a:srgbClr val="80276C"/>
                </a:solidFill>
              </a:rPr>
              <a:t> sources </a:t>
            </a:r>
            <a:r>
              <a:rPr lang="fr-FR" dirty="0" err="1">
                <a:solidFill>
                  <a:srgbClr val="80276C"/>
                </a:solidFill>
              </a:rPr>
              <a:t>with</a:t>
            </a:r>
            <a:r>
              <a:rPr lang="fr-FR" dirty="0">
                <a:solidFill>
                  <a:srgbClr val="80276C"/>
                </a:solidFill>
              </a:rPr>
              <a:t> </a:t>
            </a:r>
            <a:r>
              <a:rPr lang="fr-FR" dirty="0" err="1">
                <a:solidFill>
                  <a:srgbClr val="80276C"/>
                </a:solidFill>
              </a:rPr>
              <a:t>many</a:t>
            </a:r>
            <a:r>
              <a:rPr lang="fr-FR" dirty="0">
                <a:solidFill>
                  <a:srgbClr val="80276C"/>
                </a:solidFill>
              </a:rPr>
              <a:t> </a:t>
            </a:r>
            <a:r>
              <a:rPr lang="fr-FR" dirty="0" err="1">
                <a:solidFill>
                  <a:srgbClr val="80276C"/>
                </a:solidFill>
              </a:rPr>
              <a:t>tools</a:t>
            </a:r>
            <a:endParaRPr lang="fr-FR" dirty="0">
              <a:solidFill>
                <a:srgbClr val="80276C"/>
              </a:solidFill>
            </a:endParaRPr>
          </a:p>
          <a:p>
            <a:r>
              <a:rPr lang="fr-FR" b="1" dirty="0" err="1">
                <a:solidFill>
                  <a:srgbClr val="80276C"/>
                </a:solidFill>
              </a:rPr>
              <a:t>Verification</a:t>
            </a:r>
            <a:r>
              <a:rPr lang="fr-FR" b="1" dirty="0">
                <a:solidFill>
                  <a:srgbClr val="80276C"/>
                </a:solidFill>
              </a:rPr>
              <a:t>: </a:t>
            </a:r>
            <a:r>
              <a:rPr lang="fr-FR" dirty="0">
                <a:solidFill>
                  <a:srgbClr val="80276C"/>
                </a:solidFill>
              </a:rPr>
              <a:t>compare </a:t>
            </a:r>
            <a:r>
              <a:rPr lang="fr-FR" dirty="0" err="1">
                <a:solidFill>
                  <a:srgbClr val="80276C"/>
                </a:solidFill>
              </a:rPr>
              <a:t>various</a:t>
            </a:r>
            <a:r>
              <a:rPr lang="fr-FR" dirty="0">
                <a:solidFill>
                  <a:srgbClr val="80276C"/>
                </a:solidFill>
              </a:rPr>
              <a:t> AI, check the sources and the </a:t>
            </a:r>
            <a:r>
              <a:rPr lang="fr-FR" dirty="0" err="1">
                <a:solidFill>
                  <a:srgbClr val="80276C"/>
                </a:solidFill>
              </a:rPr>
              <a:t>processes</a:t>
            </a:r>
            <a:r>
              <a:rPr lang="fr-FR" dirty="0">
                <a:solidFill>
                  <a:srgbClr val="80276C"/>
                </a:solidFill>
              </a:rPr>
              <a:t> of AI</a:t>
            </a:r>
            <a:endParaRPr lang="fr-FR" b="1" dirty="0">
              <a:solidFill>
                <a:srgbClr val="80276C"/>
              </a:solidFill>
            </a:endParaRPr>
          </a:p>
          <a:p>
            <a:r>
              <a:rPr lang="fr-FR" b="1" dirty="0">
                <a:solidFill>
                  <a:srgbClr val="80276C"/>
                </a:solidFill>
              </a:rPr>
              <a:t>Extraction: </a:t>
            </a:r>
            <a:r>
              <a:rPr lang="fr-FR" dirty="0">
                <a:solidFill>
                  <a:srgbClr val="80276C"/>
                </a:solidFill>
              </a:rPr>
              <a:t>Import</a:t>
            </a:r>
            <a:r>
              <a:rPr lang="fr-FR" b="1" dirty="0">
                <a:solidFill>
                  <a:srgbClr val="80276C"/>
                </a:solidFill>
              </a:rPr>
              <a:t> </a:t>
            </a:r>
            <a:r>
              <a:rPr lang="fr-FR" dirty="0" err="1">
                <a:solidFill>
                  <a:srgbClr val="80276C"/>
                </a:solidFill>
              </a:rPr>
              <a:t>them</a:t>
            </a:r>
            <a:r>
              <a:rPr lang="fr-FR" dirty="0">
                <a:solidFill>
                  <a:srgbClr val="80276C"/>
                </a:solidFill>
              </a:rPr>
              <a:t> </a:t>
            </a:r>
            <a:r>
              <a:rPr lang="fr-FR" dirty="0" err="1">
                <a:solidFill>
                  <a:srgbClr val="80276C"/>
                </a:solidFill>
              </a:rPr>
              <a:t>into</a:t>
            </a:r>
            <a:r>
              <a:rPr lang="fr-FR" dirty="0">
                <a:solidFill>
                  <a:srgbClr val="80276C"/>
                </a:solidFill>
              </a:rPr>
              <a:t> Zotero/</a:t>
            </a:r>
            <a:r>
              <a:rPr lang="fr-FR" dirty="0" err="1">
                <a:solidFill>
                  <a:srgbClr val="80276C"/>
                </a:solidFill>
              </a:rPr>
              <a:t>Mendeley</a:t>
            </a:r>
            <a:r>
              <a:rPr lang="fr-FR" dirty="0">
                <a:solidFill>
                  <a:srgbClr val="80276C"/>
                </a:solidFill>
              </a:rPr>
              <a:t>.</a:t>
            </a:r>
          </a:p>
          <a:p>
            <a:r>
              <a:rPr lang="fr-FR" b="1" dirty="0" err="1">
                <a:solidFill>
                  <a:srgbClr val="80276C"/>
                </a:solidFill>
              </a:rPr>
              <a:t>Generation</a:t>
            </a:r>
            <a:r>
              <a:rPr lang="fr-FR" b="1" dirty="0">
                <a:solidFill>
                  <a:srgbClr val="80276C"/>
                </a:solidFill>
              </a:rPr>
              <a:t>: </a:t>
            </a:r>
            <a:r>
              <a:rPr lang="fr-FR" dirty="0">
                <a:solidFill>
                  <a:srgbClr val="80276C"/>
                </a:solidFill>
              </a:rPr>
              <a:t>Use </a:t>
            </a:r>
            <a:r>
              <a:rPr lang="fr-FR" dirty="0" err="1">
                <a:solidFill>
                  <a:srgbClr val="80276C"/>
                </a:solidFill>
              </a:rPr>
              <a:t>ZoteroBib</a:t>
            </a:r>
            <a:r>
              <a:rPr lang="fr-FR" dirty="0">
                <a:solidFill>
                  <a:srgbClr val="80276C"/>
                </a:solidFill>
              </a:rPr>
              <a:t> or </a:t>
            </a:r>
            <a:r>
              <a:rPr lang="fr-FR" dirty="0" err="1">
                <a:solidFill>
                  <a:srgbClr val="80276C"/>
                </a:solidFill>
              </a:rPr>
              <a:t>Scribbr</a:t>
            </a:r>
            <a:r>
              <a:rPr lang="fr-FR" dirty="0">
                <a:solidFill>
                  <a:srgbClr val="80276C"/>
                </a:solidFill>
              </a:rPr>
              <a:t> to format.</a:t>
            </a:r>
          </a:p>
          <a:p>
            <a:r>
              <a:rPr lang="fr-FR" b="1" dirty="0" err="1">
                <a:solidFill>
                  <a:srgbClr val="80276C"/>
                </a:solidFill>
              </a:rPr>
              <a:t>Verification</a:t>
            </a:r>
            <a:r>
              <a:rPr lang="fr-FR" b="1" dirty="0">
                <a:solidFill>
                  <a:srgbClr val="80276C"/>
                </a:solidFill>
              </a:rPr>
              <a:t>: </a:t>
            </a:r>
            <a:r>
              <a:rPr lang="fr-FR" dirty="0" err="1">
                <a:solidFill>
                  <a:srgbClr val="80276C"/>
                </a:solidFill>
              </a:rPr>
              <a:t>Pass</a:t>
            </a:r>
            <a:r>
              <a:rPr lang="fr-FR" dirty="0">
                <a:solidFill>
                  <a:srgbClr val="80276C"/>
                </a:solidFill>
              </a:rPr>
              <a:t> the </a:t>
            </a:r>
            <a:r>
              <a:rPr lang="fr-FR" dirty="0" err="1">
                <a:solidFill>
                  <a:srgbClr val="80276C"/>
                </a:solidFill>
              </a:rPr>
              <a:t>references</a:t>
            </a:r>
            <a:r>
              <a:rPr lang="fr-FR" dirty="0">
                <a:solidFill>
                  <a:srgbClr val="80276C"/>
                </a:solidFill>
              </a:rPr>
              <a:t> </a:t>
            </a:r>
            <a:r>
              <a:rPr lang="fr-FR" dirty="0" err="1">
                <a:solidFill>
                  <a:srgbClr val="80276C"/>
                </a:solidFill>
              </a:rPr>
              <a:t>through</a:t>
            </a:r>
            <a:r>
              <a:rPr lang="fr-FR" dirty="0">
                <a:solidFill>
                  <a:srgbClr val="80276C"/>
                </a:solidFill>
              </a:rPr>
              <a:t> </a:t>
            </a:r>
            <a:r>
              <a:rPr lang="fr-FR" dirty="0" err="1">
                <a:solidFill>
                  <a:srgbClr val="80276C"/>
                </a:solidFill>
              </a:rPr>
              <a:t>ChatGPT</a:t>
            </a:r>
            <a:r>
              <a:rPr lang="fr-FR" dirty="0">
                <a:solidFill>
                  <a:srgbClr val="80276C"/>
                </a:solidFill>
              </a:rPr>
              <a:t> for </a:t>
            </a:r>
            <a:r>
              <a:rPr lang="fr-FR" dirty="0" err="1">
                <a:solidFill>
                  <a:srgbClr val="80276C"/>
                </a:solidFill>
              </a:rPr>
              <a:t>proofreading</a:t>
            </a:r>
            <a:r>
              <a:rPr lang="fr-FR" dirty="0">
                <a:solidFill>
                  <a:srgbClr val="80276C"/>
                </a:solidFill>
              </a:rPr>
              <a:t>.</a:t>
            </a:r>
          </a:p>
          <a:p>
            <a:r>
              <a:rPr lang="fr-FR" b="1" dirty="0">
                <a:solidFill>
                  <a:srgbClr val="80276C"/>
                </a:solidFill>
              </a:rPr>
              <a:t>Insertion: </a:t>
            </a:r>
            <a:r>
              <a:rPr lang="fr-FR" dirty="0">
                <a:solidFill>
                  <a:srgbClr val="80276C"/>
                </a:solidFill>
              </a:rPr>
              <a:t>In Word or </a:t>
            </a:r>
            <a:r>
              <a:rPr lang="fr-FR" dirty="0" err="1">
                <a:solidFill>
                  <a:srgbClr val="80276C"/>
                </a:solidFill>
              </a:rPr>
              <a:t>LaTeX</a:t>
            </a:r>
            <a:r>
              <a:rPr lang="fr-FR" dirty="0">
                <a:solidFill>
                  <a:srgbClr val="80276C"/>
                </a:solidFill>
              </a:rPr>
              <a:t>, use the Zotero/</a:t>
            </a:r>
            <a:r>
              <a:rPr lang="fr-FR" dirty="0" err="1">
                <a:solidFill>
                  <a:srgbClr val="80276C"/>
                </a:solidFill>
              </a:rPr>
              <a:t>Mendeley</a:t>
            </a:r>
            <a:r>
              <a:rPr lang="fr-FR" dirty="0">
                <a:solidFill>
                  <a:srgbClr val="80276C"/>
                </a:solidFill>
              </a:rPr>
              <a:t> plugin.</a:t>
            </a:r>
          </a:p>
          <a:p>
            <a:endParaRPr lang="fr-FR" dirty="0">
              <a:solidFill>
                <a:srgbClr val="80276C"/>
              </a:solidFill>
            </a:endParaRPr>
          </a:p>
        </p:txBody>
      </p:sp>
    </p:spTree>
    <p:extLst>
      <p:ext uri="{BB962C8B-B14F-4D97-AF65-F5344CB8AC3E}">
        <p14:creationId xmlns:p14="http://schemas.microsoft.com/office/powerpoint/2010/main" val="6445914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D108F-36D1-B675-AC08-05F0B11864A4}"/>
            </a:ext>
          </a:extLst>
        </p:cNvPr>
        <p:cNvGrpSpPr/>
        <p:nvPr/>
      </p:nvGrpSpPr>
      <p:grpSpPr>
        <a:xfrm>
          <a:off x="0" y="0"/>
          <a:ext cx="0" cy="0"/>
          <a:chOff x="0" y="0"/>
          <a:chExt cx="0" cy="0"/>
        </a:xfrm>
      </p:grpSpPr>
      <p:sp>
        <p:nvSpPr>
          <p:cNvPr id="6" name="Espace réservé du texte 1">
            <a:extLst>
              <a:ext uri="{FF2B5EF4-FFF2-40B4-BE49-F238E27FC236}">
                <a16:creationId xmlns:a16="http://schemas.microsoft.com/office/drawing/2014/main" id="{1ABC239F-08C7-D664-61B2-5F47C6FF948C}"/>
              </a:ext>
            </a:extLst>
          </p:cNvPr>
          <p:cNvSpPr txBox="1">
            <a:spLocks/>
          </p:cNvSpPr>
          <p:nvPr/>
        </p:nvSpPr>
        <p:spPr>
          <a:xfrm>
            <a:off x="62331" y="309127"/>
            <a:ext cx="3299297" cy="5944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2800" dirty="0">
              <a:solidFill>
                <a:schemeClr val="bg1"/>
              </a:solidFill>
            </a:endParaRPr>
          </a:p>
        </p:txBody>
      </p:sp>
      <p:graphicFrame>
        <p:nvGraphicFramePr>
          <p:cNvPr id="5" name="Tableau 4">
            <a:extLst>
              <a:ext uri="{FF2B5EF4-FFF2-40B4-BE49-F238E27FC236}">
                <a16:creationId xmlns:a16="http://schemas.microsoft.com/office/drawing/2014/main" id="{0F1AC450-CD66-B5D7-C5E6-97FDB1EEEE2C}"/>
              </a:ext>
            </a:extLst>
          </p:cNvPr>
          <p:cNvGraphicFramePr>
            <a:graphicFrameLocks noGrp="1"/>
          </p:cNvGraphicFramePr>
          <p:nvPr/>
        </p:nvGraphicFramePr>
        <p:xfrm>
          <a:off x="3528388" y="567601"/>
          <a:ext cx="1802561" cy="1470162"/>
        </p:xfrm>
        <a:graphic>
          <a:graphicData uri="http://schemas.openxmlformats.org/drawingml/2006/table">
            <a:tbl>
              <a:tblPr/>
              <a:tblGrid>
                <a:gridCol w="1802561">
                  <a:extLst>
                    <a:ext uri="{9D8B030D-6E8A-4147-A177-3AD203B41FA5}">
                      <a16:colId xmlns:a16="http://schemas.microsoft.com/office/drawing/2014/main" val="162825365"/>
                    </a:ext>
                  </a:extLst>
                </a:gridCol>
              </a:tblGrid>
              <a:tr h="1470162">
                <a:tc>
                  <a:txBody>
                    <a:bodyPr/>
                    <a:lstStyle/>
                    <a:p>
                      <a:r>
                        <a:rPr lang="fr-FR" b="1" dirty="0" err="1">
                          <a:solidFill>
                            <a:srgbClr val="80276C"/>
                          </a:solidFill>
                        </a:rPr>
                        <a:t>Who</a:t>
                      </a:r>
                      <a:r>
                        <a:rPr lang="fr-FR" b="1" dirty="0">
                          <a:solidFill>
                            <a:srgbClr val="80276C"/>
                          </a:solidFill>
                        </a:rPr>
                        <a:t>?</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9" name="Tableau 8">
            <a:extLst>
              <a:ext uri="{FF2B5EF4-FFF2-40B4-BE49-F238E27FC236}">
                <a16:creationId xmlns:a16="http://schemas.microsoft.com/office/drawing/2014/main" id="{A09B1C69-EB85-FC5A-1003-2BE6507DBC4C}"/>
              </a:ext>
            </a:extLst>
          </p:cNvPr>
          <p:cNvGraphicFramePr>
            <a:graphicFrameLocks noGrp="1"/>
          </p:cNvGraphicFramePr>
          <p:nvPr/>
        </p:nvGraphicFramePr>
        <p:xfrm>
          <a:off x="3528388" y="2249882"/>
          <a:ext cx="1802561" cy="777240"/>
        </p:xfrm>
        <a:graphic>
          <a:graphicData uri="http://schemas.openxmlformats.org/drawingml/2006/table">
            <a:tbl>
              <a:tblPr/>
              <a:tblGrid>
                <a:gridCol w="1802561">
                  <a:extLst>
                    <a:ext uri="{9D8B030D-6E8A-4147-A177-3AD203B41FA5}">
                      <a16:colId xmlns:a16="http://schemas.microsoft.com/office/drawing/2014/main" val="162825365"/>
                    </a:ext>
                  </a:extLst>
                </a:gridCol>
              </a:tblGrid>
              <a:tr h="777240">
                <a:tc>
                  <a:txBody>
                    <a:bodyPr/>
                    <a:lstStyle/>
                    <a:p>
                      <a:r>
                        <a:rPr lang="fr-FR" b="1" dirty="0" err="1">
                          <a:solidFill>
                            <a:srgbClr val="80276C"/>
                          </a:solidFill>
                        </a:rPr>
                        <a:t>What</a:t>
                      </a:r>
                      <a:r>
                        <a:rPr lang="fr-FR" b="1" dirty="0">
                          <a:solidFill>
                            <a:srgbClr val="80276C"/>
                          </a:solidFill>
                        </a:rPr>
                        <a:t>?</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11" name="Tableau 10">
            <a:extLst>
              <a:ext uri="{FF2B5EF4-FFF2-40B4-BE49-F238E27FC236}">
                <a16:creationId xmlns:a16="http://schemas.microsoft.com/office/drawing/2014/main" id="{72CF12DB-0495-D9A2-A838-021D90B620F6}"/>
              </a:ext>
            </a:extLst>
          </p:cNvPr>
          <p:cNvGraphicFramePr>
            <a:graphicFrameLocks noGrp="1"/>
          </p:cNvGraphicFramePr>
          <p:nvPr/>
        </p:nvGraphicFramePr>
        <p:xfrm>
          <a:off x="5330949" y="2249882"/>
          <a:ext cx="6352008" cy="777240"/>
        </p:xfrm>
        <a:graphic>
          <a:graphicData uri="http://schemas.openxmlformats.org/drawingml/2006/table">
            <a:tbl>
              <a:tblPr/>
              <a:tblGrid>
                <a:gridCol w="6352008">
                  <a:extLst>
                    <a:ext uri="{9D8B030D-6E8A-4147-A177-3AD203B41FA5}">
                      <a16:colId xmlns:a16="http://schemas.microsoft.com/office/drawing/2014/main" val="162825365"/>
                    </a:ext>
                  </a:extLst>
                </a:gridCol>
              </a:tblGrid>
              <a:tr h="777240">
                <a:tc>
                  <a:txBody>
                    <a:bodyPr/>
                    <a:lstStyle/>
                    <a:p>
                      <a:pPr marL="0" indent="0">
                        <a:buFontTx/>
                        <a:buNone/>
                      </a:pPr>
                      <a:r>
                        <a:rPr lang="en-US" sz="1500" dirty="0">
                          <a:solidFill>
                            <a:srgbClr val="80276C"/>
                          </a:solidFill>
                          <a:latin typeface="Verdana" panose="020B0604030504040204" pitchFamily="34" charset="0"/>
                          <a:ea typeface="Verdana" panose="020B0604030504040204" pitchFamily="34" charset="0"/>
                        </a:rPr>
                        <a:t>- Is the information true, accurate, and verifiable?</a:t>
                      </a:r>
                    </a:p>
                    <a:p>
                      <a:pPr marL="0" indent="0">
                        <a:buFontTx/>
                        <a:buNone/>
                      </a:pPr>
                      <a:r>
                        <a:rPr lang="en-US" sz="1500" dirty="0">
                          <a:solidFill>
                            <a:srgbClr val="80276C"/>
                          </a:solidFill>
                          <a:latin typeface="Verdana" panose="020B0604030504040204" pitchFamily="34" charset="0"/>
                          <a:ea typeface="Verdana" panose="020B0604030504040204" pitchFamily="34" charset="0"/>
                        </a:rPr>
                        <a:t>- Is the information written clearly and without errors?</a:t>
                      </a:r>
                    </a:p>
                    <a:p>
                      <a:pPr marL="0" indent="0">
                        <a:buFontTx/>
                        <a:buNone/>
                      </a:pPr>
                      <a:r>
                        <a:rPr lang="en-US" sz="1500" dirty="0">
                          <a:solidFill>
                            <a:srgbClr val="80276C"/>
                          </a:solidFill>
                          <a:latin typeface="Verdana" panose="020B0604030504040204" pitchFamily="34" charset="0"/>
                          <a:ea typeface="Verdana" panose="020B0604030504040204" pitchFamily="34" charset="0"/>
                        </a:rPr>
                        <a:t>- Does it involve approximations or exact values?</a:t>
                      </a:r>
                      <a:endParaRPr lang="fr-FR" sz="1500" dirty="0">
                        <a:solidFill>
                          <a:srgbClr val="80276C"/>
                        </a:solidFill>
                        <a:latin typeface="Verdana" panose="020B0604030504040204" pitchFamily="34" charset="0"/>
                        <a:ea typeface="Verdana" panose="020B060403050404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12" name="Tableau 11">
            <a:extLst>
              <a:ext uri="{FF2B5EF4-FFF2-40B4-BE49-F238E27FC236}">
                <a16:creationId xmlns:a16="http://schemas.microsoft.com/office/drawing/2014/main" id="{793DF741-E566-F72F-D82A-64A0BAB23184}"/>
              </a:ext>
            </a:extLst>
          </p:cNvPr>
          <p:cNvGraphicFramePr>
            <a:graphicFrameLocks noGrp="1"/>
          </p:cNvGraphicFramePr>
          <p:nvPr/>
        </p:nvGraphicFramePr>
        <p:xfrm>
          <a:off x="5330950" y="574723"/>
          <a:ext cx="6352008" cy="1691640"/>
        </p:xfrm>
        <a:graphic>
          <a:graphicData uri="http://schemas.openxmlformats.org/drawingml/2006/table">
            <a:tbl>
              <a:tblPr/>
              <a:tblGrid>
                <a:gridCol w="6352008">
                  <a:extLst>
                    <a:ext uri="{9D8B030D-6E8A-4147-A177-3AD203B41FA5}">
                      <a16:colId xmlns:a16="http://schemas.microsoft.com/office/drawing/2014/main" val="162825365"/>
                    </a:ext>
                  </a:extLst>
                </a:gridCol>
              </a:tblGrid>
              <a:tr h="1406445">
                <a:tc>
                  <a:txBody>
                    <a:bodyPr/>
                    <a:lstStyle/>
                    <a:p>
                      <a:pPr>
                        <a:buFontTx/>
                        <a:buChar char="-"/>
                      </a:pPr>
                      <a:r>
                        <a:rPr lang="fr-FR" sz="1500" dirty="0">
                          <a:solidFill>
                            <a:srgbClr val="80276C"/>
                          </a:solidFill>
                          <a:latin typeface="Verdana" panose="020B0604030504040204" pitchFamily="34" charset="0"/>
                          <a:ea typeface="Verdana" panose="020B0604030504040204" pitchFamily="34" charset="0"/>
                        </a:rPr>
                        <a:t> </a:t>
                      </a:r>
                      <a:r>
                        <a:rPr lang="en-US" sz="1500" dirty="0">
                          <a:solidFill>
                            <a:srgbClr val="80276C"/>
                          </a:solidFill>
                          <a:latin typeface="Verdana" panose="020B0604030504040204" pitchFamily="34" charset="0"/>
                          <a:ea typeface="Verdana" panose="020B0604030504040204" pitchFamily="34" charset="0"/>
                        </a:rPr>
                        <a:t>Who is he?</a:t>
                      </a:r>
                    </a:p>
                    <a:p>
                      <a:pPr>
                        <a:buFontTx/>
                        <a:buChar char="-"/>
                      </a:pPr>
                      <a:r>
                        <a:rPr lang="en-US" sz="1500" dirty="0">
                          <a:solidFill>
                            <a:srgbClr val="80276C"/>
                          </a:solidFill>
                          <a:latin typeface="Verdana" panose="020B0604030504040204" pitchFamily="34" charset="0"/>
                          <a:ea typeface="Verdana" panose="020B0604030504040204" pitchFamily="34" charset="0"/>
                        </a:rPr>
                        <a:t> What is his status?</a:t>
                      </a:r>
                    </a:p>
                    <a:p>
                      <a:pPr>
                        <a:buFontTx/>
                        <a:buChar char="-"/>
                      </a:pPr>
                      <a:r>
                        <a:rPr lang="en-US" sz="1500" dirty="0">
                          <a:solidFill>
                            <a:srgbClr val="80276C"/>
                          </a:solidFill>
                          <a:latin typeface="Verdana" panose="020B0604030504040204" pitchFamily="34" charset="0"/>
                          <a:ea typeface="Verdana" panose="020B0604030504040204" pitchFamily="34" charset="0"/>
                        </a:rPr>
                        <a:t> His area of ​​expertise?</a:t>
                      </a:r>
                    </a:p>
                    <a:p>
                      <a:pPr>
                        <a:buFontTx/>
                        <a:buChar char="-"/>
                      </a:pPr>
                      <a:r>
                        <a:rPr lang="en-US" sz="1500" dirty="0">
                          <a:solidFill>
                            <a:srgbClr val="80276C"/>
                          </a:solidFill>
                          <a:latin typeface="Verdana" panose="020B0604030504040204" pitchFamily="34" charset="0"/>
                          <a:ea typeface="Verdana" panose="020B0604030504040204" pitchFamily="34" charset="0"/>
                        </a:rPr>
                        <a:t> His reputation? </a:t>
                      </a:r>
                    </a:p>
                    <a:p>
                      <a:pPr>
                        <a:buFontTx/>
                        <a:buChar char="-"/>
                      </a:pPr>
                      <a:r>
                        <a:rPr lang="en-US" sz="1500" dirty="0">
                          <a:solidFill>
                            <a:srgbClr val="80276C"/>
                          </a:solidFill>
                          <a:latin typeface="Verdana" panose="020B0604030504040204" pitchFamily="34" charset="0"/>
                          <a:ea typeface="Verdana" panose="020B0604030504040204" pitchFamily="34" charset="0"/>
                        </a:rPr>
                        <a:t> Referral network?</a:t>
                      </a:r>
                    </a:p>
                    <a:p>
                      <a:pPr>
                        <a:buFontTx/>
                        <a:buChar char="-"/>
                      </a:pPr>
                      <a:r>
                        <a:rPr lang="en-US" sz="1500" dirty="0">
                          <a:solidFill>
                            <a:srgbClr val="80276C"/>
                          </a:solidFill>
                          <a:latin typeface="Verdana" panose="020B0604030504040204" pitchFamily="34" charset="0"/>
                          <a:ea typeface="Verdana" panose="020B0604030504040204" pitchFamily="34" charset="0"/>
                        </a:rPr>
                        <a:t> His point of view?</a:t>
                      </a:r>
                    </a:p>
                    <a:p>
                      <a:pPr>
                        <a:buFontTx/>
                        <a:buChar char="-"/>
                      </a:pPr>
                      <a:r>
                        <a:rPr lang="en-US" sz="1500" dirty="0">
                          <a:solidFill>
                            <a:srgbClr val="80276C"/>
                          </a:solidFill>
                          <a:latin typeface="Verdana" panose="020B0604030504040204" pitchFamily="34" charset="0"/>
                          <a:ea typeface="Verdana" panose="020B0604030504040204" pitchFamily="34" charset="0"/>
                        </a:rPr>
                        <a:t> His motivations?</a:t>
                      </a:r>
                      <a:endParaRPr lang="fr-FR" sz="1500" dirty="0">
                        <a:solidFill>
                          <a:srgbClr val="80276C"/>
                        </a:solidFill>
                        <a:latin typeface="Verdana" panose="020B0604030504040204" pitchFamily="34" charset="0"/>
                        <a:ea typeface="Verdana" panose="020B060403050404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15" name="Tableau 14">
            <a:extLst>
              <a:ext uri="{FF2B5EF4-FFF2-40B4-BE49-F238E27FC236}">
                <a16:creationId xmlns:a16="http://schemas.microsoft.com/office/drawing/2014/main" id="{6673D1A2-94C8-D7F9-1BDA-3512CDDEEE52}"/>
              </a:ext>
            </a:extLst>
          </p:cNvPr>
          <p:cNvGraphicFramePr>
            <a:graphicFrameLocks noGrp="1"/>
          </p:cNvGraphicFramePr>
          <p:nvPr/>
        </p:nvGraphicFramePr>
        <p:xfrm>
          <a:off x="3528388" y="3261824"/>
          <a:ext cx="1802561" cy="777240"/>
        </p:xfrm>
        <a:graphic>
          <a:graphicData uri="http://schemas.openxmlformats.org/drawingml/2006/table">
            <a:tbl>
              <a:tblPr/>
              <a:tblGrid>
                <a:gridCol w="1802561">
                  <a:extLst>
                    <a:ext uri="{9D8B030D-6E8A-4147-A177-3AD203B41FA5}">
                      <a16:colId xmlns:a16="http://schemas.microsoft.com/office/drawing/2014/main" val="162825365"/>
                    </a:ext>
                  </a:extLst>
                </a:gridCol>
              </a:tblGrid>
              <a:tr h="777240">
                <a:tc>
                  <a:txBody>
                    <a:bodyPr/>
                    <a:lstStyle/>
                    <a:p>
                      <a:r>
                        <a:rPr lang="fr-FR" b="1" dirty="0">
                          <a:solidFill>
                            <a:srgbClr val="80276C"/>
                          </a:solidFill>
                        </a:rPr>
                        <a:t>Why?</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18" name="Tableau 17">
            <a:extLst>
              <a:ext uri="{FF2B5EF4-FFF2-40B4-BE49-F238E27FC236}">
                <a16:creationId xmlns:a16="http://schemas.microsoft.com/office/drawing/2014/main" id="{D91BADA9-C3BA-1676-616F-A52C883330D5}"/>
              </a:ext>
            </a:extLst>
          </p:cNvPr>
          <p:cNvGraphicFramePr>
            <a:graphicFrameLocks noGrp="1"/>
          </p:cNvGraphicFramePr>
          <p:nvPr/>
        </p:nvGraphicFramePr>
        <p:xfrm>
          <a:off x="5330949" y="3263876"/>
          <a:ext cx="6352008" cy="777240"/>
        </p:xfrm>
        <a:graphic>
          <a:graphicData uri="http://schemas.openxmlformats.org/drawingml/2006/table">
            <a:tbl>
              <a:tblPr/>
              <a:tblGrid>
                <a:gridCol w="6352008">
                  <a:extLst>
                    <a:ext uri="{9D8B030D-6E8A-4147-A177-3AD203B41FA5}">
                      <a16:colId xmlns:a16="http://schemas.microsoft.com/office/drawing/2014/main" val="162825365"/>
                    </a:ext>
                  </a:extLst>
                </a:gridCol>
              </a:tblGrid>
              <a:tr h="777240">
                <a:tc>
                  <a:txBody>
                    <a:bodyPr/>
                    <a:lstStyle/>
                    <a:p>
                      <a:pPr marL="0" indent="0">
                        <a:buFontTx/>
                        <a:buNone/>
                      </a:pPr>
                      <a:r>
                        <a:rPr lang="en-US" sz="1500" dirty="0">
                          <a:solidFill>
                            <a:srgbClr val="80276C"/>
                          </a:solidFill>
                          <a:latin typeface="Verdana" panose="020B0604030504040204" pitchFamily="34" charset="0"/>
                          <a:ea typeface="Verdana" panose="020B0604030504040204" pitchFamily="34" charset="0"/>
                        </a:rPr>
                        <a:t>- Is the goal to provide information neutrally?</a:t>
                      </a:r>
                    </a:p>
                    <a:p>
                      <a:pPr marL="0" indent="0">
                        <a:buFontTx/>
                        <a:buNone/>
                      </a:pPr>
                      <a:r>
                        <a:rPr lang="en-US" sz="1500" dirty="0">
                          <a:solidFill>
                            <a:srgbClr val="80276C"/>
                          </a:solidFill>
                          <a:latin typeface="Verdana" panose="020B0604030504040204" pitchFamily="34" charset="0"/>
                          <a:ea typeface="Verdana" panose="020B0604030504040204" pitchFamily="34" charset="0"/>
                        </a:rPr>
                        <a:t>- Is the information written clearly and without errors?</a:t>
                      </a:r>
                    </a:p>
                    <a:p>
                      <a:pPr marL="0" indent="0">
                        <a:buFontTx/>
                        <a:buNone/>
                      </a:pPr>
                      <a:r>
                        <a:rPr lang="en-US" sz="1500" dirty="0">
                          <a:solidFill>
                            <a:srgbClr val="80276C"/>
                          </a:solidFill>
                          <a:latin typeface="Verdana" panose="020B0604030504040204" pitchFamily="34" charset="0"/>
                          <a:ea typeface="Verdana" panose="020B0604030504040204" pitchFamily="34" charset="0"/>
                        </a:rPr>
                        <a:t>- Does it involve approximations or exact values?</a:t>
                      </a:r>
                      <a:endParaRPr lang="fr-FR" sz="1500" dirty="0">
                        <a:solidFill>
                          <a:srgbClr val="80276C"/>
                        </a:solidFill>
                        <a:latin typeface="Verdana" panose="020B0604030504040204" pitchFamily="34" charset="0"/>
                        <a:ea typeface="Verdana" panose="020B060403050404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20" name="Tableau 19">
            <a:extLst>
              <a:ext uri="{FF2B5EF4-FFF2-40B4-BE49-F238E27FC236}">
                <a16:creationId xmlns:a16="http://schemas.microsoft.com/office/drawing/2014/main" id="{78862BA5-4D1A-8613-3EFD-CFFD4F860282}"/>
              </a:ext>
            </a:extLst>
          </p:cNvPr>
          <p:cNvGraphicFramePr>
            <a:graphicFrameLocks noGrp="1"/>
          </p:cNvGraphicFramePr>
          <p:nvPr/>
        </p:nvGraphicFramePr>
        <p:xfrm>
          <a:off x="3516172" y="4296156"/>
          <a:ext cx="1802563" cy="1005840"/>
        </p:xfrm>
        <a:graphic>
          <a:graphicData uri="http://schemas.openxmlformats.org/drawingml/2006/table">
            <a:tbl>
              <a:tblPr/>
              <a:tblGrid>
                <a:gridCol w="1802563">
                  <a:extLst>
                    <a:ext uri="{9D8B030D-6E8A-4147-A177-3AD203B41FA5}">
                      <a16:colId xmlns:a16="http://schemas.microsoft.com/office/drawing/2014/main" val="162825365"/>
                    </a:ext>
                  </a:extLst>
                </a:gridCol>
              </a:tblGrid>
              <a:tr h="1005840">
                <a:tc>
                  <a:txBody>
                    <a:bodyPr/>
                    <a:lstStyle/>
                    <a:p>
                      <a:r>
                        <a:rPr lang="fr-FR" b="1" dirty="0">
                          <a:solidFill>
                            <a:srgbClr val="80276C"/>
                          </a:solidFill>
                        </a:rPr>
                        <a:t>How?</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22" name="Tableau 21">
            <a:extLst>
              <a:ext uri="{FF2B5EF4-FFF2-40B4-BE49-F238E27FC236}">
                <a16:creationId xmlns:a16="http://schemas.microsoft.com/office/drawing/2014/main" id="{0961E0FA-5F31-6ED5-8875-5968D621B96D}"/>
              </a:ext>
            </a:extLst>
          </p:cNvPr>
          <p:cNvGraphicFramePr>
            <a:graphicFrameLocks noGrp="1"/>
          </p:cNvGraphicFramePr>
          <p:nvPr/>
        </p:nvGraphicFramePr>
        <p:xfrm>
          <a:off x="5318735" y="4296156"/>
          <a:ext cx="6376438" cy="1005840"/>
        </p:xfrm>
        <a:graphic>
          <a:graphicData uri="http://schemas.openxmlformats.org/drawingml/2006/table">
            <a:tbl>
              <a:tblPr/>
              <a:tblGrid>
                <a:gridCol w="6376438">
                  <a:extLst>
                    <a:ext uri="{9D8B030D-6E8A-4147-A177-3AD203B41FA5}">
                      <a16:colId xmlns:a16="http://schemas.microsoft.com/office/drawing/2014/main" val="162825365"/>
                    </a:ext>
                  </a:extLst>
                </a:gridCol>
              </a:tblGrid>
              <a:tr h="879348">
                <a:tc>
                  <a:txBody>
                    <a:bodyPr/>
                    <a:lstStyle/>
                    <a:p>
                      <a:pPr marL="0" indent="0">
                        <a:buFontTx/>
                        <a:buNone/>
                      </a:pPr>
                      <a:r>
                        <a:rPr lang="en-US" sz="1500" dirty="0">
                          <a:solidFill>
                            <a:srgbClr val="80276C"/>
                          </a:solidFill>
                          <a:latin typeface="Verdana" panose="020B0604030504040204" pitchFamily="34" charset="0"/>
                          <a:ea typeface="Verdana" panose="020B0604030504040204" pitchFamily="34" charset="0"/>
                        </a:rPr>
                        <a:t>- Is there a bibliography?</a:t>
                      </a:r>
                      <a:br>
                        <a:rPr lang="en-US" sz="1500" dirty="0">
                          <a:solidFill>
                            <a:srgbClr val="80276C"/>
                          </a:solidFill>
                          <a:latin typeface="Verdana" panose="020B0604030504040204" pitchFamily="34" charset="0"/>
                          <a:ea typeface="Verdana" panose="020B0604030504040204" pitchFamily="34" charset="0"/>
                        </a:rPr>
                      </a:br>
                      <a:r>
                        <a:rPr lang="en-US" sz="1500" dirty="0">
                          <a:solidFill>
                            <a:srgbClr val="80276C"/>
                          </a:solidFill>
                          <a:latin typeface="Verdana" panose="020B0604030504040204" pitchFamily="34" charset="0"/>
                          <a:ea typeface="Verdana" panose="020B0604030504040204" pitchFamily="34" charset="0"/>
                        </a:rPr>
                        <a:t>- Are the cited sources reliable and verifiable?</a:t>
                      </a:r>
                      <a:br>
                        <a:rPr lang="en-US" sz="1500" dirty="0">
                          <a:solidFill>
                            <a:srgbClr val="80276C"/>
                          </a:solidFill>
                          <a:latin typeface="Verdana" panose="020B0604030504040204" pitchFamily="34" charset="0"/>
                          <a:ea typeface="Verdana" panose="020B0604030504040204" pitchFamily="34" charset="0"/>
                        </a:rPr>
                      </a:br>
                      <a:r>
                        <a:rPr lang="en-US" sz="1500" dirty="0">
                          <a:solidFill>
                            <a:srgbClr val="80276C"/>
                          </a:solidFill>
                          <a:latin typeface="Verdana" panose="020B0604030504040204" pitchFamily="34" charset="0"/>
                          <a:ea typeface="Verdana" panose="020B0604030504040204" pitchFamily="34" charset="0"/>
                        </a:rPr>
                        <a:t>- Is the methodology explained?</a:t>
                      </a:r>
                      <a:br>
                        <a:rPr lang="en-US" sz="1500" dirty="0">
                          <a:solidFill>
                            <a:srgbClr val="80276C"/>
                          </a:solidFill>
                          <a:latin typeface="Verdana" panose="020B0604030504040204" pitchFamily="34" charset="0"/>
                          <a:ea typeface="Verdana" panose="020B0604030504040204" pitchFamily="34" charset="0"/>
                        </a:rPr>
                      </a:br>
                      <a:r>
                        <a:rPr lang="en-US" sz="1500" dirty="0">
                          <a:solidFill>
                            <a:srgbClr val="80276C"/>
                          </a:solidFill>
                          <a:latin typeface="Verdana" panose="020B0604030504040204" pitchFamily="34" charset="0"/>
                          <a:ea typeface="Verdana" panose="020B0604030504040204" pitchFamily="34" charset="0"/>
                        </a:rPr>
                        <a:t>- Has the publication undergone peer review?</a:t>
                      </a:r>
                      <a:endParaRPr lang="fr-FR" sz="1500" dirty="0">
                        <a:solidFill>
                          <a:srgbClr val="80276C"/>
                        </a:solidFill>
                        <a:latin typeface="Verdana" panose="020B0604030504040204" pitchFamily="34" charset="0"/>
                        <a:ea typeface="Verdana" panose="020B060403050404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23" name="Tableau 22">
            <a:extLst>
              <a:ext uri="{FF2B5EF4-FFF2-40B4-BE49-F238E27FC236}">
                <a16:creationId xmlns:a16="http://schemas.microsoft.com/office/drawing/2014/main" id="{5239939B-A2A6-D477-76B6-0A432EB31D00}"/>
              </a:ext>
            </a:extLst>
          </p:cNvPr>
          <p:cNvGraphicFramePr>
            <a:graphicFrameLocks noGrp="1"/>
          </p:cNvGraphicFramePr>
          <p:nvPr/>
        </p:nvGraphicFramePr>
        <p:xfrm>
          <a:off x="3528388" y="5518400"/>
          <a:ext cx="1802563" cy="777239"/>
        </p:xfrm>
        <a:graphic>
          <a:graphicData uri="http://schemas.openxmlformats.org/drawingml/2006/table">
            <a:tbl>
              <a:tblPr/>
              <a:tblGrid>
                <a:gridCol w="1802563">
                  <a:extLst>
                    <a:ext uri="{9D8B030D-6E8A-4147-A177-3AD203B41FA5}">
                      <a16:colId xmlns:a16="http://schemas.microsoft.com/office/drawing/2014/main" val="162825365"/>
                    </a:ext>
                  </a:extLst>
                </a:gridCol>
              </a:tblGrid>
              <a:tr h="777239">
                <a:tc>
                  <a:txBody>
                    <a:bodyPr/>
                    <a:lstStyle/>
                    <a:p>
                      <a:r>
                        <a:rPr lang="fr-FR" b="1" dirty="0" err="1">
                          <a:solidFill>
                            <a:srgbClr val="0070C0"/>
                          </a:solidFill>
                        </a:rPr>
                        <a:t>When</a:t>
                      </a:r>
                      <a:r>
                        <a:rPr lang="fr-FR" b="1" dirty="0">
                          <a:solidFill>
                            <a:srgbClr val="0070C0"/>
                          </a:solidFill>
                        </a:rPr>
                        <a:t>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graphicFrame>
        <p:nvGraphicFramePr>
          <p:cNvPr id="24" name="Tableau 23">
            <a:extLst>
              <a:ext uri="{FF2B5EF4-FFF2-40B4-BE49-F238E27FC236}">
                <a16:creationId xmlns:a16="http://schemas.microsoft.com/office/drawing/2014/main" id="{355AE561-FE96-5D93-CFC0-244327B1A5F4}"/>
              </a:ext>
            </a:extLst>
          </p:cNvPr>
          <p:cNvGraphicFramePr>
            <a:graphicFrameLocks noGrp="1"/>
          </p:cNvGraphicFramePr>
          <p:nvPr/>
        </p:nvGraphicFramePr>
        <p:xfrm>
          <a:off x="5330949" y="5518400"/>
          <a:ext cx="6364224" cy="777239"/>
        </p:xfrm>
        <a:graphic>
          <a:graphicData uri="http://schemas.openxmlformats.org/drawingml/2006/table">
            <a:tbl>
              <a:tblPr/>
              <a:tblGrid>
                <a:gridCol w="6364224">
                  <a:extLst>
                    <a:ext uri="{9D8B030D-6E8A-4147-A177-3AD203B41FA5}">
                      <a16:colId xmlns:a16="http://schemas.microsoft.com/office/drawing/2014/main" val="162825365"/>
                    </a:ext>
                  </a:extLst>
                </a:gridCol>
              </a:tblGrid>
              <a:tr h="777239">
                <a:tc>
                  <a:txBody>
                    <a:bodyPr/>
                    <a:lstStyle/>
                    <a:p>
                      <a:pPr marL="0" indent="0">
                        <a:buFontTx/>
                        <a:buNone/>
                      </a:pPr>
                      <a:r>
                        <a:rPr lang="en-US" sz="1500" dirty="0">
                          <a:solidFill>
                            <a:srgbClr val="0070C0"/>
                          </a:solidFill>
                          <a:latin typeface="Verdana" panose="020B0604030504040204" pitchFamily="34" charset="0"/>
                          <a:ea typeface="Verdana" panose="020B0604030504040204" pitchFamily="34" charset="0"/>
                        </a:rPr>
                        <a:t>- Is the publication or update date recent?</a:t>
                      </a:r>
                      <a:br>
                        <a:rPr lang="en-US" sz="1500" dirty="0">
                          <a:solidFill>
                            <a:srgbClr val="0070C0"/>
                          </a:solidFill>
                          <a:latin typeface="Verdana" panose="020B0604030504040204" pitchFamily="34" charset="0"/>
                          <a:ea typeface="Verdana" panose="020B0604030504040204" pitchFamily="34" charset="0"/>
                        </a:rPr>
                      </a:br>
                      <a:r>
                        <a:rPr lang="en-US" sz="1500" dirty="0">
                          <a:solidFill>
                            <a:srgbClr val="0070C0"/>
                          </a:solidFill>
                          <a:latin typeface="Verdana" panose="020B0604030504040204" pitchFamily="34" charset="0"/>
                          <a:ea typeface="Verdana" panose="020B0604030504040204" pitchFamily="34" charset="0"/>
                        </a:rPr>
                        <a:t>- Is the information still current in relation to your topic?</a:t>
                      </a:r>
                      <a:endParaRPr lang="fr-FR" sz="1500" dirty="0">
                        <a:solidFill>
                          <a:srgbClr val="0070C0"/>
                        </a:solidFill>
                        <a:latin typeface="Verdana" panose="020B0604030504040204" pitchFamily="34" charset="0"/>
                        <a:ea typeface="Verdana" panose="020B060403050404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50532070"/>
                  </a:ext>
                </a:extLst>
              </a:tr>
            </a:tbl>
          </a:graphicData>
        </a:graphic>
      </p:graphicFrame>
      <p:sp>
        <p:nvSpPr>
          <p:cNvPr id="3" name="ZoneTexte 2">
            <a:extLst>
              <a:ext uri="{FF2B5EF4-FFF2-40B4-BE49-F238E27FC236}">
                <a16:creationId xmlns:a16="http://schemas.microsoft.com/office/drawing/2014/main" id="{DD62864F-0370-4EC2-DB60-E6C0EBC9DEDB}"/>
              </a:ext>
            </a:extLst>
          </p:cNvPr>
          <p:cNvSpPr txBox="1"/>
          <p:nvPr/>
        </p:nvSpPr>
        <p:spPr>
          <a:xfrm>
            <a:off x="383347" y="1747481"/>
            <a:ext cx="2946947" cy="769441"/>
          </a:xfrm>
          <a:prstGeom prst="rect">
            <a:avLst/>
          </a:prstGeom>
          <a:noFill/>
        </p:spPr>
        <p:txBody>
          <a:bodyPr wrap="square" rtlCol="0">
            <a:spAutoFit/>
          </a:bodyPr>
          <a:lstStyle/>
          <a:p>
            <a:pPr>
              <a:defRPr/>
            </a:pPr>
            <a:r>
              <a:rPr lang="en-US" altLang="fr-FR" sz="2200" b="1" kern="0" dirty="0">
                <a:solidFill>
                  <a:schemeClr val="accent2">
                    <a:lumMod val="60000"/>
                    <a:lumOff val="40000"/>
                  </a:schemeClr>
                </a:solidFill>
                <a:sym typeface="Wingdings" panose="05000000000000000000" pitchFamily="2" charset="2"/>
              </a:rPr>
              <a:t>Questions to keep in mind </a:t>
            </a:r>
            <a:endParaRPr lang="en-US" altLang="fr-FR" sz="2200" b="1" kern="0" dirty="0">
              <a:solidFill>
                <a:schemeClr val="accent2">
                  <a:lumMod val="60000"/>
                  <a:lumOff val="40000"/>
                </a:schemeClr>
              </a:solidFill>
            </a:endParaRPr>
          </a:p>
        </p:txBody>
      </p:sp>
      <p:sp>
        <p:nvSpPr>
          <p:cNvPr id="8" name="Espace réservé du texte 1">
            <a:extLst>
              <a:ext uri="{FF2B5EF4-FFF2-40B4-BE49-F238E27FC236}">
                <a16:creationId xmlns:a16="http://schemas.microsoft.com/office/drawing/2014/main" id="{C57C6BE8-BC19-4E28-0A32-3302A8042B8A}"/>
              </a:ext>
            </a:extLst>
          </p:cNvPr>
          <p:cNvSpPr txBox="1">
            <a:spLocks/>
          </p:cNvSpPr>
          <p:nvPr/>
        </p:nvSpPr>
        <p:spPr>
          <a:xfrm>
            <a:off x="383348" y="742904"/>
            <a:ext cx="3072642" cy="10858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rgbClr val="80276C"/>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fr-FR" sz="2300" dirty="0" err="1"/>
              <a:t>Evaluate</a:t>
            </a:r>
            <a:r>
              <a:rPr lang="fr-FR" sz="2300" dirty="0"/>
              <a:t> sources</a:t>
            </a:r>
          </a:p>
        </p:txBody>
      </p:sp>
    </p:spTree>
    <p:extLst>
      <p:ext uri="{BB962C8B-B14F-4D97-AF65-F5344CB8AC3E}">
        <p14:creationId xmlns:p14="http://schemas.microsoft.com/office/powerpoint/2010/main" val="26641365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4637BBA-A76A-7638-4F1C-2F1239EC95EE}"/>
              </a:ext>
            </a:extLst>
          </p:cNvPr>
          <p:cNvSpPr txBox="1"/>
          <p:nvPr/>
        </p:nvSpPr>
        <p:spPr>
          <a:xfrm>
            <a:off x="5931129" y="529182"/>
            <a:ext cx="6260871" cy="430887"/>
          </a:xfrm>
          <a:prstGeom prst="rect">
            <a:avLst/>
          </a:prstGeom>
          <a:noFill/>
        </p:spPr>
        <p:txBody>
          <a:bodyPr wrap="square" rtlCol="0">
            <a:spAutoFit/>
          </a:bodyPr>
          <a:lstStyle/>
          <a:p>
            <a:pPr>
              <a:defRPr/>
            </a:pPr>
            <a:r>
              <a:rPr lang="en-US" altLang="fr-FR" sz="2200" b="1" kern="0" dirty="0">
                <a:solidFill>
                  <a:srgbClr val="80276C"/>
                </a:solidFill>
                <a:latin typeface="Verdana" panose="020B0604030504040204" pitchFamily="34" charset="0"/>
                <a:ea typeface="Verdana" panose="020B0604030504040204" pitchFamily="34" charset="0"/>
              </a:rPr>
              <a:t>Some fact-checking  tools to help:</a:t>
            </a:r>
          </a:p>
        </p:txBody>
      </p:sp>
      <p:sp>
        <p:nvSpPr>
          <p:cNvPr id="6" name="Espace réservé du texte 5">
            <a:extLst>
              <a:ext uri="{FF2B5EF4-FFF2-40B4-BE49-F238E27FC236}">
                <a16:creationId xmlns:a16="http://schemas.microsoft.com/office/drawing/2014/main" id="{19C1E618-25BA-20BF-93AC-BD00A7835A88}"/>
              </a:ext>
            </a:extLst>
          </p:cNvPr>
          <p:cNvSpPr txBox="1">
            <a:spLocks/>
          </p:cNvSpPr>
          <p:nvPr/>
        </p:nvSpPr>
        <p:spPr>
          <a:xfrm>
            <a:off x="5931129" y="1097949"/>
            <a:ext cx="5788753" cy="48422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dirty="0">
                <a:solidFill>
                  <a:srgbClr val="6C1743"/>
                </a:solidFill>
                <a:latin typeface="Verdana" panose="020B0604030504040204" pitchFamily="34" charset="0"/>
                <a:ea typeface="Verdana" panose="020B0604030504040204" pitchFamily="34" charset="0"/>
              </a:rPr>
              <a:t>News —all </a:t>
            </a:r>
            <a:r>
              <a:rPr lang="fr-FR" sz="1800" dirty="0" err="1">
                <a:solidFill>
                  <a:srgbClr val="6C1743"/>
                </a:solidFill>
                <a:latin typeface="Verdana" panose="020B0604030504040204" pitchFamily="34" charset="0"/>
                <a:ea typeface="Verdana" panose="020B0604030504040204" pitchFamily="34" charset="0"/>
              </a:rPr>
              <a:t>dedicated</a:t>
            </a:r>
            <a:r>
              <a:rPr lang="fr-FR" sz="1800" dirty="0">
                <a:solidFill>
                  <a:srgbClr val="6C1743"/>
                </a:solidFill>
                <a:latin typeface="Verdana" panose="020B0604030504040204" pitchFamily="34" charset="0"/>
                <a:ea typeface="Verdana" panose="020B0604030504040204" pitchFamily="34" charset="0"/>
              </a:rPr>
              <a:t> to </a:t>
            </a:r>
            <a:r>
              <a:rPr lang="fr-FR" sz="1800" dirty="0" err="1">
                <a:solidFill>
                  <a:srgbClr val="6C1743"/>
                </a:solidFill>
                <a:latin typeface="Verdana" panose="020B0604030504040204" pitchFamily="34" charset="0"/>
                <a:ea typeface="Verdana" panose="020B0604030504040204" pitchFamily="34" charset="0"/>
              </a:rPr>
              <a:t>combating</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misinformation</a:t>
            </a:r>
            <a:r>
              <a:rPr lang="fr-FR" sz="1800" dirty="0">
                <a:solidFill>
                  <a:srgbClr val="6C1743"/>
                </a:solidFill>
                <a:latin typeface="Verdana" panose="020B0604030504040204" pitchFamily="34" charset="0"/>
                <a:ea typeface="Verdana" panose="020B0604030504040204" pitchFamily="34" charset="0"/>
              </a:rPr>
              <a:t>. : </a:t>
            </a:r>
            <a:br>
              <a:rPr lang="fr-FR" sz="1800" dirty="0">
                <a:solidFill>
                  <a:srgbClr val="6C1743"/>
                </a:solidFill>
                <a:latin typeface="Verdana" panose="020B0604030504040204" pitchFamily="34" charset="0"/>
                <a:ea typeface="Verdana" panose="020B0604030504040204" pitchFamily="34" charset="0"/>
              </a:rPr>
            </a:br>
            <a:r>
              <a:rPr lang="fr-FR" sz="1800" dirty="0" err="1">
                <a:solidFill>
                  <a:srgbClr val="6C1743"/>
                </a:solidFill>
                <a:latin typeface="Verdana" panose="020B0604030504040204" pitchFamily="34" charset="0"/>
                <a:ea typeface="Verdana" panose="020B0604030504040204" pitchFamily="34" charset="0"/>
                <a:hlinkClick r:id="rId2"/>
              </a:rPr>
              <a:t>Decodex</a:t>
            </a:r>
            <a:r>
              <a:rPr lang="fr-FR" sz="1800" dirty="0">
                <a:solidFill>
                  <a:srgbClr val="6C1743"/>
                </a:solidFill>
                <a:latin typeface="Verdana" panose="020B0604030504040204" pitchFamily="34" charset="0"/>
                <a:ea typeface="Verdana" panose="020B0604030504040204" pitchFamily="34" charset="0"/>
              </a:rPr>
              <a:t> (by *Le Monde*'s "Les Décodeurs"), </a:t>
            </a:r>
            <a:br>
              <a:rPr lang="fr-FR" sz="1800" dirty="0">
                <a:solidFill>
                  <a:srgbClr val="6C1743"/>
                </a:solidFill>
                <a:latin typeface="Verdana" panose="020B0604030504040204" pitchFamily="34" charset="0"/>
                <a:ea typeface="Verdana" panose="020B0604030504040204" pitchFamily="34" charset="0"/>
              </a:rPr>
            </a:br>
            <a:r>
              <a:rPr lang="fr-FR" sz="1800" dirty="0">
                <a:solidFill>
                  <a:srgbClr val="6C1743"/>
                </a:solidFill>
                <a:latin typeface="Verdana" panose="020B0604030504040204" pitchFamily="34" charset="0"/>
                <a:ea typeface="Verdana" panose="020B0604030504040204" pitchFamily="34" charset="0"/>
                <a:hlinkClick r:id="rId3"/>
              </a:rPr>
              <a:t>AFP Factuel </a:t>
            </a:r>
            <a:r>
              <a:rPr lang="fr-FR" sz="1800" dirty="0">
                <a:solidFill>
                  <a:srgbClr val="6C1743"/>
                </a:solidFill>
                <a:latin typeface="Verdana" panose="020B0604030504040204" pitchFamily="34" charset="0"/>
                <a:ea typeface="Verdana" panose="020B0604030504040204" pitchFamily="34" charset="0"/>
              </a:rPr>
              <a:t>, </a:t>
            </a:r>
            <a:br>
              <a:rPr lang="fr-FR" sz="1800" dirty="0">
                <a:solidFill>
                  <a:srgbClr val="6C1743"/>
                </a:solidFill>
                <a:latin typeface="Verdana" panose="020B0604030504040204" pitchFamily="34" charset="0"/>
                <a:ea typeface="Verdana" panose="020B0604030504040204" pitchFamily="34" charset="0"/>
              </a:rPr>
            </a:br>
            <a:r>
              <a:rPr lang="fr-FR" sz="1800" dirty="0">
                <a:solidFill>
                  <a:srgbClr val="6C1743"/>
                </a:solidFill>
                <a:latin typeface="Verdana" panose="020B0604030504040204" pitchFamily="34" charset="0"/>
                <a:ea typeface="Verdana" panose="020B0604030504040204" pitchFamily="34" charset="0"/>
              </a:rPr>
              <a:t>France 24's *</a:t>
            </a:r>
            <a:r>
              <a:rPr lang="fr-FR" sz="1800" dirty="0">
                <a:solidFill>
                  <a:srgbClr val="6C1743"/>
                </a:solidFill>
                <a:latin typeface="Verdana" panose="020B0604030504040204" pitchFamily="34" charset="0"/>
                <a:ea typeface="Verdana" panose="020B0604030504040204" pitchFamily="34" charset="0"/>
                <a:hlinkClick r:id="rId4"/>
              </a:rPr>
              <a:t>The </a:t>
            </a:r>
            <a:r>
              <a:rPr lang="fr-FR" sz="1800" dirty="0" err="1">
                <a:solidFill>
                  <a:srgbClr val="6C1743"/>
                </a:solidFill>
                <a:latin typeface="Verdana" panose="020B0604030504040204" pitchFamily="34" charset="0"/>
                <a:ea typeface="Verdana" panose="020B0604030504040204" pitchFamily="34" charset="0"/>
                <a:hlinkClick r:id="rId4"/>
              </a:rPr>
              <a:t>Observers</a:t>
            </a:r>
            <a:r>
              <a:rPr lang="fr-FR" sz="1800" dirty="0">
                <a:solidFill>
                  <a:srgbClr val="6C1743"/>
                </a:solidFill>
                <a:latin typeface="Verdana" panose="020B0604030504040204" pitchFamily="34" charset="0"/>
                <a:ea typeface="Verdana" panose="020B0604030504040204" pitchFamily="34" charset="0"/>
              </a:rPr>
              <a:t>*, </a:t>
            </a:r>
            <a:br>
              <a:rPr lang="fr-FR" sz="1800" dirty="0">
                <a:solidFill>
                  <a:srgbClr val="6C1743"/>
                </a:solidFill>
                <a:latin typeface="Verdana" panose="020B0604030504040204" pitchFamily="34" charset="0"/>
                <a:ea typeface="Verdana" panose="020B0604030504040204" pitchFamily="34" charset="0"/>
              </a:rPr>
            </a:br>
            <a:r>
              <a:rPr lang="fr-FR" sz="1800" dirty="0" err="1">
                <a:solidFill>
                  <a:srgbClr val="6C1743"/>
                </a:solidFill>
                <a:latin typeface="Verdana" panose="020B0604030504040204" pitchFamily="34" charset="0"/>
                <a:ea typeface="Verdana" panose="020B0604030504040204" pitchFamily="34" charset="0"/>
                <a:hlinkClick r:id="rId5"/>
              </a:rPr>
              <a:t>Hoaxbusters</a:t>
            </a:r>
            <a:r>
              <a:rPr lang="fr-FR" sz="1800" dirty="0">
                <a:solidFill>
                  <a:srgbClr val="6C1743"/>
                </a:solidFill>
                <a:latin typeface="Verdana" panose="020B0604030504040204" pitchFamily="34" charset="0"/>
                <a:ea typeface="Verdana" panose="020B0604030504040204" pitchFamily="34" charset="0"/>
              </a:rPr>
              <a:t> french platform</a:t>
            </a:r>
          </a:p>
          <a:p>
            <a:endParaRPr lang="fr-FR" sz="1800" dirty="0">
              <a:solidFill>
                <a:srgbClr val="6C1743"/>
              </a:solidFill>
              <a:latin typeface="Verdana" panose="020B0604030504040204" pitchFamily="34" charset="0"/>
              <a:ea typeface="Verdana" panose="020B0604030504040204" pitchFamily="34" charset="0"/>
            </a:endParaRPr>
          </a:p>
          <a:p>
            <a:r>
              <a:rPr lang="fr-FR" sz="1800" dirty="0">
                <a:solidFill>
                  <a:srgbClr val="6C1743"/>
                </a:solidFill>
                <a:latin typeface="Verdana" panose="020B0604030504040204" pitchFamily="34" charset="0"/>
                <a:ea typeface="Verdana" panose="020B0604030504040204" pitchFamily="34" charset="0"/>
              </a:rPr>
              <a:t>You can test </a:t>
            </a:r>
            <a:r>
              <a:rPr lang="fr-FR" sz="1800" dirty="0" err="1">
                <a:solidFill>
                  <a:srgbClr val="6C1743"/>
                </a:solidFill>
                <a:latin typeface="Verdana" panose="020B0604030504040204" pitchFamily="34" charset="0"/>
                <a:ea typeface="Verdana" panose="020B0604030504040204" pitchFamily="34" charset="0"/>
              </a:rPr>
              <a:t>your</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critical</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thinking</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skills</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here</a:t>
            </a:r>
            <a:r>
              <a:rPr lang="fr-FR" sz="1800" dirty="0">
                <a:solidFill>
                  <a:srgbClr val="6C1743"/>
                </a:solidFill>
                <a:latin typeface="Verdana" panose="020B0604030504040204" pitchFamily="34" charset="0"/>
                <a:ea typeface="Verdana" panose="020B0604030504040204" pitchFamily="34" charset="0"/>
              </a:rPr>
              <a:t>: </a:t>
            </a:r>
          </a:p>
          <a:p>
            <a:endParaRPr lang="fr-FR" sz="1800" dirty="0">
              <a:solidFill>
                <a:srgbClr val="6C1743"/>
              </a:solidFill>
              <a:latin typeface="Verdana" panose="020B0604030504040204" pitchFamily="34" charset="0"/>
              <a:ea typeface="Verdana" panose="020B0604030504040204" pitchFamily="34" charset="0"/>
            </a:endParaRPr>
          </a:p>
          <a:p>
            <a:r>
              <a:rPr lang="fr-FR" sz="1800" dirty="0">
                <a:solidFill>
                  <a:srgbClr val="6C1743"/>
                </a:solidFill>
                <a:latin typeface="Verdana" panose="020B0604030504040204" pitchFamily="34" charset="0"/>
                <a:ea typeface="Verdana" panose="020B0604030504040204" pitchFamily="34" charset="0"/>
              </a:rPr>
              <a:t>Images: </a:t>
            </a:r>
            <a:r>
              <a:rPr lang="fr-FR" sz="1800" u="sng" spc="-40" dirty="0" err="1">
                <a:solidFill>
                  <a:srgbClr val="6C1743"/>
                </a:solidFill>
                <a:latin typeface="Verdana" panose="020B0604030504040204" pitchFamily="34" charset="0"/>
                <a:ea typeface="Verdana" panose="020B0604030504040204" pitchFamily="34" charset="0"/>
                <a:cs typeface="Arial"/>
                <a:hlinkClick r:id="rId6">
                  <a:extLst>
                    <a:ext uri="{A12FA001-AC4F-418D-AE19-62706E023703}">
                      <ahyp:hlinkClr xmlns:ahyp="http://schemas.microsoft.com/office/drawing/2018/hyperlinkcolor" val="tx"/>
                    </a:ext>
                  </a:extLst>
                </a:hlinkClick>
              </a:rPr>
              <a:t>T</a:t>
            </a:r>
            <a:r>
              <a:rPr lang="fr-FR" sz="1800" u="sng" dirty="0" err="1">
                <a:solidFill>
                  <a:srgbClr val="6C1743"/>
                </a:solidFill>
                <a:latin typeface="Verdana" panose="020B0604030504040204" pitchFamily="34" charset="0"/>
                <a:ea typeface="Verdana" panose="020B0604030504040204" pitchFamily="34" charset="0"/>
                <a:cs typeface="Arial"/>
                <a:hlinkClick r:id="rId6">
                  <a:extLst>
                    <a:ext uri="{A12FA001-AC4F-418D-AE19-62706E023703}">
                      <ahyp:hlinkClr xmlns:ahyp="http://schemas.microsoft.com/office/drawing/2018/hyperlinkcolor" val="tx"/>
                    </a:ext>
                  </a:extLst>
                </a:hlinkClick>
              </a:rPr>
              <a:t>inE</a:t>
            </a:r>
            <a:r>
              <a:rPr lang="fr-FR" sz="1800" u="sng" spc="-15" dirty="0" err="1">
                <a:solidFill>
                  <a:srgbClr val="6C1743"/>
                </a:solidFill>
                <a:latin typeface="Verdana" panose="020B0604030504040204" pitchFamily="34" charset="0"/>
                <a:ea typeface="Verdana" panose="020B0604030504040204" pitchFamily="34" charset="0"/>
                <a:cs typeface="Arial"/>
                <a:hlinkClick r:id="rId6">
                  <a:extLst>
                    <a:ext uri="{A12FA001-AC4F-418D-AE19-62706E023703}">
                      <ahyp:hlinkClr xmlns:ahyp="http://schemas.microsoft.com/office/drawing/2018/hyperlinkcolor" val="tx"/>
                    </a:ext>
                  </a:extLst>
                </a:hlinkClick>
              </a:rPr>
              <a:t>y</a:t>
            </a:r>
            <a:r>
              <a:rPr lang="fr-FR" sz="1800" u="sng" dirty="0" err="1">
                <a:solidFill>
                  <a:srgbClr val="6C1743"/>
                </a:solidFill>
                <a:latin typeface="Verdana" panose="020B0604030504040204" pitchFamily="34" charset="0"/>
                <a:ea typeface="Verdana" panose="020B0604030504040204" pitchFamily="34" charset="0"/>
                <a:cs typeface="Arial"/>
                <a:hlinkClick r:id="rId6">
                  <a:extLst>
                    <a:ext uri="{A12FA001-AC4F-418D-AE19-62706E023703}">
                      <ahyp:hlinkClr xmlns:ahyp="http://schemas.microsoft.com/office/drawing/2018/hyperlinkcolor" val="tx"/>
                    </a:ext>
                  </a:extLst>
                </a:hlinkClick>
              </a:rPr>
              <a:t>e</a:t>
            </a:r>
            <a:r>
              <a:rPr lang="fr-FR" sz="1800" dirty="0">
                <a:solidFill>
                  <a:srgbClr val="6C1743"/>
                </a:solidFill>
                <a:latin typeface="Verdana" panose="020B0604030504040204" pitchFamily="34" charset="0"/>
                <a:ea typeface="Verdana" panose="020B0604030504040204" pitchFamily="34" charset="0"/>
              </a:rPr>
              <a:t>, for tracing the </a:t>
            </a:r>
            <a:r>
              <a:rPr lang="fr-FR" sz="1800" dirty="0" err="1">
                <a:solidFill>
                  <a:srgbClr val="6C1743"/>
                </a:solidFill>
                <a:latin typeface="Verdana" panose="020B0604030504040204" pitchFamily="34" charset="0"/>
                <a:ea typeface="Verdana" panose="020B0604030504040204" pitchFamily="34" charset="0"/>
              </a:rPr>
              <a:t>origin</a:t>
            </a:r>
            <a:r>
              <a:rPr lang="fr-FR" sz="1800" dirty="0">
                <a:solidFill>
                  <a:srgbClr val="6C1743"/>
                </a:solidFill>
                <a:latin typeface="Verdana" panose="020B0604030504040204" pitchFamily="34" charset="0"/>
                <a:ea typeface="Verdana" panose="020B0604030504040204" pitchFamily="34" charset="0"/>
              </a:rPr>
              <a:t> of an image.</a:t>
            </a:r>
          </a:p>
          <a:p>
            <a:endParaRPr lang="fr-FR" sz="1800" dirty="0">
              <a:solidFill>
                <a:srgbClr val="6C1743"/>
              </a:solidFill>
              <a:latin typeface="Verdana" panose="020B0604030504040204" pitchFamily="34" charset="0"/>
              <a:ea typeface="Verdana" panose="020B0604030504040204" pitchFamily="34" charset="0"/>
            </a:endParaRPr>
          </a:p>
          <a:p>
            <a:r>
              <a:rPr lang="fr-FR" sz="1800" dirty="0">
                <a:solidFill>
                  <a:srgbClr val="6C1743"/>
                </a:solidFill>
                <a:latin typeface="Verdana" panose="020B0604030504040204" pitchFamily="34" charset="0"/>
                <a:ea typeface="Verdana" panose="020B0604030504040204" pitchFamily="34" charset="0"/>
              </a:rPr>
              <a:t>A browser extension for spotting fake news: </a:t>
            </a:r>
            <a:r>
              <a:rPr lang="fr-FR" sz="1800" dirty="0" err="1">
                <a:solidFill>
                  <a:srgbClr val="6C1743"/>
                </a:solidFill>
                <a:latin typeface="Verdana" panose="020B0604030504040204" pitchFamily="34" charset="0"/>
                <a:ea typeface="Verdana" panose="020B0604030504040204" pitchFamily="34" charset="0"/>
                <a:hlinkClick r:id="rId7"/>
              </a:rPr>
              <a:t>InVID</a:t>
            </a:r>
            <a:r>
              <a:rPr lang="fr-FR" sz="1800" dirty="0">
                <a:solidFill>
                  <a:srgbClr val="6C1743"/>
                </a:solidFill>
                <a:latin typeface="Verdana" panose="020B0604030504040204" pitchFamily="34" charset="0"/>
                <a:ea typeface="Verdana" panose="020B0604030504040204" pitchFamily="34" charset="0"/>
                <a:hlinkClick r:id="rId7"/>
              </a:rPr>
              <a:t> &amp; </a:t>
            </a:r>
            <a:r>
              <a:rPr lang="fr-FR" sz="1800" dirty="0" err="1">
                <a:solidFill>
                  <a:srgbClr val="6C1743"/>
                </a:solidFill>
                <a:latin typeface="Verdana" panose="020B0604030504040204" pitchFamily="34" charset="0"/>
                <a:ea typeface="Verdana" panose="020B0604030504040204" pitchFamily="34" charset="0"/>
                <a:hlinkClick r:id="rId7"/>
              </a:rPr>
              <a:t>WeVerify</a:t>
            </a:r>
            <a:r>
              <a:rPr lang="fr-FR" sz="1800" dirty="0">
                <a:solidFill>
                  <a:srgbClr val="6C1743"/>
                </a:solidFill>
                <a:latin typeface="Verdana" panose="020B0604030504040204" pitchFamily="34" charset="0"/>
                <a:ea typeface="Verdana" panose="020B0604030504040204" pitchFamily="34" charset="0"/>
              </a:rPr>
              <a:t>.</a:t>
            </a:r>
          </a:p>
          <a:p>
            <a:endParaRPr lang="fr-FR" sz="1800" dirty="0">
              <a:solidFill>
                <a:srgbClr val="6C1743"/>
              </a:solidFill>
              <a:latin typeface="Verdana" panose="020B0604030504040204" pitchFamily="34" charset="0"/>
              <a:ea typeface="Verdana" panose="020B0604030504040204" pitchFamily="34" charset="0"/>
            </a:endParaRPr>
          </a:p>
          <a:p>
            <a:pPr>
              <a:buFont typeface="Wingdings" panose="05000000000000000000" pitchFamily="2" charset="2"/>
              <a:buChar char="Ø"/>
            </a:pPr>
            <a:r>
              <a:rPr lang="fr-FR" sz="1800" dirty="0">
                <a:solidFill>
                  <a:srgbClr val="6C1743"/>
                </a:solidFill>
                <a:latin typeface="Verdana" panose="020B0604030504040204" pitchFamily="34" charset="0"/>
                <a:ea typeface="Verdana" panose="020B0604030504040204" pitchFamily="34" charset="0"/>
              </a:rPr>
              <a:t>As a </a:t>
            </a:r>
            <a:r>
              <a:rPr lang="fr-FR" sz="1800" dirty="0" err="1">
                <a:solidFill>
                  <a:srgbClr val="6C1743"/>
                </a:solidFill>
                <a:latin typeface="Verdana" panose="020B0604030504040204" pitchFamily="34" charset="0"/>
                <a:ea typeface="Verdana" panose="020B0604030504040204" pitchFamily="34" charset="0"/>
              </a:rPr>
              <a:t>general</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rule</a:t>
            </a:r>
            <a:r>
              <a:rPr lang="fr-FR" sz="1800" dirty="0">
                <a:solidFill>
                  <a:srgbClr val="6C1743"/>
                </a:solidFill>
                <a:latin typeface="Verdana" panose="020B0604030504040204" pitchFamily="34" charset="0"/>
                <a:ea typeface="Verdana" panose="020B0604030504040204" pitchFamily="34" charset="0"/>
              </a:rPr>
              <a:t>, </a:t>
            </a:r>
            <a:r>
              <a:rPr lang="fr-FR" sz="1800" dirty="0" err="1">
                <a:solidFill>
                  <a:srgbClr val="6C1743"/>
                </a:solidFill>
                <a:latin typeface="Verdana" panose="020B0604030504040204" pitchFamily="34" charset="0"/>
                <a:ea typeface="Verdana" panose="020B0604030504040204" pitchFamily="34" charset="0"/>
              </a:rPr>
              <a:t>strive</a:t>
            </a:r>
            <a:r>
              <a:rPr lang="fr-FR" sz="1800" dirty="0">
                <a:solidFill>
                  <a:srgbClr val="6C1743"/>
                </a:solidFill>
                <a:latin typeface="Verdana" panose="020B0604030504040204" pitchFamily="34" charset="0"/>
                <a:ea typeface="Verdana" panose="020B0604030504040204" pitchFamily="34" charset="0"/>
              </a:rPr>
              <a:t> for </a:t>
            </a:r>
            <a:r>
              <a:rPr lang="fr-FR" sz="2000" b="1" u="sng" dirty="0" err="1">
                <a:solidFill>
                  <a:srgbClr val="00B050"/>
                </a:solidFill>
                <a:latin typeface="Verdana" panose="020B0604030504040204" pitchFamily="34" charset="0"/>
                <a:ea typeface="Verdana" panose="020B0604030504040204" pitchFamily="34" charset="0"/>
              </a:rPr>
              <a:t>objectivity</a:t>
            </a:r>
            <a:r>
              <a:rPr lang="fr-FR" sz="1800" dirty="0">
                <a:solidFill>
                  <a:srgbClr val="6C1743"/>
                </a:solidFill>
                <a:latin typeface="Verdana" panose="020B0604030504040204" pitchFamily="34" charset="0"/>
                <a:ea typeface="Verdana" panose="020B0604030504040204" pitchFamily="34" charset="0"/>
              </a:rPr>
              <a:t>.</a:t>
            </a:r>
          </a:p>
          <a:p>
            <a:endParaRPr lang="fr-FR" sz="1400" dirty="0">
              <a:solidFill>
                <a:srgbClr val="6C1743"/>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30931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5EDDB91-6BF8-679D-8218-A41D2CD26794}"/>
              </a:ext>
            </a:extLst>
          </p:cNvPr>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What AI changes, what it breaks</a:t>
            </a:r>
            <a:endParaRPr lang="en-US" sz="3000" dirty="0"/>
          </a:p>
        </p:txBody>
      </p:sp>
      <p:sp>
        <p:nvSpPr>
          <p:cNvPr id="4" name="Text 1">
            <a:extLst>
              <a:ext uri="{FF2B5EF4-FFF2-40B4-BE49-F238E27FC236}">
                <a16:creationId xmlns:a16="http://schemas.microsoft.com/office/drawing/2014/main" id="{2194E309-DF5B-0C1A-D54B-8289F4BDB185}"/>
              </a:ext>
            </a:extLst>
          </p:cNvPr>
          <p:cNvSpPr/>
          <p:nvPr/>
        </p:nvSpPr>
        <p:spPr>
          <a:xfrm>
            <a:off x="9613087" y="502920"/>
            <a:ext cx="2011680" cy="365760"/>
          </a:xfrm>
          <a:prstGeom prst="rect">
            <a:avLst/>
          </a:prstGeom>
          <a:noFill/>
          <a:ln/>
        </p:spPr>
        <p:txBody>
          <a:bodyPr wrap="square" lIns="0" tIns="0" rIns="0" bIns="0" rtlCol="0" anchor="ctr"/>
          <a:lstStyle/>
          <a:p>
            <a:pPr marL="0" indent="0" algn="r">
              <a:buNone/>
            </a:pPr>
            <a:r>
              <a:rPr lang="en-US" sz="1100" kern="0" spc="80" dirty="0">
                <a:solidFill>
                  <a:srgbClr val="5C6B73"/>
                </a:solidFill>
                <a:latin typeface="Calibri" pitchFamily="34" charset="0"/>
                <a:ea typeface="Calibri" pitchFamily="34" charset="-122"/>
                <a:cs typeface="Calibri" pitchFamily="34" charset="-120"/>
              </a:rPr>
              <a:t>INTRODUCTION · 1 H</a:t>
            </a:r>
            <a:endParaRPr lang="en-US" sz="1100" dirty="0"/>
          </a:p>
        </p:txBody>
      </p:sp>
      <p:sp>
        <p:nvSpPr>
          <p:cNvPr id="5" name="Shape 2">
            <a:extLst>
              <a:ext uri="{FF2B5EF4-FFF2-40B4-BE49-F238E27FC236}">
                <a16:creationId xmlns:a16="http://schemas.microsoft.com/office/drawing/2014/main" id="{85057F76-C7ED-291E-663A-E00D647EC930}"/>
              </a:ext>
            </a:extLst>
          </p:cNvPr>
          <p:cNvSpPr/>
          <p:nvPr/>
        </p:nvSpPr>
        <p:spPr>
          <a:xfrm>
            <a:off x="566928" y="1298448"/>
            <a:ext cx="5346040" cy="4434840"/>
          </a:xfrm>
          <a:prstGeom prst="roundRect">
            <a:avLst>
              <a:gd name="adj" fmla="val 1237"/>
            </a:avLst>
          </a:prstGeom>
          <a:solidFill>
            <a:srgbClr val="E4F1ED"/>
          </a:solidFill>
          <a:ln w="12700">
            <a:solidFill>
              <a:srgbClr val="E4F1ED"/>
            </a:solidFill>
            <a:prstDash val="solid"/>
          </a:ln>
        </p:spPr>
        <p:txBody>
          <a:bodyPr/>
          <a:lstStyle/>
          <a:p>
            <a:endParaRPr lang="fr-FR"/>
          </a:p>
        </p:txBody>
      </p:sp>
      <p:sp>
        <p:nvSpPr>
          <p:cNvPr id="6" name="Text 3">
            <a:extLst>
              <a:ext uri="{FF2B5EF4-FFF2-40B4-BE49-F238E27FC236}">
                <a16:creationId xmlns:a16="http://schemas.microsoft.com/office/drawing/2014/main" id="{08C55328-D4FF-EDB0-4599-55D50704C736}"/>
              </a:ext>
            </a:extLst>
          </p:cNvPr>
          <p:cNvSpPr/>
          <p:nvPr/>
        </p:nvSpPr>
        <p:spPr>
          <a:xfrm>
            <a:off x="822960" y="1481328"/>
            <a:ext cx="4833976" cy="384048"/>
          </a:xfrm>
          <a:prstGeom prst="rect">
            <a:avLst/>
          </a:prstGeom>
          <a:noFill/>
          <a:ln/>
        </p:spPr>
        <p:txBody>
          <a:bodyPr wrap="square" lIns="0" tIns="0" rIns="0" bIns="0" rtlCol="0" anchor="ctr"/>
          <a:lstStyle/>
          <a:p>
            <a:pPr marL="0" indent="0">
              <a:buNone/>
            </a:pPr>
            <a:r>
              <a:rPr lang="en-US" sz="1600" b="1" dirty="0">
                <a:solidFill>
                  <a:srgbClr val="1F8A70"/>
                </a:solidFill>
                <a:latin typeface="Cambria" pitchFamily="34" charset="0"/>
                <a:ea typeface="Cambria" pitchFamily="34" charset="-122"/>
                <a:cs typeface="Cambria" pitchFamily="34" charset="-120"/>
              </a:rPr>
              <a:t>What genuinely changes</a:t>
            </a:r>
            <a:endParaRPr lang="en-US" sz="1600" dirty="0"/>
          </a:p>
        </p:txBody>
      </p:sp>
      <p:sp>
        <p:nvSpPr>
          <p:cNvPr id="7" name="Text 4">
            <a:extLst>
              <a:ext uri="{FF2B5EF4-FFF2-40B4-BE49-F238E27FC236}">
                <a16:creationId xmlns:a16="http://schemas.microsoft.com/office/drawing/2014/main" id="{4F333F1F-9EA9-07A2-8709-2E24BE6DBB6F}"/>
              </a:ext>
            </a:extLst>
          </p:cNvPr>
          <p:cNvSpPr/>
          <p:nvPr/>
        </p:nvSpPr>
        <p:spPr>
          <a:xfrm>
            <a:off x="8229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Rephrasing a still-vague need and drawing the vocabulary out of it.</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Searching </a:t>
            </a:r>
            <a:r>
              <a:rPr lang="en-US" sz="1350" b="1" dirty="0">
                <a:solidFill>
                  <a:srgbClr val="1A1A1A"/>
                </a:solidFill>
                <a:latin typeface="Calibri" pitchFamily="34" charset="0"/>
                <a:ea typeface="Calibri" pitchFamily="34" charset="-122"/>
                <a:cs typeface="Calibri" pitchFamily="34" charset="-120"/>
              </a:rPr>
              <a:t>by meaning</a:t>
            </a:r>
            <a:r>
              <a:rPr lang="en-US" sz="1350" dirty="0">
                <a:solidFill>
                  <a:srgbClr val="1A1A1A"/>
                </a:solidFill>
                <a:latin typeface="Calibri" pitchFamily="34" charset="0"/>
                <a:ea typeface="Calibri" pitchFamily="34" charset="-122"/>
                <a:cs typeface="Calibri" pitchFamily="34" charset="-120"/>
              </a:rPr>
              <a:t> rather than by exact word.</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Crossing the language barrier effortlessly.</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Extracting a structured comparison across dozens of PDFs.</a:t>
            </a:r>
            <a:endParaRPr lang="en-US" sz="1350" dirty="0"/>
          </a:p>
          <a:p>
            <a:pPr marL="0" indent="0">
              <a:lnSpc>
                <a:spcPts val="1800"/>
              </a:lnSpc>
              <a:spcAft>
                <a:spcPts val="1100"/>
              </a:spcAft>
              <a:buNone/>
            </a:pPr>
            <a:r>
              <a:rPr lang="en-US" sz="1350" dirty="0">
                <a:solidFill>
                  <a:srgbClr val="1F8A70"/>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Screening a first pass over several hundred records.</a:t>
            </a:r>
            <a:endParaRPr lang="en-US" sz="1350" dirty="0"/>
          </a:p>
        </p:txBody>
      </p:sp>
      <p:sp>
        <p:nvSpPr>
          <p:cNvPr id="8" name="Shape 5">
            <a:extLst>
              <a:ext uri="{FF2B5EF4-FFF2-40B4-BE49-F238E27FC236}">
                <a16:creationId xmlns:a16="http://schemas.microsoft.com/office/drawing/2014/main" id="{2D9EF689-DBB4-946F-F1A1-6FDA288F13BB}"/>
              </a:ext>
            </a:extLst>
          </p:cNvPr>
          <p:cNvSpPr/>
          <p:nvPr/>
        </p:nvSpPr>
        <p:spPr>
          <a:xfrm>
            <a:off x="6278728" y="1298448"/>
            <a:ext cx="5346040" cy="4434840"/>
          </a:xfrm>
          <a:prstGeom prst="roundRect">
            <a:avLst>
              <a:gd name="adj" fmla="val 1237"/>
            </a:avLst>
          </a:prstGeom>
          <a:solidFill>
            <a:srgbClr val="FBEEE2"/>
          </a:solidFill>
          <a:ln w="12700">
            <a:solidFill>
              <a:srgbClr val="FBEEE2"/>
            </a:solidFill>
            <a:prstDash val="solid"/>
          </a:ln>
        </p:spPr>
        <p:txBody>
          <a:bodyPr/>
          <a:lstStyle/>
          <a:p>
            <a:endParaRPr lang="fr-FR"/>
          </a:p>
        </p:txBody>
      </p:sp>
      <p:sp>
        <p:nvSpPr>
          <p:cNvPr id="9" name="Text 6">
            <a:extLst>
              <a:ext uri="{FF2B5EF4-FFF2-40B4-BE49-F238E27FC236}">
                <a16:creationId xmlns:a16="http://schemas.microsoft.com/office/drawing/2014/main" id="{06FE2DD9-543C-DCD4-1A93-4DF81DA603FA}"/>
              </a:ext>
            </a:extLst>
          </p:cNvPr>
          <p:cNvSpPr/>
          <p:nvPr/>
        </p:nvSpPr>
        <p:spPr>
          <a:xfrm>
            <a:off x="6534760" y="1481328"/>
            <a:ext cx="4833976" cy="384048"/>
          </a:xfrm>
          <a:prstGeom prst="rect">
            <a:avLst/>
          </a:prstGeom>
          <a:noFill/>
          <a:ln/>
        </p:spPr>
        <p:txBody>
          <a:bodyPr wrap="square" lIns="0" tIns="0" rIns="0" bIns="0" rtlCol="0" anchor="ctr"/>
          <a:lstStyle/>
          <a:p>
            <a:pPr marL="0" indent="0">
              <a:buNone/>
            </a:pPr>
            <a:r>
              <a:rPr lang="en-US" sz="1600" b="1" dirty="0">
                <a:solidFill>
                  <a:srgbClr val="E07A29"/>
                </a:solidFill>
                <a:latin typeface="Cambria" pitchFamily="34" charset="0"/>
                <a:ea typeface="Cambria" pitchFamily="34" charset="-122"/>
                <a:cs typeface="Cambria" pitchFamily="34" charset="-120"/>
              </a:rPr>
              <a:t>What degrades</a:t>
            </a:r>
            <a:endParaRPr lang="en-US" sz="1600" dirty="0"/>
          </a:p>
        </p:txBody>
      </p:sp>
      <p:sp>
        <p:nvSpPr>
          <p:cNvPr id="10" name="Text 7">
            <a:extLst>
              <a:ext uri="{FF2B5EF4-FFF2-40B4-BE49-F238E27FC236}">
                <a16:creationId xmlns:a16="http://schemas.microsoft.com/office/drawing/2014/main" id="{DBE96DD2-8C80-7FB1-C4C9-DABB31045D0F}"/>
              </a:ext>
            </a:extLst>
          </p:cNvPr>
          <p:cNvSpPr/>
          <p:nvPr/>
        </p:nvSpPr>
        <p:spPr>
          <a:xfrm>
            <a:off x="6534760" y="1965960"/>
            <a:ext cx="4833976" cy="3657600"/>
          </a:xfrm>
          <a:prstGeom prst="rect">
            <a:avLst/>
          </a:prstGeom>
          <a:noFill/>
          <a:ln/>
        </p:spPr>
        <p:txBody>
          <a:bodyPr wrap="square" lIns="0" tIns="0" rIns="0" bIns="0" rtlCol="0" anchor="t"/>
          <a:lstStyle/>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Fabrication</a:t>
            </a:r>
            <a:r>
              <a:rPr lang="en-US" sz="1350" dirty="0">
                <a:solidFill>
                  <a:srgbClr val="1A1A1A"/>
                </a:solidFill>
                <a:latin typeface="Calibri" pitchFamily="34" charset="0"/>
                <a:ea typeface="Calibri" pitchFamily="34" charset="-122"/>
                <a:cs typeface="Calibri" pitchFamily="34" charset="-120"/>
              </a:rPr>
              <a:t> of plausible, non-existent references.</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Silent rewriting</a:t>
            </a:r>
            <a:r>
              <a:rPr lang="en-US" sz="1350" dirty="0">
                <a:solidFill>
                  <a:srgbClr val="1A1A1A"/>
                </a:solidFill>
                <a:latin typeface="Calibri" pitchFamily="34" charset="0"/>
                <a:ea typeface="Calibri" pitchFamily="34" charset="-122"/>
                <a:cs typeface="Calibri" pitchFamily="34" charset="-120"/>
              </a:rPr>
              <a:t> of the query: you lose control of recall.</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Corpus opacity</a:t>
            </a:r>
            <a:r>
              <a:rPr lang="en-US" sz="1350" dirty="0">
                <a:solidFill>
                  <a:srgbClr val="1A1A1A"/>
                </a:solidFill>
                <a:latin typeface="Calibri" pitchFamily="34" charset="0"/>
                <a:ea typeface="Calibri" pitchFamily="34" charset="-122"/>
                <a:cs typeface="Calibri" pitchFamily="34" charset="-120"/>
              </a:rPr>
              <a:t>: you do not know what was not looked at.</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Illusion of exhaustiveness</a:t>
            </a:r>
            <a:r>
              <a:rPr lang="en-US" sz="1350" dirty="0">
                <a:solidFill>
                  <a:srgbClr val="1A1A1A"/>
                </a:solidFill>
                <a:latin typeface="Calibri" pitchFamily="34" charset="0"/>
                <a:ea typeface="Calibri" pitchFamily="34" charset="-122"/>
                <a:cs typeface="Calibri" pitchFamily="34" charset="-120"/>
              </a:rPr>
              <a:t>: a well-written answer looks complete.</a:t>
            </a:r>
            <a:endParaRPr lang="en-US" sz="1350" dirty="0"/>
          </a:p>
          <a:p>
            <a:pPr marL="0" indent="0">
              <a:lnSpc>
                <a:spcPts val="1800"/>
              </a:lnSpc>
              <a:spcAft>
                <a:spcPts val="1100"/>
              </a:spcAft>
              <a:buNone/>
            </a:pPr>
            <a:r>
              <a:rPr lang="en-US" sz="1350" dirty="0">
                <a:solidFill>
                  <a:srgbClr val="E07A29"/>
                </a:solidFill>
                <a:latin typeface="Calibri" pitchFamily="34" charset="0"/>
                <a:ea typeface="Calibri" pitchFamily="34" charset="-122"/>
                <a:cs typeface="Calibri" pitchFamily="34" charset="-120"/>
              </a:rPr>
              <a:t>▪  </a:t>
            </a:r>
            <a:r>
              <a:rPr lang="en-US" sz="1350" b="1" dirty="0">
                <a:solidFill>
                  <a:srgbClr val="1A1A1A"/>
                </a:solidFill>
                <a:latin typeface="Calibri" pitchFamily="34" charset="0"/>
                <a:ea typeface="Calibri" pitchFamily="34" charset="-122"/>
                <a:cs typeface="Calibri" pitchFamily="34" charset="-120"/>
              </a:rPr>
              <a:t>Misattribution</a:t>
            </a:r>
            <a:r>
              <a:rPr lang="en-US" sz="1350" dirty="0">
                <a:solidFill>
                  <a:srgbClr val="1A1A1A"/>
                </a:solidFill>
                <a:latin typeface="Calibri" pitchFamily="34" charset="0"/>
                <a:ea typeface="Calibri" pitchFamily="34" charset="-122"/>
                <a:cs typeface="Calibri" pitchFamily="34" charset="-120"/>
              </a:rPr>
              <a:t>: the source exists, but it does not say that.</a:t>
            </a:r>
            <a:endParaRPr lang="en-US" sz="1350" dirty="0"/>
          </a:p>
        </p:txBody>
      </p:sp>
      <p:sp>
        <p:nvSpPr>
          <p:cNvPr id="11" name="Slide Number Placeholder 0">
            <a:extLst>
              <a:ext uri="{FF2B5EF4-FFF2-40B4-BE49-F238E27FC236}">
                <a16:creationId xmlns:a16="http://schemas.microsoft.com/office/drawing/2014/main" id="{6A9FB0DA-0BD0-2C3F-8BD1-209D37F1D023}"/>
              </a:ext>
            </a:extLst>
          </p:cNvPr>
          <p:cNvSpPr txBox="1">
            <a:spLocks/>
          </p:cNvSpPr>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88</a:t>
            </a:fld>
            <a:endParaRPr lang="en-US"/>
          </a:p>
        </p:txBody>
      </p:sp>
    </p:spTree>
    <p:extLst>
      <p:ext uri="{BB962C8B-B14F-4D97-AF65-F5344CB8AC3E}">
        <p14:creationId xmlns:p14="http://schemas.microsoft.com/office/powerpoint/2010/main" val="9026478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F63EC32-332B-F2C7-078D-DC2DB9AFD63E}"/>
              </a:ext>
            </a:extLst>
          </p:cNvPr>
          <p:cNvSpPr/>
          <p:nvPr/>
        </p:nvSpPr>
        <p:spPr>
          <a:xfrm>
            <a:off x="566928" y="384048"/>
            <a:ext cx="8954719" cy="777240"/>
          </a:xfrm>
          <a:prstGeom prst="rect">
            <a:avLst/>
          </a:prstGeom>
          <a:noFill/>
          <a:ln/>
        </p:spPr>
        <p:txBody>
          <a:bodyPr wrap="square" lIns="0" tIns="0" rIns="0" bIns="0" rtlCol="0" anchor="ctr"/>
          <a:lstStyle/>
          <a:p>
            <a:r>
              <a:rPr lang="en-US" sz="3000" b="1" dirty="0">
                <a:solidFill>
                  <a:srgbClr val="80276C"/>
                </a:solidFill>
                <a:latin typeface="Calibri" panose="020F0502020204030204" pitchFamily="34" charset="0"/>
                <a:ea typeface="Calibri" panose="020F0502020204030204" pitchFamily="34" charset="0"/>
                <a:cs typeface="Calibri" panose="020F0502020204030204" pitchFamily="34" charset="0"/>
              </a:rPr>
              <a:t>Why published rankings are not enough</a:t>
            </a:r>
          </a:p>
        </p:txBody>
      </p:sp>
      <p:sp>
        <p:nvSpPr>
          <p:cNvPr id="5" name="Text 2">
            <a:extLst>
              <a:ext uri="{FF2B5EF4-FFF2-40B4-BE49-F238E27FC236}">
                <a16:creationId xmlns:a16="http://schemas.microsoft.com/office/drawing/2014/main" id="{556B0C0A-1EE7-1357-3E9E-C8BF82EF20AF}"/>
              </a:ext>
            </a:extLst>
          </p:cNvPr>
          <p:cNvSpPr/>
          <p:nvPr/>
        </p:nvSpPr>
        <p:spPr>
          <a:xfrm>
            <a:off x="566928" y="1344168"/>
            <a:ext cx="11057839" cy="365760"/>
          </a:xfrm>
          <a:prstGeom prst="rect">
            <a:avLst/>
          </a:prstGeom>
          <a:noFill/>
          <a:ln/>
        </p:spPr>
        <p:txBody>
          <a:bodyPr wrap="square" lIns="0" tIns="0" rIns="0" bIns="0" rtlCol="0" anchor="t"/>
          <a:lstStyle/>
          <a:p>
            <a:r>
              <a:rPr lang="en-US" sz="1400" i="1" dirty="0">
                <a:solidFill>
                  <a:srgbClr val="5C6B73"/>
                </a:solidFill>
                <a:latin typeface="Calibri" pitchFamily="34" charset="0"/>
                <a:ea typeface="Calibri" pitchFamily="34" charset="-122"/>
                <a:cs typeface="Calibri" pitchFamily="34" charset="-120"/>
              </a:rPr>
              <a:t>Three reasons never to rely on it alone</a:t>
            </a:r>
            <a:endParaRPr lang="en-US" sz="1400" dirty="0"/>
          </a:p>
        </p:txBody>
      </p:sp>
      <p:sp>
        <p:nvSpPr>
          <p:cNvPr id="6" name="Shape 3">
            <a:extLst>
              <a:ext uri="{FF2B5EF4-FFF2-40B4-BE49-F238E27FC236}">
                <a16:creationId xmlns:a16="http://schemas.microsoft.com/office/drawing/2014/main" id="{026D3537-7EB3-08AB-8C30-A37ECCA6FAB0}"/>
              </a:ext>
            </a:extLst>
          </p:cNvPr>
          <p:cNvSpPr/>
          <p:nvPr/>
        </p:nvSpPr>
        <p:spPr>
          <a:xfrm>
            <a:off x="603504" y="2916936"/>
            <a:ext cx="3503066" cy="2154605"/>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7" name="Shape 4">
            <a:extLst>
              <a:ext uri="{FF2B5EF4-FFF2-40B4-BE49-F238E27FC236}">
                <a16:creationId xmlns:a16="http://schemas.microsoft.com/office/drawing/2014/main" id="{A43B3AD3-AAB6-6C6D-04BE-231671400747}"/>
              </a:ext>
            </a:extLst>
          </p:cNvPr>
          <p:cNvSpPr/>
          <p:nvPr/>
        </p:nvSpPr>
        <p:spPr>
          <a:xfrm>
            <a:off x="786384" y="3118104"/>
            <a:ext cx="384048" cy="384048"/>
          </a:xfrm>
          <a:prstGeom prst="ellipse">
            <a:avLst/>
          </a:prstGeom>
          <a:solidFill>
            <a:srgbClr val="80276C"/>
          </a:solidFill>
          <a:ln w="12700">
            <a:solidFill>
              <a:srgbClr val="E07A29"/>
            </a:solidFill>
            <a:prstDash val="solid"/>
          </a:ln>
        </p:spPr>
        <p:txBody>
          <a:bodyPr/>
          <a:lstStyle/>
          <a:p>
            <a:endParaRPr lang="fr-FR"/>
          </a:p>
        </p:txBody>
      </p:sp>
      <p:sp>
        <p:nvSpPr>
          <p:cNvPr id="8" name="Text 5">
            <a:extLst>
              <a:ext uri="{FF2B5EF4-FFF2-40B4-BE49-F238E27FC236}">
                <a16:creationId xmlns:a16="http://schemas.microsoft.com/office/drawing/2014/main" id="{BDE41602-24B0-2761-9506-6BFD6DE57497}"/>
              </a:ext>
            </a:extLst>
          </p:cNvPr>
          <p:cNvSpPr/>
          <p:nvPr/>
        </p:nvSpPr>
        <p:spPr>
          <a:xfrm>
            <a:off x="786384" y="31181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a:extLst>
              <a:ext uri="{FF2B5EF4-FFF2-40B4-BE49-F238E27FC236}">
                <a16:creationId xmlns:a16="http://schemas.microsoft.com/office/drawing/2014/main" id="{0AA374A4-739F-D569-BDF8-B352CDE631CC}"/>
              </a:ext>
            </a:extLst>
          </p:cNvPr>
          <p:cNvSpPr/>
          <p:nvPr/>
        </p:nvSpPr>
        <p:spPr>
          <a:xfrm>
            <a:off x="1280160" y="3099816"/>
            <a:ext cx="2570378" cy="438912"/>
          </a:xfrm>
          <a:prstGeom prst="rect">
            <a:avLst/>
          </a:prstGeom>
          <a:noFill/>
          <a:ln/>
        </p:spPr>
        <p:txBody>
          <a:bodyPr wrap="square" lIns="0" tIns="0" rIns="0" bIns="0" rtlCol="0" anchor="ctr"/>
          <a:lstStyle/>
          <a:p>
            <a:r>
              <a:rPr lang="en-US" sz="1450" b="1" dirty="0">
                <a:solidFill>
                  <a:srgbClr val="12303F"/>
                </a:solidFill>
                <a:latin typeface="Cambria" pitchFamily="34" charset="0"/>
                <a:ea typeface="Cambria" pitchFamily="34" charset="-122"/>
                <a:cs typeface="Cambria" pitchFamily="34" charset="-120"/>
              </a:rPr>
              <a:t>Conflict of interest</a:t>
            </a:r>
            <a:endParaRPr lang="en-US" sz="1450" dirty="0"/>
          </a:p>
        </p:txBody>
      </p:sp>
      <p:sp>
        <p:nvSpPr>
          <p:cNvPr id="10" name="Text 7">
            <a:extLst>
              <a:ext uri="{FF2B5EF4-FFF2-40B4-BE49-F238E27FC236}">
                <a16:creationId xmlns:a16="http://schemas.microsoft.com/office/drawing/2014/main" id="{98A6BD11-696C-3F72-33DE-4892C0941FFF}"/>
              </a:ext>
            </a:extLst>
          </p:cNvPr>
          <p:cNvSpPr/>
          <p:nvPr/>
        </p:nvSpPr>
        <p:spPr>
          <a:xfrm>
            <a:off x="804672" y="3630168"/>
            <a:ext cx="3123272"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The most frequently cited comparison pitting three major commercial tools against one another is published by the vendor of one of the three—which emerges as the winner. The methodology is not necessarily dishonest; it is simply designed by an interested party.</a:t>
            </a:r>
            <a:endParaRPr lang="en-US" sz="1200" dirty="0"/>
          </a:p>
        </p:txBody>
      </p:sp>
      <p:sp>
        <p:nvSpPr>
          <p:cNvPr id="11" name="Shape 8">
            <a:extLst>
              <a:ext uri="{FF2B5EF4-FFF2-40B4-BE49-F238E27FC236}">
                <a16:creationId xmlns:a16="http://schemas.microsoft.com/office/drawing/2014/main" id="{01AB9499-C36F-B820-219F-7DBCF71BB76C}"/>
              </a:ext>
            </a:extLst>
          </p:cNvPr>
          <p:cNvSpPr/>
          <p:nvPr/>
        </p:nvSpPr>
        <p:spPr>
          <a:xfrm>
            <a:off x="4344314" y="2916936"/>
            <a:ext cx="3503066" cy="2195752"/>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2" name="Shape 9">
            <a:extLst>
              <a:ext uri="{FF2B5EF4-FFF2-40B4-BE49-F238E27FC236}">
                <a16:creationId xmlns:a16="http://schemas.microsoft.com/office/drawing/2014/main" id="{D61F7E33-6276-B585-FF30-F1340525CCC6}"/>
              </a:ext>
            </a:extLst>
          </p:cNvPr>
          <p:cNvSpPr/>
          <p:nvPr/>
        </p:nvSpPr>
        <p:spPr>
          <a:xfrm>
            <a:off x="4563770" y="3118104"/>
            <a:ext cx="384048" cy="384048"/>
          </a:xfrm>
          <a:prstGeom prst="ellipse">
            <a:avLst/>
          </a:prstGeom>
          <a:solidFill>
            <a:srgbClr val="80276C"/>
          </a:solidFill>
          <a:ln w="12700">
            <a:solidFill>
              <a:srgbClr val="E07A29"/>
            </a:solidFill>
            <a:prstDash val="solid"/>
          </a:ln>
        </p:spPr>
        <p:txBody>
          <a:bodyPr/>
          <a:lstStyle/>
          <a:p>
            <a:endParaRPr lang="fr-FR"/>
          </a:p>
        </p:txBody>
      </p:sp>
      <p:sp>
        <p:nvSpPr>
          <p:cNvPr id="13" name="Text 10">
            <a:extLst>
              <a:ext uri="{FF2B5EF4-FFF2-40B4-BE49-F238E27FC236}">
                <a16:creationId xmlns:a16="http://schemas.microsoft.com/office/drawing/2014/main" id="{61968163-23BA-0A00-06FB-10FB4CAE7548}"/>
              </a:ext>
            </a:extLst>
          </p:cNvPr>
          <p:cNvSpPr/>
          <p:nvPr/>
        </p:nvSpPr>
        <p:spPr>
          <a:xfrm>
            <a:off x="4563770" y="31181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a:extLst>
              <a:ext uri="{FF2B5EF4-FFF2-40B4-BE49-F238E27FC236}">
                <a16:creationId xmlns:a16="http://schemas.microsoft.com/office/drawing/2014/main" id="{28799950-3BDC-1ED5-BF83-F54C84CE5367}"/>
              </a:ext>
            </a:extLst>
          </p:cNvPr>
          <p:cNvSpPr/>
          <p:nvPr/>
        </p:nvSpPr>
        <p:spPr>
          <a:xfrm>
            <a:off x="5057546" y="3099816"/>
            <a:ext cx="2570378" cy="438912"/>
          </a:xfrm>
          <a:prstGeom prst="rect">
            <a:avLst/>
          </a:prstGeom>
          <a:noFill/>
          <a:ln/>
        </p:spPr>
        <p:txBody>
          <a:bodyPr wrap="square" lIns="0" tIns="0" rIns="0" bIns="0" rtlCol="0" anchor="ctr"/>
          <a:lstStyle/>
          <a:p>
            <a:r>
              <a:rPr lang="en-US" sz="1450" b="1" dirty="0">
                <a:solidFill>
                  <a:srgbClr val="12303F"/>
                </a:solidFill>
                <a:latin typeface="Cambria" pitchFamily="34" charset="0"/>
                <a:ea typeface="Cambria" pitchFamily="34" charset="-122"/>
                <a:cs typeface="Cambria" pitchFamily="34" charset="-120"/>
              </a:rPr>
              <a:t>Editorial fragility</a:t>
            </a:r>
            <a:endParaRPr lang="en-US" sz="1450" dirty="0"/>
          </a:p>
        </p:txBody>
      </p:sp>
      <p:sp>
        <p:nvSpPr>
          <p:cNvPr id="15" name="Text 12">
            <a:extLst>
              <a:ext uri="{FF2B5EF4-FFF2-40B4-BE49-F238E27FC236}">
                <a16:creationId xmlns:a16="http://schemas.microsoft.com/office/drawing/2014/main" id="{9E62A067-A3BE-D3C3-8864-56B629DCE055}"/>
              </a:ext>
            </a:extLst>
          </p:cNvPr>
          <p:cNvSpPr/>
          <p:nvPr/>
        </p:nvSpPr>
        <p:spPr>
          <a:xfrm>
            <a:off x="4582058" y="3630168"/>
            <a:ext cx="3027578"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An academic evaluation of these same tools, published in an information science journal, has been retracted. A published and cited article is not a reliable article.</a:t>
            </a:r>
            <a:endParaRPr lang="en-US" sz="1200" dirty="0"/>
          </a:p>
        </p:txBody>
      </p:sp>
      <p:sp>
        <p:nvSpPr>
          <p:cNvPr id="16" name="Shape 13">
            <a:extLst>
              <a:ext uri="{FF2B5EF4-FFF2-40B4-BE49-F238E27FC236}">
                <a16:creationId xmlns:a16="http://schemas.microsoft.com/office/drawing/2014/main" id="{69A9952F-BDA4-5B51-46F0-F3CF2626A558}"/>
              </a:ext>
            </a:extLst>
          </p:cNvPr>
          <p:cNvSpPr/>
          <p:nvPr/>
        </p:nvSpPr>
        <p:spPr>
          <a:xfrm>
            <a:off x="8121701" y="2916936"/>
            <a:ext cx="3503066" cy="2195752"/>
          </a:xfrm>
          <a:prstGeom prst="roundRect">
            <a:avLst>
              <a:gd name="adj" fmla="val 2927"/>
            </a:avLst>
          </a:prstGeom>
          <a:solidFill>
            <a:srgbClr val="F2F5F6"/>
          </a:solidFill>
          <a:ln w="12700">
            <a:solidFill>
              <a:srgbClr val="E6EDEF"/>
            </a:solidFill>
            <a:prstDash val="solid"/>
          </a:ln>
        </p:spPr>
        <p:txBody>
          <a:bodyPr/>
          <a:lstStyle/>
          <a:p>
            <a:endParaRPr lang="fr-FR"/>
          </a:p>
        </p:txBody>
      </p:sp>
      <p:sp>
        <p:nvSpPr>
          <p:cNvPr id="17" name="Shape 14">
            <a:extLst>
              <a:ext uri="{FF2B5EF4-FFF2-40B4-BE49-F238E27FC236}">
                <a16:creationId xmlns:a16="http://schemas.microsoft.com/office/drawing/2014/main" id="{D3B7A34C-A1FD-E607-AF97-7B5F7D96720D}"/>
              </a:ext>
            </a:extLst>
          </p:cNvPr>
          <p:cNvSpPr/>
          <p:nvPr/>
        </p:nvSpPr>
        <p:spPr>
          <a:xfrm>
            <a:off x="8341157" y="3118104"/>
            <a:ext cx="384048" cy="384048"/>
          </a:xfrm>
          <a:prstGeom prst="ellipse">
            <a:avLst/>
          </a:prstGeom>
          <a:solidFill>
            <a:srgbClr val="80276C"/>
          </a:solidFill>
          <a:ln w="12700">
            <a:solidFill>
              <a:srgbClr val="E07A29"/>
            </a:solidFill>
            <a:prstDash val="solid"/>
          </a:ln>
        </p:spPr>
        <p:txBody>
          <a:bodyPr/>
          <a:lstStyle/>
          <a:p>
            <a:endParaRPr lang="fr-FR"/>
          </a:p>
        </p:txBody>
      </p:sp>
      <p:sp>
        <p:nvSpPr>
          <p:cNvPr id="18" name="Text 15">
            <a:extLst>
              <a:ext uri="{FF2B5EF4-FFF2-40B4-BE49-F238E27FC236}">
                <a16:creationId xmlns:a16="http://schemas.microsoft.com/office/drawing/2014/main" id="{829AE3EE-BCCD-6D45-243E-C18A91BB6AC8}"/>
              </a:ext>
            </a:extLst>
          </p:cNvPr>
          <p:cNvSpPr/>
          <p:nvPr/>
        </p:nvSpPr>
        <p:spPr>
          <a:xfrm>
            <a:off x="8341157" y="31181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a:extLst>
              <a:ext uri="{FF2B5EF4-FFF2-40B4-BE49-F238E27FC236}">
                <a16:creationId xmlns:a16="http://schemas.microsoft.com/office/drawing/2014/main" id="{F68354E2-9661-C54E-5E33-19EAF461FAE2}"/>
              </a:ext>
            </a:extLst>
          </p:cNvPr>
          <p:cNvSpPr/>
          <p:nvPr/>
        </p:nvSpPr>
        <p:spPr>
          <a:xfrm>
            <a:off x="8834933" y="3099816"/>
            <a:ext cx="2570378" cy="438912"/>
          </a:xfrm>
          <a:prstGeom prst="rect">
            <a:avLst/>
          </a:prstGeom>
          <a:noFill/>
          <a:ln/>
        </p:spPr>
        <p:txBody>
          <a:bodyPr wrap="square" lIns="0" tIns="0" rIns="0" bIns="0" rtlCol="0" anchor="ctr"/>
          <a:lstStyle/>
          <a:p>
            <a:r>
              <a:rPr lang="en-US" sz="1450" b="1" dirty="0">
                <a:solidFill>
                  <a:srgbClr val="12303F"/>
                </a:solidFill>
                <a:latin typeface="Cambria" pitchFamily="34" charset="0"/>
                <a:ea typeface="Cambria" pitchFamily="34" charset="-122"/>
                <a:cs typeface="Cambria" pitchFamily="34" charset="-120"/>
              </a:rPr>
              <a:t>Failure to control variables</a:t>
            </a:r>
            <a:endParaRPr lang="en-US" sz="1450" dirty="0"/>
          </a:p>
        </p:txBody>
      </p:sp>
      <p:sp>
        <p:nvSpPr>
          <p:cNvPr id="20" name="Text 17">
            <a:extLst>
              <a:ext uri="{FF2B5EF4-FFF2-40B4-BE49-F238E27FC236}">
                <a16:creationId xmlns:a16="http://schemas.microsoft.com/office/drawing/2014/main" id="{56A38365-6D95-9554-118F-055640FC6833}"/>
              </a:ext>
            </a:extLst>
          </p:cNvPr>
          <p:cNvSpPr/>
          <p:nvPr/>
        </p:nvSpPr>
        <p:spPr>
          <a:xfrm>
            <a:off x="8359445" y="3630168"/>
            <a:ext cx="3027578" cy="978408"/>
          </a:xfrm>
          <a:prstGeom prst="rect">
            <a:avLst/>
          </a:prstGeom>
          <a:noFill/>
          <a:ln/>
        </p:spPr>
        <p:txBody>
          <a:bodyPr wrap="square" lIns="0" tIns="0" rIns="0" bIns="0"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Comparing two tools without controlling for the underlying model, cost, and access to resources amounts to no comparison at all. This criticism led to the creation of </a:t>
            </a:r>
            <a:r>
              <a:rPr lang="en-US" sz="1200" dirty="0" err="1">
                <a:solidFill>
                  <a:srgbClr val="1A1A1A"/>
                </a:solidFill>
                <a:latin typeface="Calibri" pitchFamily="34" charset="0"/>
                <a:ea typeface="Calibri" pitchFamily="34" charset="-122"/>
                <a:cs typeface="Calibri" pitchFamily="34" charset="-120"/>
              </a:rPr>
              <a:t>AstaBench</a:t>
            </a:r>
            <a:r>
              <a:rPr lang="en-US" sz="1200" dirty="0">
                <a:solidFill>
                  <a:srgbClr val="1A1A1A"/>
                </a:solidFill>
                <a:latin typeface="Calibri" pitchFamily="34" charset="0"/>
                <a:ea typeface="Calibri" pitchFamily="34" charset="-122"/>
                <a:cs typeface="Calibri" pitchFamily="34" charset="-120"/>
              </a:rPr>
              <a:t>, a scientific agent evaluation suite that does control for cost and tooling.</a:t>
            </a:r>
            <a:endParaRPr lang="en-US" sz="1200" dirty="0"/>
          </a:p>
        </p:txBody>
      </p:sp>
      <p:sp>
        <p:nvSpPr>
          <p:cNvPr id="21" name="Text 18">
            <a:extLst>
              <a:ext uri="{FF2B5EF4-FFF2-40B4-BE49-F238E27FC236}">
                <a16:creationId xmlns:a16="http://schemas.microsoft.com/office/drawing/2014/main" id="{7F11F518-D86F-78FD-791E-6184EEC7E742}"/>
              </a:ext>
            </a:extLst>
          </p:cNvPr>
          <p:cNvSpPr/>
          <p:nvPr/>
        </p:nvSpPr>
        <p:spPr>
          <a:xfrm>
            <a:off x="603504" y="5825920"/>
            <a:ext cx="10143439" cy="365760"/>
          </a:xfrm>
          <a:prstGeom prst="rect">
            <a:avLst/>
          </a:prstGeom>
          <a:noFill/>
          <a:ln/>
        </p:spPr>
        <p:txBody>
          <a:bodyPr wrap="square" lIns="0" tIns="0" rIns="0" bIns="0" rtlCol="0" anchor="ctr"/>
          <a:lstStyle/>
          <a:p>
            <a:r>
              <a:rPr lang="en-US" sz="1200" i="1" dirty="0">
                <a:solidFill>
                  <a:srgbClr val="5C6B73"/>
                </a:solidFill>
                <a:latin typeface="Calibri" pitchFamily="34" charset="0"/>
                <a:ea typeface="Calibri" pitchFamily="34" charset="-122"/>
                <a:cs typeface="Calibri" pitchFamily="34" charset="-120"/>
              </a:rPr>
              <a:t>You don't just read a ranking; you re-measure based on your own specific question.</a:t>
            </a:r>
            <a:endParaRPr lang="en-US" sz="1200" dirty="0"/>
          </a:p>
        </p:txBody>
      </p:sp>
      <p:sp>
        <p:nvSpPr>
          <p:cNvPr id="22" name="Slide Number Placeholder 0">
            <a:extLst>
              <a:ext uri="{FF2B5EF4-FFF2-40B4-BE49-F238E27FC236}">
                <a16:creationId xmlns:a16="http://schemas.microsoft.com/office/drawing/2014/main" id="{87E1B9C2-21FF-40B4-6B4C-288628B8BD7E}"/>
              </a:ext>
            </a:extLst>
          </p:cNvPr>
          <p:cNvSpPr txBox="1">
            <a:spLocks/>
          </p:cNvSpPr>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89</a:t>
            </a:fld>
            <a:endParaRPr lang="en-US"/>
          </a:p>
        </p:txBody>
      </p:sp>
    </p:spTree>
    <p:extLst>
      <p:ext uri="{BB962C8B-B14F-4D97-AF65-F5344CB8AC3E}">
        <p14:creationId xmlns:p14="http://schemas.microsoft.com/office/powerpoint/2010/main" val="22376639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D1150697-63E8-419C-44DF-ACFED0DD96BE}"/>
              </a:ext>
            </a:extLst>
          </p:cNvPr>
          <p:cNvSpPr/>
          <p:nvPr/>
        </p:nvSpPr>
        <p:spPr>
          <a:xfrm>
            <a:off x="566928" y="1600200"/>
            <a:ext cx="11057839" cy="365760"/>
          </a:xfrm>
          <a:prstGeom prst="rect">
            <a:avLst/>
          </a:prstGeom>
          <a:noFill/>
          <a:ln/>
        </p:spPr>
        <p:txBody>
          <a:bodyPr wrap="square" lIns="0" tIns="0" rIns="0" bIns="0" rtlCol="0" anchor="ctr"/>
          <a:lstStyle/>
          <a:p>
            <a:r>
              <a:rPr lang="en-US" sz="1200" b="1" kern="0" spc="160" dirty="0">
                <a:solidFill>
                  <a:srgbClr val="80276C"/>
                </a:solidFill>
                <a:latin typeface="Calibri" pitchFamily="34" charset="0"/>
                <a:ea typeface="Calibri" pitchFamily="34" charset="-122"/>
                <a:cs typeface="Calibri" pitchFamily="34" charset="-120"/>
              </a:rPr>
              <a:t>THE CENTERPIECE</a:t>
            </a:r>
            <a:endParaRPr lang="en-US" sz="1200" dirty="0">
              <a:solidFill>
                <a:srgbClr val="80276C"/>
              </a:solidFill>
            </a:endParaRPr>
          </a:p>
        </p:txBody>
      </p:sp>
      <p:sp>
        <p:nvSpPr>
          <p:cNvPr id="5" name="Text 1">
            <a:extLst>
              <a:ext uri="{FF2B5EF4-FFF2-40B4-BE49-F238E27FC236}">
                <a16:creationId xmlns:a16="http://schemas.microsoft.com/office/drawing/2014/main" id="{FFD9EAF2-D83B-2057-BE83-8A02278F4497}"/>
              </a:ext>
            </a:extLst>
          </p:cNvPr>
          <p:cNvSpPr/>
          <p:nvPr/>
        </p:nvSpPr>
        <p:spPr>
          <a:xfrm>
            <a:off x="566928" y="2148840"/>
            <a:ext cx="10143439" cy="2103120"/>
          </a:xfrm>
          <a:prstGeom prst="rect">
            <a:avLst/>
          </a:prstGeom>
          <a:noFill/>
          <a:ln/>
        </p:spPr>
        <p:txBody>
          <a:bodyPr wrap="square" lIns="0" tIns="0" rIns="0" bIns="0" rtlCol="0" anchor="t"/>
          <a:lstStyle/>
          <a:p>
            <a:pPr>
              <a:lnSpc>
                <a:spcPts val="4200"/>
              </a:lnSpc>
            </a:pPr>
            <a:r>
              <a:rPr lang="en-US" sz="3400" b="1" dirty="0">
                <a:solidFill>
                  <a:srgbClr val="80276C"/>
                </a:solidFill>
                <a:latin typeface="Cambria" pitchFamily="34" charset="0"/>
                <a:ea typeface="Cambria" pitchFamily="34" charset="-122"/>
                <a:cs typeface="Cambria" pitchFamily="34" charset="-120"/>
              </a:rPr>
              <a:t>Without a reference corpus, you only measure what a tool has found. With one, you measure what it has missed.</a:t>
            </a:r>
            <a:endParaRPr lang="en-US" sz="3400" dirty="0">
              <a:solidFill>
                <a:srgbClr val="80276C"/>
              </a:solidFill>
            </a:endParaRPr>
          </a:p>
        </p:txBody>
      </p:sp>
      <p:sp>
        <p:nvSpPr>
          <p:cNvPr id="6" name="Text 2">
            <a:extLst>
              <a:ext uri="{FF2B5EF4-FFF2-40B4-BE49-F238E27FC236}">
                <a16:creationId xmlns:a16="http://schemas.microsoft.com/office/drawing/2014/main" id="{4A242DEE-F597-4131-C828-1C02518E7D4C}"/>
              </a:ext>
            </a:extLst>
          </p:cNvPr>
          <p:cNvSpPr/>
          <p:nvPr/>
        </p:nvSpPr>
        <p:spPr>
          <a:xfrm>
            <a:off x="566928" y="4434840"/>
            <a:ext cx="9594799" cy="1280160"/>
          </a:xfrm>
          <a:prstGeom prst="rect">
            <a:avLst/>
          </a:prstGeom>
          <a:noFill/>
          <a:ln/>
        </p:spPr>
        <p:txBody>
          <a:bodyPr wrap="square" lIns="0" tIns="0" rIns="0" bIns="0" rtlCol="0" anchor="t"/>
          <a:lstStyle/>
          <a:p>
            <a:pPr>
              <a:lnSpc>
                <a:spcPts val="2200"/>
              </a:lnSpc>
            </a:pPr>
            <a:r>
              <a:rPr lang="en-US" sz="1600" dirty="0">
                <a:latin typeface="Calibri" pitchFamily="34" charset="0"/>
                <a:ea typeface="Calibri" pitchFamily="34" charset="-122"/>
                <a:cs typeface="Calibri" pitchFamily="34" charset="-120"/>
              </a:rPr>
              <a:t>A gold-standard corpus is a set of references known—independently of any tool—to be relevant. Yours consists of twenty-five DOIs extracted from the bibliography of a literature review on the demonstration topic. And it is silence—never noise—that causes a state-of-the-art review to fail.</a:t>
            </a:r>
            <a:endParaRPr lang="en-US" sz="1600" dirty="0"/>
          </a:p>
        </p:txBody>
      </p:sp>
      <p:sp>
        <p:nvSpPr>
          <p:cNvPr id="7" name="Slide Number Placeholder 0">
            <a:extLst>
              <a:ext uri="{FF2B5EF4-FFF2-40B4-BE49-F238E27FC236}">
                <a16:creationId xmlns:a16="http://schemas.microsoft.com/office/drawing/2014/main" id="{6132EB67-CFD1-B0BE-B4B0-0BBF008B906A}"/>
              </a:ext>
            </a:extLst>
          </p:cNvPr>
          <p:cNvSpPr txBox="1">
            <a:spLocks/>
          </p:cNvSpPr>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fr-FR"/>
            </a:defPPr>
            <a:lvl1pPr marL="0" algn="r" defTabSz="914400" rtl="0" eaLnBrk="1" latinLnBrk="0" hangingPunct="1">
              <a:defRPr sz="900" kern="1200">
                <a:solidFill>
                  <a:srgbClr val="7C949E"/>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90</a:t>
            </a:fld>
            <a:endParaRPr lang="en-US"/>
          </a:p>
        </p:txBody>
      </p:sp>
    </p:spTree>
    <p:extLst>
      <p:ext uri="{BB962C8B-B14F-4D97-AF65-F5344CB8AC3E}">
        <p14:creationId xmlns:p14="http://schemas.microsoft.com/office/powerpoint/2010/main" val="7464764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552051E9-9385-FD6F-E683-27231682327F}"/>
              </a:ext>
            </a:extLst>
          </p:cNvPr>
          <p:cNvSpPr/>
          <p:nvPr/>
        </p:nvSpPr>
        <p:spPr>
          <a:xfrm>
            <a:off x="566928" y="384048"/>
            <a:ext cx="8954719" cy="777240"/>
          </a:xfrm>
          <a:prstGeom prst="rect">
            <a:avLst/>
          </a:prstGeom>
          <a:noFill/>
          <a:ln/>
        </p:spPr>
        <p:txBody>
          <a:bodyPr wrap="square" lIns="0" tIns="0" rIns="0" bIns="0" rtlCol="0" anchor="ctr"/>
          <a:lstStyle/>
          <a:p>
            <a:pPr marL="0" indent="0">
              <a:buNone/>
            </a:pPr>
            <a:r>
              <a:rPr lang="en-US" sz="3000" b="1" dirty="0">
                <a:solidFill>
                  <a:srgbClr val="12303F"/>
                </a:solidFill>
                <a:latin typeface="Cambria" pitchFamily="34" charset="0"/>
                <a:ea typeface="Cambria" pitchFamily="34" charset="-122"/>
                <a:cs typeface="Cambria" pitchFamily="34" charset="-120"/>
              </a:rPr>
              <a:t>Four families, four failure modes</a:t>
            </a:r>
            <a:endParaRPr lang="en-US" sz="3000" dirty="0"/>
          </a:p>
        </p:txBody>
      </p:sp>
      <p:sp>
        <p:nvSpPr>
          <p:cNvPr id="6" name="Text 2">
            <a:extLst>
              <a:ext uri="{FF2B5EF4-FFF2-40B4-BE49-F238E27FC236}">
                <a16:creationId xmlns:a16="http://schemas.microsoft.com/office/drawing/2014/main" id="{33B51EBF-F92B-9806-6B6F-E0CFD7FBC10D}"/>
              </a:ext>
            </a:extLst>
          </p:cNvPr>
          <p:cNvSpPr/>
          <p:nvPr/>
        </p:nvSpPr>
        <p:spPr>
          <a:xfrm>
            <a:off x="566928" y="1234440"/>
            <a:ext cx="11057839" cy="365760"/>
          </a:xfrm>
          <a:prstGeom prst="rect">
            <a:avLst/>
          </a:prstGeom>
          <a:noFill/>
          <a:ln/>
        </p:spPr>
        <p:txBody>
          <a:bodyPr wrap="square" lIns="0" tIns="0" rIns="0" bIns="0" rtlCol="0" anchor="t"/>
          <a:lstStyle/>
          <a:p>
            <a:pPr marL="0" indent="0">
              <a:buNone/>
            </a:pPr>
            <a:r>
              <a:rPr lang="en-US" sz="1400" i="1" dirty="0">
                <a:solidFill>
                  <a:srgbClr val="5C6B73"/>
                </a:solidFill>
                <a:latin typeface="Calibri" pitchFamily="34" charset="0"/>
                <a:ea typeface="Calibri" pitchFamily="34" charset="-122"/>
                <a:cs typeface="Calibri" pitchFamily="34" charset="-120"/>
              </a:rPr>
              <a:t>Classify by function rather than by brand: products are renamed every year, structural flaws do not move.</a:t>
            </a:r>
            <a:endParaRPr lang="en-US" sz="1400" dirty="0"/>
          </a:p>
        </p:txBody>
      </p:sp>
      <p:graphicFrame>
        <p:nvGraphicFramePr>
          <p:cNvPr id="7" name="Table 0">
            <a:extLst>
              <a:ext uri="{FF2B5EF4-FFF2-40B4-BE49-F238E27FC236}">
                <a16:creationId xmlns:a16="http://schemas.microsoft.com/office/drawing/2014/main" id="{7566ADD5-EDB6-53FC-B547-A07ACDC15E0D}"/>
              </a:ext>
            </a:extLst>
          </p:cNvPr>
          <p:cNvGraphicFramePr>
            <a:graphicFrameLocks noGrp="1"/>
          </p:cNvGraphicFramePr>
          <p:nvPr/>
        </p:nvGraphicFramePr>
        <p:xfrm>
          <a:off x="566928" y="1764792"/>
          <a:ext cx="11057839" cy="2684780"/>
        </p:xfrm>
        <a:graphic>
          <a:graphicData uri="http://schemas.openxmlformats.org/drawingml/2006/table">
            <a:tbl>
              <a:tblPr/>
              <a:tblGrid>
                <a:gridCol w="2866847">
                  <a:extLst>
                    <a:ext uri="{9D8B030D-6E8A-4147-A177-3AD203B41FA5}">
                      <a16:colId xmlns:a16="http://schemas.microsoft.com/office/drawing/2014/main" val="20000"/>
                    </a:ext>
                  </a:extLst>
                </a:gridCol>
                <a:gridCol w="5119370">
                  <a:extLst>
                    <a:ext uri="{9D8B030D-6E8A-4147-A177-3AD203B41FA5}">
                      <a16:colId xmlns:a16="http://schemas.microsoft.com/office/drawing/2014/main" val="20001"/>
                    </a:ext>
                  </a:extLst>
                </a:gridCol>
                <a:gridCol w="3071622">
                  <a:extLst>
                    <a:ext uri="{9D8B030D-6E8A-4147-A177-3AD203B41FA5}">
                      <a16:colId xmlns:a16="http://schemas.microsoft.com/office/drawing/2014/main" val="20002"/>
                    </a:ext>
                  </a:extLst>
                </a:gridCol>
              </a:tblGrid>
              <a:tr h="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Characteristic failure mode</a:t>
                      </a:r>
                      <a:endParaRPr lang="en-US" sz="125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Open representatives</a:t>
                      </a:r>
                      <a:endParaRPr lang="en-US" sz="1250" dirty="0">
                        <a:latin typeface="Calibri" charset="0"/>
                        <a:ea typeface="Calibri" charset="0"/>
                        <a:cs typeface="Calibri" charset="0"/>
                      </a:endParaRPr>
                    </a:p>
                  </a:txBody>
                  <a:tcPr marL="114300" marR="114300" marT="139700" marB="139700" anchor="ctr">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80276C"/>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Semantic search and sourced answers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Partial, rarely documented indexed corpus: you do not know what was not looked at</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OpenAlex, Semantic Scholar, OpenScholar</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Multi-step research agents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Silent rewriting of the question, illusion of exhaustiveness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local-deep-research, GPT-Researcher</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Querying your own corpus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Knows nothing you did not give it: the silence is entirely yours</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PaperQA2, AnythingLLM, Open WebUI</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Screening and mapping</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Reproduces and amplifies the bias of the corpus supplied; a map is never evidence</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ASReview, VOSviewer, bibliometrix</a:t>
                      </a:r>
                      <a:endParaRPr lang="en-US" sz="1200" dirty="0"/>
                    </a:p>
                  </a:txBody>
                  <a:tcPr marL="114300" marR="114300" marT="139700" marB="139700">
                    <a:lnL w="6350" cap="flat" cmpd="sng" algn="ctr">
                      <a:solidFill>
                        <a:srgbClr val="CBD7DB"/>
                      </a:solidFill>
                      <a:prstDash val="solid"/>
                      <a:round/>
                      <a:headEnd type="none" w="med" len="med"/>
                      <a:tailEnd type="none" w="med" len="med"/>
                    </a:lnL>
                    <a:lnR w="6350" cap="flat" cmpd="sng" algn="ctr">
                      <a:solidFill>
                        <a:srgbClr val="CBD7DB"/>
                      </a:solidFill>
                      <a:prstDash val="solid"/>
                      <a:round/>
                      <a:headEnd type="none" w="med" len="med"/>
                      <a:tailEnd type="none" w="med" len="med"/>
                    </a:lnR>
                    <a:lnT w="6350" cap="flat" cmpd="sng" algn="ctr">
                      <a:solidFill>
                        <a:srgbClr val="CBD7DB"/>
                      </a:solidFill>
                      <a:prstDash val="solid"/>
                      <a:round/>
                      <a:headEnd type="none" w="med" len="med"/>
                      <a:tailEnd type="none" w="med" len="med"/>
                    </a:lnT>
                    <a:lnB w="6350" cap="flat" cmpd="sng" algn="ctr">
                      <a:solidFill>
                        <a:srgbClr val="CBD7DB"/>
                      </a:solidFill>
                      <a:prstDash val="solid"/>
                      <a:round/>
                      <a:headEnd type="none" w="med" len="med"/>
                      <a:tailEnd type="none" w="med" len="med"/>
                    </a:lnB>
                    <a:solidFill>
                      <a:srgbClr val="F2F5F6"/>
                    </a:solidFill>
                  </a:tcPr>
                </a:tc>
                <a:extLst>
                  <a:ext uri="{0D108BD9-81ED-4DB2-BD59-A6C34878D82A}">
                    <a16:rowId xmlns:a16="http://schemas.microsoft.com/office/drawing/2014/main" val="10004"/>
                  </a:ext>
                </a:extLst>
              </a:tr>
            </a:tbl>
          </a:graphicData>
        </a:graphic>
      </p:graphicFrame>
      <p:sp>
        <p:nvSpPr>
          <p:cNvPr id="8" name="Slide Number Placeholder 0">
            <a:extLst>
              <a:ext uri="{FF2B5EF4-FFF2-40B4-BE49-F238E27FC236}">
                <a16:creationId xmlns:a16="http://schemas.microsoft.com/office/drawing/2014/main" id="{2DE178D2-43AF-D898-27A0-D4FFFEF4F63C}"/>
              </a:ext>
            </a:extLst>
          </p:cNvPr>
          <p:cNvSpPr txBox="1">
            <a:spLocks/>
          </p:cNvSpPr>
          <p:nvPr/>
        </p:nvSpPr>
        <p:spPr>
          <a:xfrm>
            <a:off x="11505895" y="6473952"/>
            <a:ext cx="365760" cy="22860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91</a:t>
            </a:fld>
            <a:endParaRPr lang="en-US"/>
          </a:p>
        </p:txBody>
      </p:sp>
    </p:spTree>
    <p:extLst>
      <p:ext uri="{BB962C8B-B14F-4D97-AF65-F5344CB8AC3E}">
        <p14:creationId xmlns:p14="http://schemas.microsoft.com/office/powerpoint/2010/main" val="30891338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9472F2-6C0F-400B-8A6B-A392AF76F302}"/>
              </a:ext>
            </a:extLst>
          </p:cNvPr>
          <p:cNvPicPr>
            <a:picLocks noChangeAspect="1"/>
          </p:cNvPicPr>
          <p:nvPr/>
        </p:nvPicPr>
        <p:blipFill>
          <a:blip r:embed="rId2"/>
          <a:stretch>
            <a:fillRect/>
          </a:stretch>
        </p:blipFill>
        <p:spPr>
          <a:xfrm>
            <a:off x="585216" y="300066"/>
            <a:ext cx="3472434" cy="1279013"/>
          </a:xfrm>
          <a:prstGeom prst="rect">
            <a:avLst/>
          </a:prstGeom>
        </p:spPr>
      </p:pic>
      <p:sp>
        <p:nvSpPr>
          <p:cNvPr id="6" name="Rectangle 5">
            <a:extLst>
              <a:ext uri="{FF2B5EF4-FFF2-40B4-BE49-F238E27FC236}">
                <a16:creationId xmlns:a16="http://schemas.microsoft.com/office/drawing/2014/main" id="{A9CF7AFA-1209-4703-BA9D-8D35088C88DE}"/>
              </a:ext>
            </a:extLst>
          </p:cNvPr>
          <p:cNvSpPr/>
          <p:nvPr/>
        </p:nvSpPr>
        <p:spPr>
          <a:xfrm>
            <a:off x="4057650" y="527603"/>
            <a:ext cx="6988302" cy="646331"/>
          </a:xfrm>
          <a:prstGeom prst="rect">
            <a:avLst/>
          </a:prstGeom>
        </p:spPr>
        <p:txBody>
          <a:bodyPr wrap="square">
            <a:spAutoFit/>
          </a:bodyPr>
          <a:lstStyle/>
          <a:p>
            <a:r>
              <a:rPr lang="fr-FR" b="1" dirty="0"/>
              <a:t>Watch out ! </a:t>
            </a:r>
            <a:endParaRPr lang="fr-FR" dirty="0"/>
          </a:p>
          <a:p>
            <a:r>
              <a:rPr lang="fr-FR" dirty="0"/>
              <a:t>AI can </a:t>
            </a:r>
            <a:r>
              <a:rPr lang="fr-FR" dirty="0" err="1"/>
              <a:t>make</a:t>
            </a:r>
            <a:r>
              <a:rPr lang="fr-FR" dirty="0"/>
              <a:t> a lot of </a:t>
            </a:r>
            <a:r>
              <a:rPr lang="fr-FR" b="1" dirty="0" err="1">
                <a:solidFill>
                  <a:srgbClr val="FF0000"/>
                </a:solidFill>
              </a:rPr>
              <a:t>mistakes</a:t>
            </a:r>
            <a:r>
              <a:rPr lang="fr-FR" dirty="0"/>
              <a:t>, </a:t>
            </a:r>
            <a:r>
              <a:rPr lang="fr-FR" dirty="0" err="1"/>
              <a:t>always</a:t>
            </a:r>
            <a:r>
              <a:rPr lang="fr-FR" dirty="0"/>
              <a:t> check information </a:t>
            </a:r>
          </a:p>
        </p:txBody>
      </p:sp>
      <p:sp>
        <p:nvSpPr>
          <p:cNvPr id="2" name="ZoneTexte 1">
            <a:extLst>
              <a:ext uri="{FF2B5EF4-FFF2-40B4-BE49-F238E27FC236}">
                <a16:creationId xmlns:a16="http://schemas.microsoft.com/office/drawing/2014/main" id="{85F122FE-9CE2-4C27-98A2-ACE28EAE3AAC}"/>
              </a:ext>
            </a:extLst>
          </p:cNvPr>
          <p:cNvSpPr txBox="1"/>
          <p:nvPr/>
        </p:nvSpPr>
        <p:spPr>
          <a:xfrm>
            <a:off x="790575" y="1904417"/>
            <a:ext cx="8267699" cy="1754326"/>
          </a:xfrm>
          <a:prstGeom prst="rect">
            <a:avLst/>
          </a:prstGeom>
          <a:noFill/>
        </p:spPr>
        <p:txBody>
          <a:bodyPr wrap="square" rtlCol="0">
            <a:spAutoFit/>
          </a:bodyPr>
          <a:lstStyle/>
          <a:p>
            <a:r>
              <a:rPr lang="en-US" b="1" dirty="0">
                <a:solidFill>
                  <a:srgbClr val="80276C"/>
                </a:solidFill>
              </a:rPr>
              <a:t>Short list of questions to ask to evaluate the quality of an AI tool for literature review</a:t>
            </a:r>
          </a:p>
          <a:p>
            <a:endParaRPr lang="en-US" b="1" dirty="0"/>
          </a:p>
          <a:p>
            <a:pPr marL="285750" indent="-285750">
              <a:buFontTx/>
              <a:buChar char="-"/>
            </a:pPr>
            <a:r>
              <a:rPr lang="fr-FR" dirty="0" err="1"/>
              <a:t>Reliability</a:t>
            </a:r>
            <a:r>
              <a:rPr lang="fr-FR" dirty="0"/>
              <a:t> and </a:t>
            </a:r>
            <a:r>
              <a:rPr lang="fr-FR" dirty="0" err="1"/>
              <a:t>perimeter</a:t>
            </a:r>
            <a:r>
              <a:rPr lang="fr-FR" dirty="0"/>
              <a:t> of sources</a:t>
            </a:r>
          </a:p>
          <a:p>
            <a:pPr marL="285750" indent="-285750">
              <a:buFontTx/>
              <a:buChar char="-"/>
            </a:pPr>
            <a:r>
              <a:rPr lang="en-US" dirty="0"/>
              <a:t>How does the tool process and analyze the data? Transparency and rigor</a:t>
            </a:r>
          </a:p>
          <a:p>
            <a:pPr marL="285750" indent="-285750">
              <a:buFontTx/>
              <a:buChar char="-"/>
            </a:pPr>
            <a:r>
              <a:rPr lang="en-US" dirty="0"/>
              <a:t>Reputation of the tool among universities and specialized institutions</a:t>
            </a:r>
          </a:p>
          <a:p>
            <a:pPr marL="285750" indent="-285750">
              <a:buFontTx/>
              <a:buChar char="-"/>
            </a:pPr>
            <a:r>
              <a:rPr lang="fr-FR" dirty="0" err="1"/>
              <a:t>features</a:t>
            </a:r>
            <a:r>
              <a:rPr lang="fr-FR" dirty="0"/>
              <a:t> for </a:t>
            </a:r>
            <a:r>
              <a:rPr lang="fr-FR" dirty="0" err="1"/>
              <a:t>specific</a:t>
            </a:r>
            <a:r>
              <a:rPr lang="fr-FR" dirty="0"/>
              <a:t> </a:t>
            </a:r>
            <a:r>
              <a:rPr lang="fr-FR" dirty="0" err="1"/>
              <a:t>needs</a:t>
            </a:r>
            <a:endParaRPr lang="fr-FR" dirty="0"/>
          </a:p>
        </p:txBody>
      </p:sp>
      <p:sp>
        <p:nvSpPr>
          <p:cNvPr id="3" name="Rectangle 2">
            <a:extLst>
              <a:ext uri="{FF2B5EF4-FFF2-40B4-BE49-F238E27FC236}">
                <a16:creationId xmlns:a16="http://schemas.microsoft.com/office/drawing/2014/main" id="{0691BA5A-142E-4460-8785-73A8C68989FF}"/>
              </a:ext>
            </a:extLst>
          </p:cNvPr>
          <p:cNvSpPr/>
          <p:nvPr/>
        </p:nvSpPr>
        <p:spPr>
          <a:xfrm>
            <a:off x="462889" y="4025384"/>
            <a:ext cx="11213326" cy="1815882"/>
          </a:xfrm>
          <a:prstGeom prst="rect">
            <a:avLst/>
          </a:prstGeom>
        </p:spPr>
        <p:txBody>
          <a:bodyPr wrap="none">
            <a:spAutoFit/>
          </a:bodyPr>
          <a:lstStyle/>
          <a:p>
            <a:pPr algn="ctr"/>
            <a:r>
              <a:rPr lang="en-US" sz="3600" strike="dblStrike" dirty="0">
                <a:solidFill>
                  <a:schemeClr val="accent2">
                    <a:lumMod val="75000"/>
                  </a:schemeClr>
                </a:solidFill>
                <a:latin typeface="Roboto"/>
              </a:rPr>
              <a:t>AI = one’s work</a:t>
            </a:r>
            <a:endParaRPr lang="en-US" sz="3600" b="1" dirty="0">
              <a:solidFill>
                <a:schemeClr val="accent2">
                  <a:lumMod val="75000"/>
                </a:schemeClr>
              </a:solidFill>
              <a:effectLst>
                <a:outerShdw blurRad="38100" dist="38100" dir="2700000" algn="tl">
                  <a:srgbClr val="000000">
                    <a:alpha val="43137"/>
                  </a:srgbClr>
                </a:outerShdw>
              </a:effectLst>
              <a:latin typeface="Roboto"/>
            </a:endParaRPr>
          </a:p>
          <a:p>
            <a:pPr marL="571500" indent="-571500" algn="ctr">
              <a:buFont typeface="Wingdings" panose="05000000000000000000" pitchFamily="2" charset="2"/>
              <a:buChar char="Ø"/>
            </a:pPr>
            <a:r>
              <a:rPr lang="en-US" sz="4000" b="1" dirty="0">
                <a:solidFill>
                  <a:srgbClr val="00B0F0"/>
                </a:solidFill>
                <a:effectLst>
                  <a:outerShdw blurRad="38100" dist="38100" dir="2700000" algn="tl">
                    <a:srgbClr val="000000">
                      <a:alpha val="43137"/>
                    </a:srgbClr>
                  </a:outerShdw>
                </a:effectLst>
                <a:latin typeface="Roboto"/>
              </a:rPr>
              <a:t>AI = help and/or complement to one's work</a:t>
            </a:r>
            <a:endParaRPr lang="en-US" sz="4000" dirty="0">
              <a:solidFill>
                <a:srgbClr val="111111"/>
              </a:solidFill>
              <a:latin typeface="Roboto"/>
            </a:endParaRPr>
          </a:p>
          <a:p>
            <a:pPr algn="ctr"/>
            <a:endParaRPr lang="en-US" strike="dblStrike" dirty="0">
              <a:solidFill>
                <a:srgbClr val="FF0000"/>
              </a:solidFill>
              <a:latin typeface="Roboto"/>
            </a:endParaRPr>
          </a:p>
          <a:p>
            <a:endParaRPr lang="fr-FR" dirty="0"/>
          </a:p>
        </p:txBody>
      </p:sp>
    </p:spTree>
    <p:extLst>
      <p:ext uri="{BB962C8B-B14F-4D97-AF65-F5344CB8AC3E}">
        <p14:creationId xmlns:p14="http://schemas.microsoft.com/office/powerpoint/2010/main" val="6747956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EFA16F73-67E0-25E9-5720-B79DC57EB4FB}"/>
              </a:ext>
            </a:extLst>
          </p:cNvPr>
          <p:cNvSpPr/>
          <p:nvPr/>
        </p:nvSpPr>
        <p:spPr>
          <a:xfrm>
            <a:off x="566928" y="384048"/>
            <a:ext cx="8954719" cy="777240"/>
          </a:xfrm>
          <a:prstGeom prst="rect">
            <a:avLst/>
          </a:prstGeom>
          <a:noFill/>
          <a:ln/>
        </p:spPr>
        <p:txBody>
          <a:bodyPr wrap="square" lIns="0" tIns="0" rIns="0" bIns="0" rtlCol="0" anchor="ctr"/>
          <a:lstStyle/>
          <a:p>
            <a:r>
              <a:rPr lang="en-US" sz="3000" b="1" dirty="0">
                <a:solidFill>
                  <a:srgbClr val="12303F"/>
                </a:solidFill>
                <a:latin typeface="Cambria" pitchFamily="34" charset="0"/>
                <a:ea typeface="Cambria" pitchFamily="34" charset="-122"/>
                <a:cs typeface="Cambria" pitchFamily="34" charset="-120"/>
              </a:rPr>
              <a:t>Write the state of the art</a:t>
            </a:r>
            <a:endParaRPr lang="en-US" sz="3000" dirty="0"/>
          </a:p>
        </p:txBody>
      </p:sp>
      <p:sp>
        <p:nvSpPr>
          <p:cNvPr id="5" name="Shape 3">
            <a:extLst>
              <a:ext uri="{FF2B5EF4-FFF2-40B4-BE49-F238E27FC236}">
                <a16:creationId xmlns:a16="http://schemas.microsoft.com/office/drawing/2014/main" id="{31BFFF5A-419D-1C93-20A6-BE06BC6E0155}"/>
              </a:ext>
            </a:extLst>
          </p:cNvPr>
          <p:cNvSpPr/>
          <p:nvPr/>
        </p:nvSpPr>
        <p:spPr>
          <a:xfrm>
            <a:off x="566928" y="182880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6" name="Shape 4">
            <a:extLst>
              <a:ext uri="{FF2B5EF4-FFF2-40B4-BE49-F238E27FC236}">
                <a16:creationId xmlns:a16="http://schemas.microsoft.com/office/drawing/2014/main" id="{8422A9C7-2023-2A06-12D0-5B4D266FB9A7}"/>
              </a:ext>
            </a:extLst>
          </p:cNvPr>
          <p:cNvSpPr/>
          <p:nvPr/>
        </p:nvSpPr>
        <p:spPr>
          <a:xfrm>
            <a:off x="768096" y="1961388"/>
            <a:ext cx="402336" cy="402336"/>
          </a:xfrm>
          <a:prstGeom prst="ellipse">
            <a:avLst/>
          </a:prstGeom>
          <a:solidFill>
            <a:srgbClr val="80276C"/>
          </a:solidFill>
          <a:ln w="12700">
            <a:solidFill>
              <a:srgbClr val="12303F"/>
            </a:solidFill>
            <a:prstDash val="solid"/>
          </a:ln>
        </p:spPr>
        <p:txBody>
          <a:bodyPr/>
          <a:lstStyle/>
          <a:p>
            <a:endParaRPr lang="fr-FR"/>
          </a:p>
        </p:txBody>
      </p:sp>
      <p:sp>
        <p:nvSpPr>
          <p:cNvPr id="7" name="Text 5">
            <a:extLst>
              <a:ext uri="{FF2B5EF4-FFF2-40B4-BE49-F238E27FC236}">
                <a16:creationId xmlns:a16="http://schemas.microsoft.com/office/drawing/2014/main" id="{F825AB9B-BC1F-052C-FAEE-62F012FCFB71}"/>
              </a:ext>
            </a:extLst>
          </p:cNvPr>
          <p:cNvSpPr/>
          <p:nvPr/>
        </p:nvSpPr>
        <p:spPr>
          <a:xfrm>
            <a:off x="768096" y="19613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a:extLst>
              <a:ext uri="{FF2B5EF4-FFF2-40B4-BE49-F238E27FC236}">
                <a16:creationId xmlns:a16="http://schemas.microsoft.com/office/drawing/2014/main" id="{32BDDDAF-5B5E-4B83-EC7B-922695EF4BE7}"/>
              </a:ext>
            </a:extLst>
          </p:cNvPr>
          <p:cNvSpPr/>
          <p:nvPr/>
        </p:nvSpPr>
        <p:spPr>
          <a:xfrm>
            <a:off x="1316736" y="190195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Scope and method</a:t>
            </a:r>
            <a:endParaRPr lang="en-US" sz="1400" dirty="0"/>
          </a:p>
        </p:txBody>
      </p:sp>
      <p:sp>
        <p:nvSpPr>
          <p:cNvPr id="9" name="Text 7">
            <a:extLst>
              <a:ext uri="{FF2B5EF4-FFF2-40B4-BE49-F238E27FC236}">
                <a16:creationId xmlns:a16="http://schemas.microsoft.com/office/drawing/2014/main" id="{1F595C72-50F5-E5E8-E5AE-F3DFA2C27B09}"/>
              </a:ext>
            </a:extLst>
          </p:cNvPr>
          <p:cNvSpPr/>
          <p:nvPr/>
        </p:nvSpPr>
        <p:spPr>
          <a:xfrm>
            <a:off x="4636008" y="188366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The question, the inclusion criteria, the sources consulted, what is deliberately excluded. Half a page that makes everything else credible.</a:t>
            </a:r>
            <a:endParaRPr lang="en-US" sz="1250" dirty="0"/>
          </a:p>
        </p:txBody>
      </p:sp>
      <p:sp>
        <p:nvSpPr>
          <p:cNvPr id="10" name="Shape 8">
            <a:extLst>
              <a:ext uri="{FF2B5EF4-FFF2-40B4-BE49-F238E27FC236}">
                <a16:creationId xmlns:a16="http://schemas.microsoft.com/office/drawing/2014/main" id="{F0B1B1A9-68A3-66F4-511E-F682C5DB5B71}"/>
              </a:ext>
            </a:extLst>
          </p:cNvPr>
          <p:cNvSpPr/>
          <p:nvPr/>
        </p:nvSpPr>
        <p:spPr>
          <a:xfrm>
            <a:off x="566928" y="2606040"/>
            <a:ext cx="11057839" cy="667512"/>
          </a:xfrm>
          <a:prstGeom prst="roundRect">
            <a:avLst>
              <a:gd name="adj" fmla="val 6849"/>
            </a:avLst>
          </a:prstGeom>
          <a:solidFill>
            <a:srgbClr val="FFFFFF"/>
          </a:solidFill>
          <a:ln w="12700">
            <a:solidFill>
              <a:srgbClr val="E6EDEF"/>
            </a:solidFill>
            <a:prstDash val="solid"/>
          </a:ln>
        </p:spPr>
        <p:txBody>
          <a:bodyPr/>
          <a:lstStyle/>
          <a:p>
            <a:endParaRPr lang="fr-FR"/>
          </a:p>
        </p:txBody>
      </p:sp>
      <p:sp>
        <p:nvSpPr>
          <p:cNvPr id="11" name="Shape 9">
            <a:extLst>
              <a:ext uri="{FF2B5EF4-FFF2-40B4-BE49-F238E27FC236}">
                <a16:creationId xmlns:a16="http://schemas.microsoft.com/office/drawing/2014/main" id="{77D065E6-8942-68BA-0EE0-20F9DEA8493A}"/>
              </a:ext>
            </a:extLst>
          </p:cNvPr>
          <p:cNvSpPr/>
          <p:nvPr/>
        </p:nvSpPr>
        <p:spPr>
          <a:xfrm>
            <a:off x="768096" y="2738628"/>
            <a:ext cx="402336" cy="402336"/>
          </a:xfrm>
          <a:prstGeom prst="ellipse">
            <a:avLst/>
          </a:prstGeom>
          <a:solidFill>
            <a:srgbClr val="80276C"/>
          </a:solidFill>
          <a:ln w="12700">
            <a:solidFill>
              <a:srgbClr val="12303F"/>
            </a:solidFill>
            <a:prstDash val="solid"/>
          </a:ln>
        </p:spPr>
        <p:txBody>
          <a:bodyPr/>
          <a:lstStyle/>
          <a:p>
            <a:endParaRPr lang="fr-FR"/>
          </a:p>
        </p:txBody>
      </p:sp>
      <p:sp>
        <p:nvSpPr>
          <p:cNvPr id="12" name="Text 10">
            <a:extLst>
              <a:ext uri="{FF2B5EF4-FFF2-40B4-BE49-F238E27FC236}">
                <a16:creationId xmlns:a16="http://schemas.microsoft.com/office/drawing/2014/main" id="{6354B0D8-4DD0-6726-8B69-23DD11D9DBE5}"/>
              </a:ext>
            </a:extLst>
          </p:cNvPr>
          <p:cNvSpPr/>
          <p:nvPr/>
        </p:nvSpPr>
        <p:spPr>
          <a:xfrm>
            <a:off x="768096" y="27386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a:extLst>
              <a:ext uri="{FF2B5EF4-FFF2-40B4-BE49-F238E27FC236}">
                <a16:creationId xmlns:a16="http://schemas.microsoft.com/office/drawing/2014/main" id="{108364F0-2487-3141-160B-F84BD6B05EC5}"/>
              </a:ext>
            </a:extLst>
          </p:cNvPr>
          <p:cNvSpPr/>
          <p:nvPr/>
        </p:nvSpPr>
        <p:spPr>
          <a:xfrm>
            <a:off x="1316736" y="267919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Domain structuring</a:t>
            </a:r>
            <a:endParaRPr lang="en-US" sz="1400" dirty="0"/>
          </a:p>
        </p:txBody>
      </p:sp>
      <p:sp>
        <p:nvSpPr>
          <p:cNvPr id="14" name="Text 12">
            <a:extLst>
              <a:ext uri="{FF2B5EF4-FFF2-40B4-BE49-F238E27FC236}">
                <a16:creationId xmlns:a16="http://schemas.microsoft.com/office/drawing/2014/main" id="{52AE8AAD-779A-6FD1-B6A0-A2A0366B24CE}"/>
              </a:ext>
            </a:extLst>
          </p:cNvPr>
          <p:cNvSpPr/>
          <p:nvPr/>
        </p:nvSpPr>
        <p:spPr>
          <a:xfrm>
            <a:off x="4636008" y="266090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What major approaches exist, according to what classification criteria. This is where mapping comes in, if it has been done.</a:t>
            </a:r>
            <a:endParaRPr lang="en-US" sz="1250" dirty="0"/>
          </a:p>
        </p:txBody>
      </p:sp>
      <p:sp>
        <p:nvSpPr>
          <p:cNvPr id="15" name="Shape 13">
            <a:extLst>
              <a:ext uri="{FF2B5EF4-FFF2-40B4-BE49-F238E27FC236}">
                <a16:creationId xmlns:a16="http://schemas.microsoft.com/office/drawing/2014/main" id="{746D6AD8-F35F-4B58-FC73-2A8234D82CD8}"/>
              </a:ext>
            </a:extLst>
          </p:cNvPr>
          <p:cNvSpPr/>
          <p:nvPr/>
        </p:nvSpPr>
        <p:spPr>
          <a:xfrm>
            <a:off x="566928" y="338328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16" name="Shape 14">
            <a:extLst>
              <a:ext uri="{FF2B5EF4-FFF2-40B4-BE49-F238E27FC236}">
                <a16:creationId xmlns:a16="http://schemas.microsoft.com/office/drawing/2014/main" id="{2ADF50B8-1F80-CF88-6034-E3C5A89BF80F}"/>
              </a:ext>
            </a:extLst>
          </p:cNvPr>
          <p:cNvSpPr/>
          <p:nvPr/>
        </p:nvSpPr>
        <p:spPr>
          <a:xfrm>
            <a:off x="768096" y="3515868"/>
            <a:ext cx="402336" cy="402336"/>
          </a:xfrm>
          <a:prstGeom prst="ellipse">
            <a:avLst/>
          </a:prstGeom>
          <a:solidFill>
            <a:srgbClr val="80276C"/>
          </a:solidFill>
          <a:ln w="12700">
            <a:solidFill>
              <a:srgbClr val="12303F"/>
            </a:solidFill>
            <a:prstDash val="solid"/>
          </a:ln>
        </p:spPr>
        <p:txBody>
          <a:bodyPr/>
          <a:lstStyle/>
          <a:p>
            <a:endParaRPr lang="fr-FR"/>
          </a:p>
        </p:txBody>
      </p:sp>
      <p:sp>
        <p:nvSpPr>
          <p:cNvPr id="17" name="Text 15">
            <a:extLst>
              <a:ext uri="{FF2B5EF4-FFF2-40B4-BE49-F238E27FC236}">
                <a16:creationId xmlns:a16="http://schemas.microsoft.com/office/drawing/2014/main" id="{7AEB0202-6D3A-9A9E-770F-B8C2B0F1BB2F}"/>
              </a:ext>
            </a:extLst>
          </p:cNvPr>
          <p:cNvSpPr/>
          <p:nvPr/>
        </p:nvSpPr>
        <p:spPr>
          <a:xfrm>
            <a:off x="768096" y="35158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a:extLst>
              <a:ext uri="{FF2B5EF4-FFF2-40B4-BE49-F238E27FC236}">
                <a16:creationId xmlns:a16="http://schemas.microsoft.com/office/drawing/2014/main" id="{36AAC667-6878-DBD8-7A6A-032D9C3D3ED5}"/>
              </a:ext>
            </a:extLst>
          </p:cNvPr>
          <p:cNvSpPr/>
          <p:nvPr/>
        </p:nvSpPr>
        <p:spPr>
          <a:xfrm>
            <a:off x="1316736" y="345643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Comparative analysis</a:t>
            </a:r>
            <a:endParaRPr lang="en-US" sz="1400" dirty="0"/>
          </a:p>
        </p:txBody>
      </p:sp>
      <p:sp>
        <p:nvSpPr>
          <p:cNvPr id="19" name="Text 17">
            <a:extLst>
              <a:ext uri="{FF2B5EF4-FFF2-40B4-BE49-F238E27FC236}">
                <a16:creationId xmlns:a16="http://schemas.microsoft.com/office/drawing/2014/main" id="{08695F91-4076-85E9-35C3-23CD05E96C40}"/>
              </a:ext>
            </a:extLst>
          </p:cNvPr>
          <p:cNvSpPr/>
          <p:nvPr/>
        </p:nvSpPr>
        <p:spPr>
          <a:xfrm>
            <a:off x="4636008" y="343814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The approaches compared based on the criteria of the extraction matrix, along with their conditions of validity.</a:t>
            </a:r>
            <a:endParaRPr lang="en-US" sz="1250" dirty="0"/>
          </a:p>
        </p:txBody>
      </p:sp>
      <p:sp>
        <p:nvSpPr>
          <p:cNvPr id="20" name="Shape 18">
            <a:extLst>
              <a:ext uri="{FF2B5EF4-FFF2-40B4-BE49-F238E27FC236}">
                <a16:creationId xmlns:a16="http://schemas.microsoft.com/office/drawing/2014/main" id="{2A3E6CEE-04DD-0C14-E841-5019BF859BE5}"/>
              </a:ext>
            </a:extLst>
          </p:cNvPr>
          <p:cNvSpPr/>
          <p:nvPr/>
        </p:nvSpPr>
        <p:spPr>
          <a:xfrm>
            <a:off x="566928" y="4160520"/>
            <a:ext cx="11057839" cy="667512"/>
          </a:xfrm>
          <a:prstGeom prst="roundRect">
            <a:avLst>
              <a:gd name="adj" fmla="val 6849"/>
            </a:avLst>
          </a:prstGeom>
          <a:solidFill>
            <a:srgbClr val="FFFFFF"/>
          </a:solidFill>
          <a:ln w="12700">
            <a:solidFill>
              <a:srgbClr val="E6EDEF"/>
            </a:solidFill>
            <a:prstDash val="solid"/>
          </a:ln>
        </p:spPr>
        <p:txBody>
          <a:bodyPr/>
          <a:lstStyle/>
          <a:p>
            <a:endParaRPr lang="fr-FR"/>
          </a:p>
        </p:txBody>
      </p:sp>
      <p:sp>
        <p:nvSpPr>
          <p:cNvPr id="21" name="Text 21">
            <a:extLst>
              <a:ext uri="{FF2B5EF4-FFF2-40B4-BE49-F238E27FC236}">
                <a16:creationId xmlns:a16="http://schemas.microsoft.com/office/drawing/2014/main" id="{81287ABA-E983-714B-087A-D310166DCAA9}"/>
              </a:ext>
            </a:extLst>
          </p:cNvPr>
          <p:cNvSpPr/>
          <p:nvPr/>
        </p:nvSpPr>
        <p:spPr>
          <a:xfrm>
            <a:off x="1316736" y="423367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Locks and gaps</a:t>
            </a:r>
            <a:endParaRPr lang="en-US" sz="1400" dirty="0"/>
          </a:p>
        </p:txBody>
      </p:sp>
      <p:sp>
        <p:nvSpPr>
          <p:cNvPr id="22" name="Text 22">
            <a:extLst>
              <a:ext uri="{FF2B5EF4-FFF2-40B4-BE49-F238E27FC236}">
                <a16:creationId xmlns:a16="http://schemas.microsoft.com/office/drawing/2014/main" id="{48089AD3-E830-3B13-D324-007D18F05C20}"/>
              </a:ext>
            </a:extLst>
          </p:cNvPr>
          <p:cNvSpPr/>
          <p:nvPr/>
        </p:nvSpPr>
        <p:spPr>
          <a:xfrm>
            <a:off x="4636008" y="421538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What isn't solved, not measured, what the results contradict. The part that has the most value — and the one you'll write the least.</a:t>
            </a:r>
            <a:endParaRPr lang="en-US" sz="1250" dirty="0"/>
          </a:p>
        </p:txBody>
      </p:sp>
      <p:sp>
        <p:nvSpPr>
          <p:cNvPr id="23" name="Shape 23">
            <a:extLst>
              <a:ext uri="{FF2B5EF4-FFF2-40B4-BE49-F238E27FC236}">
                <a16:creationId xmlns:a16="http://schemas.microsoft.com/office/drawing/2014/main" id="{70699B04-D600-A321-4735-69546966F589}"/>
              </a:ext>
            </a:extLst>
          </p:cNvPr>
          <p:cNvSpPr/>
          <p:nvPr/>
        </p:nvSpPr>
        <p:spPr>
          <a:xfrm>
            <a:off x="566928" y="4937760"/>
            <a:ext cx="11057839" cy="667512"/>
          </a:xfrm>
          <a:prstGeom prst="roundRect">
            <a:avLst>
              <a:gd name="adj" fmla="val 6849"/>
            </a:avLst>
          </a:prstGeom>
          <a:solidFill>
            <a:srgbClr val="F2F5F6"/>
          </a:solidFill>
          <a:ln w="12700">
            <a:solidFill>
              <a:srgbClr val="E6EDEF"/>
            </a:solidFill>
            <a:prstDash val="solid"/>
          </a:ln>
        </p:spPr>
        <p:txBody>
          <a:bodyPr/>
          <a:lstStyle/>
          <a:p>
            <a:endParaRPr lang="fr-FR"/>
          </a:p>
        </p:txBody>
      </p:sp>
      <p:sp>
        <p:nvSpPr>
          <p:cNvPr id="24" name="Text 26">
            <a:extLst>
              <a:ext uri="{FF2B5EF4-FFF2-40B4-BE49-F238E27FC236}">
                <a16:creationId xmlns:a16="http://schemas.microsoft.com/office/drawing/2014/main" id="{03FE179C-2553-DD9D-53C3-A0AC109ABB5A}"/>
              </a:ext>
            </a:extLst>
          </p:cNvPr>
          <p:cNvSpPr/>
          <p:nvPr/>
        </p:nvSpPr>
        <p:spPr>
          <a:xfrm>
            <a:off x="1316736" y="5010912"/>
            <a:ext cx="3200400" cy="521208"/>
          </a:xfrm>
          <a:prstGeom prst="rect">
            <a:avLst/>
          </a:prstGeom>
          <a:noFill/>
          <a:ln/>
        </p:spPr>
        <p:txBody>
          <a:bodyPr wrap="square" lIns="0" tIns="0" rIns="0" bIns="0" rtlCol="0" anchor="ctr"/>
          <a:lstStyle/>
          <a:p>
            <a:r>
              <a:rPr lang="en-US" sz="1400" b="1" dirty="0">
                <a:solidFill>
                  <a:srgbClr val="12303F"/>
                </a:solidFill>
                <a:latin typeface="Cambria" pitchFamily="34" charset="0"/>
                <a:ea typeface="Cambria" pitchFamily="34" charset="-122"/>
                <a:cs typeface="Cambria" pitchFamily="34" charset="-120"/>
              </a:rPr>
              <a:t>Positioning</a:t>
            </a:r>
            <a:endParaRPr lang="en-US" sz="1400" dirty="0"/>
          </a:p>
        </p:txBody>
      </p:sp>
      <p:sp>
        <p:nvSpPr>
          <p:cNvPr id="25" name="Text 27">
            <a:extLst>
              <a:ext uri="{FF2B5EF4-FFF2-40B4-BE49-F238E27FC236}">
                <a16:creationId xmlns:a16="http://schemas.microsoft.com/office/drawing/2014/main" id="{DA5F80FA-84C4-D0FE-0AAE-8E3D4ABF4838}"/>
              </a:ext>
            </a:extLst>
          </p:cNvPr>
          <p:cNvSpPr/>
          <p:nvPr/>
        </p:nvSpPr>
        <p:spPr>
          <a:xfrm>
            <a:off x="4636008" y="4992624"/>
            <a:ext cx="6760159" cy="557784"/>
          </a:xfrm>
          <a:prstGeom prst="rect">
            <a:avLst/>
          </a:prstGeom>
          <a:noFill/>
          <a:ln/>
        </p:spPr>
        <p:txBody>
          <a:bodyPr wrap="square" lIns="0" tIns="0" rIns="0" bIns="0" rtlCol="0" anchor="ctr"/>
          <a:lstStyle/>
          <a:p>
            <a:pPr>
              <a:lnSpc>
                <a:spcPts val="1600"/>
              </a:lnSpc>
            </a:pPr>
            <a:r>
              <a:rPr lang="en-US" sz="1250" dirty="0">
                <a:solidFill>
                  <a:srgbClr val="1A1A1A"/>
                </a:solidFill>
                <a:latin typeface="Calibri" pitchFamily="34" charset="0"/>
                <a:ea typeface="Calibri" pitchFamily="34" charset="-122"/>
                <a:cs typeface="Calibri" pitchFamily="34" charset="-120"/>
              </a:rPr>
              <a:t>Where your work fits into this landscape.</a:t>
            </a:r>
            <a:endParaRPr lang="en-US" sz="1250" dirty="0"/>
          </a:p>
        </p:txBody>
      </p:sp>
      <p:sp>
        <p:nvSpPr>
          <p:cNvPr id="26" name="Slide Number Placeholder 0">
            <a:extLst>
              <a:ext uri="{FF2B5EF4-FFF2-40B4-BE49-F238E27FC236}">
                <a16:creationId xmlns:a16="http://schemas.microsoft.com/office/drawing/2014/main" id="{096BEF4D-8573-56A7-2672-BB02EE2701B6}"/>
              </a:ext>
            </a:extLst>
          </p:cNvPr>
          <p:cNvSpPr txBox="1">
            <a:spLocks/>
          </p:cNvSpPr>
          <p:nvPr/>
        </p:nvSpPr>
        <p:spPr>
          <a:xfrm>
            <a:off x="11505895" y="6473952"/>
            <a:ext cx="365760" cy="22860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fr-FR"/>
            </a:defPPr>
            <a:lvl1pPr marL="0" algn="r" defTabSz="914400" rtl="0" eaLnBrk="1" latinLnBrk="0" hangingPunct="1">
              <a:defRPr sz="900" kern="1200">
                <a:solidFill>
                  <a:srgbClr val="5C6B73"/>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93</a:t>
            </a:fld>
            <a:endParaRPr lang="en-US"/>
          </a:p>
        </p:txBody>
      </p:sp>
      <p:sp>
        <p:nvSpPr>
          <p:cNvPr id="27" name="Text 15">
            <a:extLst>
              <a:ext uri="{FF2B5EF4-FFF2-40B4-BE49-F238E27FC236}">
                <a16:creationId xmlns:a16="http://schemas.microsoft.com/office/drawing/2014/main" id="{984C8B9E-E506-FD8D-4E84-9F51E3ED5916}"/>
              </a:ext>
            </a:extLst>
          </p:cNvPr>
          <p:cNvSpPr/>
          <p:nvPr/>
        </p:nvSpPr>
        <p:spPr>
          <a:xfrm>
            <a:off x="920496" y="36682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Shape 14">
            <a:extLst>
              <a:ext uri="{FF2B5EF4-FFF2-40B4-BE49-F238E27FC236}">
                <a16:creationId xmlns:a16="http://schemas.microsoft.com/office/drawing/2014/main" id="{D2C339FA-BE75-9437-B589-DD8FB781C6EF}"/>
              </a:ext>
            </a:extLst>
          </p:cNvPr>
          <p:cNvSpPr/>
          <p:nvPr/>
        </p:nvSpPr>
        <p:spPr>
          <a:xfrm>
            <a:off x="768096" y="4293108"/>
            <a:ext cx="402336" cy="402336"/>
          </a:xfrm>
          <a:prstGeom prst="ellipse">
            <a:avLst/>
          </a:prstGeom>
          <a:solidFill>
            <a:srgbClr val="80276C"/>
          </a:solidFill>
          <a:ln w="12700">
            <a:solidFill>
              <a:srgbClr val="12303F"/>
            </a:solidFill>
            <a:prstDash val="solid"/>
          </a:ln>
        </p:spPr>
        <p:txBody>
          <a:bodyPr/>
          <a:lstStyle/>
          <a:p>
            <a:r>
              <a:rPr lang="fr-FR" sz="1300" b="1" dirty="0">
                <a:solidFill>
                  <a:schemeClr val="bg1"/>
                </a:solidFill>
                <a:latin typeface="Calibri" panose="020F0502020204030204" pitchFamily="34" charset="0"/>
                <a:ea typeface="Calibri" panose="020F0502020204030204" pitchFamily="34" charset="0"/>
                <a:cs typeface="Calibri" panose="020F0502020204030204" pitchFamily="34" charset="0"/>
              </a:rPr>
              <a:t>4</a:t>
            </a:r>
          </a:p>
          <a:p>
            <a:r>
              <a:rPr lang="fr-FR" sz="1200" dirty="0">
                <a:solidFill>
                  <a:schemeClr val="bg1"/>
                </a:solidFill>
              </a:rPr>
              <a:t>3</a:t>
            </a:r>
          </a:p>
          <a:p>
            <a:endParaRPr lang="fr-FR" dirty="0"/>
          </a:p>
        </p:txBody>
      </p:sp>
      <p:sp>
        <p:nvSpPr>
          <p:cNvPr id="29" name="Shape 14">
            <a:extLst>
              <a:ext uri="{FF2B5EF4-FFF2-40B4-BE49-F238E27FC236}">
                <a16:creationId xmlns:a16="http://schemas.microsoft.com/office/drawing/2014/main" id="{F58751C1-D416-4F1B-1503-70B79B952776}"/>
              </a:ext>
            </a:extLst>
          </p:cNvPr>
          <p:cNvSpPr/>
          <p:nvPr/>
        </p:nvSpPr>
        <p:spPr>
          <a:xfrm>
            <a:off x="755142" y="5061204"/>
            <a:ext cx="402336" cy="402336"/>
          </a:xfrm>
          <a:prstGeom prst="ellipse">
            <a:avLst/>
          </a:prstGeom>
          <a:solidFill>
            <a:srgbClr val="80276C"/>
          </a:solidFill>
          <a:ln w="12700">
            <a:solidFill>
              <a:srgbClr val="12303F"/>
            </a:solidFill>
            <a:prstDash val="solid"/>
          </a:ln>
        </p:spPr>
        <p:txBody>
          <a:bodyPr/>
          <a:lstStyle/>
          <a:p>
            <a:r>
              <a:rPr lang="fr-FR" sz="1300" b="1" dirty="0">
                <a:solidFill>
                  <a:schemeClr val="bg1"/>
                </a:solidFill>
                <a:latin typeface="Calibri" panose="020F0502020204030204" pitchFamily="34" charset="0"/>
                <a:ea typeface="Calibri" panose="020F0502020204030204" pitchFamily="34" charset="0"/>
                <a:cs typeface="Calibri" panose="020F0502020204030204" pitchFamily="34" charset="0"/>
              </a:rPr>
              <a:t>5</a:t>
            </a:r>
          </a:p>
          <a:p>
            <a:r>
              <a:rPr lang="fr-FR" sz="1200" dirty="0">
                <a:solidFill>
                  <a:schemeClr val="bg1"/>
                </a:solidFill>
              </a:rPr>
              <a:t>3</a:t>
            </a:r>
          </a:p>
          <a:p>
            <a:endParaRPr lang="fr-FR" dirty="0"/>
          </a:p>
        </p:txBody>
      </p:sp>
    </p:spTree>
    <p:extLst>
      <p:ext uri="{BB962C8B-B14F-4D97-AF65-F5344CB8AC3E}">
        <p14:creationId xmlns:p14="http://schemas.microsoft.com/office/powerpoint/2010/main" val="15913796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6704154-3A4D-324E-F1DB-AED21808BD87}"/>
              </a:ext>
            </a:extLst>
          </p:cNvPr>
          <p:cNvSpPr/>
          <p:nvPr/>
        </p:nvSpPr>
        <p:spPr>
          <a:xfrm>
            <a:off x="5798885" y="415454"/>
            <a:ext cx="4879715" cy="365760"/>
          </a:xfrm>
          <a:prstGeom prst="rect">
            <a:avLst/>
          </a:prstGeom>
          <a:noFill/>
          <a:ln/>
        </p:spPr>
        <p:txBody>
          <a:bodyPr wrap="square" lIns="0" tIns="0" rIns="0" bIns="0" rtlCol="0" anchor="ctr"/>
          <a:lstStyle/>
          <a:p>
            <a:pPr marL="0" indent="0">
              <a:buNone/>
            </a:pPr>
            <a:r>
              <a:rPr lang="en-US" b="1" kern="0" spc="160" dirty="0">
                <a:solidFill>
                  <a:srgbClr val="80276C"/>
                </a:solidFill>
                <a:latin typeface="Calibri" pitchFamily="34" charset="0"/>
                <a:ea typeface="Calibri" pitchFamily="34" charset="-122"/>
                <a:cs typeface="Calibri" pitchFamily="34" charset="-120"/>
              </a:rPr>
              <a:t>WHAT TO TAKE WITH YOU</a:t>
            </a:r>
            <a:endParaRPr lang="en-US" dirty="0">
              <a:solidFill>
                <a:srgbClr val="80276C"/>
              </a:solidFill>
            </a:endParaRPr>
          </a:p>
        </p:txBody>
      </p:sp>
      <p:sp>
        <p:nvSpPr>
          <p:cNvPr id="4" name="Text 1">
            <a:extLst>
              <a:ext uri="{FF2B5EF4-FFF2-40B4-BE49-F238E27FC236}">
                <a16:creationId xmlns:a16="http://schemas.microsoft.com/office/drawing/2014/main" id="{7721AD46-F255-8832-6265-0CDAF82458CC}"/>
              </a:ext>
            </a:extLst>
          </p:cNvPr>
          <p:cNvSpPr/>
          <p:nvPr/>
        </p:nvSpPr>
        <p:spPr>
          <a:xfrm>
            <a:off x="6095999" y="1035657"/>
            <a:ext cx="5356794" cy="1280160"/>
          </a:xfrm>
          <a:prstGeom prst="rect">
            <a:avLst/>
          </a:prstGeom>
          <a:noFill/>
          <a:ln/>
        </p:spPr>
        <p:txBody>
          <a:bodyPr wrap="square" lIns="0" tIns="0" rIns="0" bIns="0" rtlCol="0" anchor="t"/>
          <a:lstStyle/>
          <a:p>
            <a:pPr marL="0" indent="0">
              <a:lnSpc>
                <a:spcPts val="4200"/>
              </a:lnSpc>
              <a:buNone/>
            </a:pPr>
            <a:r>
              <a:rPr lang="en-US" sz="3400" b="1" dirty="0">
                <a:solidFill>
                  <a:srgbClr val="FFC000"/>
                </a:solidFill>
                <a:latin typeface="Cambria" pitchFamily="34" charset="0"/>
                <a:ea typeface="Cambria" pitchFamily="34" charset="-122"/>
                <a:cs typeface="Cambria" pitchFamily="34" charset="-120"/>
              </a:rPr>
              <a:t>The tools will change, </a:t>
            </a:r>
            <a:br>
              <a:rPr lang="en-US" sz="3400" b="1" dirty="0">
                <a:solidFill>
                  <a:srgbClr val="FFC000"/>
                </a:solidFill>
                <a:latin typeface="Cambria" pitchFamily="34" charset="0"/>
                <a:ea typeface="Cambria" pitchFamily="34" charset="-122"/>
                <a:cs typeface="Cambria" pitchFamily="34" charset="-120"/>
              </a:rPr>
            </a:br>
            <a:r>
              <a:rPr lang="en-US" sz="3400" b="1" dirty="0">
                <a:solidFill>
                  <a:srgbClr val="FFC000"/>
                </a:solidFill>
                <a:latin typeface="Cambria" pitchFamily="34" charset="0"/>
                <a:ea typeface="Cambria" pitchFamily="34" charset="-122"/>
                <a:cs typeface="Cambria" pitchFamily="34" charset="-120"/>
              </a:rPr>
              <a:t>the method will remain.</a:t>
            </a:r>
            <a:endParaRPr lang="en-US" sz="3400" dirty="0">
              <a:solidFill>
                <a:srgbClr val="FFC000"/>
              </a:solidFill>
            </a:endParaRPr>
          </a:p>
        </p:txBody>
      </p:sp>
      <p:sp>
        <p:nvSpPr>
          <p:cNvPr id="5" name="Text 2">
            <a:extLst>
              <a:ext uri="{FF2B5EF4-FFF2-40B4-BE49-F238E27FC236}">
                <a16:creationId xmlns:a16="http://schemas.microsoft.com/office/drawing/2014/main" id="{431E3678-E033-A05B-7BE9-6E1915A048E9}"/>
              </a:ext>
            </a:extLst>
          </p:cNvPr>
          <p:cNvSpPr/>
          <p:nvPr/>
        </p:nvSpPr>
        <p:spPr>
          <a:xfrm>
            <a:off x="5903976" y="2570260"/>
            <a:ext cx="5740841" cy="1280160"/>
          </a:xfrm>
          <a:prstGeom prst="rect">
            <a:avLst/>
          </a:prstGeom>
          <a:noFill/>
          <a:ln/>
        </p:spPr>
        <p:txBody>
          <a:bodyPr wrap="square" lIns="0" tIns="0" rIns="0" bIns="0" rtlCol="0" anchor="t"/>
          <a:lstStyle/>
          <a:p>
            <a:pPr marL="0" indent="0">
              <a:lnSpc>
                <a:spcPts val="2200"/>
              </a:lnSpc>
              <a:buNone/>
            </a:pPr>
            <a:r>
              <a:rPr lang="en-US" sz="2400" dirty="0">
                <a:latin typeface="Cambria" panose="02040503050406030204" pitchFamily="18" charset="0"/>
                <a:ea typeface="Cambria" panose="02040503050406030204" pitchFamily="18" charset="0"/>
                <a:cs typeface="Calibri" pitchFamily="34" charset="-120"/>
              </a:rPr>
              <a:t>Three practices will outlast everything you saw today: </a:t>
            </a:r>
          </a:p>
          <a:p>
            <a:pPr marL="0" indent="0">
              <a:lnSpc>
                <a:spcPts val="2200"/>
              </a:lnSpc>
              <a:buNone/>
            </a:pPr>
            <a:endParaRPr lang="en-US" sz="2400" dirty="0">
              <a:latin typeface="Cambria" panose="02040503050406030204" pitchFamily="18" charset="0"/>
              <a:ea typeface="Cambria" panose="02040503050406030204" pitchFamily="18" charset="0"/>
              <a:cs typeface="Calibri" pitchFamily="34" charset="-120"/>
            </a:endParaRPr>
          </a:p>
          <a:p>
            <a:pPr marL="285750" indent="-285750">
              <a:lnSpc>
                <a:spcPts val="2200"/>
              </a:lnSpc>
              <a:buFontTx/>
              <a:buChar char="-"/>
            </a:pPr>
            <a:r>
              <a:rPr lang="en-US" sz="2400" b="1" dirty="0">
                <a:latin typeface="Cambria" panose="02040503050406030204" pitchFamily="18" charset="0"/>
                <a:ea typeface="Cambria" panose="02040503050406030204" pitchFamily="18" charset="0"/>
                <a:cs typeface="Calibri" pitchFamily="34" charset="-120"/>
              </a:rPr>
              <a:t>breaking a question into facets and writing a query </a:t>
            </a:r>
            <a:r>
              <a:rPr lang="en-US" sz="2400" dirty="0">
                <a:latin typeface="Cambria" panose="02040503050406030204" pitchFamily="18" charset="0"/>
                <a:ea typeface="Cambria" panose="02040503050406030204" pitchFamily="18" charset="0"/>
                <a:cs typeface="Calibri" pitchFamily="34" charset="-120"/>
              </a:rPr>
              <a:t>someone else can replay; </a:t>
            </a:r>
          </a:p>
          <a:p>
            <a:pPr marL="285750" indent="-285750">
              <a:lnSpc>
                <a:spcPts val="2200"/>
              </a:lnSpc>
              <a:buFontTx/>
              <a:buChar char="-"/>
            </a:pPr>
            <a:endParaRPr lang="en-US" sz="2400" dirty="0">
              <a:latin typeface="Cambria" panose="02040503050406030204" pitchFamily="18" charset="0"/>
              <a:ea typeface="Cambria" panose="02040503050406030204" pitchFamily="18" charset="0"/>
              <a:cs typeface="Calibri" pitchFamily="34" charset="-120"/>
            </a:endParaRPr>
          </a:p>
          <a:p>
            <a:pPr marL="285750" indent="-285750">
              <a:lnSpc>
                <a:spcPts val="2200"/>
              </a:lnSpc>
              <a:buFontTx/>
              <a:buChar char="-"/>
            </a:pPr>
            <a:r>
              <a:rPr lang="en-US" sz="2400" b="1" dirty="0">
                <a:latin typeface="Cambria" panose="02040503050406030204" pitchFamily="18" charset="0"/>
                <a:ea typeface="Cambria" panose="02040503050406030204" pitchFamily="18" charset="0"/>
                <a:cs typeface="Calibri" pitchFamily="34" charset="-120"/>
              </a:rPr>
              <a:t>keeping a log </a:t>
            </a:r>
            <a:r>
              <a:rPr lang="en-US" sz="2400" dirty="0">
                <a:latin typeface="Cambria" panose="02040503050406030204" pitchFamily="18" charset="0"/>
                <a:ea typeface="Cambria" panose="02040503050406030204" pitchFamily="18" charset="0"/>
                <a:cs typeface="Calibri" pitchFamily="34" charset="-120"/>
              </a:rPr>
              <a:t>of what you searched; </a:t>
            </a:r>
          </a:p>
          <a:p>
            <a:pPr marL="285750" indent="-285750">
              <a:lnSpc>
                <a:spcPts val="2200"/>
              </a:lnSpc>
              <a:buFontTx/>
              <a:buChar char="-"/>
            </a:pPr>
            <a:endParaRPr lang="en-US" sz="2400" dirty="0">
              <a:latin typeface="Cambria" panose="02040503050406030204" pitchFamily="18" charset="0"/>
              <a:ea typeface="Cambria" panose="02040503050406030204" pitchFamily="18" charset="0"/>
              <a:cs typeface="Calibri" pitchFamily="34" charset="-120"/>
            </a:endParaRPr>
          </a:p>
          <a:p>
            <a:pPr marL="285750" indent="-285750">
              <a:lnSpc>
                <a:spcPts val="2200"/>
              </a:lnSpc>
              <a:buFontTx/>
              <a:buChar char="-"/>
            </a:pPr>
            <a:r>
              <a:rPr lang="en-US" sz="2400" dirty="0">
                <a:latin typeface="Cambria" panose="02040503050406030204" pitchFamily="18" charset="0"/>
                <a:ea typeface="Cambria" panose="02040503050406030204" pitchFamily="18" charset="0"/>
                <a:cs typeface="Calibri" pitchFamily="34" charset="-120"/>
              </a:rPr>
              <a:t>never letting a </a:t>
            </a:r>
            <a:r>
              <a:rPr lang="en-US" sz="2400" b="1" dirty="0">
                <a:latin typeface="Cambria" panose="02040503050406030204" pitchFamily="18" charset="0"/>
                <a:ea typeface="Cambria" panose="02040503050406030204" pitchFamily="18" charset="0"/>
                <a:cs typeface="Calibri" pitchFamily="34" charset="-120"/>
              </a:rPr>
              <a:t>reference</a:t>
            </a:r>
            <a:r>
              <a:rPr lang="en-US" sz="2400" dirty="0">
                <a:latin typeface="Cambria" panose="02040503050406030204" pitchFamily="18" charset="0"/>
                <a:ea typeface="Cambria" panose="02040503050406030204" pitchFamily="18" charset="0"/>
                <a:cs typeface="Calibri" pitchFamily="34" charset="-120"/>
              </a:rPr>
              <a:t> in without having </a:t>
            </a:r>
            <a:r>
              <a:rPr lang="en-US" sz="2400" b="1" dirty="0">
                <a:latin typeface="Cambria" panose="02040503050406030204" pitchFamily="18" charset="0"/>
                <a:ea typeface="Cambria" panose="02040503050406030204" pitchFamily="18" charset="0"/>
                <a:cs typeface="Calibri" pitchFamily="34" charset="-120"/>
              </a:rPr>
              <a:t>checked</a:t>
            </a:r>
            <a:r>
              <a:rPr lang="en-US" sz="2400" dirty="0">
                <a:latin typeface="Cambria" panose="02040503050406030204" pitchFamily="18" charset="0"/>
                <a:ea typeface="Cambria" panose="02040503050406030204" pitchFamily="18" charset="0"/>
                <a:cs typeface="Calibri" pitchFamily="34" charset="-120"/>
              </a:rPr>
              <a:t> that it exists, that it really says that, and that it is the right source.</a:t>
            </a:r>
            <a:endParaRPr lang="en-US" sz="2400" dirty="0">
              <a:latin typeface="Cambria" panose="02040503050406030204" pitchFamily="18" charset="0"/>
              <a:ea typeface="Cambria" panose="02040503050406030204" pitchFamily="18" charset="0"/>
            </a:endParaRPr>
          </a:p>
        </p:txBody>
      </p:sp>
      <p:sp>
        <p:nvSpPr>
          <p:cNvPr id="6" name="Slide Number Placeholder 0">
            <a:extLst>
              <a:ext uri="{FF2B5EF4-FFF2-40B4-BE49-F238E27FC236}">
                <a16:creationId xmlns:a16="http://schemas.microsoft.com/office/drawing/2014/main" id="{E8095DA5-4A0C-9522-31C0-0D44CBC29296}"/>
              </a:ext>
            </a:extLst>
          </p:cNvPr>
          <p:cNvSpPr txBox="1">
            <a:spLocks/>
          </p:cNvSpPr>
          <p:nvPr/>
        </p:nvSpPr>
        <p:spPr>
          <a:xfrm>
            <a:off x="17214931" y="5694724"/>
            <a:ext cx="161406" cy="22860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fr-FR"/>
            </a:defPPr>
            <a:lvl1pPr marL="0" algn="r" defTabSz="914400" rtl="0" eaLnBrk="1" latinLnBrk="0" hangingPunct="1">
              <a:defRPr sz="900" kern="1200">
                <a:solidFill>
                  <a:srgbClr val="7C949E"/>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mtClean="0"/>
              <a:pPr/>
              <a:t>94</a:t>
            </a:fld>
            <a:endParaRPr lang="en-US"/>
          </a:p>
        </p:txBody>
      </p:sp>
    </p:spTree>
    <p:extLst>
      <p:ext uri="{BB962C8B-B14F-4D97-AF65-F5344CB8AC3E}">
        <p14:creationId xmlns:p14="http://schemas.microsoft.com/office/powerpoint/2010/main" val="31544207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9EA89BD8-8C94-4FD1-B0BC-5EF767DEB1D4}"/>
              </a:ext>
            </a:extLst>
          </p:cNvPr>
          <p:cNvSpPr txBox="1">
            <a:spLocks/>
          </p:cNvSpPr>
          <p:nvPr/>
        </p:nvSpPr>
        <p:spPr>
          <a:xfrm>
            <a:off x="4469245" y="1223864"/>
            <a:ext cx="3571420" cy="5584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solidFill>
                  <a:srgbClr val="00B050"/>
                </a:solidFill>
              </a:rPr>
              <a:t>Many</a:t>
            </a:r>
            <a:r>
              <a:rPr lang="fr-FR" b="1" dirty="0">
                <a:solidFill>
                  <a:srgbClr val="00B050"/>
                </a:solidFill>
              </a:rPr>
              <a:t> </a:t>
            </a:r>
            <a:r>
              <a:rPr lang="fr-FR" b="1" dirty="0" err="1">
                <a:solidFill>
                  <a:srgbClr val="00B050"/>
                </a:solidFill>
              </a:rPr>
              <a:t>thanks</a:t>
            </a:r>
            <a:endParaRPr lang="fr-FR" b="1" dirty="0">
              <a:solidFill>
                <a:srgbClr val="00B050"/>
              </a:solidFill>
            </a:endParaRPr>
          </a:p>
        </p:txBody>
      </p:sp>
      <p:sp>
        <p:nvSpPr>
          <p:cNvPr id="4" name="Espace réservé du texte 2">
            <a:extLst>
              <a:ext uri="{FF2B5EF4-FFF2-40B4-BE49-F238E27FC236}">
                <a16:creationId xmlns:a16="http://schemas.microsoft.com/office/drawing/2014/main" id="{6D306584-C17E-4FB2-9DCB-CBC72612CE3F}"/>
              </a:ext>
            </a:extLst>
          </p:cNvPr>
          <p:cNvSpPr>
            <a:spLocks noGrp="1"/>
          </p:cNvSpPr>
          <p:nvPr>
            <p:ph type="body" sz="quarter" idx="11"/>
          </p:nvPr>
        </p:nvSpPr>
        <p:spPr>
          <a:xfrm>
            <a:off x="4469477" y="2185243"/>
            <a:ext cx="5559105" cy="2240114"/>
          </a:xfrm>
        </p:spPr>
        <p:txBody>
          <a:bodyPr>
            <a:normAutofit/>
          </a:bodyPr>
          <a:lstStyle/>
          <a:p>
            <a:r>
              <a:rPr lang="fr-FR" sz="2000" dirty="0"/>
              <a:t>A question? </a:t>
            </a:r>
            <a:r>
              <a:rPr lang="fr-FR" sz="2000" dirty="0" err="1"/>
              <a:t>Send</a:t>
            </a:r>
            <a:r>
              <a:rPr lang="fr-FR" sz="2000" dirty="0"/>
              <a:t> me an e-mail at : </a:t>
            </a:r>
          </a:p>
          <a:p>
            <a:r>
              <a:rPr lang="fr-FR" sz="2000" dirty="0">
                <a:solidFill>
                  <a:schemeClr val="accent2"/>
                </a:solidFill>
                <a:hlinkClick r:id="rId2"/>
              </a:rPr>
              <a:t>carole.wahnoun@ensam.eu</a:t>
            </a:r>
            <a:endParaRPr lang="fr-FR" sz="2000" dirty="0">
              <a:solidFill>
                <a:schemeClr val="accent2"/>
              </a:solidFill>
            </a:endParaRPr>
          </a:p>
          <a:p>
            <a:endParaRPr lang="fr-FR" sz="2000" dirty="0">
              <a:solidFill>
                <a:schemeClr val="accent2"/>
              </a:solidFill>
            </a:endParaRPr>
          </a:p>
          <a:p>
            <a:endParaRPr lang="fr-FR" sz="2000" dirty="0">
              <a:solidFill>
                <a:schemeClr val="accent2"/>
              </a:solidFill>
            </a:endParaRPr>
          </a:p>
          <a:p>
            <a:endParaRPr lang="fr-FR" sz="2000" dirty="0"/>
          </a:p>
          <a:p>
            <a:endParaRPr lang="fr-FR" sz="2000" dirty="0"/>
          </a:p>
        </p:txBody>
      </p:sp>
      <p:pic>
        <p:nvPicPr>
          <p:cNvPr id="6" name="Picture 5" descr="Afficher l'image d'origine">
            <a:extLst>
              <a:ext uri="{FF2B5EF4-FFF2-40B4-BE49-F238E27FC236}">
                <a16:creationId xmlns:a16="http://schemas.microsoft.com/office/drawing/2014/main" id="{EA8D39DC-98B9-45D0-904F-685B13A3D9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3880" y="2185243"/>
            <a:ext cx="856970" cy="85697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30584526-8368-4B5F-B83C-0A19DE24A0A8}"/>
              </a:ext>
            </a:extLst>
          </p:cNvPr>
          <p:cNvSpPr txBox="1"/>
          <p:nvPr/>
        </p:nvSpPr>
        <p:spPr>
          <a:xfrm>
            <a:off x="3928497" y="6107853"/>
            <a:ext cx="914400" cy="296788"/>
          </a:xfrm>
          <a:prstGeom prst="rect">
            <a:avLst/>
          </a:prstGeom>
          <a:noFill/>
        </p:spPr>
        <p:txBody>
          <a:bodyPr wrap="none" lIns="0" tIns="0" rIns="0" bIns="0" rtlCol="0">
            <a:noAutofit/>
          </a:bodyPr>
          <a:lstStyle/>
          <a:p>
            <a:pPr>
              <a:lnSpc>
                <a:spcPct val="85000"/>
              </a:lnSpc>
              <a:spcBef>
                <a:spcPts val="400"/>
              </a:spcBef>
            </a:pPr>
            <a:endParaRPr lang="fr-FR" dirty="0">
              <a:solidFill>
                <a:schemeClr val="accent2"/>
              </a:solidFill>
            </a:endParaRPr>
          </a:p>
        </p:txBody>
      </p:sp>
    </p:spTree>
    <p:extLst>
      <p:ext uri="{BB962C8B-B14F-4D97-AF65-F5344CB8AC3E}">
        <p14:creationId xmlns:p14="http://schemas.microsoft.com/office/powerpoint/2010/main" val="29662797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50190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89526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837B485C455D4A9BE037705A3CF629" ma:contentTypeVersion="16" ma:contentTypeDescription="Crée un document." ma:contentTypeScope="" ma:versionID="57ab9571e08bf0b78ad20f71fcb58673">
  <xsd:schema xmlns:xsd="http://www.w3.org/2001/XMLSchema" xmlns:xs="http://www.w3.org/2001/XMLSchema" xmlns:p="http://schemas.microsoft.com/office/2006/metadata/properties" xmlns:ns3="0c9188e1-92ee-4c32-a94c-258e7f85fec1" xmlns:ns4="eb9aed83-a46b-4e11-b8ec-4eb38513a793" targetNamespace="http://schemas.microsoft.com/office/2006/metadata/properties" ma:root="true" ma:fieldsID="60b26eb40e51692ba7c68eaecae42a69" ns3:_="" ns4:_="">
    <xsd:import namespace="0c9188e1-92ee-4c32-a94c-258e7f85fec1"/>
    <xsd:import namespace="eb9aed83-a46b-4e11-b8ec-4eb38513a79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9188e1-92ee-4c32-a94c-258e7f85f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9aed83-a46b-4e11-b8ec-4eb38513a793" elementFormDefault="qualified">
    <xsd:import namespace="http://schemas.microsoft.com/office/2006/documentManagement/types"/>
    <xsd:import namespace="http://schemas.microsoft.com/office/infopath/2007/PartnerControls"/>
    <xsd:element name="SharedWithUsers" ma:index="14"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Partagé avec détails" ma:internalName="SharedWithDetails" ma:readOnly="true">
      <xsd:simpleType>
        <xsd:restriction base="dms:Note">
          <xsd:maxLength value="255"/>
        </xsd:restriction>
      </xsd:simpleType>
    </xsd:element>
    <xsd:element name="SharingHintHash" ma:index="16"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c9188e1-92ee-4c32-a94c-258e7f85fec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F169D1-6F38-4BCB-88FD-AAB82225C2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9188e1-92ee-4c32-a94c-258e7f85fec1"/>
    <ds:schemaRef ds:uri="eb9aed83-a46b-4e11-b8ec-4eb38513a7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837FF5-22FA-4678-9A21-20362DFCA821}">
  <ds:schemaRefs>
    <ds:schemaRef ds:uri="http://purl.org/dc/terms/"/>
    <ds:schemaRef ds:uri="http://schemas.microsoft.com/office/2006/metadata/properties"/>
    <ds:schemaRef ds:uri="http://www.w3.org/XML/1998/namespace"/>
    <ds:schemaRef ds:uri="0c9188e1-92ee-4c32-a94c-258e7f85fec1"/>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eb9aed83-a46b-4e11-b8ec-4eb38513a793"/>
    <ds:schemaRef ds:uri="http://purl.org/dc/dcmitype/"/>
  </ds:schemaRefs>
</ds:datastoreItem>
</file>

<file path=customXml/itemProps3.xml><?xml version="1.0" encoding="utf-8"?>
<ds:datastoreItem xmlns:ds="http://schemas.openxmlformats.org/officeDocument/2006/customXml" ds:itemID="{5EE50E80-D0F7-444A-95EA-94BAD515B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7063</TotalTime>
  <Words>9019</Words>
  <Application>Microsoft Office PowerPoint</Application>
  <PresentationFormat>Grand écran</PresentationFormat>
  <Paragraphs>1038</Paragraphs>
  <Slides>97</Slides>
  <Notes>17</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97</vt:i4>
      </vt:variant>
    </vt:vector>
  </HeadingPairs>
  <TitlesOfParts>
    <vt:vector size="110" baseType="lpstr">
      <vt:lpstr>-apple-system</vt:lpstr>
      <vt:lpstr>Aptos</vt:lpstr>
      <vt:lpstr>Aptos Display</vt:lpstr>
      <vt:lpstr>Arial</vt:lpstr>
      <vt:lpstr>Calibri</vt:lpstr>
      <vt:lpstr>Cambria</vt:lpstr>
      <vt:lpstr>Courier New</vt:lpstr>
      <vt:lpstr>Montserrat</vt:lpstr>
      <vt:lpstr>Roboto</vt:lpstr>
      <vt:lpstr>Times New Roman</vt:lpstr>
      <vt:lpstr>Verdana</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TRUJILLO EMMANUEL</dc:creator>
  <cp:lastModifiedBy>WAHNOUN Carole</cp:lastModifiedBy>
  <cp:revision>187</cp:revision>
  <dcterms:created xsi:type="dcterms:W3CDTF">2025-06-05T07:32:28Z</dcterms:created>
  <dcterms:modified xsi:type="dcterms:W3CDTF">2026-10-09T17:12:41Z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0x010100B3837B485C455D4A9BE037705A3CF629</vt:lpwstr>
  </property>
  <property fmtid="{D5CDD505-2E9C-101B-9397-08002B2CF9AE}" pid="3" name="Order">
    <vt:lpwstr>29000.0000000000</vt:lpwstr>
  </property>
  <property fmtid="{D5CDD505-2E9C-101B-9397-08002B2CF9AE}" pid="4" name="xd_ProgID">
    <vt:lpwstr/>
  </property>
  <property fmtid="{D5CDD505-2E9C-101B-9397-08002B2CF9AE}" pid="5" name="MediaServiceImageTags">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